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8" r:id="rId2"/>
    <p:sldId id="370" r:id="rId3"/>
    <p:sldId id="36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67"/>
    <p:restoredTop sz="95964"/>
  </p:normalViewPr>
  <p:slideViewPr>
    <p:cSldViewPr snapToGrid="0" snapToObjects="1">
      <p:cViewPr>
        <p:scale>
          <a:sx n="76" d="100"/>
          <a:sy n="76" d="100"/>
        </p:scale>
        <p:origin x="1504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1BB8-BFCD-8B40-BCA2-9D74A724F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AEB0E-BB2B-D24A-B7EB-37C988C0F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804DC-F053-674B-BEAA-7FC62418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2F5AC-2DD8-0D43-A964-C558F4CF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6DFBC-0808-2241-BA7A-5BE7AF0AE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73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88D0E-3336-D446-945C-0EE675DD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B145C-DA9E-9640-A4E6-A17C86FFD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E24F2-7670-3847-98DE-B451E5D9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08CB2-4A9A-9F40-8DC7-262AD66AB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C7C1A-E57C-DF45-9FF9-9FE48DBB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50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89AA-22E6-A147-8485-43B091111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9A5F1-BDB5-A041-987B-43A1F1753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7D7EE-E2AB-A549-84B9-5F587B59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37ED-4C91-6F43-AD59-DCFEC8C8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A8B90-2186-FE4C-8775-3ED5707F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69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16BD-F0AC-5F4D-AB36-81FCEB36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16A2B-0AE5-D04A-A9E1-A343C5957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4B943-BA66-2C44-8645-2B976A292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7BBA2-F40D-6C41-B74B-B23BA4049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B51DC-6518-914F-A3A9-CF9789CA9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41AE2-4A45-0940-8761-E5CC4A30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4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682AC-487B-8740-A841-450411CC8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CAD34-AE86-E444-BCB7-FAB95DC3B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01FCA-AFFC-254A-80EC-863050586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7A3710-ED0D-F24D-B023-74903BAA0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CCDA34-4621-084A-9DB0-18DC221EC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CE2F10-5BA9-7D45-881F-4597E76B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2C9856-C7D4-2648-86D2-D50EB6C8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E5B96E-F8BD-7E45-86E5-78D4B13E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8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D943-602B-B946-A22D-D0655CD3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A337B-ED37-9244-9875-4B1EC2F8A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D922E-8ABD-E845-A9AA-8A08284A2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1AFA1-B38C-9E4F-BDE8-AA18B6941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1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194D48-0764-5A49-A5B2-292A1019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6B832F-EF8B-C940-BF94-4F02E816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E57A9-3F1B-094B-AAD1-B0A5EABB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95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58E7-EA48-9446-84ED-D773C1CA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F857-D995-A941-A7B1-07EBE3D88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F83CF-7563-0F44-B108-5003606DD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59ED6-8110-8248-B129-2F122EB5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CF104-6002-9541-8EC8-333B4BE7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B9BB7-A917-934B-9D29-FB495969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06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B509-032B-3A4E-BCA3-3FBFF90C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AEDC3D-B72C-E64D-9B49-80277AEA9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C66DD-D84C-2342-813A-A84272F1D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BE1D2-27F9-D04A-AA25-28863E27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7D9E1-F25E-804B-B473-A7013EA87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603BF-0A0E-7B4C-B553-FD3E9032D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99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A4E2-384B-E646-8C70-B7BF1FA9D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91E5F-E0F9-834B-A461-B4D61F3BF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B3019-5E1D-1643-8228-FA99115F5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F53A5-4749-2D48-96BF-C0CDFC9B7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E82D1-385A-C940-9746-D422107A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8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70FA2-7213-1243-8F91-95D90EAD0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50234-DCAD-594D-8097-2427FF877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5629B-7796-444A-99C1-B02E95F96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50FC-BF98-A74E-AD79-FA6ECB38546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90377-0B1C-FA4B-B6B1-D4B869129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3017B-8C1C-274A-8015-7249D7330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9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16ACA1-F26D-C94A-9E3E-F5247C77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0ED1D-6719-3048-A18F-0F4682F47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49B18-DEF1-6944-9175-22409D0D6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350FC-BF98-A74E-AD79-FA6ECB38546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3A648-8A92-F041-8E46-7478C9CDC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01AD6-E72F-B544-A2A9-C633A290C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5C40D-935C-E84F-8644-65A2EBF66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3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image" Target="../media/image7.emf"/><Relationship Id="rId4" Type="http://schemas.openxmlformats.org/officeDocument/2006/relationships/image" Target="../media/image3.png"/><Relationship Id="rId1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AD1331-D841-7041-9C7D-81D8855141CE}"/>
              </a:ext>
            </a:extLst>
          </p:cNvPr>
          <p:cNvSpPr txBox="1"/>
          <p:nvPr/>
        </p:nvSpPr>
        <p:spPr>
          <a:xfrm>
            <a:off x="0" y="-325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moments from the probability density functions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E9D64F2-C27D-7725-F804-A6A0C17182DF}"/>
              </a:ext>
            </a:extLst>
          </p:cNvPr>
          <p:cNvGrpSpPr/>
          <p:nvPr/>
        </p:nvGrpSpPr>
        <p:grpSpPr>
          <a:xfrm>
            <a:off x="8035889" y="578515"/>
            <a:ext cx="3656999" cy="2824620"/>
            <a:chOff x="6714121" y="1001977"/>
            <a:chExt cx="5389259" cy="540447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2A884F6-D8EE-5B17-EFCF-B2CB2AC516B0}"/>
                </a:ext>
              </a:extLst>
            </p:cNvPr>
            <p:cNvGrpSpPr/>
            <p:nvPr/>
          </p:nvGrpSpPr>
          <p:grpSpPr>
            <a:xfrm>
              <a:off x="6714121" y="1001977"/>
              <a:ext cx="5389259" cy="5404479"/>
              <a:chOff x="1630143" y="1415748"/>
              <a:chExt cx="2847814" cy="1950686"/>
            </a:xfrm>
          </p:grpSpPr>
          <p:pic>
            <p:nvPicPr>
              <p:cNvPr id="25" name="Picture 2" descr="Maxwell-Boltzmann distribution pdf.svg">
                <a:extLst>
                  <a:ext uri="{FF2B5EF4-FFF2-40B4-BE49-F238E27FC236}">
                    <a16:creationId xmlns:a16="http://schemas.microsoft.com/office/drawing/2014/main" id="{C2C78854-A374-BD24-96EA-B0D0F7F138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222" b="9868"/>
              <a:stretch/>
            </p:blipFill>
            <p:spPr bwMode="auto">
              <a:xfrm>
                <a:off x="1917186" y="1415748"/>
                <a:ext cx="2560771" cy="16780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DAFD46F-B1F2-81E0-988B-84CF9436FFDD}"/>
                      </a:ext>
                    </a:extLst>
                  </p:cNvPr>
                  <p:cNvSpPr txBox="1"/>
                  <p:nvPr/>
                </p:nvSpPr>
                <p:spPr>
                  <a:xfrm>
                    <a:off x="2473004" y="3111373"/>
                    <a:ext cx="1623445" cy="2550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(speed)</a:t>
                    </a: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DAFD46F-B1F2-81E0-988B-84CF9436FF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3004" y="3111373"/>
                    <a:ext cx="1623445" cy="25506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0345" b="-275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914FFBDD-62DF-C88F-3466-BFB883D5FDC3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143" y="1808040"/>
                    <a:ext cx="329927" cy="2550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914FFBDD-62DF-C88F-3466-BFB883D5FD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0143" y="1808040"/>
                    <a:ext cx="329927" cy="25506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857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D4CB488-8ECC-B073-77EE-A09D2DE1A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76990" y="1222771"/>
              <a:ext cx="1537990" cy="1393107"/>
            </a:xfrm>
            <a:prstGeom prst="rect">
              <a:avLst/>
            </a:prstGeom>
          </p:spPr>
        </p:pic>
      </p:grpSp>
      <p:pic>
        <p:nvPicPr>
          <p:cNvPr id="10" name="Picture 2">
            <a:extLst>
              <a:ext uri="{FF2B5EF4-FFF2-40B4-BE49-F238E27FC236}">
                <a16:creationId xmlns:a16="http://schemas.microsoft.com/office/drawing/2014/main" id="{220F9846-05B9-273F-BEB9-43774F2515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98" t="23999" r="15404" b="13834"/>
          <a:stretch/>
        </p:blipFill>
        <p:spPr bwMode="auto">
          <a:xfrm>
            <a:off x="4520762" y="669281"/>
            <a:ext cx="3225052" cy="2515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8D48900-51BB-C3FA-CA89-FD46E4BA6CE7}"/>
              </a:ext>
            </a:extLst>
          </p:cNvPr>
          <p:cNvGrpSpPr/>
          <p:nvPr/>
        </p:nvGrpSpPr>
        <p:grpSpPr>
          <a:xfrm>
            <a:off x="163774" y="948497"/>
            <a:ext cx="3885727" cy="1924951"/>
            <a:chOff x="90534" y="578515"/>
            <a:chExt cx="3885727" cy="19249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DBBC13F9-5342-D0E7-F993-0AC18B7E4170}"/>
                    </a:ext>
                  </a:extLst>
                </p:cNvPr>
                <p:cNvSpPr/>
                <p:nvPr/>
              </p:nvSpPr>
              <p:spPr>
                <a:xfrm>
                  <a:off x="90534" y="578515"/>
                  <a:ext cx="3701796" cy="192495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𝐞𝐱𝐩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sSup>
                                  <m:sSup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2400" b="1" dirty="0">
                    <a:solidFill>
                      <a:schemeClr val="tx1"/>
                    </a:solidFill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 </a:t>
                  </a:r>
                  <a:endPara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𝑅𝑇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DBBC13F9-5342-D0E7-F993-0AC18B7E41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34" y="578515"/>
                  <a:ext cx="3701796" cy="1924951"/>
                </a:xfrm>
                <a:prstGeom prst="rect">
                  <a:avLst/>
                </a:prstGeom>
                <a:blipFill>
                  <a:blip r:embed="rId13"/>
                  <a:stretch>
                    <a:fillRect l="-1712" b="-19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4F6D0A1-EC92-A754-16F5-BA676B21F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72961" y="1068366"/>
              <a:ext cx="1003300" cy="14351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AC3521F-ABEA-DEB9-B868-97BE4EA8BB97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10520" t="11406" r="21348" b="64728"/>
          <a:stretch/>
        </p:blipFill>
        <p:spPr>
          <a:xfrm>
            <a:off x="91167" y="3580604"/>
            <a:ext cx="6104670" cy="28433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76445F18-EFF9-1DBE-5F87-C1D56206AD74}"/>
              </a:ext>
            </a:extLst>
          </p:cNvPr>
          <p:cNvSpPr/>
          <p:nvPr/>
        </p:nvSpPr>
        <p:spPr>
          <a:xfrm>
            <a:off x="5894961" y="4828117"/>
            <a:ext cx="717565" cy="3483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2C3B37-5428-E8F9-814D-7DE492F6645E}"/>
                  </a:ext>
                </a:extLst>
              </p:cNvPr>
              <p:cNvSpPr txBox="1"/>
              <p:nvPr/>
            </p:nvSpPr>
            <p:spPr>
              <a:xfrm>
                <a:off x="6678593" y="3590671"/>
                <a:ext cx="5208607" cy="284334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most probable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𝑅𝑇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𝑅𝑇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r>
                  <a:rPr lang="en-US" sz="2000" dirty="0"/>
                  <a:t>			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&lt;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𝑅𝑇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r>
                  <a:rPr lang="en-US" sz="2000" dirty="0"/>
                  <a:t>		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′′′×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𝑅𝑇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′′′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2C3B37-5428-E8F9-814D-7DE492F66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593" y="3590671"/>
                <a:ext cx="5208607" cy="284334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1012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AD1331-D841-7041-9C7D-81D8855141CE}"/>
              </a:ext>
            </a:extLst>
          </p:cNvPr>
          <p:cNvSpPr txBox="1"/>
          <p:nvPr/>
        </p:nvSpPr>
        <p:spPr>
          <a:xfrm>
            <a:off x="0" y="-325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convergence of numerical methods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D48900-51BB-C3FA-CA89-FD46E4BA6CE7}"/>
              </a:ext>
            </a:extLst>
          </p:cNvPr>
          <p:cNvGrpSpPr/>
          <p:nvPr/>
        </p:nvGrpSpPr>
        <p:grpSpPr>
          <a:xfrm>
            <a:off x="163774" y="948497"/>
            <a:ext cx="3885727" cy="1924951"/>
            <a:chOff x="90534" y="578515"/>
            <a:chExt cx="3885727" cy="19249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DBBC13F9-5342-D0E7-F993-0AC18B7E4170}"/>
                    </a:ext>
                  </a:extLst>
                </p:cNvPr>
                <p:cNvSpPr/>
                <p:nvPr/>
              </p:nvSpPr>
              <p:spPr>
                <a:xfrm>
                  <a:off x="90534" y="578515"/>
                  <a:ext cx="3701796" cy="192495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𝐞𝐱𝐩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sSup>
                                  <m:sSup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2400" b="1" dirty="0">
                    <a:solidFill>
                      <a:schemeClr val="tx1"/>
                    </a:solidFill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 </a:t>
                  </a:r>
                  <a:endPara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𝑅𝑇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DBBC13F9-5342-D0E7-F993-0AC18B7E41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34" y="578515"/>
                  <a:ext cx="3701796" cy="1924951"/>
                </a:xfrm>
                <a:prstGeom prst="rect">
                  <a:avLst/>
                </a:prstGeom>
                <a:blipFill>
                  <a:blip r:embed="rId2"/>
                  <a:stretch>
                    <a:fillRect l="-1365" b="-19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4F6D0A1-EC92-A754-16F5-BA676B21F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2961" y="1068366"/>
              <a:ext cx="1003300" cy="14351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1E87C74-25E8-DB68-084B-CD008B6B92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671"/>
          <a:stretch/>
        </p:blipFill>
        <p:spPr>
          <a:xfrm>
            <a:off x="4793757" y="1428673"/>
            <a:ext cx="4538305" cy="3212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838403-05FC-C225-4016-2996C0FC8458}"/>
                  </a:ext>
                </a:extLst>
              </p:cNvPr>
              <p:cNvSpPr txBox="1"/>
              <p:nvPr/>
            </p:nvSpPr>
            <p:spPr>
              <a:xfrm>
                <a:off x="601494" y="3034773"/>
                <a:ext cx="3944448" cy="1174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 = </m:t>
                      </m:r>
                      <m:nary>
                        <m:naryPr>
                          <m:limLoc m:val="undOvr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838403-05FC-C225-4016-2996C0FC8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94" y="3034773"/>
                <a:ext cx="3944448" cy="1174039"/>
              </a:xfrm>
              <a:prstGeom prst="rect">
                <a:avLst/>
              </a:prstGeom>
              <a:blipFill>
                <a:blip r:embed="rId5"/>
                <a:stretch>
                  <a:fillRect t="-117204" b="-175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Brace 8">
            <a:extLst>
              <a:ext uri="{FF2B5EF4-FFF2-40B4-BE49-F238E27FC236}">
                <a16:creationId xmlns:a16="http://schemas.microsoft.com/office/drawing/2014/main" id="{190A1749-BB53-E40E-0572-852D2DE1D887}"/>
              </a:ext>
            </a:extLst>
          </p:cNvPr>
          <p:cNvSpPr/>
          <p:nvPr/>
        </p:nvSpPr>
        <p:spPr>
          <a:xfrm rot="5400000">
            <a:off x="2731623" y="3488789"/>
            <a:ext cx="318306" cy="1047508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C0BA32-10B4-590C-645A-9A3B589F4B14}"/>
                  </a:ext>
                </a:extLst>
              </p:cNvPr>
              <p:cNvSpPr txBox="1"/>
              <p:nvPr/>
            </p:nvSpPr>
            <p:spPr>
              <a:xfrm>
                <a:off x="918552" y="4208812"/>
                <a:ext cx="3944448" cy="719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Integrand for finding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algn="ctr"/>
                <a:r>
                  <a:rPr lang="en-US" sz="2000" dirty="0"/>
                  <a:t>(and recall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≡&lt;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C0BA32-10B4-590C-645A-9A3B589F4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552" y="4208812"/>
                <a:ext cx="3944448" cy="719428"/>
              </a:xfrm>
              <a:prstGeom prst="rect">
                <a:avLst/>
              </a:prstGeom>
              <a:blipFill>
                <a:blip r:embed="rId6"/>
                <a:stretch>
                  <a:fillRect t="-5263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5A7ACDA-CA21-184D-80C2-396D2137C520}"/>
                  </a:ext>
                </a:extLst>
              </p:cNvPr>
              <p:cNvSpPr txBox="1"/>
              <p:nvPr/>
            </p:nvSpPr>
            <p:spPr>
              <a:xfrm>
                <a:off x="163774" y="5128551"/>
                <a:ext cx="1186445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two convergence criteria we discussed: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Does the </a:t>
                </a:r>
                <a:r>
                  <a:rPr lang="en-US" sz="2400" b="1" dirty="0"/>
                  <a:t>range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cover all nonzero values of the integrand?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Does the </a:t>
                </a:r>
                <a:r>
                  <a:rPr lang="en-US" sz="2400" b="1" dirty="0"/>
                  <a:t>sampling interval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400" dirty="0"/>
                  <a:t> adequately represent the integrand as a piecewise trapezoid?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5A7ACDA-CA21-184D-80C2-396D2137C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74" y="5128551"/>
                <a:ext cx="11864452" cy="1569660"/>
              </a:xfrm>
              <a:prstGeom prst="rect">
                <a:avLst/>
              </a:prstGeom>
              <a:blipFill>
                <a:blip r:embed="rId7"/>
                <a:stretch>
                  <a:fillRect l="-748" t="-32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7C501D-5694-D0E1-F28D-8B9ACF874049}"/>
                  </a:ext>
                </a:extLst>
              </p:cNvPr>
              <p:cNvSpPr txBox="1"/>
              <p:nvPr/>
            </p:nvSpPr>
            <p:spPr>
              <a:xfrm>
                <a:off x="5161214" y="670259"/>
                <a:ext cx="370179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Integrands for finding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2000" dirty="0"/>
                  <a:t>at low and high temperatures 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7C501D-5694-D0E1-F28D-8B9ACF874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214" y="670259"/>
                <a:ext cx="3701796" cy="707886"/>
              </a:xfrm>
              <a:prstGeom prst="rect">
                <a:avLst/>
              </a:prstGeom>
              <a:blipFill>
                <a:blip r:embed="rId8"/>
                <a:stretch>
                  <a:fillRect t="-5263" r="-685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4">
            <a:extLst>
              <a:ext uri="{FF2B5EF4-FFF2-40B4-BE49-F238E27FC236}">
                <a16:creationId xmlns:a16="http://schemas.microsoft.com/office/drawing/2014/main" id="{68B9C4D0-FF9B-734A-CF92-19BE07A67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590" y="1503779"/>
            <a:ext cx="2322636" cy="211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757A68-CC51-A77B-062A-531C83386889}"/>
              </a:ext>
            </a:extLst>
          </p:cNvPr>
          <p:cNvSpPr txBox="1"/>
          <p:nvPr/>
        </p:nvSpPr>
        <p:spPr>
          <a:xfrm>
            <a:off x="9938481" y="979981"/>
            <a:ext cx="1777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The trapezoidal rule</a:t>
            </a:r>
          </a:p>
        </p:txBody>
      </p:sp>
      <p:sp>
        <p:nvSpPr>
          <p:cNvPr id="22" name="Frame 21">
            <a:extLst>
              <a:ext uri="{FF2B5EF4-FFF2-40B4-BE49-F238E27FC236}">
                <a16:creationId xmlns:a16="http://schemas.microsoft.com/office/drawing/2014/main" id="{076C188B-0839-5654-D22A-1FA3CC0B5741}"/>
              </a:ext>
            </a:extLst>
          </p:cNvPr>
          <p:cNvSpPr/>
          <p:nvPr/>
        </p:nvSpPr>
        <p:spPr>
          <a:xfrm>
            <a:off x="423332" y="2997201"/>
            <a:ext cx="4234961" cy="2131349"/>
          </a:xfrm>
          <a:prstGeom prst="frame">
            <a:avLst>
              <a:gd name="adj1" fmla="val 37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448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240985-E633-3C40-AC86-4D9A3B1FD2D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average kinetic energy depends only on the temperature (not the mass)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27C0FE-476B-86A7-421E-F83F63BC8ACA}"/>
                  </a:ext>
                </a:extLst>
              </p:cNvPr>
              <p:cNvSpPr txBox="1"/>
              <p:nvPr/>
            </p:nvSpPr>
            <p:spPr>
              <a:xfrm>
                <a:off x="212026" y="670377"/>
                <a:ext cx="11767948" cy="130632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We saw that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while the </a:t>
                </a:r>
                <a:r>
                  <a:rPr lang="en-US" sz="2400" dirty="0">
                    <a:ea typeface="Cambria Math" panose="02040503050406030204" pitchFamily="18" charset="0"/>
                  </a:rPr>
                  <a:t>average</a:t>
                </a:r>
                <a:r>
                  <a:rPr lang="en-US" sz="2400" b="1" dirty="0">
                    <a:ea typeface="Cambria Math" panose="02040503050406030204" pitchFamily="18" charset="0"/>
                  </a:rPr>
                  <a:t> kinetic energy </a:t>
                </a:r>
                <a:r>
                  <a:rPr lang="en-US" sz="2400" dirty="0">
                    <a:ea typeface="Cambria Math" panose="02040503050406030204" pitchFamily="18" charset="0"/>
                  </a:rPr>
                  <a:t>of a mole of gas molecules is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 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𝑀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𝑅𝑇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𝑹𝑻</m:t>
                      </m:r>
                    </m:oMath>
                  </m:oMathPara>
                </a14:m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27C0FE-476B-86A7-421E-F83F63BC8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26" y="670377"/>
                <a:ext cx="11767948" cy="1306320"/>
              </a:xfrm>
              <a:prstGeom prst="rect">
                <a:avLst/>
              </a:prstGeom>
              <a:blipFill>
                <a:blip r:embed="rId2"/>
                <a:stretch>
                  <a:fillRect l="-754" b="-384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DD3423-C1E5-4961-3ED5-2E17952D3DE7}"/>
                  </a:ext>
                </a:extLst>
              </p:cNvPr>
              <p:cNvSpPr txBox="1"/>
              <p:nvPr/>
            </p:nvSpPr>
            <p:spPr>
              <a:xfrm>
                <a:off x="212026" y="2694676"/>
                <a:ext cx="7860757" cy="3165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/>
                  <a:t> depends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(as seen at right), but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/>
                  <a:t> depends only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Example: at room temperature,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≈29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b="0" dirty="0"/>
                  <a:t>,</a:t>
                </a:r>
                <a:r>
                  <a:rPr lang="en-US" sz="2400" i="1" dirty="0"/>
                  <a:t> </a:t>
                </a:r>
                <a:r>
                  <a:rPr lang="en-US" sz="2400" b="0" dirty="0"/>
                  <a:t>so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2400" b="0" dirty="0"/>
                  <a:t>.</a:t>
                </a:r>
              </a:p>
              <a:p>
                <a:endParaRPr lang="en-US" sz="2400" b="0" dirty="0"/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Side note: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2400" b="0" dirty="0"/>
                  <a:t> is nowhere near enough to break covalent bonds (binding energies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2400" b="0" dirty="0"/>
                  <a:t>). So we’re safe.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DD3423-C1E5-4961-3ED5-2E17952D3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26" y="2694676"/>
                <a:ext cx="7860757" cy="3165482"/>
              </a:xfrm>
              <a:prstGeom prst="rect">
                <a:avLst/>
              </a:prstGeom>
              <a:blipFill>
                <a:blip r:embed="rId3"/>
                <a:stretch>
                  <a:fillRect l="-1129" t="-1200" r="-645" b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135919B-EBA2-C7F9-4B96-65433B90F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00" y="2185409"/>
            <a:ext cx="3957608" cy="439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283</Words>
  <Application>Microsoft Macintosh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73</cp:revision>
  <cp:lastPrinted>2024-09-19T03:25:36Z</cp:lastPrinted>
  <dcterms:created xsi:type="dcterms:W3CDTF">2021-09-20T01:15:13Z</dcterms:created>
  <dcterms:modified xsi:type="dcterms:W3CDTF">2025-09-19T13:55:55Z</dcterms:modified>
</cp:coreProperties>
</file>