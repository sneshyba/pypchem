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6" r:id="rId2"/>
    <p:sldId id="316" r:id="rId3"/>
    <p:sldId id="336" r:id="rId4"/>
    <p:sldId id="342" r:id="rId5"/>
    <p:sldId id="343" r:id="rId6"/>
    <p:sldId id="334" r:id="rId7"/>
    <p:sldId id="33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08F1"/>
    <a:srgbClr val="130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28"/>
    <p:restoredTop sz="95958"/>
  </p:normalViewPr>
  <p:slideViewPr>
    <p:cSldViewPr snapToGrid="0" snapToObjects="1">
      <p:cViewPr varScale="1">
        <p:scale>
          <a:sx n="107" d="100"/>
          <a:sy n="107" d="100"/>
        </p:scale>
        <p:origin x="17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9052-AB02-BA43-AEE8-6221B229A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06BA2-202E-594B-8CB5-EF0AF97B4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0E60D-356C-9C47-9559-570EF055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92E12-7699-744B-B01E-CF711B1A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B24FD-EFEF-E64A-AD24-F507C566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8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5DFE-E9E3-8F40-8480-CEF53C9B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B3D79-FA48-DE45-9A72-FA24D4931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9DAFF-90D1-2E47-82D4-1A7330A1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131E8-18CB-A14C-8256-8DC9A28C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1AF0C-292F-F94D-B3A7-86A46607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0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DE345-899A-294E-BD6A-9781F8AF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ED5EE-BCC9-A545-B999-96E2E9F49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8A0BA-CE60-D742-9BFB-1033DE78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F29D-9280-7C4C-BF38-419A5596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E6966-1D4E-5841-8029-3A166D43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5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D1C2-B5A0-3D49-9AA6-7EC8574F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DA2E5-2F99-324A-94A6-C17DF3B52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B31DB-F4CF-BD4E-A652-CF20D8AF7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A3995-880F-024D-B6E7-35DCC76A5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0A8A6-44A4-BD4E-9807-EB7319A8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7C30E-800F-E044-8279-1F94E54D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2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55CFD-E0D8-4644-A424-EB6AD89E3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40BA-851F-1B47-A19D-1CB3A11F3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E5024-F29E-4F47-940D-8547F8554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8B0AC-BFBF-4C48-94BF-F2FB0E402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1FEAB-85BF-7F4C-A73D-857B201CD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784A09-4ACF-A447-B884-FB635A69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8D04C-3C97-924C-81D2-89DEE57E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47C4E-0AC1-6746-9E36-49A74301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5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AD17-D13D-6F4B-8E12-742268062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38CD55-5CA4-9848-A2C4-F24D126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A0EB5-315B-194B-9A55-FAFC89CD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81565-0529-6C42-A7E3-C44D9DDC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7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862B8-4CC5-854C-A37B-D16965D7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2848B-89DD-AB4B-A7B8-3DA59413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A8735-E515-6247-BF4F-0CCEC923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8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3FBE-684D-D448-AAD6-998828DE8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2415-87D1-9A4F-B9BF-977D39C89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D61EB-6777-9940-975E-39B5CC9E4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C78DC-7C1B-8049-BF8C-DE3BBE6F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5F487-29D8-F942-B146-E868C542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B70AF-BB2A-924F-A7FB-F93FFF49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C16D-85CA-2D4C-AEEB-95D957B7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FEC26-2E0F-9245-9D0B-FF6243D60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A40C8-F440-774C-8327-48B4FE8E0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6E6A3-5D22-8D46-8F32-AEF911F5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A13DA-CCC8-074C-A380-3F84913FE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5B0D2-10DF-E64C-844A-C3AAA8B9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93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557B-1850-F74A-AB3C-F5998DD8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5C37F-CF99-A243-87D5-B3340A8EC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1A9EA-077A-B745-A0EF-1A4CD966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F2503-4E28-9B4A-8D08-B7748C61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FB946-C90B-0244-8C63-7D3EF68F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8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553CE6-9539-9747-9636-117EFC106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42110-C260-3745-A2AD-61EE83031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66CDD-9344-E848-8953-070AC8F3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FBD9C-E921-9142-80C7-4ABF7C79B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F692B-9645-744C-97FE-3179352E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CC679-9A41-BE47-88FE-AD4DF26C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67156-8082-BC45-B39B-B868355D2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52812-AA05-9E45-BEFE-49872E57ED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983E4-F61B-1542-AB25-C66EF644964A}" type="datetimeFigureOut">
              <a:rPr lang="en-US" smtClean="0"/>
              <a:t>8/14/25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894DF-8D26-984E-ADF6-054AA9FFE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CB343-20AA-C141-A680-F6717AA2C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CA8-65FB-7844-8C56-8C3556C6D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8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12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12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8.png"/><Relationship Id="rId5" Type="http://schemas.openxmlformats.org/officeDocument/2006/relationships/image" Target="../media/image13.png"/><Relationship Id="rId10" Type="http://schemas.openxmlformats.org/officeDocument/2006/relationships/image" Target="../media/image5.png"/><Relationship Id="rId4" Type="http://schemas.openxmlformats.org/officeDocument/2006/relationships/image" Target="../media/image3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.png"/><Relationship Id="rId3" Type="http://schemas.openxmlformats.org/officeDocument/2006/relationships/image" Target="../media/image15.png"/><Relationship Id="rId12" Type="http://schemas.openxmlformats.org/officeDocument/2006/relationships/image" Target="../media/image9.png"/><Relationship Id="rId17" Type="http://schemas.openxmlformats.org/officeDocument/2006/relationships/image" Target="../media/image13.png"/><Relationship Id="rId2" Type="http://schemas.openxmlformats.org/officeDocument/2006/relationships/image" Target="../media/image14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12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8.png"/><Relationship Id="rId5" Type="http://schemas.openxmlformats.org/officeDocument/2006/relationships/image" Target="../media/image13.png"/><Relationship Id="rId10" Type="http://schemas.openxmlformats.org/officeDocument/2006/relationships/image" Target="../media/image5.png"/><Relationship Id="rId4" Type="http://schemas.openxmlformats.org/officeDocument/2006/relationships/image" Target="../media/image32.png"/><Relationship Id="rId9" Type="http://schemas.openxmlformats.org/officeDocument/2006/relationships/image" Target="../media/image7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in the “Moments” CGI, we calculate these quantities numerically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594597-8CA6-9D6C-8FB3-9EF3F70DF5E7}"/>
                  </a:ext>
                </a:extLst>
              </p:cNvPr>
              <p:cNvSpPr txBox="1"/>
              <p:nvPr/>
            </p:nvSpPr>
            <p:spPr>
              <a:xfrm>
                <a:off x="438402" y="1595612"/>
                <a:ext cx="6673490" cy="337752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 = 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3</a:t>
                </a:r>
                <a:r>
                  <a:rPr lang="en-US" sz="2400" baseline="30000" dirty="0"/>
                  <a:t>rd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 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594597-8CA6-9D6C-8FB3-9EF3F70DF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02" y="1595612"/>
                <a:ext cx="6673490" cy="3377528"/>
              </a:xfrm>
              <a:prstGeom prst="rect">
                <a:avLst/>
              </a:prstGeom>
              <a:blipFill>
                <a:blip r:embed="rId2"/>
                <a:stretch>
                  <a:fillRect l="-1518" t="-20149" b="-1865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C6B6AE8-CF99-DFF6-49C8-A91F76D198BC}"/>
              </a:ext>
            </a:extLst>
          </p:cNvPr>
          <p:cNvGrpSpPr/>
          <p:nvPr/>
        </p:nvGrpSpPr>
        <p:grpSpPr>
          <a:xfrm>
            <a:off x="7353444" y="1314484"/>
            <a:ext cx="4632081" cy="4398672"/>
            <a:chOff x="6714123" y="1001977"/>
            <a:chExt cx="5389257" cy="511769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AE0C60D-8F57-FC2F-F885-8A0E424847EF}"/>
                </a:ext>
              </a:extLst>
            </p:cNvPr>
            <p:cNvGrpSpPr/>
            <p:nvPr/>
          </p:nvGrpSpPr>
          <p:grpSpPr>
            <a:xfrm>
              <a:off x="6714123" y="1001977"/>
              <a:ext cx="5389257" cy="5117694"/>
              <a:chOff x="1630144" y="1415748"/>
              <a:chExt cx="2847813" cy="1847174"/>
            </a:xfrm>
          </p:grpSpPr>
          <p:pic>
            <p:nvPicPr>
              <p:cNvPr id="18" name="Picture 2" descr="Maxwell-Boltzmann distribution pdf.svg">
                <a:extLst>
                  <a:ext uri="{FF2B5EF4-FFF2-40B4-BE49-F238E27FC236}">
                    <a16:creationId xmlns:a16="http://schemas.microsoft.com/office/drawing/2014/main" id="{8C5BCA5C-241B-B2EC-42C5-BE8830A696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22" b="9868"/>
              <a:stretch/>
            </p:blipFill>
            <p:spPr bwMode="auto">
              <a:xfrm>
                <a:off x="1917186" y="1415748"/>
                <a:ext cx="2560771" cy="1678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B076FF4-4D80-161E-6E8D-73FC6ACFEDBB}"/>
                      </a:ext>
                    </a:extLst>
                  </p:cNvPr>
                  <p:cNvSpPr txBox="1"/>
                  <p:nvPr/>
                </p:nvSpPr>
                <p:spPr>
                  <a:xfrm>
                    <a:off x="3482029" y="3101100"/>
                    <a:ext cx="868289" cy="16182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a14:m>
                    <a:r>
                      <a:rPr lang="en-US" sz="2400" dirty="0"/>
                      <a:t> (speed)</a:t>
                    </a: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B076FF4-4D80-161E-6E8D-73FC6ACFED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2029" y="3101100"/>
                    <a:ext cx="868289" cy="16182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9677" r="-2679" b="-5806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59B68C9-AB17-D277-67FB-BEDC6ECF8542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144" y="1808040"/>
                    <a:ext cx="287043" cy="1666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59B68C9-AB17-D277-67FB-BEDC6ECF85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0144" y="1808040"/>
                    <a:ext cx="287043" cy="16663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7895" r="-2632" b="-34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8ABC7CE-20C9-8863-1A9D-FC2353866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76990" y="1222771"/>
              <a:ext cx="1537990" cy="1393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73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D1331-D841-7041-9C7D-81D8855141C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Turns out, they’re ordered (and there’s also a “most probable” speed,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b="1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D1331-D841-7041-9C7D-81D885514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594597-8CA6-9D6C-8FB3-9EF3F70DF5E7}"/>
                  </a:ext>
                </a:extLst>
              </p:cNvPr>
              <p:cNvSpPr txBox="1"/>
              <p:nvPr/>
            </p:nvSpPr>
            <p:spPr>
              <a:xfrm>
                <a:off x="438402" y="1595612"/>
                <a:ext cx="6673490" cy="337752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 = 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3</a:t>
                </a:r>
                <a:r>
                  <a:rPr lang="en-US" sz="2400" baseline="30000" dirty="0"/>
                  <a:t>rd</a:t>
                </a:r>
                <a:r>
                  <a:rPr lang="en-US" sz="2400" dirty="0"/>
                  <a:t> speed moment: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&gt; =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𝑑𝑣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(and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594597-8CA6-9D6C-8FB3-9EF3F70DF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02" y="1595612"/>
                <a:ext cx="6673490" cy="3377528"/>
              </a:xfrm>
              <a:prstGeom prst="rect">
                <a:avLst/>
              </a:prstGeom>
              <a:blipFill>
                <a:blip r:embed="rId3"/>
                <a:stretch>
                  <a:fillRect l="-1518" t="-20149" b="-1865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24443626-E099-2ED1-F7C0-51B50ED345B6}"/>
              </a:ext>
            </a:extLst>
          </p:cNvPr>
          <p:cNvGrpSpPr/>
          <p:nvPr/>
        </p:nvGrpSpPr>
        <p:grpSpPr>
          <a:xfrm>
            <a:off x="7353444" y="1314484"/>
            <a:ext cx="4632081" cy="5000196"/>
            <a:chOff x="7353444" y="1314484"/>
            <a:chExt cx="4632081" cy="500019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258BBA0-F974-ABAF-2123-5CC5464E43E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53444" y="1314484"/>
              <a:ext cx="4632081" cy="4992551"/>
              <a:chOff x="6679398" y="400083"/>
              <a:chExt cx="5389257" cy="5808652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C6B6AE8-CF99-DFF6-49C8-A91F76D198BC}"/>
                  </a:ext>
                </a:extLst>
              </p:cNvPr>
              <p:cNvGrpSpPr/>
              <p:nvPr/>
            </p:nvGrpSpPr>
            <p:grpSpPr>
              <a:xfrm>
                <a:off x="6679398" y="400083"/>
                <a:ext cx="5389257" cy="5808652"/>
                <a:chOff x="6714123" y="1001977"/>
                <a:chExt cx="5389257" cy="5808652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3C1EB6B0-2348-BF95-936C-6DAA825AF313}"/>
                    </a:ext>
                  </a:extLst>
                </p:cNvPr>
                <p:cNvGrpSpPr/>
                <p:nvPr/>
              </p:nvGrpSpPr>
              <p:grpSpPr>
                <a:xfrm>
                  <a:off x="6714123" y="1001977"/>
                  <a:ext cx="5389257" cy="5808652"/>
                  <a:chOff x="5823454" y="731182"/>
                  <a:chExt cx="5272855" cy="4466836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1AE0C60D-8F57-FC2F-F885-8A0E424847EF}"/>
                      </a:ext>
                    </a:extLst>
                  </p:cNvPr>
                  <p:cNvGrpSpPr/>
                  <p:nvPr/>
                </p:nvGrpSpPr>
                <p:grpSpPr>
                  <a:xfrm>
                    <a:off x="5823454" y="731182"/>
                    <a:ext cx="5272855" cy="3935492"/>
                    <a:chOff x="1630144" y="1415748"/>
                    <a:chExt cx="2847813" cy="1847174"/>
                  </a:xfrm>
                </p:grpSpPr>
                <p:pic>
                  <p:nvPicPr>
                    <p:cNvPr id="18" name="Picture 2" descr="Maxwell-Boltzmann distribution pdf.svg">
                      <a:extLst>
                        <a:ext uri="{FF2B5EF4-FFF2-40B4-BE49-F238E27FC236}">
                          <a16:creationId xmlns:a16="http://schemas.microsoft.com/office/drawing/2014/main" id="{8C5BCA5C-241B-B2EC-42C5-BE8830A6961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222" b="9868"/>
                    <a:stretch/>
                  </p:blipFill>
                  <p:spPr bwMode="auto">
                    <a:xfrm>
                      <a:off x="1917186" y="1415748"/>
                      <a:ext cx="2560771" cy="167801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9" name="TextBox 18">
                          <a:extLst>
                            <a:ext uri="{FF2B5EF4-FFF2-40B4-BE49-F238E27FC236}">
                              <a16:creationId xmlns:a16="http://schemas.microsoft.com/office/drawing/2014/main" id="{7B076FF4-4D80-161E-6E8D-73FC6ACFEDB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482029" y="3101100"/>
                          <a:ext cx="868289" cy="16182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dirty="0"/>
                            <a:t> (speed)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19" name="TextBox 18">
                          <a:extLst>
                            <a:ext uri="{FF2B5EF4-FFF2-40B4-BE49-F238E27FC236}">
                              <a16:creationId xmlns:a16="http://schemas.microsoft.com/office/drawing/2014/main" id="{7B076FF4-4D80-161E-6E8D-73FC6ACFEDB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482029" y="3101100"/>
                          <a:ext cx="868289" cy="161822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t="-9677" r="-2679" b="-5806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0" name="TextBox 19">
                          <a:extLst>
                            <a:ext uri="{FF2B5EF4-FFF2-40B4-BE49-F238E27FC236}">
                              <a16:creationId xmlns:a16="http://schemas.microsoft.com/office/drawing/2014/main" id="{659B68C9-AB17-D277-67FB-BEDC6ECF854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630144" y="1808040"/>
                          <a:ext cx="287043" cy="166633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p:txBody>
                    </p:sp>
                  </mc:Choice>
                  <mc:Fallback xmlns="">
                    <p:sp>
                      <p:nvSpPr>
                        <p:cNvPr id="25" name="TextBox 24">
                          <a:extLst>
                            <a:ext uri="{FF2B5EF4-FFF2-40B4-BE49-F238E27FC236}">
                              <a16:creationId xmlns:a16="http://schemas.microsoft.com/office/drawing/2014/main" id="{A91FC6EB-8E8B-394A-ABFD-DDABB48BA84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630144" y="1808040"/>
                          <a:ext cx="287043" cy="166633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l="-9302" b="-1621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ED9176AA-F567-AD51-25D5-0BAEE19C47D0}"/>
                      </a:ext>
                    </a:extLst>
                  </p:cNvPr>
                  <p:cNvGrpSpPr/>
                  <p:nvPr/>
                </p:nvGrpSpPr>
                <p:grpSpPr>
                  <a:xfrm>
                    <a:off x="8042029" y="4303631"/>
                    <a:ext cx="1392037" cy="894387"/>
                    <a:chOff x="6405446" y="3857319"/>
                    <a:chExt cx="1392037" cy="894387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4" name="Rectangle 13">
                          <a:extLst>
                            <a:ext uri="{FF2B5EF4-FFF2-40B4-BE49-F238E27FC236}">
                              <a16:creationId xmlns:a16="http://schemas.microsoft.com/office/drawing/2014/main" id="{F43D6329-E71B-C4E7-0C4A-BD3660095B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05446" y="4338654"/>
                          <a:ext cx="460348" cy="41305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5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4" name="Rectangle 13">
                          <a:extLst>
                            <a:ext uri="{FF2B5EF4-FFF2-40B4-BE49-F238E27FC236}">
                              <a16:creationId xmlns:a16="http://schemas.microsoft.com/office/drawing/2014/main" id="{F43D6329-E71B-C4E7-0C4A-BD3660095BB9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405446" y="4338654"/>
                          <a:ext cx="460348" cy="413052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15" name="Straight Arrow Connector 14">
                      <a:extLst>
                        <a:ext uri="{FF2B5EF4-FFF2-40B4-BE49-F238E27FC236}">
                          <a16:creationId xmlns:a16="http://schemas.microsoft.com/office/drawing/2014/main" id="{0BA1F580-4DC3-CEDF-6C29-B9DFA213E5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993888" y="3857319"/>
                      <a:ext cx="803595" cy="511715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Straight Arrow Connector 15">
                      <a:extLst>
                        <a:ext uri="{FF2B5EF4-FFF2-40B4-BE49-F238E27FC236}">
                          <a16:creationId xmlns:a16="http://schemas.microsoft.com/office/drawing/2014/main" id="{37C86A4F-6C82-1EC4-4616-97B39E7FD4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511422" y="3859969"/>
                      <a:ext cx="132758" cy="509065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Straight Arrow Connector 16">
                      <a:extLst>
                        <a:ext uri="{FF2B5EF4-FFF2-40B4-BE49-F238E27FC236}">
                          <a16:creationId xmlns:a16="http://schemas.microsoft.com/office/drawing/2014/main" id="{A85FFCDE-54EE-3082-37B2-CDD148F980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755155" y="3859968"/>
                      <a:ext cx="510857" cy="509066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48ABC7CE-20C9-8863-1A9D-FC23538663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176990" y="1222771"/>
                  <a:ext cx="1537990" cy="1393107"/>
                </a:xfrm>
                <a:prstGeom prst="rect">
                  <a:avLst/>
                </a:prstGeom>
              </p:spPr>
            </p:pic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5BBF1E39-0774-D003-98D0-32AB325151C7}"/>
                  </a:ext>
                </a:extLst>
              </p:cNvPr>
              <p:cNvGrpSpPr/>
              <p:nvPr/>
            </p:nvGrpSpPr>
            <p:grpSpPr>
              <a:xfrm>
                <a:off x="9077953" y="4228009"/>
                <a:ext cx="226426" cy="779834"/>
                <a:chOff x="9077953" y="4228009"/>
                <a:chExt cx="226426" cy="779834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04BE0095-38AF-BE29-E7E3-34A457E68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04379" y="4284617"/>
                  <a:ext cx="0" cy="723226"/>
                </a:xfrm>
                <a:prstGeom prst="line">
                  <a:avLst/>
                </a:prstGeom>
                <a:ln w="25400">
                  <a:solidFill>
                    <a:srgbClr val="00B05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FD4CBEE2-F6A3-BBC7-3D49-58F7B995FD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7953" y="4228009"/>
                  <a:ext cx="0" cy="723226"/>
                </a:xfrm>
                <a:prstGeom prst="line">
                  <a:avLst/>
                </a:prstGeom>
                <a:ln w="25400">
                  <a:solidFill>
                    <a:srgbClr val="00B05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E9F938B-3320-56DE-D08C-B81EA31087D4}"/>
                </a:ext>
              </a:extLst>
            </p:cNvPr>
            <p:cNvCxnSpPr>
              <a:cxnSpLocks/>
            </p:cNvCxnSpPr>
            <p:nvPr/>
          </p:nvCxnSpPr>
          <p:spPr>
            <a:xfrm>
              <a:off x="9789283" y="4738255"/>
              <a:ext cx="0" cy="518969"/>
            </a:xfrm>
            <a:prstGeom prst="line">
              <a:avLst/>
            </a:prstGeom>
            <a:ln w="254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BDF19A5-AEFF-AF86-9C68-D7C50F8DC9F4}"/>
                    </a:ext>
                  </a:extLst>
                </p:cNvPr>
                <p:cNvSpPr/>
                <p:nvPr/>
              </p:nvSpPr>
              <p:spPr>
                <a:xfrm>
                  <a:off x="9901183" y="5842410"/>
                  <a:ext cx="40440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BDF19A5-AEFF-AF86-9C68-D7C50F8DC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1183" y="5842410"/>
                  <a:ext cx="404405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1371A58-6CE6-EE1F-7486-36CA6A36C34C}"/>
                    </a:ext>
                  </a:extLst>
                </p:cNvPr>
                <p:cNvSpPr/>
                <p:nvPr/>
              </p:nvSpPr>
              <p:spPr>
                <a:xfrm>
                  <a:off x="10470786" y="5853015"/>
                  <a:ext cx="40440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1371A58-6CE6-EE1F-7486-36CA6A36C3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786" y="5853015"/>
                  <a:ext cx="404405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92A6291-6B15-CA8F-3916-1768148B2CED}"/>
                    </a:ext>
                  </a:extLst>
                </p:cNvPr>
                <p:cNvSpPr/>
                <p:nvPr/>
              </p:nvSpPr>
              <p:spPr>
                <a:xfrm>
                  <a:off x="8771408" y="5832515"/>
                  <a:ext cx="5314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92A6291-6B15-CA8F-3916-1768148B2C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1408" y="5832515"/>
                  <a:ext cx="531428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9BDDBDC-29C6-546F-44C6-191124ADF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5600" y="5263537"/>
              <a:ext cx="137990" cy="615788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4291C05-5A3B-A914-FE22-3BD0877EDA4F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47" y="4526320"/>
              <a:ext cx="503" cy="699891"/>
            </a:xfrm>
            <a:prstGeom prst="line">
              <a:avLst/>
            </a:prstGeom>
            <a:ln w="254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056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BFC806F-A981-8744-9F19-6F78563BAAAE}"/>
              </a:ext>
            </a:extLst>
          </p:cNvPr>
          <p:cNvGrpSpPr/>
          <p:nvPr/>
        </p:nvGrpSpPr>
        <p:grpSpPr>
          <a:xfrm>
            <a:off x="511745" y="1486949"/>
            <a:ext cx="5699500" cy="2326715"/>
            <a:chOff x="1856511" y="661746"/>
            <a:chExt cx="6103829" cy="23496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F39AA69-F24D-0A45-83F1-EC0B557C7D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221" t="11998" r="43759"/>
            <a:stretch/>
          </p:blipFill>
          <p:spPr>
            <a:xfrm>
              <a:off x="1856511" y="661746"/>
              <a:ext cx="6103829" cy="234967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063D135-8509-0A47-929B-AC1F19881369}"/>
                    </a:ext>
                  </a:extLst>
                </p:cNvPr>
                <p:cNvSpPr/>
                <p:nvPr/>
              </p:nvSpPr>
              <p:spPr>
                <a:xfrm>
                  <a:off x="4646452" y="1684035"/>
                  <a:ext cx="1707933" cy="46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063D135-8509-0A47-929B-AC1F198813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52" y="1684035"/>
                  <a:ext cx="1707933" cy="466221"/>
                </a:xfrm>
                <a:prstGeom prst="rect">
                  <a:avLst/>
                </a:prstGeom>
                <a:blipFill>
                  <a:blip r:embed="rId3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32B8009-BC43-744D-8603-89BB4012A294}"/>
                    </a:ext>
                  </a:extLst>
                </p:cNvPr>
                <p:cNvSpPr/>
                <p:nvPr/>
              </p:nvSpPr>
              <p:spPr>
                <a:xfrm>
                  <a:off x="4646452" y="1075813"/>
                  <a:ext cx="5314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32B8009-BC43-744D-8603-89BB4012A2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52" y="1075813"/>
                  <a:ext cx="53142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DF6CF2A-DEB0-3B49-9175-1D742DA66B29}"/>
                    </a:ext>
                  </a:extLst>
                </p:cNvPr>
                <p:cNvSpPr/>
                <p:nvPr/>
              </p:nvSpPr>
              <p:spPr>
                <a:xfrm>
                  <a:off x="4622669" y="2351547"/>
                  <a:ext cx="2273489" cy="4801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DF6CF2A-DEB0-3B49-9175-1D742DA66B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2669" y="2351547"/>
                  <a:ext cx="2273489" cy="480143"/>
                </a:xfrm>
                <a:prstGeom prst="rect">
                  <a:avLst/>
                </a:prstGeom>
                <a:blipFill>
                  <a:blip r:embed="rId5"/>
                  <a:stretch>
                    <a:fillRect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EAD1331-D841-7041-9C7D-81D8855141CE}"/>
              </a:ext>
            </a:extLst>
          </p:cNvPr>
          <p:cNvSpPr txBox="1"/>
          <p:nvPr/>
        </p:nvSpPr>
        <p:spPr>
          <a:xfrm>
            <a:off x="0" y="0"/>
            <a:ext cx="1219099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There are also algebraic expressions for these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C149C6-3E3D-9CDF-F505-264E5FACEAF3}"/>
              </a:ext>
            </a:extLst>
          </p:cNvPr>
          <p:cNvGrpSpPr/>
          <p:nvPr/>
        </p:nvGrpSpPr>
        <p:grpSpPr>
          <a:xfrm>
            <a:off x="7353444" y="1314484"/>
            <a:ext cx="4632081" cy="5000196"/>
            <a:chOff x="7353444" y="1314484"/>
            <a:chExt cx="4632081" cy="50001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C27E500-0EFA-4E6A-6B81-702A01CF4A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53444" y="1314484"/>
              <a:ext cx="4632081" cy="4992551"/>
              <a:chOff x="6679398" y="400083"/>
              <a:chExt cx="5389257" cy="580865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4DD3170-BDF6-3663-ECE7-F6403A31BAA7}"/>
                  </a:ext>
                </a:extLst>
              </p:cNvPr>
              <p:cNvGrpSpPr/>
              <p:nvPr/>
            </p:nvGrpSpPr>
            <p:grpSpPr>
              <a:xfrm>
                <a:off x="6679398" y="400083"/>
                <a:ext cx="5389257" cy="5808652"/>
                <a:chOff x="6714123" y="1001977"/>
                <a:chExt cx="5389257" cy="5808652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A15F213E-A2A1-DEF8-B82E-4EF98283CF6F}"/>
                    </a:ext>
                  </a:extLst>
                </p:cNvPr>
                <p:cNvGrpSpPr/>
                <p:nvPr/>
              </p:nvGrpSpPr>
              <p:grpSpPr>
                <a:xfrm>
                  <a:off x="6714123" y="1001977"/>
                  <a:ext cx="5389257" cy="5808652"/>
                  <a:chOff x="5823454" y="731182"/>
                  <a:chExt cx="5272855" cy="4466836"/>
                </a:xfrm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FD6858C2-630F-C1F8-6257-44E728BB0305}"/>
                      </a:ext>
                    </a:extLst>
                  </p:cNvPr>
                  <p:cNvGrpSpPr/>
                  <p:nvPr/>
                </p:nvGrpSpPr>
                <p:grpSpPr>
                  <a:xfrm>
                    <a:off x="5823454" y="731182"/>
                    <a:ext cx="5272855" cy="3935492"/>
                    <a:chOff x="1630144" y="1415748"/>
                    <a:chExt cx="2847813" cy="1847174"/>
                  </a:xfrm>
                </p:grpSpPr>
                <p:pic>
                  <p:nvPicPr>
                    <p:cNvPr id="48" name="Picture 2" descr="Maxwell-Boltzmann distribution pdf.svg">
                      <a:extLst>
                        <a:ext uri="{FF2B5EF4-FFF2-40B4-BE49-F238E27FC236}">
                          <a16:creationId xmlns:a16="http://schemas.microsoft.com/office/drawing/2014/main" id="{DF93EEF5-D211-8D89-BD2D-7F1EBAC4752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222" b="9868"/>
                    <a:stretch/>
                  </p:blipFill>
                  <p:spPr bwMode="auto">
                    <a:xfrm>
                      <a:off x="1917186" y="1415748"/>
                      <a:ext cx="2560771" cy="167801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9" name="TextBox 48">
                          <a:extLst>
                            <a:ext uri="{FF2B5EF4-FFF2-40B4-BE49-F238E27FC236}">
                              <a16:creationId xmlns:a16="http://schemas.microsoft.com/office/drawing/2014/main" id="{41E64D0C-6C52-B227-DF40-F3DCDFD1895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482029" y="3101100"/>
                          <a:ext cx="868289" cy="16182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dirty="0"/>
                            <a:t> (speed)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49" name="TextBox 48">
                          <a:extLst>
                            <a:ext uri="{FF2B5EF4-FFF2-40B4-BE49-F238E27FC236}">
                              <a16:creationId xmlns:a16="http://schemas.microsoft.com/office/drawing/2014/main" id="{41E64D0C-6C52-B227-DF40-F3DCDFD1895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482029" y="3101100"/>
                          <a:ext cx="868289" cy="161822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 t="-9677" r="-2679" b="-5806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0" name="TextBox 49">
                          <a:extLst>
                            <a:ext uri="{FF2B5EF4-FFF2-40B4-BE49-F238E27FC236}">
                              <a16:creationId xmlns:a16="http://schemas.microsoft.com/office/drawing/2014/main" id="{466D2D0E-AD3B-DB72-CC27-04639E9C214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630144" y="1808040"/>
                          <a:ext cx="287043" cy="166633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p:txBody>
                    </p:sp>
                  </mc:Choice>
                  <mc:Fallback xmlns="">
                    <p:sp>
                      <p:nvSpPr>
                        <p:cNvPr id="25" name="TextBox 24">
                          <a:extLst>
                            <a:ext uri="{FF2B5EF4-FFF2-40B4-BE49-F238E27FC236}">
                              <a16:creationId xmlns:a16="http://schemas.microsoft.com/office/drawing/2014/main" id="{A91FC6EB-8E8B-394A-ABFD-DDABB48BA84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630144" y="1808040"/>
                          <a:ext cx="287043" cy="166633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l="-9302" b="-1621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CBF521A2-C8B8-35E5-3E0B-2A8B07449671}"/>
                      </a:ext>
                    </a:extLst>
                  </p:cNvPr>
                  <p:cNvGrpSpPr/>
                  <p:nvPr/>
                </p:nvGrpSpPr>
                <p:grpSpPr>
                  <a:xfrm>
                    <a:off x="8042029" y="4303631"/>
                    <a:ext cx="1392037" cy="894387"/>
                    <a:chOff x="6405446" y="3857319"/>
                    <a:chExt cx="1392037" cy="894387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0" name="Rectangle 39">
                          <a:extLst>
                            <a:ext uri="{FF2B5EF4-FFF2-40B4-BE49-F238E27FC236}">
                              <a16:creationId xmlns:a16="http://schemas.microsoft.com/office/drawing/2014/main" id="{A21C86BF-D92A-24BF-F703-B6799EC908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05446" y="4338654"/>
                          <a:ext cx="460348" cy="41305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5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0" name="Rectangle 39">
                          <a:extLst>
                            <a:ext uri="{FF2B5EF4-FFF2-40B4-BE49-F238E27FC236}">
                              <a16:creationId xmlns:a16="http://schemas.microsoft.com/office/drawing/2014/main" id="{A21C86BF-D92A-24BF-F703-B6799EC90889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405446" y="4338654"/>
                          <a:ext cx="460348" cy="413052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964FD427-144A-A609-8AE8-65C38C7DE2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993888" y="3857319"/>
                      <a:ext cx="803595" cy="511715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Straight Arrow Connector 45">
                      <a:extLst>
                        <a:ext uri="{FF2B5EF4-FFF2-40B4-BE49-F238E27FC236}">
                          <a16:creationId xmlns:a16="http://schemas.microsoft.com/office/drawing/2014/main" id="{ECDA9483-4069-F03C-1E03-46CAF72AEF3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511422" y="3859969"/>
                      <a:ext cx="132758" cy="509065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Straight Arrow Connector 46">
                      <a:extLst>
                        <a:ext uri="{FF2B5EF4-FFF2-40B4-BE49-F238E27FC236}">
                          <a16:creationId xmlns:a16="http://schemas.microsoft.com/office/drawing/2014/main" id="{D828E2AA-836C-87A5-CC84-596A05B9E9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755155" y="3859968"/>
                      <a:ext cx="510857" cy="509066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02A48CE6-243F-B121-F43D-28223ECA0A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176990" y="1222771"/>
                  <a:ext cx="1537990" cy="1393107"/>
                </a:xfrm>
                <a:prstGeom prst="rect">
                  <a:avLst/>
                </a:prstGeom>
              </p:spPr>
            </p:pic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81F94EEB-1ECF-8C16-31E2-796D41352246}"/>
                  </a:ext>
                </a:extLst>
              </p:cNvPr>
              <p:cNvGrpSpPr/>
              <p:nvPr/>
            </p:nvGrpSpPr>
            <p:grpSpPr>
              <a:xfrm>
                <a:off x="9077953" y="4228009"/>
                <a:ext cx="226426" cy="779834"/>
                <a:chOff x="9077953" y="4228009"/>
                <a:chExt cx="226426" cy="779834"/>
              </a:xfrm>
            </p:grpSpPr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8C3C2A57-DC99-5127-F63D-FDB46652F2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04379" y="4284617"/>
                  <a:ext cx="0" cy="723226"/>
                </a:xfrm>
                <a:prstGeom prst="line">
                  <a:avLst/>
                </a:prstGeom>
                <a:ln w="25400">
                  <a:solidFill>
                    <a:srgbClr val="00B05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EE8ED475-2E2C-790D-2E1B-FBE9EE1AB8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7953" y="4228009"/>
                  <a:ext cx="0" cy="723226"/>
                </a:xfrm>
                <a:prstGeom prst="line">
                  <a:avLst/>
                </a:prstGeom>
                <a:ln w="25400">
                  <a:solidFill>
                    <a:srgbClr val="00B05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2EDA3C6-F04F-2E04-CD57-62D63334EC53}"/>
                </a:ext>
              </a:extLst>
            </p:cNvPr>
            <p:cNvCxnSpPr>
              <a:cxnSpLocks/>
            </p:cNvCxnSpPr>
            <p:nvPr/>
          </p:nvCxnSpPr>
          <p:spPr>
            <a:xfrm>
              <a:off x="9789283" y="4738255"/>
              <a:ext cx="0" cy="518969"/>
            </a:xfrm>
            <a:prstGeom prst="line">
              <a:avLst/>
            </a:prstGeom>
            <a:ln w="254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095155D-CDB7-83D9-A4D8-A74C590D86B1}"/>
                    </a:ext>
                  </a:extLst>
                </p:cNvPr>
                <p:cNvSpPr/>
                <p:nvPr/>
              </p:nvSpPr>
              <p:spPr>
                <a:xfrm>
                  <a:off x="9901183" y="5842410"/>
                  <a:ext cx="40440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095155D-CDB7-83D9-A4D8-A74C590D8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1183" y="5842410"/>
                  <a:ext cx="404405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9D3EB1E-420A-772A-F2E2-5EA5E9E1B5FD}"/>
                    </a:ext>
                  </a:extLst>
                </p:cNvPr>
                <p:cNvSpPr/>
                <p:nvPr/>
              </p:nvSpPr>
              <p:spPr>
                <a:xfrm>
                  <a:off x="10470786" y="5853015"/>
                  <a:ext cx="40440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9D3EB1E-420A-772A-F2E2-5EA5E9E1B5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786" y="5853015"/>
                  <a:ext cx="404405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F1BFD11-A458-FE73-5C18-EBDCAA8F3238}"/>
                    </a:ext>
                  </a:extLst>
                </p:cNvPr>
                <p:cNvSpPr/>
                <p:nvPr/>
              </p:nvSpPr>
              <p:spPr>
                <a:xfrm>
                  <a:off x="8771408" y="5832515"/>
                  <a:ext cx="5314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F1BFD11-A458-FE73-5C18-EBDCAA8F32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1408" y="5832515"/>
                  <a:ext cx="531428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F011645-5495-DBB3-EDC9-5185B955D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5600" y="5263537"/>
              <a:ext cx="137990" cy="615788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D4DCDFC-853B-4CFE-9FDA-3AEC6BAAEF58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47" y="4526320"/>
              <a:ext cx="503" cy="699891"/>
            </a:xfrm>
            <a:prstGeom prst="line">
              <a:avLst/>
            </a:prstGeom>
            <a:ln w="254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586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83CA063-70CA-E331-F9DD-6E9C9E70357A}"/>
              </a:ext>
            </a:extLst>
          </p:cNvPr>
          <p:cNvGrpSpPr/>
          <p:nvPr/>
        </p:nvGrpSpPr>
        <p:grpSpPr>
          <a:xfrm>
            <a:off x="511744" y="3704914"/>
            <a:ext cx="5819403" cy="2213534"/>
            <a:chOff x="511744" y="3704914"/>
            <a:chExt cx="5819403" cy="22135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AA69CBA-EB1A-CD77-F0CB-A612AA620C88}"/>
                    </a:ext>
                  </a:extLst>
                </p:cNvPr>
                <p:cNvSpPr txBox="1"/>
                <p:nvPr/>
              </p:nvSpPr>
              <p:spPr>
                <a:xfrm>
                  <a:off x="511744" y="3704914"/>
                  <a:ext cx="5819403" cy="16484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sz="240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8/2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AA69CBA-EB1A-CD77-F0CB-A612AA620C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744" y="3704914"/>
                  <a:ext cx="5819403" cy="16484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D76807E-1333-FF42-7D9C-0FF5DC9F9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8265" y="3759448"/>
              <a:ext cx="3037449" cy="21590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C8B8D0B-D35B-4175-F480-6837AD6826D9}"/>
              </a:ext>
            </a:extLst>
          </p:cNvPr>
          <p:cNvGrpSpPr/>
          <p:nvPr/>
        </p:nvGrpSpPr>
        <p:grpSpPr>
          <a:xfrm>
            <a:off x="7353444" y="1314484"/>
            <a:ext cx="4632081" cy="5000196"/>
            <a:chOff x="7353444" y="1314484"/>
            <a:chExt cx="4632081" cy="50001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6C2348-3760-2843-BA04-AAD34031E2F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53444" y="1314484"/>
              <a:ext cx="4632081" cy="4992551"/>
              <a:chOff x="6679398" y="400083"/>
              <a:chExt cx="5389257" cy="580865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8487C4C-417B-A971-5F6A-F944654B6533}"/>
                  </a:ext>
                </a:extLst>
              </p:cNvPr>
              <p:cNvGrpSpPr/>
              <p:nvPr/>
            </p:nvGrpSpPr>
            <p:grpSpPr>
              <a:xfrm>
                <a:off x="6679398" y="400083"/>
                <a:ext cx="5389257" cy="5808652"/>
                <a:chOff x="6714123" y="1001977"/>
                <a:chExt cx="5389257" cy="5808652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76DB6606-91AB-12B2-9CE7-B30220962694}"/>
                    </a:ext>
                  </a:extLst>
                </p:cNvPr>
                <p:cNvGrpSpPr/>
                <p:nvPr/>
              </p:nvGrpSpPr>
              <p:grpSpPr>
                <a:xfrm>
                  <a:off x="6714123" y="1001977"/>
                  <a:ext cx="5389257" cy="5808652"/>
                  <a:chOff x="5823454" y="731182"/>
                  <a:chExt cx="5272855" cy="4466836"/>
                </a:xfrm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F0B7A5D8-E378-1DE5-8668-8E546421DE58}"/>
                      </a:ext>
                    </a:extLst>
                  </p:cNvPr>
                  <p:cNvGrpSpPr/>
                  <p:nvPr/>
                </p:nvGrpSpPr>
                <p:grpSpPr>
                  <a:xfrm>
                    <a:off x="5823454" y="731182"/>
                    <a:ext cx="5272855" cy="3935492"/>
                    <a:chOff x="1630144" y="1415748"/>
                    <a:chExt cx="2847813" cy="1847174"/>
                  </a:xfrm>
                </p:grpSpPr>
                <p:pic>
                  <p:nvPicPr>
                    <p:cNvPr id="48" name="Picture 2" descr="Maxwell-Boltzmann distribution pdf.svg">
                      <a:extLst>
                        <a:ext uri="{FF2B5EF4-FFF2-40B4-BE49-F238E27FC236}">
                          <a16:creationId xmlns:a16="http://schemas.microsoft.com/office/drawing/2014/main" id="{7AF29633-ACE3-F55F-72D6-A280BC77A13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222" b="9868"/>
                    <a:stretch/>
                  </p:blipFill>
                  <p:spPr bwMode="auto">
                    <a:xfrm>
                      <a:off x="1917186" y="1415748"/>
                      <a:ext cx="2560771" cy="167801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9" name="TextBox 48">
                          <a:extLst>
                            <a:ext uri="{FF2B5EF4-FFF2-40B4-BE49-F238E27FC236}">
                              <a16:creationId xmlns:a16="http://schemas.microsoft.com/office/drawing/2014/main" id="{5A2B6BD8-A26C-4DAC-B8D3-41CD0852593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482029" y="3101100"/>
                          <a:ext cx="868289" cy="16182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dirty="0"/>
                            <a:t> (speed)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49" name="TextBox 48">
                          <a:extLst>
                            <a:ext uri="{FF2B5EF4-FFF2-40B4-BE49-F238E27FC236}">
                              <a16:creationId xmlns:a16="http://schemas.microsoft.com/office/drawing/2014/main" id="{5A2B6BD8-A26C-4DAC-B8D3-41CD08525934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482029" y="3101100"/>
                          <a:ext cx="868289" cy="161822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t="-9677" r="-2679" b="-5806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0" name="TextBox 49">
                          <a:extLst>
                            <a:ext uri="{FF2B5EF4-FFF2-40B4-BE49-F238E27FC236}">
                              <a16:creationId xmlns:a16="http://schemas.microsoft.com/office/drawing/2014/main" id="{4B964AAC-B158-0F1C-F99B-FF85DC8DC3E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630144" y="1808040"/>
                          <a:ext cx="287043" cy="166633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p:txBody>
                    </p:sp>
                  </mc:Choice>
                  <mc:Fallback xmlns="">
                    <p:sp>
                      <p:nvSpPr>
                        <p:cNvPr id="25" name="TextBox 24">
                          <a:extLst>
                            <a:ext uri="{FF2B5EF4-FFF2-40B4-BE49-F238E27FC236}">
                              <a16:creationId xmlns:a16="http://schemas.microsoft.com/office/drawing/2014/main" id="{A91FC6EB-8E8B-394A-ABFD-DDABB48BA84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630144" y="1808040"/>
                          <a:ext cx="287043" cy="166633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l="-9302" b="-1621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7609419C-DC31-E6D5-7903-4C8CE1B64990}"/>
                      </a:ext>
                    </a:extLst>
                  </p:cNvPr>
                  <p:cNvGrpSpPr/>
                  <p:nvPr/>
                </p:nvGrpSpPr>
                <p:grpSpPr>
                  <a:xfrm>
                    <a:off x="8042029" y="4303631"/>
                    <a:ext cx="1392037" cy="894387"/>
                    <a:chOff x="6405446" y="3857319"/>
                    <a:chExt cx="1392037" cy="894387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0" name="Rectangle 39">
                          <a:extLst>
                            <a:ext uri="{FF2B5EF4-FFF2-40B4-BE49-F238E27FC236}">
                              <a16:creationId xmlns:a16="http://schemas.microsoft.com/office/drawing/2014/main" id="{2047B79B-6B6E-D6AD-EDC2-A538E4E2F97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05446" y="4338654"/>
                          <a:ext cx="460348" cy="41305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5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0" name="Rectangle 39">
                          <a:extLst>
                            <a:ext uri="{FF2B5EF4-FFF2-40B4-BE49-F238E27FC236}">
                              <a16:creationId xmlns:a16="http://schemas.microsoft.com/office/drawing/2014/main" id="{2047B79B-6B6E-D6AD-EDC2-A538E4E2F970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405446" y="4338654"/>
                          <a:ext cx="460348" cy="413052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3B0F275D-9F39-B247-2F66-62B9A3A586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993888" y="3857319"/>
                      <a:ext cx="803595" cy="511715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Straight Arrow Connector 45">
                      <a:extLst>
                        <a:ext uri="{FF2B5EF4-FFF2-40B4-BE49-F238E27FC236}">
                          <a16:creationId xmlns:a16="http://schemas.microsoft.com/office/drawing/2014/main" id="{8D81E1AD-15DC-B00B-488B-37C34FE8A7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511422" y="3859969"/>
                      <a:ext cx="132758" cy="509065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Straight Arrow Connector 46">
                      <a:extLst>
                        <a:ext uri="{FF2B5EF4-FFF2-40B4-BE49-F238E27FC236}">
                          <a16:creationId xmlns:a16="http://schemas.microsoft.com/office/drawing/2014/main" id="{D93CCD7D-4F07-44E0-8433-594749E911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755155" y="3859968"/>
                      <a:ext cx="510857" cy="509066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7064B5F6-A38B-3DA9-A3CE-92D5C9E4D9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176990" y="1222771"/>
                  <a:ext cx="1537990" cy="1393107"/>
                </a:xfrm>
                <a:prstGeom prst="rect">
                  <a:avLst/>
                </a:prstGeom>
              </p:spPr>
            </p:pic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2DD9347-33EF-FF26-D2A8-CDB634347857}"/>
                  </a:ext>
                </a:extLst>
              </p:cNvPr>
              <p:cNvGrpSpPr/>
              <p:nvPr/>
            </p:nvGrpSpPr>
            <p:grpSpPr>
              <a:xfrm>
                <a:off x="9077953" y="4228009"/>
                <a:ext cx="226426" cy="779834"/>
                <a:chOff x="9077953" y="4228009"/>
                <a:chExt cx="226426" cy="779834"/>
              </a:xfrm>
            </p:grpSpPr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42A1BB2-B66F-E2E0-F0D0-EFCC359D54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04379" y="4284617"/>
                  <a:ext cx="0" cy="723226"/>
                </a:xfrm>
                <a:prstGeom prst="line">
                  <a:avLst/>
                </a:prstGeom>
                <a:ln w="25400">
                  <a:solidFill>
                    <a:srgbClr val="00B05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590FF554-F39F-4CB4-30B9-6ACBD14AA9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7953" y="4228009"/>
                  <a:ext cx="0" cy="723226"/>
                </a:xfrm>
                <a:prstGeom prst="line">
                  <a:avLst/>
                </a:prstGeom>
                <a:ln w="25400">
                  <a:solidFill>
                    <a:srgbClr val="00B05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20108B7-C70A-1052-B1AD-7E1D6927A33B}"/>
                </a:ext>
              </a:extLst>
            </p:cNvPr>
            <p:cNvCxnSpPr>
              <a:cxnSpLocks/>
            </p:cNvCxnSpPr>
            <p:nvPr/>
          </p:nvCxnSpPr>
          <p:spPr>
            <a:xfrm>
              <a:off x="9789283" y="4738255"/>
              <a:ext cx="0" cy="518969"/>
            </a:xfrm>
            <a:prstGeom prst="line">
              <a:avLst/>
            </a:prstGeom>
            <a:ln w="254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DE87C5CA-E191-2613-EBC6-559A9CF1B955}"/>
                    </a:ext>
                  </a:extLst>
                </p:cNvPr>
                <p:cNvSpPr/>
                <p:nvPr/>
              </p:nvSpPr>
              <p:spPr>
                <a:xfrm>
                  <a:off x="9901183" y="5842410"/>
                  <a:ext cx="40440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DE87C5CA-E191-2613-EBC6-559A9CF1B9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1183" y="5842410"/>
                  <a:ext cx="404405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15DE49E-5BC7-A23C-D302-60D00BFA6674}"/>
                    </a:ext>
                  </a:extLst>
                </p:cNvPr>
                <p:cNvSpPr/>
                <p:nvPr/>
              </p:nvSpPr>
              <p:spPr>
                <a:xfrm>
                  <a:off x="10470786" y="5853015"/>
                  <a:ext cx="40440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15DE49E-5BC7-A23C-D302-60D00BFA66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786" y="5853015"/>
                  <a:ext cx="404405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2182183-3B83-8C0F-0E59-C8B9048858B9}"/>
                    </a:ext>
                  </a:extLst>
                </p:cNvPr>
                <p:cNvSpPr/>
                <p:nvPr/>
              </p:nvSpPr>
              <p:spPr>
                <a:xfrm>
                  <a:off x="8771408" y="5832515"/>
                  <a:ext cx="5314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2182183-3B83-8C0F-0E59-C8B9048858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1408" y="5832515"/>
                  <a:ext cx="531428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D80FABD-788C-0196-121A-08AA579A67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5600" y="5263537"/>
              <a:ext cx="137990" cy="615788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915AEF6-35B5-CD3F-DB78-62FF16666D32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47" y="4526320"/>
              <a:ext cx="503" cy="699891"/>
            </a:xfrm>
            <a:prstGeom prst="line">
              <a:avLst/>
            </a:prstGeom>
            <a:ln w="254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8A00CAD-D443-21EB-B9F8-F044CB29C553}"/>
              </a:ext>
            </a:extLst>
          </p:cNvPr>
          <p:cNvGrpSpPr/>
          <p:nvPr/>
        </p:nvGrpSpPr>
        <p:grpSpPr>
          <a:xfrm>
            <a:off x="511745" y="1486949"/>
            <a:ext cx="5699500" cy="2326715"/>
            <a:chOff x="1856511" y="661746"/>
            <a:chExt cx="6103829" cy="2349677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87D245F-4D06-C18F-0991-278216290D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10221" t="11998" r="43759"/>
            <a:stretch/>
          </p:blipFill>
          <p:spPr>
            <a:xfrm>
              <a:off x="1856511" y="661746"/>
              <a:ext cx="6103829" cy="234967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97512B8-6361-0201-55E2-CF7CC46EDE38}"/>
                    </a:ext>
                  </a:extLst>
                </p:cNvPr>
                <p:cNvSpPr/>
                <p:nvPr/>
              </p:nvSpPr>
              <p:spPr>
                <a:xfrm>
                  <a:off x="4646452" y="1684035"/>
                  <a:ext cx="1707933" cy="46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97512B8-6361-0201-55E2-CF7CC46EDE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52" y="1684035"/>
                  <a:ext cx="1707933" cy="466221"/>
                </a:xfrm>
                <a:prstGeom prst="rect">
                  <a:avLst/>
                </a:prstGeom>
                <a:blipFill>
                  <a:blip r:embed="rId15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CB66CCBF-2A20-B483-7CB3-D55401E0B246}"/>
                    </a:ext>
                  </a:extLst>
                </p:cNvPr>
                <p:cNvSpPr/>
                <p:nvPr/>
              </p:nvSpPr>
              <p:spPr>
                <a:xfrm>
                  <a:off x="4646452" y="1075813"/>
                  <a:ext cx="5314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32B8009-BC43-744D-8603-89BB4012A2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52" y="1075813"/>
                  <a:ext cx="531428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84439EEA-32B0-FFC2-58E5-1666DAD2819C}"/>
                    </a:ext>
                  </a:extLst>
                </p:cNvPr>
                <p:cNvSpPr/>
                <p:nvPr/>
              </p:nvSpPr>
              <p:spPr>
                <a:xfrm>
                  <a:off x="4622669" y="2351547"/>
                  <a:ext cx="2273489" cy="4801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84439EEA-32B0-FFC2-58E5-1666DAD281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2669" y="2351547"/>
                  <a:ext cx="2273489" cy="480143"/>
                </a:xfrm>
                <a:prstGeom prst="rect">
                  <a:avLst/>
                </a:prstGeom>
                <a:blipFill>
                  <a:blip r:embed="rId17"/>
                  <a:stretch>
                    <a:fillRect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D2AC0711-D819-B201-E189-560C167054D7}"/>
              </a:ext>
            </a:extLst>
          </p:cNvPr>
          <p:cNvSpPr txBox="1"/>
          <p:nvPr/>
        </p:nvSpPr>
        <p:spPr>
          <a:xfrm>
            <a:off x="0" y="0"/>
            <a:ext cx="1219099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our analytical (algebraic) results to demonstrate the ordering</a:t>
            </a:r>
          </a:p>
        </p:txBody>
      </p:sp>
    </p:spTree>
    <p:extLst>
      <p:ext uri="{BB962C8B-B14F-4D97-AF65-F5344CB8AC3E}">
        <p14:creationId xmlns:p14="http://schemas.microsoft.com/office/powerpoint/2010/main" val="230750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248E4B1-B136-21CF-5292-D1DBD1A8B9C4}"/>
              </a:ext>
            </a:extLst>
          </p:cNvPr>
          <p:cNvGrpSpPr/>
          <p:nvPr/>
        </p:nvGrpSpPr>
        <p:grpSpPr>
          <a:xfrm>
            <a:off x="511745" y="1486949"/>
            <a:ext cx="5699500" cy="2326715"/>
            <a:chOff x="1856511" y="661746"/>
            <a:chExt cx="6103829" cy="234967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57D3C85-F9B6-8E2B-B10D-535FEFDA5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221" t="11998" r="43759"/>
            <a:stretch/>
          </p:blipFill>
          <p:spPr>
            <a:xfrm>
              <a:off x="1856511" y="661746"/>
              <a:ext cx="6103829" cy="234967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4F2D637-96AD-0337-516C-6841C692E00E}"/>
                    </a:ext>
                  </a:extLst>
                </p:cNvPr>
                <p:cNvSpPr/>
                <p:nvPr/>
              </p:nvSpPr>
              <p:spPr>
                <a:xfrm>
                  <a:off x="4646452" y="1684035"/>
                  <a:ext cx="1707933" cy="46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4F2D637-96AD-0337-516C-6841C692E0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52" y="1684035"/>
                  <a:ext cx="1707933" cy="466221"/>
                </a:xfrm>
                <a:prstGeom prst="rect">
                  <a:avLst/>
                </a:prstGeom>
                <a:blipFill>
                  <a:blip r:embed="rId3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A8E67C4-018E-7A2D-1E1C-2C52BF1BC2F7}"/>
                    </a:ext>
                  </a:extLst>
                </p:cNvPr>
                <p:cNvSpPr/>
                <p:nvPr/>
              </p:nvSpPr>
              <p:spPr>
                <a:xfrm>
                  <a:off x="4646452" y="1075813"/>
                  <a:ext cx="5314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32B8009-BC43-744D-8603-89BB4012A2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52" y="1075813"/>
                  <a:ext cx="53142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1BF5FA-49B8-D1FF-41D4-56C7C1CD5A77}"/>
                    </a:ext>
                  </a:extLst>
                </p:cNvPr>
                <p:cNvSpPr/>
                <p:nvPr/>
              </p:nvSpPr>
              <p:spPr>
                <a:xfrm>
                  <a:off x="4622669" y="2351547"/>
                  <a:ext cx="2273489" cy="4801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1BF5FA-49B8-D1FF-41D4-56C7C1CD5A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2669" y="2351547"/>
                  <a:ext cx="2273489" cy="480143"/>
                </a:xfrm>
                <a:prstGeom prst="rect">
                  <a:avLst/>
                </a:prstGeom>
                <a:blipFill>
                  <a:blip r:embed="rId5"/>
                  <a:stretch>
                    <a:fillRect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B9363C-66EE-6622-093A-18B8DBF79B37}"/>
              </a:ext>
            </a:extLst>
          </p:cNvPr>
          <p:cNvGrpSpPr/>
          <p:nvPr/>
        </p:nvGrpSpPr>
        <p:grpSpPr>
          <a:xfrm>
            <a:off x="7353444" y="1314484"/>
            <a:ext cx="4632081" cy="5000196"/>
            <a:chOff x="7353444" y="1314484"/>
            <a:chExt cx="4632081" cy="500019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DCDC921-A4A1-36A9-0CA8-68A066A82D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53444" y="1314484"/>
              <a:ext cx="4632081" cy="4992551"/>
              <a:chOff x="6679398" y="400083"/>
              <a:chExt cx="5389257" cy="5808652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992C083-EDA2-8558-7736-12B87461E69F}"/>
                  </a:ext>
                </a:extLst>
              </p:cNvPr>
              <p:cNvGrpSpPr/>
              <p:nvPr/>
            </p:nvGrpSpPr>
            <p:grpSpPr>
              <a:xfrm>
                <a:off x="6679398" y="400083"/>
                <a:ext cx="5389257" cy="5808652"/>
                <a:chOff x="6714123" y="1001977"/>
                <a:chExt cx="5389257" cy="5808652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BFFE5BE5-1418-A96A-3762-B996DEE10F2F}"/>
                    </a:ext>
                  </a:extLst>
                </p:cNvPr>
                <p:cNvGrpSpPr/>
                <p:nvPr/>
              </p:nvGrpSpPr>
              <p:grpSpPr>
                <a:xfrm>
                  <a:off x="6714123" y="1001977"/>
                  <a:ext cx="5389257" cy="5808652"/>
                  <a:chOff x="5823454" y="731182"/>
                  <a:chExt cx="5272855" cy="4466836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17DCF415-DE37-BFF0-D24C-4099E737DF9E}"/>
                      </a:ext>
                    </a:extLst>
                  </p:cNvPr>
                  <p:cNvGrpSpPr/>
                  <p:nvPr/>
                </p:nvGrpSpPr>
                <p:grpSpPr>
                  <a:xfrm>
                    <a:off x="5823454" y="731182"/>
                    <a:ext cx="5272855" cy="3935492"/>
                    <a:chOff x="1630144" y="1415748"/>
                    <a:chExt cx="2847813" cy="1847174"/>
                  </a:xfrm>
                </p:grpSpPr>
                <p:pic>
                  <p:nvPicPr>
                    <p:cNvPr id="51" name="Picture 2" descr="Maxwell-Boltzmann distribution pdf.svg">
                      <a:extLst>
                        <a:ext uri="{FF2B5EF4-FFF2-40B4-BE49-F238E27FC236}">
                          <a16:creationId xmlns:a16="http://schemas.microsoft.com/office/drawing/2014/main" id="{2806464C-4235-9C56-7788-AA2FEE2AFF9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222" b="9868"/>
                    <a:stretch/>
                  </p:blipFill>
                  <p:spPr bwMode="auto">
                    <a:xfrm>
                      <a:off x="1917186" y="1415748"/>
                      <a:ext cx="2560771" cy="167801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id="{D1AD1FE1-E22F-B371-D223-63E4CFD8554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482029" y="3101100"/>
                          <a:ext cx="868289" cy="16182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dirty="0"/>
                            <a:t> (speed)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id="{D1AD1FE1-E22F-B371-D223-63E4CFD8554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482029" y="3101100"/>
                          <a:ext cx="868289" cy="161822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 t="-9677" r="-2679" b="-5806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3" name="TextBox 52">
                          <a:extLst>
                            <a:ext uri="{FF2B5EF4-FFF2-40B4-BE49-F238E27FC236}">
                              <a16:creationId xmlns:a16="http://schemas.microsoft.com/office/drawing/2014/main" id="{C11D60EA-B236-94C9-5CA2-184B5B3A938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630144" y="1808040"/>
                          <a:ext cx="287043" cy="166633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p:txBody>
                    </p:sp>
                  </mc:Choice>
                  <mc:Fallback xmlns="">
                    <p:sp>
                      <p:nvSpPr>
                        <p:cNvPr id="25" name="TextBox 24">
                          <a:extLst>
                            <a:ext uri="{FF2B5EF4-FFF2-40B4-BE49-F238E27FC236}">
                              <a16:creationId xmlns:a16="http://schemas.microsoft.com/office/drawing/2014/main" id="{A91FC6EB-8E8B-394A-ABFD-DDABB48BA84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630144" y="1808040"/>
                          <a:ext cx="287043" cy="166633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l="-9302" b="-1621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41B6665B-25B0-532E-C6F4-B88CBB353086}"/>
                      </a:ext>
                    </a:extLst>
                  </p:cNvPr>
                  <p:cNvGrpSpPr/>
                  <p:nvPr/>
                </p:nvGrpSpPr>
                <p:grpSpPr>
                  <a:xfrm>
                    <a:off x="8042029" y="4303631"/>
                    <a:ext cx="1392037" cy="894387"/>
                    <a:chOff x="6405446" y="3857319"/>
                    <a:chExt cx="1392037" cy="894387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7" name="Rectangle 46">
                          <a:extLst>
                            <a:ext uri="{FF2B5EF4-FFF2-40B4-BE49-F238E27FC236}">
                              <a16:creationId xmlns:a16="http://schemas.microsoft.com/office/drawing/2014/main" id="{37B55AF4-795B-173F-8EA1-8B007EA65CF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05446" y="4338654"/>
                          <a:ext cx="460348" cy="41305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00B050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47" name="Rectangle 46">
                          <a:extLst>
                            <a:ext uri="{FF2B5EF4-FFF2-40B4-BE49-F238E27FC236}">
                              <a16:creationId xmlns:a16="http://schemas.microsoft.com/office/drawing/2014/main" id="{37B55AF4-795B-173F-8EA1-8B007EA65CFD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405446" y="4338654"/>
                          <a:ext cx="460348" cy="413052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48" name="Straight Arrow Connector 47">
                      <a:extLst>
                        <a:ext uri="{FF2B5EF4-FFF2-40B4-BE49-F238E27FC236}">
                          <a16:creationId xmlns:a16="http://schemas.microsoft.com/office/drawing/2014/main" id="{FEF88A99-83C6-08F7-4A8C-4C1BC6B634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993888" y="3857319"/>
                      <a:ext cx="803595" cy="511715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Straight Arrow Connector 48">
                      <a:extLst>
                        <a:ext uri="{FF2B5EF4-FFF2-40B4-BE49-F238E27FC236}">
                          <a16:creationId xmlns:a16="http://schemas.microsoft.com/office/drawing/2014/main" id="{944678B2-28D7-18D6-0EA7-251721FDD0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511422" y="3859969"/>
                      <a:ext cx="132758" cy="509065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Straight Arrow Connector 49">
                      <a:extLst>
                        <a:ext uri="{FF2B5EF4-FFF2-40B4-BE49-F238E27FC236}">
                          <a16:creationId xmlns:a16="http://schemas.microsoft.com/office/drawing/2014/main" id="{CFB0E748-74A8-68B3-7A43-BF1D2D3E67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6755155" y="3859968"/>
                      <a:ext cx="510857" cy="509066"/>
                    </a:xfrm>
                    <a:prstGeom prst="straightConnector1">
                      <a:avLst/>
                    </a:prstGeom>
                    <a:ln w="25400">
                      <a:solidFill>
                        <a:srgbClr val="00B05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4EEF0C3E-257B-BC88-1D0E-336FB9BB70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176990" y="1222771"/>
                  <a:ext cx="1537990" cy="1393107"/>
                </a:xfrm>
                <a:prstGeom prst="rect">
                  <a:avLst/>
                </a:prstGeom>
              </p:spPr>
            </p:pic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1EA2DE9-CB93-98F6-C434-21793DDC34F0}"/>
                  </a:ext>
                </a:extLst>
              </p:cNvPr>
              <p:cNvGrpSpPr/>
              <p:nvPr/>
            </p:nvGrpSpPr>
            <p:grpSpPr>
              <a:xfrm>
                <a:off x="9077953" y="4228009"/>
                <a:ext cx="226426" cy="779834"/>
                <a:chOff x="9077953" y="4228009"/>
                <a:chExt cx="226426" cy="779834"/>
              </a:xfrm>
            </p:grpSpPr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E64CBE5E-00AD-463D-AE21-98CEDF11B5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04379" y="4284617"/>
                  <a:ext cx="0" cy="723226"/>
                </a:xfrm>
                <a:prstGeom prst="line">
                  <a:avLst/>
                </a:prstGeom>
                <a:ln w="25400">
                  <a:solidFill>
                    <a:srgbClr val="00B05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7901827B-7FCE-75FA-1DA5-9A279239E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7953" y="4228009"/>
                  <a:ext cx="0" cy="723226"/>
                </a:xfrm>
                <a:prstGeom prst="line">
                  <a:avLst/>
                </a:prstGeom>
                <a:ln w="25400">
                  <a:solidFill>
                    <a:srgbClr val="00B05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0F6C3E5-1083-D833-998F-BA5B57CDFA57}"/>
                </a:ext>
              </a:extLst>
            </p:cNvPr>
            <p:cNvCxnSpPr>
              <a:cxnSpLocks/>
            </p:cNvCxnSpPr>
            <p:nvPr/>
          </p:nvCxnSpPr>
          <p:spPr>
            <a:xfrm>
              <a:off x="9789283" y="4738255"/>
              <a:ext cx="0" cy="518969"/>
            </a:xfrm>
            <a:prstGeom prst="line">
              <a:avLst/>
            </a:prstGeom>
            <a:ln w="254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989D3D3-A45E-13E4-A2A9-508E389765FD}"/>
                    </a:ext>
                  </a:extLst>
                </p:cNvPr>
                <p:cNvSpPr/>
                <p:nvPr/>
              </p:nvSpPr>
              <p:spPr>
                <a:xfrm>
                  <a:off x="9901183" y="5842410"/>
                  <a:ext cx="40440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989D3D3-A45E-13E4-A2A9-508E389765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1183" y="5842410"/>
                  <a:ext cx="404405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065BAA3-3012-743F-1844-0525C5FD17BC}"/>
                    </a:ext>
                  </a:extLst>
                </p:cNvPr>
                <p:cNvSpPr/>
                <p:nvPr/>
              </p:nvSpPr>
              <p:spPr>
                <a:xfrm>
                  <a:off x="10470786" y="5853015"/>
                  <a:ext cx="40440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065BAA3-3012-743F-1844-0525C5FD17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0786" y="5853015"/>
                  <a:ext cx="404405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734B002-7047-7F38-361A-EE1B5FCBFA93}"/>
                    </a:ext>
                  </a:extLst>
                </p:cNvPr>
                <p:cNvSpPr/>
                <p:nvPr/>
              </p:nvSpPr>
              <p:spPr>
                <a:xfrm>
                  <a:off x="8771408" y="5832515"/>
                  <a:ext cx="53142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734B002-7047-7F38-361A-EE1B5FCBFA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1408" y="5832515"/>
                  <a:ext cx="531428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22DEEDD-D776-DD30-D459-32085656EE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5600" y="5263537"/>
              <a:ext cx="137990" cy="615788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D406667-A914-37CA-8655-31A9DC80F668}"/>
                </a:ext>
              </a:extLst>
            </p:cNvPr>
            <p:cNvCxnSpPr>
              <a:cxnSpLocks/>
            </p:cNvCxnSpPr>
            <p:nvPr/>
          </p:nvCxnSpPr>
          <p:spPr>
            <a:xfrm>
              <a:off x="9180047" y="4526320"/>
              <a:ext cx="503" cy="699891"/>
            </a:xfrm>
            <a:prstGeom prst="line">
              <a:avLst/>
            </a:prstGeom>
            <a:ln w="254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BE953A-2CBA-5B7D-CC40-D02D9B3047D8}"/>
                  </a:ext>
                </a:extLst>
              </p:cNvPr>
              <p:cNvSpPr txBox="1"/>
              <p:nvPr/>
            </p:nvSpPr>
            <p:spPr>
              <a:xfrm>
                <a:off x="511744" y="3704914"/>
                <a:ext cx="5819403" cy="1648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8/2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BE953A-2CBA-5B7D-CC40-D02D9B304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4" y="3704914"/>
                <a:ext cx="5819403" cy="16484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D9DE569D-CB35-B265-A6E2-72A9C50D407E}"/>
              </a:ext>
            </a:extLst>
          </p:cNvPr>
          <p:cNvSpPr txBox="1"/>
          <p:nvPr/>
        </p:nvSpPr>
        <p:spPr>
          <a:xfrm>
            <a:off x="0" y="0"/>
            <a:ext cx="1219099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Using our analytical (algebraic) results to demonstrate the ordering</a:t>
            </a:r>
          </a:p>
        </p:txBody>
      </p:sp>
    </p:spTree>
    <p:extLst>
      <p:ext uri="{BB962C8B-B14F-4D97-AF65-F5344CB8AC3E}">
        <p14:creationId xmlns:p14="http://schemas.microsoft.com/office/powerpoint/2010/main" val="191985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89A1EA2-DFB5-4221-D185-D88056062030}"/>
              </a:ext>
            </a:extLst>
          </p:cNvPr>
          <p:cNvGrpSpPr/>
          <p:nvPr/>
        </p:nvGrpSpPr>
        <p:grpSpPr>
          <a:xfrm>
            <a:off x="-2764050" y="518747"/>
            <a:ext cx="14850033" cy="4210861"/>
            <a:chOff x="-2764050" y="1504396"/>
            <a:chExt cx="14850033" cy="42108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8C5258F-D2CE-2048-9F9A-A3299B1B9F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520" t="11406" r="21348" b="64728"/>
            <a:stretch/>
          </p:blipFill>
          <p:spPr>
            <a:xfrm>
              <a:off x="4940135" y="1504396"/>
              <a:ext cx="7145848" cy="323918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61D19B9-9074-5C4F-9E42-B49CA272996B}"/>
                    </a:ext>
                  </a:extLst>
                </p:cNvPr>
                <p:cNvSpPr txBox="1"/>
                <p:nvPr/>
              </p:nvSpPr>
              <p:spPr>
                <a:xfrm>
                  <a:off x="228504" y="1677886"/>
                  <a:ext cx="4711631" cy="3228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&gt; = </m:t>
                        </m:r>
                        <m:nary>
                          <m:nary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  <a:p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𝑑𝑣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2400" dirty="0"/>
                </a:p>
                <a:p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 =</m:t>
                        </m:r>
                        <m:nary>
                          <m:nary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𝑑𝑣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61D19B9-9074-5C4F-9E42-B49CA2729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504" y="1677886"/>
                  <a:ext cx="4711631" cy="3228384"/>
                </a:xfrm>
                <a:prstGeom prst="rect">
                  <a:avLst/>
                </a:prstGeom>
                <a:blipFill>
                  <a:blip r:embed="rId3"/>
                  <a:stretch>
                    <a:fillRect t="-47451" b="-6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Arc 1">
              <a:extLst>
                <a:ext uri="{FF2B5EF4-FFF2-40B4-BE49-F238E27FC236}">
                  <a16:creationId xmlns:a16="http://schemas.microsoft.com/office/drawing/2014/main" id="{4BFAB8FC-70D3-0549-94C8-D1A4BB2CA8AF}"/>
                </a:ext>
              </a:extLst>
            </p:cNvPr>
            <p:cNvSpPr/>
            <p:nvPr/>
          </p:nvSpPr>
          <p:spPr>
            <a:xfrm>
              <a:off x="-2764050" y="2139894"/>
              <a:ext cx="12869951" cy="3575363"/>
            </a:xfrm>
            <a:prstGeom prst="arc">
              <a:avLst>
                <a:gd name="adj1" fmla="val 17557380"/>
                <a:gd name="adj2" fmla="val 21035677"/>
              </a:avLst>
            </a:prstGeom>
            <a:ln w="63500">
              <a:solidFill>
                <a:schemeClr val="accent1">
                  <a:alpha val="48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2981E6-A59C-41D7-7F49-6D14838E5AC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But … where did those analytical results come from?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67C046-9744-D4B1-F826-0F14867F2032}"/>
                  </a:ext>
                </a:extLst>
              </p:cNvPr>
              <p:cNvSpPr txBox="1"/>
              <p:nvPr/>
            </p:nvSpPr>
            <p:spPr>
              <a:xfrm>
                <a:off x="430306" y="4030168"/>
                <a:ext cx="11557802" cy="25958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For practice, make sure you can derive formulas for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. Then: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Derive a formula for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Derive a formula for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&gt;+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&gt;+ &lt;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. This will require integration of expressions like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/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From there, derive a formula for the average kinetic energy of a mole of molecules,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(&lt;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&gt;+ &lt;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&gt;+ &lt;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&gt;)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67C046-9744-D4B1-F826-0F14867F2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06" y="4030168"/>
                <a:ext cx="11557802" cy="2595839"/>
              </a:xfrm>
              <a:prstGeom prst="rect">
                <a:avLst/>
              </a:prstGeom>
              <a:blipFill>
                <a:blip r:embed="rId4"/>
                <a:stretch>
                  <a:fillRect l="-768" t="-966" b="-579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88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9CE696-3094-B5CA-C145-5208FCB029A6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Finishing up the “Moments” CGI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B866E-5523-1885-0454-445DBA10F7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91" b="57001"/>
          <a:stretch/>
        </p:blipFill>
        <p:spPr>
          <a:xfrm>
            <a:off x="211390" y="1579418"/>
            <a:ext cx="9921281" cy="6754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FBC010-9AEC-1FB4-C000-8D787F93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99" y="2686602"/>
            <a:ext cx="11472074" cy="282669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876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366</Words>
  <Application>Microsoft Macintosh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83</cp:revision>
  <dcterms:created xsi:type="dcterms:W3CDTF">2021-09-15T13:12:24Z</dcterms:created>
  <dcterms:modified xsi:type="dcterms:W3CDTF">2025-08-14T14:20:43Z</dcterms:modified>
</cp:coreProperties>
</file>