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70" r:id="rId2"/>
    <p:sldId id="390" r:id="rId3"/>
    <p:sldId id="392" r:id="rId4"/>
    <p:sldId id="393" r:id="rId5"/>
    <p:sldId id="394" r:id="rId6"/>
    <p:sldId id="337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967"/>
    <p:restoredTop sz="95964"/>
  </p:normalViewPr>
  <p:slideViewPr>
    <p:cSldViewPr snapToGrid="0" snapToObjects="1">
      <p:cViewPr varScale="1">
        <p:scale>
          <a:sx n="110" d="100"/>
          <a:sy n="110" d="100"/>
        </p:scale>
        <p:origin x="176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B1BB8-BFCD-8B40-BCA2-9D74A724F1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5AEB0E-BB2B-D24A-B7EB-37C988C0FC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2804DC-F053-674B-BEAA-7FC624183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350FC-BF98-A74E-AD79-FA6ECB385464}" type="datetimeFigureOut">
              <a:rPr lang="en-US" smtClean="0"/>
              <a:t>9/21/25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82F5AC-2DD8-0D43-A964-C558F4CFC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76DFBC-0808-2241-BA7A-5BE7AF0AE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5C40D-935C-E84F-8644-65A2EBF66F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4731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88D0E-3336-D446-945C-0EE675DD0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2B145C-DA9E-9640-A4E6-A17C86FFD1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CE24F2-7670-3847-98DE-B451E5D94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350FC-BF98-A74E-AD79-FA6ECB385464}" type="datetimeFigureOut">
              <a:rPr lang="en-US" smtClean="0"/>
              <a:t>9/21/25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A08CB2-4A9A-9F40-8DC7-262AD66AB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DC7C1A-E57C-DF45-9FF9-9FE48DBB1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5C40D-935C-E84F-8644-65A2EBF66F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6505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B89AA-22E6-A147-8485-43B091111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19A5F1-BDB5-A041-987B-43A1F1753E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E7D7EE-E2AB-A549-84B9-5F587B59B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350FC-BF98-A74E-AD79-FA6ECB385464}" type="datetimeFigureOut">
              <a:rPr lang="en-US" smtClean="0"/>
              <a:t>9/21/25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E237ED-4C91-6F43-AD59-DCFEC8C83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8A8B90-2186-FE4C-8775-3ED5707F2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5C40D-935C-E84F-8644-65A2EBF66F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1690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216BD-F0AC-5F4D-AB36-81FCEB36C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416A2B-0AE5-D04A-A9E1-A343C5957B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04B943-BA66-2C44-8645-2B976A2921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F7BBA2-F40D-6C41-B74B-B23BA4049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350FC-BF98-A74E-AD79-FA6ECB385464}" type="datetimeFigureOut">
              <a:rPr lang="en-US" smtClean="0"/>
              <a:t>9/21/25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FB51DC-6518-914F-A3A9-CF9789CA9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641AE2-4A45-0940-8761-E5CC4A303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5C40D-935C-E84F-8644-65A2EBF66F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4412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682AC-487B-8740-A841-450411CC85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ACAD34-AE86-E444-BCB7-FAB95DC3BD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401FCA-AFFC-254A-80EC-8630505867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7A3710-ED0D-F24D-B023-74903BAA03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CCDA34-4621-084A-9DB0-18DC221EC0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CE2F10-5BA9-7D45-881F-4597E76B5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350FC-BF98-A74E-AD79-FA6ECB385464}" type="datetimeFigureOut">
              <a:rPr lang="en-US" smtClean="0"/>
              <a:t>9/21/25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2C9856-C7D4-2648-86D2-D50EB6C86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2E5B96E-F8BD-7E45-86E5-78D4B13EE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5C40D-935C-E84F-8644-65A2EBF66F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0827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DD943-602B-B946-A22D-D0655CD38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FA337B-ED37-9244-9875-4B1EC2F8A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350FC-BF98-A74E-AD79-FA6ECB385464}" type="datetimeFigureOut">
              <a:rPr lang="en-US" smtClean="0"/>
              <a:t>9/21/25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9D922E-8ABD-E845-A9AA-8A08284A2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91AFA1-B38C-9E4F-BDE8-AA18B6941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5C40D-935C-E84F-8644-65A2EBF66F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0198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194D48-0764-5A49-A5B2-292A10196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350FC-BF98-A74E-AD79-FA6ECB385464}" type="datetimeFigureOut">
              <a:rPr lang="en-US" smtClean="0"/>
              <a:t>9/21/25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6B832F-EF8B-C940-BF94-4F02E816E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2E57A9-3F1B-094B-AAD1-B0A5EABB4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5C40D-935C-E84F-8644-65A2EBF66F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5951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558E7-EA48-9446-84ED-D773C1CAA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C9F857-D995-A941-A7B1-07EBE3D885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5F83CF-7563-0F44-B108-5003606DD7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059ED6-8110-8248-B129-2F122EB57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350FC-BF98-A74E-AD79-FA6ECB385464}" type="datetimeFigureOut">
              <a:rPr lang="en-US" smtClean="0"/>
              <a:t>9/21/25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CCF104-6002-9541-8EC8-333B4BE75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AB9BB7-A917-934B-9D29-FB495969F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5C40D-935C-E84F-8644-65A2EBF66F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2068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AB509-032B-3A4E-BCA3-3FBFF90C7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AEDC3D-B72C-E64D-9B49-80277AEA9C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6C66DD-D84C-2342-813A-A84272F1DC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4BE1D2-27F9-D04A-AA25-28863E27F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350FC-BF98-A74E-AD79-FA6ECB385464}" type="datetimeFigureOut">
              <a:rPr lang="en-US" smtClean="0"/>
              <a:t>9/21/25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27D9E1-F25E-804B-B473-A7013EA87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3603BF-0A0E-7B4C-B553-FD3E9032D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5C40D-935C-E84F-8644-65A2EBF66F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1997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5A4E2-384B-E646-8C70-B7BF1FA9D4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591E5F-E0F9-834B-A461-B4D61F3BF0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DB3019-5E1D-1643-8228-FA99115F5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350FC-BF98-A74E-AD79-FA6ECB385464}" type="datetimeFigureOut">
              <a:rPr lang="en-US" smtClean="0"/>
              <a:t>9/21/25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5F53A5-4749-2D48-96BF-C0CDFC9B7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3E82D1-385A-C940-9746-D422107A7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5C40D-935C-E84F-8644-65A2EBF66F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8858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670FA2-7213-1243-8F91-95D90EAD03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950234-DCAD-594D-8097-2427FF8777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25629B-7796-444A-99C1-B02E95F96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350FC-BF98-A74E-AD79-FA6ECB385464}" type="datetimeFigureOut">
              <a:rPr lang="en-US" smtClean="0"/>
              <a:t>9/21/25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890377-0B1C-FA4B-B6B1-D4B869129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43017B-8C1C-274A-8015-7249D7330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5C40D-935C-E84F-8644-65A2EBF66F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8921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16ACA1-F26D-C94A-9E3E-F5247C77BF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60ED1D-6719-3048-A18F-0F4682F478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849B18-DEF1-6944-9175-22409D0D63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B350FC-BF98-A74E-AD79-FA6ECB385464}" type="datetimeFigureOut">
              <a:rPr lang="en-US" smtClean="0"/>
              <a:t>9/21/25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03A648-8A92-F041-8E46-7478C9CDC0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C01AD6-E72F-B544-A2A9-C633A290C8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95C40D-935C-E84F-8644-65A2EBF66F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34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20.png"/><Relationship Id="rId9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7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7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9.png"/><Relationship Id="rId4" Type="http://schemas.openxmlformats.org/officeDocument/2006/relationships/image" Target="../media/image2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7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9.png"/><Relationship Id="rId5" Type="http://schemas.openxmlformats.org/officeDocument/2006/relationships/image" Target="../media/image4.png"/><Relationship Id="rId10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7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1.png"/><Relationship Id="rId5" Type="http://schemas.openxmlformats.org/officeDocument/2006/relationships/image" Target="../media/image4.png"/><Relationship Id="rId10" Type="http://schemas.openxmlformats.org/officeDocument/2006/relationships/image" Target="../media/image10.png"/><Relationship Id="rId4" Type="http://schemas.openxmlformats.org/officeDocument/2006/relationships/image" Target="../media/image3.png"/><Relationship Id="rId9" Type="http://schemas.openxmlformats.org/officeDocument/2006/relationships/image" Target="../media/image9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F27C0FE-476B-86A7-421E-F83F63BC8ACA}"/>
              </a:ext>
            </a:extLst>
          </p:cNvPr>
          <p:cNvSpPr txBox="1"/>
          <p:nvPr/>
        </p:nvSpPr>
        <p:spPr>
          <a:xfrm>
            <a:off x="18346" y="493058"/>
            <a:ext cx="121736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ea typeface="Cambria Math" panose="02040503050406030204" pitchFamily="18" charset="0"/>
              </a:rPr>
              <a:t>OK … what if we wanted to think about all this in terms of </a:t>
            </a:r>
            <a:r>
              <a:rPr lang="en-US" sz="2400" b="1" dirty="0">
                <a:ea typeface="Cambria Math" panose="02040503050406030204" pitchFamily="18" charset="0"/>
              </a:rPr>
              <a:t>kinetic energy</a:t>
            </a:r>
            <a:r>
              <a:rPr lang="en-US" sz="2400" dirty="0">
                <a:ea typeface="Cambria Math" panose="02040503050406030204" pitchFamily="18" charset="0"/>
              </a:rPr>
              <a:t> instead of </a:t>
            </a:r>
            <a:r>
              <a:rPr lang="en-US" sz="2400" b="1" dirty="0">
                <a:ea typeface="Cambria Math" panose="02040503050406030204" pitchFamily="18" charset="0"/>
              </a:rPr>
              <a:t>speed</a:t>
            </a:r>
            <a:r>
              <a:rPr lang="en-US" sz="2400" dirty="0">
                <a:ea typeface="Cambria Math" panose="02040503050406030204" pitchFamily="18" charset="0"/>
              </a:rPr>
              <a:t>?</a:t>
            </a:r>
            <a:endParaRPr lang="en-US" sz="24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A484F1C-4EA3-EA24-D3F4-8B6F77F4A868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Transforming from one probability density to another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E32E79B0-FF48-E470-7CD4-8F925DDAADF6}"/>
              </a:ext>
            </a:extLst>
          </p:cNvPr>
          <p:cNvGrpSpPr/>
          <p:nvPr/>
        </p:nvGrpSpPr>
        <p:grpSpPr>
          <a:xfrm>
            <a:off x="982735" y="1317971"/>
            <a:ext cx="5432749" cy="3790576"/>
            <a:chOff x="711498" y="1883774"/>
            <a:chExt cx="5432749" cy="3790576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3D9BBF56-EDEA-709E-B545-1589F389F163}"/>
                </a:ext>
              </a:extLst>
            </p:cNvPr>
            <p:cNvGrpSpPr/>
            <p:nvPr/>
          </p:nvGrpSpPr>
          <p:grpSpPr>
            <a:xfrm>
              <a:off x="711498" y="2540776"/>
              <a:ext cx="5432749" cy="3133574"/>
              <a:chOff x="6005226" y="4162925"/>
              <a:chExt cx="5432749" cy="3133574"/>
            </a:xfrm>
          </p:grpSpPr>
          <p:pic>
            <p:nvPicPr>
              <p:cNvPr id="25" name="Picture 4">
                <a:extLst>
                  <a:ext uri="{FF2B5EF4-FFF2-40B4-BE49-F238E27FC236}">
                    <a16:creationId xmlns:a16="http://schemas.microsoft.com/office/drawing/2014/main" id="{942530BE-51F7-5FC2-61F0-917665D1850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1408" b="7014"/>
              <a:stretch/>
            </p:blipFill>
            <p:spPr bwMode="auto">
              <a:xfrm>
                <a:off x="6005226" y="4162925"/>
                <a:ext cx="5125199" cy="313357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7F7B1C44-0B44-CF02-4E4D-7449193C679B}"/>
                      </a:ext>
                    </a:extLst>
                  </p:cNvPr>
                  <p:cNvSpPr txBox="1"/>
                  <p:nvPr/>
                </p:nvSpPr>
                <p:spPr>
                  <a:xfrm>
                    <a:off x="7503649" y="5088208"/>
                    <a:ext cx="3934326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en-US" sz="24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</m:sub>
                        </m:sSub>
                        <m:d>
                          <m:dPr>
                            <m:ctrlPr>
                              <a:rPr lang="en-US" sz="24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en-US" sz="24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40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𝜀</m:t>
                            </m:r>
                          </m:e>
                        </m:d>
                      </m:oMath>
                    </a14:m>
                    <a:r>
                      <a:rPr lang="en-US" sz="2400" dirty="0">
                        <a:solidFill>
                          <a:srgbClr val="7030A0"/>
                        </a:solidFill>
                      </a:rPr>
                      <a:t> </a:t>
                    </a:r>
                  </a:p>
                </p:txBody>
              </p:sp>
            </mc:Choice>
            <mc:Fallback xmlns="">
              <p:sp>
                <p:nvSpPr>
                  <p:cNvPr id="1034" name="TextBox 1033">
                    <a:extLst>
                      <a:ext uri="{FF2B5EF4-FFF2-40B4-BE49-F238E27FC236}">
                        <a16:creationId xmlns:a16="http://schemas.microsoft.com/office/drawing/2014/main" id="{5217FD9E-2DC3-A50F-3320-4CCBB0E02CF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503649" y="5088208"/>
                    <a:ext cx="3934326" cy="461665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1613" b="-18919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7D7EF08-E337-6C6A-51F9-13C154FC9E53}"/>
                </a:ext>
              </a:extLst>
            </p:cNvPr>
            <p:cNvSpPr txBox="1"/>
            <p:nvPr/>
          </p:nvSpPr>
          <p:spPr>
            <a:xfrm>
              <a:off x="1214171" y="1883774"/>
              <a:ext cx="432667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New: Energy probability density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86048742-1796-DF60-43DB-81AAF9CF5B74}"/>
                  </a:ext>
                </a:extLst>
              </p:cNvPr>
              <p:cNvSpPr txBox="1"/>
              <p:nvPr/>
            </p:nvSpPr>
            <p:spPr>
              <a:xfrm>
                <a:off x="331764" y="5469500"/>
                <a:ext cx="11318357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We’re </a:t>
                </a:r>
                <a:r>
                  <a:rPr lang="en-US" sz="2400" b="1" dirty="0">
                    <a:solidFill>
                      <a:srgbClr val="FF0000"/>
                    </a:solidFill>
                  </a:rPr>
                  <a:t>going to insist</a:t>
                </a:r>
                <a:r>
                  <a:rPr lang="en-US" sz="2400" b="1" dirty="0"/>
                  <a:t> </a:t>
                </a:r>
                <a:r>
                  <a:rPr lang="en-US" sz="2400" dirty="0"/>
                  <a:t>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gives the same probability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sz="2400" dirty="0"/>
                  <a:t>:</a:t>
                </a:r>
              </a:p>
              <a:p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400" b="0" i="1"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2400" b="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sz="24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sz="2400" b="0" i="1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86048742-1796-DF60-43DB-81AAF9CF5B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764" y="5469500"/>
                <a:ext cx="11318357" cy="1200329"/>
              </a:xfrm>
              <a:prstGeom prst="rect">
                <a:avLst/>
              </a:prstGeom>
              <a:blipFill>
                <a:blip r:embed="rId5"/>
                <a:stretch>
                  <a:fillRect l="-784" t="-3125" b="-52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1">
            <a:extLst>
              <a:ext uri="{FF2B5EF4-FFF2-40B4-BE49-F238E27FC236}">
                <a16:creationId xmlns:a16="http://schemas.microsoft.com/office/drawing/2014/main" id="{E44E2E35-70A8-9174-C8C7-8ED488E64BD0}"/>
              </a:ext>
            </a:extLst>
          </p:cNvPr>
          <p:cNvGrpSpPr/>
          <p:nvPr/>
        </p:nvGrpSpPr>
        <p:grpSpPr>
          <a:xfrm>
            <a:off x="5954534" y="1317971"/>
            <a:ext cx="5059283" cy="3711230"/>
            <a:chOff x="7081788" y="1897487"/>
            <a:chExt cx="5059283" cy="3711230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70DFB54A-897E-EC25-F086-DF546596EF25}"/>
                </a:ext>
              </a:extLst>
            </p:cNvPr>
            <p:cNvGrpSpPr/>
            <p:nvPr/>
          </p:nvGrpSpPr>
          <p:grpSpPr>
            <a:xfrm>
              <a:off x="7081788" y="2540777"/>
              <a:ext cx="5059283" cy="3067940"/>
              <a:chOff x="505624" y="4227826"/>
              <a:chExt cx="5059283" cy="3067940"/>
            </a:xfrm>
          </p:grpSpPr>
          <p:pic>
            <p:nvPicPr>
              <p:cNvPr id="42" name="Picture 2">
                <a:extLst>
                  <a:ext uri="{FF2B5EF4-FFF2-40B4-BE49-F238E27FC236}">
                    <a16:creationId xmlns:a16="http://schemas.microsoft.com/office/drawing/2014/main" id="{0D9178EC-ED01-DD67-3BBC-A756C106A96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1558" b="7533"/>
              <a:stretch/>
            </p:blipFill>
            <p:spPr bwMode="auto">
              <a:xfrm>
                <a:off x="505624" y="4227826"/>
                <a:ext cx="5059283" cy="306794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1" name="TextBox 40">
                    <a:extLst>
                      <a:ext uri="{FF2B5EF4-FFF2-40B4-BE49-F238E27FC236}">
                        <a16:creationId xmlns:a16="http://schemas.microsoft.com/office/drawing/2014/main" id="{643CF14B-D099-7C84-1B2A-365B584C156B}"/>
                      </a:ext>
                    </a:extLst>
                  </p:cNvPr>
                  <p:cNvSpPr txBox="1"/>
                  <p:nvPr/>
                </p:nvSpPr>
                <p:spPr>
                  <a:xfrm>
                    <a:off x="3366356" y="4407154"/>
                    <a:ext cx="1654342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</m:sub>
                        </m:sSub>
                        <m:d>
                          <m:dPr>
                            <m:ctrlPr>
                              <a:rPr lang="en-US" sz="24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en-US" sz="24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4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d>
                      </m:oMath>
                    </a14:m>
                    <a:r>
                      <a:rPr lang="en-US" sz="2400" dirty="0"/>
                      <a:t> </a:t>
                    </a:r>
                  </a:p>
                </p:txBody>
              </p:sp>
            </mc:Choice>
            <mc:Fallback xmlns="">
              <p:sp>
                <p:nvSpPr>
                  <p:cNvPr id="41" name="TextBox 40">
                    <a:extLst>
                      <a:ext uri="{FF2B5EF4-FFF2-40B4-BE49-F238E27FC236}">
                        <a16:creationId xmlns:a16="http://schemas.microsoft.com/office/drawing/2014/main" id="{643CF14B-D099-7C84-1B2A-365B584C156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66356" y="4407154"/>
                    <a:ext cx="1654342" cy="461665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3053" b="-18919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A20A217-FA68-9CBD-3018-AA6F20FEC692}"/>
                </a:ext>
              </a:extLst>
            </p:cNvPr>
            <p:cNvSpPr txBox="1"/>
            <p:nvPr/>
          </p:nvSpPr>
          <p:spPr>
            <a:xfrm>
              <a:off x="7667471" y="1897487"/>
              <a:ext cx="432667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Old: Speed probability density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FCC98F5C-D179-8F5A-B024-96173BD90A1A}"/>
                  </a:ext>
                </a:extLst>
              </p:cNvPr>
              <p:cNvSpPr txBox="1"/>
              <p:nvPr/>
            </p:nvSpPr>
            <p:spPr>
              <a:xfrm>
                <a:off x="2971800" y="4976442"/>
                <a:ext cx="92847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FCC98F5C-D179-8F5A-B024-96173BD90A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1800" y="4976442"/>
                <a:ext cx="928477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EE67DC20-3406-06FE-4199-360BBD2A9DAF}"/>
                  </a:ext>
                </a:extLst>
              </p:cNvPr>
              <p:cNvSpPr txBox="1"/>
              <p:nvPr/>
            </p:nvSpPr>
            <p:spPr>
              <a:xfrm>
                <a:off x="7754177" y="4952187"/>
                <a:ext cx="165434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EE67DC20-3406-06FE-4199-360BBD2A9D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4177" y="4952187"/>
                <a:ext cx="1654342" cy="4616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441912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F27C0FE-476B-86A7-421E-F83F63BC8ACA}"/>
              </a:ext>
            </a:extLst>
          </p:cNvPr>
          <p:cNvSpPr txBox="1"/>
          <p:nvPr/>
        </p:nvSpPr>
        <p:spPr>
          <a:xfrm>
            <a:off x="18346" y="493058"/>
            <a:ext cx="121736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ea typeface="Cambria Math" panose="02040503050406030204" pitchFamily="18" charset="0"/>
              </a:rPr>
              <a:t>OK … what if we wanted to think about all this in terms of </a:t>
            </a:r>
            <a:r>
              <a:rPr lang="en-US" sz="2400" b="1" dirty="0">
                <a:ea typeface="Cambria Math" panose="02040503050406030204" pitchFamily="18" charset="0"/>
              </a:rPr>
              <a:t>kinetic energy</a:t>
            </a:r>
            <a:r>
              <a:rPr lang="en-US" sz="2400" dirty="0">
                <a:ea typeface="Cambria Math" panose="02040503050406030204" pitchFamily="18" charset="0"/>
              </a:rPr>
              <a:t> instead of </a:t>
            </a:r>
            <a:r>
              <a:rPr lang="en-US" sz="2400" b="1" dirty="0">
                <a:ea typeface="Cambria Math" panose="02040503050406030204" pitchFamily="18" charset="0"/>
              </a:rPr>
              <a:t>speed</a:t>
            </a:r>
            <a:r>
              <a:rPr lang="en-US" sz="2400" dirty="0">
                <a:ea typeface="Cambria Math" panose="02040503050406030204" pitchFamily="18" charset="0"/>
              </a:rPr>
              <a:t>?</a:t>
            </a:r>
            <a:endParaRPr lang="en-US" sz="24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A484F1C-4EA3-EA24-D3F4-8B6F77F4A868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Transforming from one probability density to another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E32E79B0-FF48-E470-7CD4-8F925DDAADF6}"/>
              </a:ext>
            </a:extLst>
          </p:cNvPr>
          <p:cNvGrpSpPr/>
          <p:nvPr/>
        </p:nvGrpSpPr>
        <p:grpSpPr>
          <a:xfrm>
            <a:off x="982735" y="1317971"/>
            <a:ext cx="5432749" cy="3790576"/>
            <a:chOff x="711498" y="1883774"/>
            <a:chExt cx="5432749" cy="3790576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3D9BBF56-EDEA-709E-B545-1589F389F163}"/>
                </a:ext>
              </a:extLst>
            </p:cNvPr>
            <p:cNvGrpSpPr/>
            <p:nvPr/>
          </p:nvGrpSpPr>
          <p:grpSpPr>
            <a:xfrm>
              <a:off x="711498" y="2540776"/>
              <a:ext cx="5432749" cy="3133574"/>
              <a:chOff x="6005226" y="4162925"/>
              <a:chExt cx="5432749" cy="3133574"/>
            </a:xfrm>
          </p:grpSpPr>
          <p:pic>
            <p:nvPicPr>
              <p:cNvPr id="25" name="Picture 4">
                <a:extLst>
                  <a:ext uri="{FF2B5EF4-FFF2-40B4-BE49-F238E27FC236}">
                    <a16:creationId xmlns:a16="http://schemas.microsoft.com/office/drawing/2014/main" id="{942530BE-51F7-5FC2-61F0-917665D1850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1408" b="7014"/>
              <a:stretch/>
            </p:blipFill>
            <p:spPr bwMode="auto">
              <a:xfrm>
                <a:off x="6005226" y="4162925"/>
                <a:ext cx="5125199" cy="313357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7F7B1C44-0B44-CF02-4E4D-7449193C679B}"/>
                      </a:ext>
                    </a:extLst>
                  </p:cNvPr>
                  <p:cNvSpPr txBox="1"/>
                  <p:nvPr/>
                </p:nvSpPr>
                <p:spPr>
                  <a:xfrm>
                    <a:off x="7503649" y="5088208"/>
                    <a:ext cx="3934326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en-US" sz="24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</m:sub>
                        </m:sSub>
                        <m:d>
                          <m:dPr>
                            <m:ctrlPr>
                              <a:rPr lang="en-US" sz="24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en-US" sz="24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40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𝜀</m:t>
                            </m:r>
                          </m:e>
                        </m:d>
                      </m:oMath>
                    </a14:m>
                    <a:r>
                      <a:rPr lang="en-US" sz="2400" dirty="0">
                        <a:solidFill>
                          <a:srgbClr val="7030A0"/>
                        </a:solidFill>
                      </a:rPr>
                      <a:t> </a:t>
                    </a:r>
                  </a:p>
                </p:txBody>
              </p:sp>
            </mc:Choice>
            <mc:Fallback xmlns=""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7F7B1C44-0B44-CF02-4E4D-7449193C679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503649" y="5088208"/>
                    <a:ext cx="3934326" cy="461665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1290" b="-18919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7D7EF08-E337-6C6A-51F9-13C154FC9E53}"/>
                </a:ext>
              </a:extLst>
            </p:cNvPr>
            <p:cNvSpPr txBox="1"/>
            <p:nvPr/>
          </p:nvSpPr>
          <p:spPr>
            <a:xfrm>
              <a:off x="1214171" y="1883774"/>
              <a:ext cx="432667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New: Energy probability density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86048742-1796-DF60-43DB-81AAF9CF5B74}"/>
                  </a:ext>
                </a:extLst>
              </p:cNvPr>
              <p:cNvSpPr txBox="1"/>
              <p:nvPr/>
            </p:nvSpPr>
            <p:spPr>
              <a:xfrm>
                <a:off x="331764" y="5469500"/>
                <a:ext cx="11318357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We’re </a:t>
                </a:r>
                <a:r>
                  <a:rPr lang="en-US" sz="2400" b="1" dirty="0">
                    <a:solidFill>
                      <a:srgbClr val="FF0000"/>
                    </a:solidFill>
                  </a:rPr>
                  <a:t>going to insist</a:t>
                </a:r>
                <a:r>
                  <a:rPr lang="en-US" sz="2400" b="1" dirty="0"/>
                  <a:t> </a:t>
                </a:r>
                <a:r>
                  <a:rPr lang="en-US" sz="2400" dirty="0"/>
                  <a:t>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gives the same probability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sz="2400" dirty="0"/>
                  <a:t>:</a:t>
                </a:r>
              </a:p>
              <a:p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400" b="0" i="1"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2400" b="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sz="24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sz="2400" b="0" i="1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86048742-1796-DF60-43DB-81AAF9CF5B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764" y="5469500"/>
                <a:ext cx="11318357" cy="1200329"/>
              </a:xfrm>
              <a:prstGeom prst="rect">
                <a:avLst/>
              </a:prstGeom>
              <a:blipFill>
                <a:blip r:embed="rId4"/>
                <a:stretch>
                  <a:fillRect l="-784" t="-3125" b="-52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1">
            <a:extLst>
              <a:ext uri="{FF2B5EF4-FFF2-40B4-BE49-F238E27FC236}">
                <a16:creationId xmlns:a16="http://schemas.microsoft.com/office/drawing/2014/main" id="{E44E2E35-70A8-9174-C8C7-8ED488E64BD0}"/>
              </a:ext>
            </a:extLst>
          </p:cNvPr>
          <p:cNvGrpSpPr/>
          <p:nvPr/>
        </p:nvGrpSpPr>
        <p:grpSpPr>
          <a:xfrm>
            <a:off x="5954534" y="1317971"/>
            <a:ext cx="5059283" cy="3711230"/>
            <a:chOff x="7081788" y="1897487"/>
            <a:chExt cx="5059283" cy="3711230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70DFB54A-897E-EC25-F086-DF546596EF25}"/>
                </a:ext>
              </a:extLst>
            </p:cNvPr>
            <p:cNvGrpSpPr/>
            <p:nvPr/>
          </p:nvGrpSpPr>
          <p:grpSpPr>
            <a:xfrm>
              <a:off x="7081788" y="2540777"/>
              <a:ext cx="5059283" cy="3067940"/>
              <a:chOff x="505624" y="4227826"/>
              <a:chExt cx="5059283" cy="3067940"/>
            </a:xfrm>
          </p:grpSpPr>
          <p:pic>
            <p:nvPicPr>
              <p:cNvPr id="42" name="Picture 2">
                <a:extLst>
                  <a:ext uri="{FF2B5EF4-FFF2-40B4-BE49-F238E27FC236}">
                    <a16:creationId xmlns:a16="http://schemas.microsoft.com/office/drawing/2014/main" id="{0D9178EC-ED01-DD67-3BBC-A756C106A96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1558" b="7533"/>
              <a:stretch/>
            </p:blipFill>
            <p:spPr bwMode="auto">
              <a:xfrm>
                <a:off x="505624" y="4227826"/>
                <a:ext cx="5059283" cy="306794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1" name="TextBox 40">
                    <a:extLst>
                      <a:ext uri="{FF2B5EF4-FFF2-40B4-BE49-F238E27FC236}">
                        <a16:creationId xmlns:a16="http://schemas.microsoft.com/office/drawing/2014/main" id="{643CF14B-D099-7C84-1B2A-365B584C156B}"/>
                      </a:ext>
                    </a:extLst>
                  </p:cNvPr>
                  <p:cNvSpPr txBox="1"/>
                  <p:nvPr/>
                </p:nvSpPr>
                <p:spPr>
                  <a:xfrm>
                    <a:off x="3366356" y="4407154"/>
                    <a:ext cx="1654342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</m:sub>
                        </m:sSub>
                        <m:d>
                          <m:dPr>
                            <m:ctrlPr>
                              <a:rPr lang="en-US" sz="24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en-US" sz="24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4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d>
                      </m:oMath>
                    </a14:m>
                    <a:r>
                      <a:rPr lang="en-US" sz="2400" dirty="0"/>
                      <a:t> </a:t>
                    </a:r>
                  </a:p>
                </p:txBody>
              </p:sp>
            </mc:Choice>
            <mc:Fallback xmlns="">
              <p:sp>
                <p:nvSpPr>
                  <p:cNvPr id="41" name="TextBox 40">
                    <a:extLst>
                      <a:ext uri="{FF2B5EF4-FFF2-40B4-BE49-F238E27FC236}">
                        <a16:creationId xmlns:a16="http://schemas.microsoft.com/office/drawing/2014/main" id="{643CF14B-D099-7C84-1B2A-365B584C156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66356" y="4407154"/>
                    <a:ext cx="1654342" cy="461665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3053" b="-18919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A20A217-FA68-9CBD-3018-AA6F20FEC692}"/>
                </a:ext>
              </a:extLst>
            </p:cNvPr>
            <p:cNvSpPr txBox="1"/>
            <p:nvPr/>
          </p:nvSpPr>
          <p:spPr>
            <a:xfrm>
              <a:off x="7667471" y="1897487"/>
              <a:ext cx="432667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Old: Speed probability density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FCC98F5C-D179-8F5A-B024-96173BD90A1A}"/>
                  </a:ext>
                </a:extLst>
              </p:cNvPr>
              <p:cNvSpPr txBox="1"/>
              <p:nvPr/>
            </p:nvSpPr>
            <p:spPr>
              <a:xfrm>
                <a:off x="2971800" y="4976442"/>
                <a:ext cx="92847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FCC98F5C-D179-8F5A-B024-96173BD90A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1800" y="4976442"/>
                <a:ext cx="928477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EE67DC20-3406-06FE-4199-360BBD2A9DAF}"/>
                  </a:ext>
                </a:extLst>
              </p:cNvPr>
              <p:cNvSpPr txBox="1"/>
              <p:nvPr/>
            </p:nvSpPr>
            <p:spPr>
              <a:xfrm>
                <a:off x="7754177" y="4952187"/>
                <a:ext cx="165434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EE67DC20-3406-06FE-4199-360BBD2A9D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4177" y="4952187"/>
                <a:ext cx="1654342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114D6351-CA90-F6BA-98E9-4EA7D7972688}"/>
              </a:ext>
            </a:extLst>
          </p:cNvPr>
          <p:cNvGrpSpPr/>
          <p:nvPr/>
        </p:nvGrpSpPr>
        <p:grpSpPr>
          <a:xfrm>
            <a:off x="5618536" y="2361021"/>
            <a:ext cx="6152826" cy="2410690"/>
            <a:chOff x="331764" y="2484298"/>
            <a:chExt cx="6152826" cy="2410690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3C1103A5-3D96-5374-2540-9AF7CC431661}"/>
                </a:ext>
              </a:extLst>
            </p:cNvPr>
            <p:cNvCxnSpPr/>
            <p:nvPr/>
          </p:nvCxnSpPr>
          <p:spPr>
            <a:xfrm>
              <a:off x="2274687" y="4353751"/>
              <a:ext cx="639001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8E2B7361-724B-0F5B-1F1B-98935B0C25E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15245" y="4351168"/>
              <a:ext cx="541453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E21920B1-9063-69FB-06F6-FD889B3FBC6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66814" y="2484298"/>
              <a:ext cx="217732" cy="22142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3E64E7DC-66FF-FBAC-72AD-2E3A48EC7718}"/>
                    </a:ext>
                  </a:extLst>
                </p:cNvPr>
                <p:cNvSpPr txBox="1"/>
                <p:nvPr/>
              </p:nvSpPr>
              <p:spPr>
                <a:xfrm>
                  <a:off x="331764" y="4433323"/>
                  <a:ext cx="6152826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3E64E7DC-66FF-FBAC-72AD-2E3A48EC77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1764" y="4433323"/>
                  <a:ext cx="6152826" cy="461665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C1693C57-E7ED-4EE6-D8C6-C8D78EF72214}"/>
                </a:ext>
              </a:extLst>
            </p:cNvPr>
            <p:cNvCxnSpPr>
              <a:cxnSpLocks/>
            </p:cNvCxnSpPr>
            <p:nvPr/>
          </p:nvCxnSpPr>
          <p:spPr>
            <a:xfrm>
              <a:off x="2975680" y="2615117"/>
              <a:ext cx="0" cy="2279871"/>
            </a:xfrm>
            <a:prstGeom prst="line">
              <a:avLst/>
            </a:prstGeom>
            <a:ln w="127000">
              <a:solidFill>
                <a:schemeClr val="accent1">
                  <a:alpha val="52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505376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F27C0FE-476B-86A7-421E-F83F63BC8ACA}"/>
              </a:ext>
            </a:extLst>
          </p:cNvPr>
          <p:cNvSpPr txBox="1"/>
          <p:nvPr/>
        </p:nvSpPr>
        <p:spPr>
          <a:xfrm>
            <a:off x="18346" y="493058"/>
            <a:ext cx="121736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ea typeface="Cambria Math" panose="02040503050406030204" pitchFamily="18" charset="0"/>
              </a:rPr>
              <a:t>OK … what if we wanted to think about all this in terms of </a:t>
            </a:r>
            <a:r>
              <a:rPr lang="en-US" sz="2400" b="1" dirty="0">
                <a:ea typeface="Cambria Math" panose="02040503050406030204" pitchFamily="18" charset="0"/>
              </a:rPr>
              <a:t>kinetic energy</a:t>
            </a:r>
            <a:r>
              <a:rPr lang="en-US" sz="2400" dirty="0">
                <a:ea typeface="Cambria Math" panose="02040503050406030204" pitchFamily="18" charset="0"/>
              </a:rPr>
              <a:t> instead of </a:t>
            </a:r>
            <a:r>
              <a:rPr lang="en-US" sz="2400" b="1" dirty="0">
                <a:ea typeface="Cambria Math" panose="02040503050406030204" pitchFamily="18" charset="0"/>
              </a:rPr>
              <a:t>speed</a:t>
            </a:r>
            <a:r>
              <a:rPr lang="en-US" sz="2400" dirty="0">
                <a:ea typeface="Cambria Math" panose="02040503050406030204" pitchFamily="18" charset="0"/>
              </a:rPr>
              <a:t>?</a:t>
            </a:r>
            <a:endParaRPr lang="en-US" sz="24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A484F1C-4EA3-EA24-D3F4-8B6F77F4A868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Transforming from one probability density to another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E32E79B0-FF48-E470-7CD4-8F925DDAADF6}"/>
              </a:ext>
            </a:extLst>
          </p:cNvPr>
          <p:cNvGrpSpPr/>
          <p:nvPr/>
        </p:nvGrpSpPr>
        <p:grpSpPr>
          <a:xfrm>
            <a:off x="982735" y="1317971"/>
            <a:ext cx="5432749" cy="3790576"/>
            <a:chOff x="711498" y="1883774"/>
            <a:chExt cx="5432749" cy="3790576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3D9BBF56-EDEA-709E-B545-1589F389F163}"/>
                </a:ext>
              </a:extLst>
            </p:cNvPr>
            <p:cNvGrpSpPr/>
            <p:nvPr/>
          </p:nvGrpSpPr>
          <p:grpSpPr>
            <a:xfrm>
              <a:off x="711498" y="2540776"/>
              <a:ext cx="5432749" cy="3133574"/>
              <a:chOff x="6005226" y="4162925"/>
              <a:chExt cx="5432749" cy="3133574"/>
            </a:xfrm>
          </p:grpSpPr>
          <p:pic>
            <p:nvPicPr>
              <p:cNvPr id="25" name="Picture 4">
                <a:extLst>
                  <a:ext uri="{FF2B5EF4-FFF2-40B4-BE49-F238E27FC236}">
                    <a16:creationId xmlns:a16="http://schemas.microsoft.com/office/drawing/2014/main" id="{942530BE-51F7-5FC2-61F0-917665D1850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1408" b="7014"/>
              <a:stretch/>
            </p:blipFill>
            <p:spPr bwMode="auto">
              <a:xfrm>
                <a:off x="6005226" y="4162925"/>
                <a:ext cx="5125199" cy="313357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7F7B1C44-0B44-CF02-4E4D-7449193C679B}"/>
                      </a:ext>
                    </a:extLst>
                  </p:cNvPr>
                  <p:cNvSpPr txBox="1"/>
                  <p:nvPr/>
                </p:nvSpPr>
                <p:spPr>
                  <a:xfrm>
                    <a:off x="7503649" y="5088208"/>
                    <a:ext cx="3934326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en-US" sz="24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</m:sub>
                        </m:sSub>
                        <m:d>
                          <m:dPr>
                            <m:ctrlPr>
                              <a:rPr lang="en-US" sz="24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en-US" sz="24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40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𝜀</m:t>
                            </m:r>
                          </m:e>
                        </m:d>
                      </m:oMath>
                    </a14:m>
                    <a:r>
                      <a:rPr lang="en-US" sz="2400" dirty="0">
                        <a:solidFill>
                          <a:srgbClr val="7030A0"/>
                        </a:solidFill>
                      </a:rPr>
                      <a:t> </a:t>
                    </a:r>
                  </a:p>
                </p:txBody>
              </p:sp>
            </mc:Choice>
            <mc:Fallback xmlns=""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7F7B1C44-0B44-CF02-4E4D-7449193C679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503649" y="5088208"/>
                    <a:ext cx="3934326" cy="461665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1290" b="-18919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7D7EF08-E337-6C6A-51F9-13C154FC9E53}"/>
                </a:ext>
              </a:extLst>
            </p:cNvPr>
            <p:cNvSpPr txBox="1"/>
            <p:nvPr/>
          </p:nvSpPr>
          <p:spPr>
            <a:xfrm>
              <a:off x="1214171" y="1883774"/>
              <a:ext cx="432667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New: Energy probability density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86048742-1796-DF60-43DB-81AAF9CF5B74}"/>
                  </a:ext>
                </a:extLst>
              </p:cNvPr>
              <p:cNvSpPr txBox="1"/>
              <p:nvPr/>
            </p:nvSpPr>
            <p:spPr>
              <a:xfrm>
                <a:off x="331764" y="5469500"/>
                <a:ext cx="11318357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We’re </a:t>
                </a:r>
                <a:r>
                  <a:rPr lang="en-US" sz="2400" b="1" dirty="0">
                    <a:solidFill>
                      <a:srgbClr val="FF0000"/>
                    </a:solidFill>
                  </a:rPr>
                  <a:t>going to insist</a:t>
                </a:r>
                <a:r>
                  <a:rPr lang="en-US" sz="2400" b="1" dirty="0"/>
                  <a:t> </a:t>
                </a:r>
                <a:r>
                  <a:rPr lang="en-US" sz="2400" dirty="0"/>
                  <a:t>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gives the same probability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sz="2400" dirty="0"/>
                  <a:t>:</a:t>
                </a:r>
              </a:p>
              <a:p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400" b="0" i="1"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2400" b="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sz="24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sz="2400" b="0" i="1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86048742-1796-DF60-43DB-81AAF9CF5B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764" y="5469500"/>
                <a:ext cx="11318357" cy="1200329"/>
              </a:xfrm>
              <a:prstGeom prst="rect">
                <a:avLst/>
              </a:prstGeom>
              <a:blipFill>
                <a:blip r:embed="rId4"/>
                <a:stretch>
                  <a:fillRect l="-784" t="-3125" b="-52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1">
            <a:extLst>
              <a:ext uri="{FF2B5EF4-FFF2-40B4-BE49-F238E27FC236}">
                <a16:creationId xmlns:a16="http://schemas.microsoft.com/office/drawing/2014/main" id="{E44E2E35-70A8-9174-C8C7-8ED488E64BD0}"/>
              </a:ext>
            </a:extLst>
          </p:cNvPr>
          <p:cNvGrpSpPr/>
          <p:nvPr/>
        </p:nvGrpSpPr>
        <p:grpSpPr>
          <a:xfrm>
            <a:off x="5954534" y="1317971"/>
            <a:ext cx="5059283" cy="3711230"/>
            <a:chOff x="7081788" y="1897487"/>
            <a:chExt cx="5059283" cy="3711230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70DFB54A-897E-EC25-F086-DF546596EF25}"/>
                </a:ext>
              </a:extLst>
            </p:cNvPr>
            <p:cNvGrpSpPr/>
            <p:nvPr/>
          </p:nvGrpSpPr>
          <p:grpSpPr>
            <a:xfrm>
              <a:off x="7081788" y="2540777"/>
              <a:ext cx="5059283" cy="3067940"/>
              <a:chOff x="505624" y="4227826"/>
              <a:chExt cx="5059283" cy="3067940"/>
            </a:xfrm>
          </p:grpSpPr>
          <p:pic>
            <p:nvPicPr>
              <p:cNvPr id="42" name="Picture 2">
                <a:extLst>
                  <a:ext uri="{FF2B5EF4-FFF2-40B4-BE49-F238E27FC236}">
                    <a16:creationId xmlns:a16="http://schemas.microsoft.com/office/drawing/2014/main" id="{0D9178EC-ED01-DD67-3BBC-A756C106A96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1558" b="7533"/>
              <a:stretch/>
            </p:blipFill>
            <p:spPr bwMode="auto">
              <a:xfrm>
                <a:off x="505624" y="4227826"/>
                <a:ext cx="5059283" cy="306794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1" name="TextBox 40">
                    <a:extLst>
                      <a:ext uri="{FF2B5EF4-FFF2-40B4-BE49-F238E27FC236}">
                        <a16:creationId xmlns:a16="http://schemas.microsoft.com/office/drawing/2014/main" id="{643CF14B-D099-7C84-1B2A-365B584C156B}"/>
                      </a:ext>
                    </a:extLst>
                  </p:cNvPr>
                  <p:cNvSpPr txBox="1"/>
                  <p:nvPr/>
                </p:nvSpPr>
                <p:spPr>
                  <a:xfrm>
                    <a:off x="3366356" y="4407154"/>
                    <a:ext cx="1654342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</m:sub>
                        </m:sSub>
                        <m:d>
                          <m:dPr>
                            <m:ctrlPr>
                              <a:rPr lang="en-US" sz="24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en-US" sz="24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4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d>
                      </m:oMath>
                    </a14:m>
                    <a:r>
                      <a:rPr lang="en-US" sz="2400" dirty="0"/>
                      <a:t> </a:t>
                    </a:r>
                  </a:p>
                </p:txBody>
              </p:sp>
            </mc:Choice>
            <mc:Fallback xmlns="">
              <p:sp>
                <p:nvSpPr>
                  <p:cNvPr id="41" name="TextBox 40">
                    <a:extLst>
                      <a:ext uri="{FF2B5EF4-FFF2-40B4-BE49-F238E27FC236}">
                        <a16:creationId xmlns:a16="http://schemas.microsoft.com/office/drawing/2014/main" id="{643CF14B-D099-7C84-1B2A-365B584C156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66356" y="4407154"/>
                    <a:ext cx="1654342" cy="461665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3053" b="-18919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A20A217-FA68-9CBD-3018-AA6F20FEC692}"/>
                </a:ext>
              </a:extLst>
            </p:cNvPr>
            <p:cNvSpPr txBox="1"/>
            <p:nvPr/>
          </p:nvSpPr>
          <p:spPr>
            <a:xfrm>
              <a:off x="7667471" y="1897487"/>
              <a:ext cx="432667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Old: Speed probability density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FCC98F5C-D179-8F5A-B024-96173BD90A1A}"/>
                  </a:ext>
                </a:extLst>
              </p:cNvPr>
              <p:cNvSpPr txBox="1"/>
              <p:nvPr/>
            </p:nvSpPr>
            <p:spPr>
              <a:xfrm>
                <a:off x="2971800" y="4976442"/>
                <a:ext cx="92847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FCC98F5C-D179-8F5A-B024-96173BD90A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1800" y="4976442"/>
                <a:ext cx="928477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EE67DC20-3406-06FE-4199-360BBD2A9DAF}"/>
                  </a:ext>
                </a:extLst>
              </p:cNvPr>
              <p:cNvSpPr txBox="1"/>
              <p:nvPr/>
            </p:nvSpPr>
            <p:spPr>
              <a:xfrm>
                <a:off x="7754177" y="4952187"/>
                <a:ext cx="165434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EE67DC20-3406-06FE-4199-360BBD2A9D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4177" y="4952187"/>
                <a:ext cx="1654342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114D6351-CA90-F6BA-98E9-4EA7D7972688}"/>
              </a:ext>
            </a:extLst>
          </p:cNvPr>
          <p:cNvGrpSpPr/>
          <p:nvPr/>
        </p:nvGrpSpPr>
        <p:grpSpPr>
          <a:xfrm>
            <a:off x="5618536" y="2361021"/>
            <a:ext cx="6152826" cy="2410690"/>
            <a:chOff x="331764" y="2484298"/>
            <a:chExt cx="6152826" cy="2410690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3C1103A5-3D96-5374-2540-9AF7CC431661}"/>
                </a:ext>
              </a:extLst>
            </p:cNvPr>
            <p:cNvCxnSpPr/>
            <p:nvPr/>
          </p:nvCxnSpPr>
          <p:spPr>
            <a:xfrm>
              <a:off x="2274687" y="4353751"/>
              <a:ext cx="639001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8E2B7361-724B-0F5B-1F1B-98935B0C25E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15245" y="4351168"/>
              <a:ext cx="541453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E21920B1-9063-69FB-06F6-FD889B3FBC6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66814" y="2484298"/>
              <a:ext cx="217732" cy="22142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3E64E7DC-66FF-FBAC-72AD-2E3A48EC7718}"/>
                    </a:ext>
                  </a:extLst>
                </p:cNvPr>
                <p:cNvSpPr txBox="1"/>
                <p:nvPr/>
              </p:nvSpPr>
              <p:spPr>
                <a:xfrm>
                  <a:off x="331764" y="4433323"/>
                  <a:ext cx="6152826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3E64E7DC-66FF-FBAC-72AD-2E3A48EC77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1764" y="4433323"/>
                  <a:ext cx="6152826" cy="461665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C1693C57-E7ED-4EE6-D8C6-C8D78EF72214}"/>
                </a:ext>
              </a:extLst>
            </p:cNvPr>
            <p:cNvCxnSpPr>
              <a:cxnSpLocks/>
            </p:cNvCxnSpPr>
            <p:nvPr/>
          </p:nvCxnSpPr>
          <p:spPr>
            <a:xfrm>
              <a:off x="2975680" y="2615117"/>
              <a:ext cx="0" cy="2279871"/>
            </a:xfrm>
            <a:prstGeom prst="line">
              <a:avLst/>
            </a:prstGeom>
            <a:ln w="127000">
              <a:solidFill>
                <a:schemeClr val="accent1">
                  <a:alpha val="52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B65077E-A2DF-1918-EC27-F08AF2E88C6A}"/>
              </a:ext>
            </a:extLst>
          </p:cNvPr>
          <p:cNvGrpSpPr/>
          <p:nvPr/>
        </p:nvGrpSpPr>
        <p:grpSpPr>
          <a:xfrm>
            <a:off x="1689599" y="3058679"/>
            <a:ext cx="1328311" cy="1767569"/>
            <a:chOff x="1689599" y="3058679"/>
            <a:chExt cx="1328311" cy="1767569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3921ECD-7A7D-4E47-C6BE-76ABC5EC9C8D}"/>
                </a:ext>
              </a:extLst>
            </p:cNvPr>
            <p:cNvCxnSpPr>
              <a:cxnSpLocks/>
            </p:cNvCxnSpPr>
            <p:nvPr/>
          </p:nvCxnSpPr>
          <p:spPr>
            <a:xfrm>
              <a:off x="2407791" y="3159889"/>
              <a:ext cx="0" cy="1666359"/>
            </a:xfrm>
            <a:prstGeom prst="line">
              <a:avLst/>
            </a:prstGeom>
            <a:ln w="190500">
              <a:solidFill>
                <a:schemeClr val="accent1">
                  <a:alpha val="52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286FE133-2496-45F0-F00E-F05A1209222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305178" y="3058679"/>
              <a:ext cx="217732" cy="22142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F3DCED72-9B0D-C024-855C-887FA0A0D0EC}"/>
                </a:ext>
              </a:extLst>
            </p:cNvPr>
            <p:cNvCxnSpPr/>
            <p:nvPr/>
          </p:nvCxnSpPr>
          <p:spPr>
            <a:xfrm>
              <a:off x="1689599" y="4376649"/>
              <a:ext cx="639001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EDAF7F46-5876-2769-5859-5715B14EFCC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76457" y="4374066"/>
              <a:ext cx="541453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8377B22-61C8-E338-3F4F-046BA519D226}"/>
                  </a:ext>
                </a:extLst>
              </p:cNvPr>
              <p:cNvSpPr txBox="1"/>
              <p:nvPr/>
            </p:nvSpPr>
            <p:spPr>
              <a:xfrm>
                <a:off x="-161884" y="4456221"/>
                <a:ext cx="615282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8377B22-61C8-E338-3F4F-046BA519D2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61884" y="4456221"/>
                <a:ext cx="6152826" cy="46166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558945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F27C0FE-476B-86A7-421E-F83F63BC8ACA}"/>
              </a:ext>
            </a:extLst>
          </p:cNvPr>
          <p:cNvSpPr txBox="1"/>
          <p:nvPr/>
        </p:nvSpPr>
        <p:spPr>
          <a:xfrm>
            <a:off x="18346" y="493058"/>
            <a:ext cx="121736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ea typeface="Cambria Math" panose="02040503050406030204" pitchFamily="18" charset="0"/>
              </a:rPr>
              <a:t>OK … what if we wanted to think about all this in terms of </a:t>
            </a:r>
            <a:r>
              <a:rPr lang="en-US" sz="2400" b="1" dirty="0">
                <a:ea typeface="Cambria Math" panose="02040503050406030204" pitchFamily="18" charset="0"/>
              </a:rPr>
              <a:t>kinetic energy</a:t>
            </a:r>
            <a:r>
              <a:rPr lang="en-US" sz="2400" dirty="0">
                <a:ea typeface="Cambria Math" panose="02040503050406030204" pitchFamily="18" charset="0"/>
              </a:rPr>
              <a:t> instead of </a:t>
            </a:r>
            <a:r>
              <a:rPr lang="en-US" sz="2400" b="1" dirty="0">
                <a:ea typeface="Cambria Math" panose="02040503050406030204" pitchFamily="18" charset="0"/>
              </a:rPr>
              <a:t>speed</a:t>
            </a:r>
            <a:r>
              <a:rPr lang="en-US" sz="2400" dirty="0">
                <a:ea typeface="Cambria Math" panose="02040503050406030204" pitchFamily="18" charset="0"/>
              </a:rPr>
              <a:t>?</a:t>
            </a:r>
            <a:endParaRPr lang="en-US" sz="24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A484F1C-4EA3-EA24-D3F4-8B6F77F4A868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Transforming from one probability density to another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E32E79B0-FF48-E470-7CD4-8F925DDAADF6}"/>
              </a:ext>
            </a:extLst>
          </p:cNvPr>
          <p:cNvGrpSpPr/>
          <p:nvPr/>
        </p:nvGrpSpPr>
        <p:grpSpPr>
          <a:xfrm>
            <a:off x="982735" y="1317971"/>
            <a:ext cx="5432749" cy="3790576"/>
            <a:chOff x="711498" y="1883774"/>
            <a:chExt cx="5432749" cy="3790576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3D9BBF56-EDEA-709E-B545-1589F389F163}"/>
                </a:ext>
              </a:extLst>
            </p:cNvPr>
            <p:cNvGrpSpPr/>
            <p:nvPr/>
          </p:nvGrpSpPr>
          <p:grpSpPr>
            <a:xfrm>
              <a:off x="711498" y="2540776"/>
              <a:ext cx="5432749" cy="3133574"/>
              <a:chOff x="6005226" y="4162925"/>
              <a:chExt cx="5432749" cy="3133574"/>
            </a:xfrm>
          </p:grpSpPr>
          <p:pic>
            <p:nvPicPr>
              <p:cNvPr id="25" name="Picture 4">
                <a:extLst>
                  <a:ext uri="{FF2B5EF4-FFF2-40B4-BE49-F238E27FC236}">
                    <a16:creationId xmlns:a16="http://schemas.microsoft.com/office/drawing/2014/main" id="{942530BE-51F7-5FC2-61F0-917665D1850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1408" b="7014"/>
              <a:stretch/>
            </p:blipFill>
            <p:spPr bwMode="auto">
              <a:xfrm>
                <a:off x="6005226" y="4162925"/>
                <a:ext cx="5125199" cy="313357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7F7B1C44-0B44-CF02-4E4D-7449193C679B}"/>
                      </a:ext>
                    </a:extLst>
                  </p:cNvPr>
                  <p:cNvSpPr txBox="1"/>
                  <p:nvPr/>
                </p:nvSpPr>
                <p:spPr>
                  <a:xfrm>
                    <a:off x="7503649" y="5088208"/>
                    <a:ext cx="3934326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en-US" sz="24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</m:sub>
                        </m:sSub>
                        <m:d>
                          <m:dPr>
                            <m:ctrlPr>
                              <a:rPr lang="en-US" sz="24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en-US" sz="24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40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𝜀</m:t>
                            </m:r>
                          </m:e>
                        </m:d>
                      </m:oMath>
                    </a14:m>
                    <a:r>
                      <a:rPr lang="en-US" sz="2400" dirty="0">
                        <a:solidFill>
                          <a:srgbClr val="7030A0"/>
                        </a:solidFill>
                      </a:rPr>
                      <a:t> </a:t>
                    </a:r>
                  </a:p>
                </p:txBody>
              </p:sp>
            </mc:Choice>
            <mc:Fallback xmlns=""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7F7B1C44-0B44-CF02-4E4D-7449193C679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503649" y="5088208"/>
                    <a:ext cx="3934326" cy="461665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1290" b="-18919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7D7EF08-E337-6C6A-51F9-13C154FC9E53}"/>
                </a:ext>
              </a:extLst>
            </p:cNvPr>
            <p:cNvSpPr txBox="1"/>
            <p:nvPr/>
          </p:nvSpPr>
          <p:spPr>
            <a:xfrm>
              <a:off x="1214171" y="1883774"/>
              <a:ext cx="432667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New: Energy probability density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E44E2E35-70A8-9174-C8C7-8ED488E64BD0}"/>
              </a:ext>
            </a:extLst>
          </p:cNvPr>
          <p:cNvGrpSpPr/>
          <p:nvPr/>
        </p:nvGrpSpPr>
        <p:grpSpPr>
          <a:xfrm>
            <a:off x="5954534" y="1317971"/>
            <a:ext cx="5059283" cy="3711230"/>
            <a:chOff x="7081788" y="1897487"/>
            <a:chExt cx="5059283" cy="3711230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70DFB54A-897E-EC25-F086-DF546596EF25}"/>
                </a:ext>
              </a:extLst>
            </p:cNvPr>
            <p:cNvGrpSpPr/>
            <p:nvPr/>
          </p:nvGrpSpPr>
          <p:grpSpPr>
            <a:xfrm>
              <a:off x="7081788" y="2540777"/>
              <a:ext cx="5059283" cy="3067940"/>
              <a:chOff x="505624" y="4227826"/>
              <a:chExt cx="5059283" cy="3067940"/>
            </a:xfrm>
          </p:grpSpPr>
          <p:pic>
            <p:nvPicPr>
              <p:cNvPr id="42" name="Picture 2">
                <a:extLst>
                  <a:ext uri="{FF2B5EF4-FFF2-40B4-BE49-F238E27FC236}">
                    <a16:creationId xmlns:a16="http://schemas.microsoft.com/office/drawing/2014/main" id="{0D9178EC-ED01-DD67-3BBC-A756C106A96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1558" b="7533"/>
              <a:stretch/>
            </p:blipFill>
            <p:spPr bwMode="auto">
              <a:xfrm>
                <a:off x="505624" y="4227826"/>
                <a:ext cx="5059283" cy="306794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1" name="TextBox 40">
                    <a:extLst>
                      <a:ext uri="{FF2B5EF4-FFF2-40B4-BE49-F238E27FC236}">
                        <a16:creationId xmlns:a16="http://schemas.microsoft.com/office/drawing/2014/main" id="{643CF14B-D099-7C84-1B2A-365B584C156B}"/>
                      </a:ext>
                    </a:extLst>
                  </p:cNvPr>
                  <p:cNvSpPr txBox="1"/>
                  <p:nvPr/>
                </p:nvSpPr>
                <p:spPr>
                  <a:xfrm>
                    <a:off x="3366356" y="4407154"/>
                    <a:ext cx="1654342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</m:sub>
                        </m:sSub>
                        <m:d>
                          <m:dPr>
                            <m:ctrlPr>
                              <a:rPr lang="en-US" sz="24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en-US" sz="24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4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d>
                      </m:oMath>
                    </a14:m>
                    <a:r>
                      <a:rPr lang="en-US" sz="2400" dirty="0"/>
                      <a:t> </a:t>
                    </a:r>
                  </a:p>
                </p:txBody>
              </p:sp>
            </mc:Choice>
            <mc:Fallback xmlns="">
              <p:sp>
                <p:nvSpPr>
                  <p:cNvPr id="41" name="TextBox 40">
                    <a:extLst>
                      <a:ext uri="{FF2B5EF4-FFF2-40B4-BE49-F238E27FC236}">
                        <a16:creationId xmlns:a16="http://schemas.microsoft.com/office/drawing/2014/main" id="{643CF14B-D099-7C84-1B2A-365B584C156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66356" y="4407154"/>
                    <a:ext cx="1654342" cy="461665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3053" b="-18919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A20A217-FA68-9CBD-3018-AA6F20FEC692}"/>
                </a:ext>
              </a:extLst>
            </p:cNvPr>
            <p:cNvSpPr txBox="1"/>
            <p:nvPr/>
          </p:nvSpPr>
          <p:spPr>
            <a:xfrm>
              <a:off x="7667471" y="1897487"/>
              <a:ext cx="432667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Old: Speed probability density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FCC98F5C-D179-8F5A-B024-96173BD90A1A}"/>
                  </a:ext>
                </a:extLst>
              </p:cNvPr>
              <p:cNvSpPr txBox="1"/>
              <p:nvPr/>
            </p:nvSpPr>
            <p:spPr>
              <a:xfrm>
                <a:off x="2971800" y="4976442"/>
                <a:ext cx="92847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FCC98F5C-D179-8F5A-B024-96173BD90A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1800" y="4976442"/>
                <a:ext cx="928477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EE67DC20-3406-06FE-4199-360BBD2A9DAF}"/>
                  </a:ext>
                </a:extLst>
              </p:cNvPr>
              <p:cNvSpPr txBox="1"/>
              <p:nvPr/>
            </p:nvSpPr>
            <p:spPr>
              <a:xfrm>
                <a:off x="7754177" y="4952187"/>
                <a:ext cx="165434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EE67DC20-3406-06FE-4199-360BBD2A9D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4177" y="4952187"/>
                <a:ext cx="1654342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114D6351-CA90-F6BA-98E9-4EA7D7972688}"/>
              </a:ext>
            </a:extLst>
          </p:cNvPr>
          <p:cNvGrpSpPr/>
          <p:nvPr/>
        </p:nvGrpSpPr>
        <p:grpSpPr>
          <a:xfrm>
            <a:off x="5618536" y="2361021"/>
            <a:ext cx="6152826" cy="2410690"/>
            <a:chOff x="331764" y="2484298"/>
            <a:chExt cx="6152826" cy="2410690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3C1103A5-3D96-5374-2540-9AF7CC431661}"/>
                </a:ext>
              </a:extLst>
            </p:cNvPr>
            <p:cNvCxnSpPr/>
            <p:nvPr/>
          </p:nvCxnSpPr>
          <p:spPr>
            <a:xfrm>
              <a:off x="2274687" y="4353751"/>
              <a:ext cx="639001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8E2B7361-724B-0F5B-1F1B-98935B0C25E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15245" y="4351168"/>
              <a:ext cx="541453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E21920B1-9063-69FB-06F6-FD889B3FBC6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66814" y="2484298"/>
              <a:ext cx="217732" cy="22142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3E64E7DC-66FF-FBAC-72AD-2E3A48EC7718}"/>
                    </a:ext>
                  </a:extLst>
                </p:cNvPr>
                <p:cNvSpPr txBox="1"/>
                <p:nvPr/>
              </p:nvSpPr>
              <p:spPr>
                <a:xfrm>
                  <a:off x="331764" y="4433323"/>
                  <a:ext cx="6152826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3E64E7DC-66FF-FBAC-72AD-2E3A48EC77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1764" y="4433323"/>
                  <a:ext cx="6152826" cy="461665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C1693C57-E7ED-4EE6-D8C6-C8D78EF72214}"/>
                </a:ext>
              </a:extLst>
            </p:cNvPr>
            <p:cNvCxnSpPr>
              <a:cxnSpLocks/>
            </p:cNvCxnSpPr>
            <p:nvPr/>
          </p:nvCxnSpPr>
          <p:spPr>
            <a:xfrm>
              <a:off x="2975680" y="2615117"/>
              <a:ext cx="0" cy="2279871"/>
            </a:xfrm>
            <a:prstGeom prst="line">
              <a:avLst/>
            </a:prstGeom>
            <a:ln w="127000">
              <a:solidFill>
                <a:schemeClr val="accent1">
                  <a:alpha val="52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23FB5A5-35C3-7EA5-862B-7EFD676BE8D3}"/>
                  </a:ext>
                </a:extLst>
              </p:cNvPr>
              <p:cNvSpPr txBox="1"/>
              <p:nvPr/>
            </p:nvSpPr>
            <p:spPr>
              <a:xfrm>
                <a:off x="331764" y="5469500"/>
                <a:ext cx="11318357" cy="6258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That means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𝒇</m:t>
                        </m:r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𝑴</m:t>
                        </m:r>
                      </m:sub>
                    </m:sSub>
                    <m:d>
                      <m:d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𝑻</m:t>
                        </m:r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𝜺</m:t>
                        </m:r>
                      </m:e>
                    </m:d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𝑴</m:t>
                        </m:r>
                      </m:sub>
                    </m:sSub>
                    <m:d>
                      <m:d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𝑻</m:t>
                        </m:r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d>
                  </m:oMath>
                </a14:m>
                <a:r>
                  <a:rPr lang="en-US" sz="2400" b="1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𝒗</m:t>
                        </m:r>
                      </m:num>
                      <m:den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𝜺</m:t>
                        </m:r>
                      </m:den>
                    </m:f>
                  </m:oMath>
                </a14:m>
                <a:r>
                  <a:rPr lang="en-US" sz="240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 (where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4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</m:t>
                    </m:r>
                    <m:sSup>
                      <m:sSup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US" sz="2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gets us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𝑑𝑣</m:t>
                        </m:r>
                      </m:num>
                      <m:den>
                        <m:r>
                          <a:rPr lang="en-US" sz="2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sz="2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den>
                    </m:f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23FB5A5-35C3-7EA5-862B-7EFD676BE8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764" y="5469500"/>
                <a:ext cx="11318357" cy="625812"/>
              </a:xfrm>
              <a:prstGeom prst="rect">
                <a:avLst/>
              </a:prstGeom>
              <a:blipFill>
                <a:blip r:embed="rId10"/>
                <a:stretch>
                  <a:fillRect l="-784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Group 13">
            <a:extLst>
              <a:ext uri="{FF2B5EF4-FFF2-40B4-BE49-F238E27FC236}">
                <a16:creationId xmlns:a16="http://schemas.microsoft.com/office/drawing/2014/main" id="{636A3264-B417-ABE9-F938-4FCFC9BC5B82}"/>
              </a:ext>
            </a:extLst>
          </p:cNvPr>
          <p:cNvGrpSpPr/>
          <p:nvPr/>
        </p:nvGrpSpPr>
        <p:grpSpPr>
          <a:xfrm>
            <a:off x="1689599" y="3058679"/>
            <a:ext cx="1328311" cy="1767569"/>
            <a:chOff x="1689599" y="3058679"/>
            <a:chExt cx="1328311" cy="1767569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B869B06-5A71-0243-00ED-94297FCE581E}"/>
                </a:ext>
              </a:extLst>
            </p:cNvPr>
            <p:cNvCxnSpPr>
              <a:cxnSpLocks/>
            </p:cNvCxnSpPr>
            <p:nvPr/>
          </p:nvCxnSpPr>
          <p:spPr>
            <a:xfrm>
              <a:off x="2407791" y="3159889"/>
              <a:ext cx="0" cy="1666359"/>
            </a:xfrm>
            <a:prstGeom prst="line">
              <a:avLst/>
            </a:prstGeom>
            <a:ln w="190500">
              <a:solidFill>
                <a:schemeClr val="accent1">
                  <a:alpha val="52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37AD788E-E285-0ECA-0466-5593AEB35E2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305178" y="3058679"/>
              <a:ext cx="217732" cy="22142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66C1FA54-C68F-31D3-0AAE-F5F617E2D423}"/>
                </a:ext>
              </a:extLst>
            </p:cNvPr>
            <p:cNvCxnSpPr/>
            <p:nvPr/>
          </p:nvCxnSpPr>
          <p:spPr>
            <a:xfrm>
              <a:off x="1689599" y="4376649"/>
              <a:ext cx="639001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29A34867-5104-6B4E-7A74-CC97A76E48C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76457" y="4374066"/>
              <a:ext cx="541453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00FBD173-2265-5CBC-5FEB-53E396A70F6E}"/>
                  </a:ext>
                </a:extLst>
              </p:cNvPr>
              <p:cNvSpPr txBox="1"/>
              <p:nvPr/>
            </p:nvSpPr>
            <p:spPr>
              <a:xfrm>
                <a:off x="-161884" y="4456221"/>
                <a:ext cx="615282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00FBD173-2265-5CBC-5FEB-53E396A70F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61884" y="4456221"/>
                <a:ext cx="6152826" cy="46166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850691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F27C0FE-476B-86A7-421E-F83F63BC8ACA}"/>
              </a:ext>
            </a:extLst>
          </p:cNvPr>
          <p:cNvSpPr txBox="1"/>
          <p:nvPr/>
        </p:nvSpPr>
        <p:spPr>
          <a:xfrm>
            <a:off x="18346" y="493058"/>
            <a:ext cx="121736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ea typeface="Cambria Math" panose="02040503050406030204" pitchFamily="18" charset="0"/>
              </a:rPr>
              <a:t>OK … what if we wanted to think about all this in terms of </a:t>
            </a:r>
            <a:r>
              <a:rPr lang="en-US" sz="2400" b="1" dirty="0">
                <a:ea typeface="Cambria Math" panose="02040503050406030204" pitchFamily="18" charset="0"/>
              </a:rPr>
              <a:t>kinetic energy</a:t>
            </a:r>
            <a:r>
              <a:rPr lang="en-US" sz="2400" dirty="0">
                <a:ea typeface="Cambria Math" panose="02040503050406030204" pitchFamily="18" charset="0"/>
              </a:rPr>
              <a:t> instead of </a:t>
            </a:r>
            <a:r>
              <a:rPr lang="en-US" sz="2400" b="1" dirty="0">
                <a:ea typeface="Cambria Math" panose="02040503050406030204" pitchFamily="18" charset="0"/>
              </a:rPr>
              <a:t>speed</a:t>
            </a:r>
            <a:r>
              <a:rPr lang="en-US" sz="2400" dirty="0">
                <a:ea typeface="Cambria Math" panose="02040503050406030204" pitchFamily="18" charset="0"/>
              </a:rPr>
              <a:t>?</a:t>
            </a:r>
            <a:endParaRPr lang="en-US" sz="2400" dirty="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E32E79B0-FF48-E470-7CD4-8F925DDAADF6}"/>
              </a:ext>
            </a:extLst>
          </p:cNvPr>
          <p:cNvGrpSpPr/>
          <p:nvPr/>
        </p:nvGrpSpPr>
        <p:grpSpPr>
          <a:xfrm>
            <a:off x="982735" y="1317971"/>
            <a:ext cx="5432749" cy="3790576"/>
            <a:chOff x="711498" y="1883774"/>
            <a:chExt cx="5432749" cy="3790576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3D9BBF56-EDEA-709E-B545-1589F389F163}"/>
                </a:ext>
              </a:extLst>
            </p:cNvPr>
            <p:cNvGrpSpPr/>
            <p:nvPr/>
          </p:nvGrpSpPr>
          <p:grpSpPr>
            <a:xfrm>
              <a:off x="711498" y="2540776"/>
              <a:ext cx="5432749" cy="3133574"/>
              <a:chOff x="6005226" y="4162925"/>
              <a:chExt cx="5432749" cy="3133574"/>
            </a:xfrm>
          </p:grpSpPr>
          <p:pic>
            <p:nvPicPr>
              <p:cNvPr id="25" name="Picture 4">
                <a:extLst>
                  <a:ext uri="{FF2B5EF4-FFF2-40B4-BE49-F238E27FC236}">
                    <a16:creationId xmlns:a16="http://schemas.microsoft.com/office/drawing/2014/main" id="{942530BE-51F7-5FC2-61F0-917665D1850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1408" b="7014"/>
              <a:stretch/>
            </p:blipFill>
            <p:spPr bwMode="auto">
              <a:xfrm>
                <a:off x="6005226" y="4162925"/>
                <a:ext cx="5125199" cy="313357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7F7B1C44-0B44-CF02-4E4D-7449193C679B}"/>
                      </a:ext>
                    </a:extLst>
                  </p:cNvPr>
                  <p:cNvSpPr txBox="1"/>
                  <p:nvPr/>
                </p:nvSpPr>
                <p:spPr>
                  <a:xfrm>
                    <a:off x="7503649" y="5088208"/>
                    <a:ext cx="3934326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en-US" sz="24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</m:sub>
                        </m:sSub>
                        <m:d>
                          <m:dPr>
                            <m:ctrlPr>
                              <a:rPr lang="en-US" sz="24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en-US" sz="24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40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𝜀</m:t>
                            </m:r>
                          </m:e>
                        </m:d>
                      </m:oMath>
                    </a14:m>
                    <a:r>
                      <a:rPr lang="en-US" sz="2400" dirty="0">
                        <a:solidFill>
                          <a:srgbClr val="7030A0"/>
                        </a:solidFill>
                      </a:rPr>
                      <a:t> </a:t>
                    </a:r>
                  </a:p>
                </p:txBody>
              </p:sp>
            </mc:Choice>
            <mc:Fallback xmlns=""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7F7B1C44-0B44-CF02-4E4D-7449193C679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503649" y="5088208"/>
                    <a:ext cx="3934326" cy="461665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1290" b="-18919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7D7EF08-E337-6C6A-51F9-13C154FC9E53}"/>
                </a:ext>
              </a:extLst>
            </p:cNvPr>
            <p:cNvSpPr txBox="1"/>
            <p:nvPr/>
          </p:nvSpPr>
          <p:spPr>
            <a:xfrm>
              <a:off x="1214171" y="1883774"/>
              <a:ext cx="432667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New: Energy probability density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E44E2E35-70A8-9174-C8C7-8ED488E64BD0}"/>
              </a:ext>
            </a:extLst>
          </p:cNvPr>
          <p:cNvGrpSpPr/>
          <p:nvPr/>
        </p:nvGrpSpPr>
        <p:grpSpPr>
          <a:xfrm>
            <a:off x="5954534" y="1317971"/>
            <a:ext cx="5059283" cy="3711230"/>
            <a:chOff x="7081788" y="1897487"/>
            <a:chExt cx="5059283" cy="3711230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70DFB54A-897E-EC25-F086-DF546596EF25}"/>
                </a:ext>
              </a:extLst>
            </p:cNvPr>
            <p:cNvGrpSpPr/>
            <p:nvPr/>
          </p:nvGrpSpPr>
          <p:grpSpPr>
            <a:xfrm>
              <a:off x="7081788" y="2540777"/>
              <a:ext cx="5059283" cy="3067940"/>
              <a:chOff x="505624" y="4227826"/>
              <a:chExt cx="5059283" cy="3067940"/>
            </a:xfrm>
          </p:grpSpPr>
          <p:pic>
            <p:nvPicPr>
              <p:cNvPr id="42" name="Picture 2">
                <a:extLst>
                  <a:ext uri="{FF2B5EF4-FFF2-40B4-BE49-F238E27FC236}">
                    <a16:creationId xmlns:a16="http://schemas.microsoft.com/office/drawing/2014/main" id="{0D9178EC-ED01-DD67-3BBC-A756C106A96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1558" b="7533"/>
              <a:stretch/>
            </p:blipFill>
            <p:spPr bwMode="auto">
              <a:xfrm>
                <a:off x="505624" y="4227826"/>
                <a:ext cx="5059283" cy="306794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1" name="TextBox 40">
                    <a:extLst>
                      <a:ext uri="{FF2B5EF4-FFF2-40B4-BE49-F238E27FC236}">
                        <a16:creationId xmlns:a16="http://schemas.microsoft.com/office/drawing/2014/main" id="{643CF14B-D099-7C84-1B2A-365B584C156B}"/>
                      </a:ext>
                    </a:extLst>
                  </p:cNvPr>
                  <p:cNvSpPr txBox="1"/>
                  <p:nvPr/>
                </p:nvSpPr>
                <p:spPr>
                  <a:xfrm>
                    <a:off x="3366356" y="4407154"/>
                    <a:ext cx="1654342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</m:sub>
                        </m:sSub>
                        <m:d>
                          <m:dPr>
                            <m:ctrlPr>
                              <a:rPr lang="en-US" sz="24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en-US" sz="24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4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d>
                      </m:oMath>
                    </a14:m>
                    <a:r>
                      <a:rPr lang="en-US" sz="2400" dirty="0"/>
                      <a:t> </a:t>
                    </a:r>
                  </a:p>
                </p:txBody>
              </p:sp>
            </mc:Choice>
            <mc:Fallback xmlns="">
              <p:sp>
                <p:nvSpPr>
                  <p:cNvPr id="41" name="TextBox 40">
                    <a:extLst>
                      <a:ext uri="{FF2B5EF4-FFF2-40B4-BE49-F238E27FC236}">
                        <a16:creationId xmlns:a16="http://schemas.microsoft.com/office/drawing/2014/main" id="{643CF14B-D099-7C84-1B2A-365B584C156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66356" y="4407154"/>
                    <a:ext cx="1654342" cy="461665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3053" b="-18919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A20A217-FA68-9CBD-3018-AA6F20FEC692}"/>
                </a:ext>
              </a:extLst>
            </p:cNvPr>
            <p:cNvSpPr txBox="1"/>
            <p:nvPr/>
          </p:nvSpPr>
          <p:spPr>
            <a:xfrm>
              <a:off x="7667471" y="1897487"/>
              <a:ext cx="432667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Old: Speed probability density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FCC98F5C-D179-8F5A-B024-96173BD90A1A}"/>
                  </a:ext>
                </a:extLst>
              </p:cNvPr>
              <p:cNvSpPr txBox="1"/>
              <p:nvPr/>
            </p:nvSpPr>
            <p:spPr>
              <a:xfrm>
                <a:off x="2971800" y="4976442"/>
                <a:ext cx="92847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FCC98F5C-D179-8F5A-B024-96173BD90A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1800" y="4976442"/>
                <a:ext cx="928477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EE67DC20-3406-06FE-4199-360BBD2A9DAF}"/>
                  </a:ext>
                </a:extLst>
              </p:cNvPr>
              <p:cNvSpPr txBox="1"/>
              <p:nvPr/>
            </p:nvSpPr>
            <p:spPr>
              <a:xfrm>
                <a:off x="7754177" y="4952187"/>
                <a:ext cx="165434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EE67DC20-3406-06FE-4199-360BBD2A9D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4177" y="4952187"/>
                <a:ext cx="1654342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114D6351-CA90-F6BA-98E9-4EA7D7972688}"/>
              </a:ext>
            </a:extLst>
          </p:cNvPr>
          <p:cNvGrpSpPr/>
          <p:nvPr/>
        </p:nvGrpSpPr>
        <p:grpSpPr>
          <a:xfrm>
            <a:off x="5618536" y="2361021"/>
            <a:ext cx="6152826" cy="2410690"/>
            <a:chOff x="331764" y="2484298"/>
            <a:chExt cx="6152826" cy="2410690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3C1103A5-3D96-5374-2540-9AF7CC431661}"/>
                </a:ext>
              </a:extLst>
            </p:cNvPr>
            <p:cNvCxnSpPr/>
            <p:nvPr/>
          </p:nvCxnSpPr>
          <p:spPr>
            <a:xfrm>
              <a:off x="2274687" y="4353751"/>
              <a:ext cx="639001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8E2B7361-724B-0F5B-1F1B-98935B0C25E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15245" y="4351168"/>
              <a:ext cx="541453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E21920B1-9063-69FB-06F6-FD889B3FBC6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66814" y="2484298"/>
              <a:ext cx="217732" cy="22142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3E64E7DC-66FF-FBAC-72AD-2E3A48EC7718}"/>
                    </a:ext>
                  </a:extLst>
                </p:cNvPr>
                <p:cNvSpPr txBox="1"/>
                <p:nvPr/>
              </p:nvSpPr>
              <p:spPr>
                <a:xfrm>
                  <a:off x="331764" y="4433323"/>
                  <a:ext cx="6152826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3E64E7DC-66FF-FBAC-72AD-2E3A48EC77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1764" y="4433323"/>
                  <a:ext cx="6152826" cy="461665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C1693C57-E7ED-4EE6-D8C6-C8D78EF72214}"/>
                </a:ext>
              </a:extLst>
            </p:cNvPr>
            <p:cNvCxnSpPr>
              <a:cxnSpLocks/>
            </p:cNvCxnSpPr>
            <p:nvPr/>
          </p:nvCxnSpPr>
          <p:spPr>
            <a:xfrm>
              <a:off x="2975680" y="2615117"/>
              <a:ext cx="0" cy="2279871"/>
            </a:xfrm>
            <a:prstGeom prst="line">
              <a:avLst/>
            </a:prstGeom>
            <a:ln w="127000">
              <a:solidFill>
                <a:schemeClr val="accent1">
                  <a:alpha val="52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9BF4223-90FE-2FD8-7846-993F816C52B0}"/>
              </a:ext>
            </a:extLst>
          </p:cNvPr>
          <p:cNvGrpSpPr/>
          <p:nvPr/>
        </p:nvGrpSpPr>
        <p:grpSpPr>
          <a:xfrm>
            <a:off x="-161884" y="3058679"/>
            <a:ext cx="6152826" cy="1859207"/>
            <a:chOff x="5375127" y="3084960"/>
            <a:chExt cx="6152826" cy="1859207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3F06ED25-6015-5D8B-AB90-0F249BB9105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842189" y="3084960"/>
              <a:ext cx="217732" cy="22142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632EDE17-A4D4-F21D-C92C-566EA760C7C2}"/>
                </a:ext>
              </a:extLst>
            </p:cNvPr>
            <p:cNvCxnSpPr/>
            <p:nvPr/>
          </p:nvCxnSpPr>
          <p:spPr>
            <a:xfrm>
              <a:off x="7226610" y="4402930"/>
              <a:ext cx="639001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6A38B650-ACFA-D8D7-F3DF-8342D6CA4F9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13468" y="4400347"/>
              <a:ext cx="541453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41CF0314-993B-9BDA-79F8-69AAB81BE408}"/>
                    </a:ext>
                  </a:extLst>
                </p:cNvPr>
                <p:cNvSpPr txBox="1"/>
                <p:nvPr/>
              </p:nvSpPr>
              <p:spPr>
                <a:xfrm>
                  <a:off x="5375127" y="4482502"/>
                  <a:ext cx="6152826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41CF0314-993B-9BDA-79F8-69AAB81BE4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75127" y="4482502"/>
                  <a:ext cx="6152826" cy="461665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23FB5A5-35C3-7EA5-862B-7EFD676BE8D3}"/>
                  </a:ext>
                </a:extLst>
              </p:cNvPr>
              <p:cNvSpPr txBox="1"/>
              <p:nvPr/>
            </p:nvSpPr>
            <p:spPr>
              <a:xfrm>
                <a:off x="331764" y="5469500"/>
                <a:ext cx="11318357" cy="6258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That means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𝒇</m:t>
                        </m:r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𝑴</m:t>
                        </m:r>
                      </m:sub>
                    </m:sSub>
                    <m:d>
                      <m:d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𝑻</m:t>
                        </m:r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𝜺</m:t>
                        </m:r>
                      </m:e>
                    </m:d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𝑴</m:t>
                        </m:r>
                      </m:sub>
                    </m:sSub>
                    <m:d>
                      <m:d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𝑻</m:t>
                        </m:r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d>
                  </m:oMath>
                </a14:m>
                <a:r>
                  <a:rPr lang="en-US" sz="2400" b="1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𝒗</m:t>
                        </m:r>
                      </m:num>
                      <m:den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𝜺</m:t>
                        </m:r>
                      </m:den>
                    </m:f>
                  </m:oMath>
                </a14:m>
                <a:r>
                  <a:rPr lang="en-US" sz="240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 (where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4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</m:t>
                    </m:r>
                    <m:sSup>
                      <m:sSup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US" sz="2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gets us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𝑑𝑣</m:t>
                        </m:r>
                      </m:num>
                      <m:den>
                        <m:r>
                          <a:rPr lang="en-US" sz="2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sz="2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den>
                    </m:f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23FB5A5-35C3-7EA5-862B-7EFD676BE8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764" y="5469500"/>
                <a:ext cx="11318357" cy="625812"/>
              </a:xfrm>
              <a:prstGeom prst="rect">
                <a:avLst/>
              </a:prstGeom>
              <a:blipFill>
                <a:blip r:embed="rId10"/>
                <a:stretch>
                  <a:fillRect l="-784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316E720-8761-72F7-FDE3-3B9FBB322EB9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Blackboard work: find the expression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𝒇</m:t>
                        </m:r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𝑴</m:t>
                        </m:r>
                      </m:sub>
                    </m:sSub>
                    <m:d>
                      <m:d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𝑻</m:t>
                        </m:r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𝜺</m:t>
                        </m:r>
                      </m:e>
                    </m:d>
                  </m:oMath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316E720-8761-72F7-FDE3-3B9FBB322E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12192000" cy="461665"/>
              </a:xfrm>
              <a:prstGeom prst="rect">
                <a:avLst/>
              </a:prstGeom>
              <a:blipFill>
                <a:blip r:embed="rId11"/>
                <a:stretch>
                  <a:fillRect l="-832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74BFDA2-58BC-A771-BAA1-EF602CB2A02E}"/>
              </a:ext>
            </a:extLst>
          </p:cNvPr>
          <p:cNvCxnSpPr>
            <a:cxnSpLocks/>
          </p:cNvCxnSpPr>
          <p:nvPr/>
        </p:nvCxnSpPr>
        <p:spPr>
          <a:xfrm>
            <a:off x="2407791" y="3159889"/>
            <a:ext cx="0" cy="1666359"/>
          </a:xfrm>
          <a:prstGeom prst="line">
            <a:avLst/>
          </a:prstGeom>
          <a:ln w="190500">
            <a:solidFill>
              <a:schemeClr val="accent1">
                <a:alpha val="52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14137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F9CE696-3094-B5CA-C145-5208FCB029A6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You’ll also implement this in Python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D85751C-4877-9C87-0E4B-C30E559B173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90" t="40680"/>
          <a:stretch/>
        </p:blipFill>
        <p:spPr>
          <a:xfrm>
            <a:off x="689429" y="1990846"/>
            <a:ext cx="7372350" cy="87391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5A63F21-C3E6-E81D-4385-BF91E11144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3900" y="3696665"/>
            <a:ext cx="7976220" cy="127000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9387679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1412</TotalTime>
  <Words>344</Words>
  <Application>Microsoft Macintosh PowerPoint</Application>
  <PresentationFormat>Widescreen</PresentationFormat>
  <Paragraphs>59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Steven</dc:creator>
  <cp:lastModifiedBy>Steven</cp:lastModifiedBy>
  <cp:revision>74</cp:revision>
  <cp:lastPrinted>2024-09-19T03:25:36Z</cp:lastPrinted>
  <dcterms:created xsi:type="dcterms:W3CDTF">2021-09-20T01:15:13Z</dcterms:created>
  <dcterms:modified xsi:type="dcterms:W3CDTF">2025-09-21T18:01:05Z</dcterms:modified>
</cp:coreProperties>
</file>