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348" r:id="rId3"/>
    <p:sldId id="353" r:id="rId4"/>
    <p:sldId id="354" r:id="rId5"/>
    <p:sldId id="35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2"/>
    <p:restoredTop sz="94686"/>
  </p:normalViewPr>
  <p:slideViewPr>
    <p:cSldViewPr snapToGrid="0" snapToObjects="1">
      <p:cViewPr varScale="1">
        <p:scale>
          <a:sx n="93" d="100"/>
          <a:sy n="93" d="100"/>
        </p:scale>
        <p:origin x="2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9069-6DB0-1346-8048-0E4FAE7A8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5BC24-28F0-7D40-BA35-B06FF82CC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E38DA-1D00-D447-A759-2D43130E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1DC4-64C1-2243-A0FF-367A4D3A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0A075-E48E-7D43-BCF9-0FEAF881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1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F2A5-98B3-204F-8682-6C3FF1FE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E562-23FF-874C-B188-906D02EBF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DD9D-3D3A-2949-9022-820D22D6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0566-5D9D-E04F-B783-02C767EA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27FF-767D-C342-B327-5CD6DD3B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2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5A62-2102-5D43-9377-4E404305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750AD-E5F9-0A47-9B40-A20F631F5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13BAE-EBA6-334A-A867-6562BCC8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A3E3F-775A-D94B-BA86-79EF792B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3B41-7205-1849-A1C7-BCC1D13D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4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25BB-AAF6-B548-A843-A8ACC57D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F000-5DE2-F244-A69A-106319984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DCD25-670A-B643-80B4-98D013DB7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3B184-4560-F94C-AC8A-3D0AF1F5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399CB-BB5E-514B-ACF2-B3191C05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C9188-B1F4-C544-BBD8-FB4D8B6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00B4-D777-894E-9B40-E22CA92F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A5006-1E05-8847-9DEB-71D8D133D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3BB8-91E4-B444-A9FB-F6F8DACD7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511EC-AC35-9443-86DC-A725DB39A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00962-C309-7044-9C85-8F14ABC1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94C01-70EE-B54A-BCF1-77D0EA6D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20A7E-C9BF-BB4E-8380-5816B680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6034E-BFD8-6048-9384-519688F8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1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A873-E0D5-324E-B6DE-EDBF2D34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885C8-EB53-EB41-A4E1-6C39EB99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AA523-7834-0C44-9D67-43575604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134F-510C-A84F-8B35-9F50245A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5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DA98C-F98F-5247-A222-53D4BAE0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77541-CAB8-354F-AE08-461DA06C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2D085-9F3F-2049-B545-33C57E29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3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62CC-F9F9-194E-AF54-50EE2EB5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3CBD-8D91-3D4A-A9D7-99CDB6B5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6F60C-8072-B947-A532-81A5EA2A8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15FE1-947C-744C-8A30-4ED2D92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C66EE-C74F-DA44-8778-117527E5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DA574-DEA5-6F4A-B9D9-AE048F4C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6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CBA6-7BCB-9040-A5CD-8224EBECA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3AE47-46FB-E54D-AC2F-8CE71030A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445F3-ACE2-3B45-B9E6-4ADA5228B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155EF-87A4-2143-9F13-707A4724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40E5D-DB4F-2846-8455-BDF12947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77F12-0004-7F47-B2CD-3C7F18BE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1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462D-43A6-F940-847A-12A9418C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57FC-641A-4346-A074-64D0ACD95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FE5AC-1CFB-3D44-9265-BA4EF5E8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6FC8-C028-9A49-8403-4EB2A3D8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65AC-6B85-254E-B265-279FAF06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5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561E4-CEA8-BB41-B8FA-0CFDC76D0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85182-3C3E-4748-9B9A-4C8C74674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930FB-D15D-C440-8FC5-FB41B486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722E-1032-0C45-91FD-56F52917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53031-A227-2C4E-A5F1-534836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5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80778-95F1-B147-BBBF-6C696CF0E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2AA4E-E0A5-BD47-96FE-D0D36A07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D613-61AA-CC4A-B633-5B4E5DFF3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7D29-3B7E-5D4D-85A8-82C91ED8015E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3FD5A-BB52-DA4B-A1C9-FAB6805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CF7CB-C93E-D440-9A9D-386E5C95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230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999744" y="717224"/>
            <a:ext cx="10119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It’s all the molecular energy in a given sample. We divide it into these parts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kinetic</a:t>
            </a:r>
            <a:r>
              <a:rPr lang="en-US" sz="2400" dirty="0"/>
              <a:t> part is energy of motion: </a:t>
            </a:r>
            <a:r>
              <a:rPr lang="en-US" sz="2400" b="1" dirty="0"/>
              <a:t>translational</a:t>
            </a:r>
            <a:r>
              <a:rPr lang="en-US" sz="2400" dirty="0"/>
              <a:t>, </a:t>
            </a:r>
            <a:r>
              <a:rPr lang="en-US" sz="2400" b="1" dirty="0"/>
              <a:t>rotational</a:t>
            </a:r>
            <a:r>
              <a:rPr lang="en-US" sz="2400" dirty="0"/>
              <a:t>, and </a:t>
            </a:r>
            <a:r>
              <a:rPr lang="en-US" sz="2400" b="1" dirty="0"/>
              <a:t>vibrational </a:t>
            </a:r>
            <a:r>
              <a:rPr lang="en-US" sz="2400" dirty="0"/>
              <a:t>motions.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potential</a:t>
            </a:r>
            <a:r>
              <a:rPr lang="en-US" sz="2400" dirty="0"/>
              <a:t> part is like the energy in a compressed spring – not moving, but energy that’s potentially available. At the molecular level, we talk about the potential energy of </a:t>
            </a:r>
            <a:r>
              <a:rPr lang="en-US" sz="2400" b="1" dirty="0"/>
              <a:t>vibration</a:t>
            </a:r>
            <a:r>
              <a:rPr lang="en-US" sz="2400" dirty="0"/>
              <a:t>, in that a molecule could be compressed or stretched out (much like a spring). Translational and rotational motions don’t have potential energy.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A59CE-56E1-C6F6-17F4-BC62101D096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Introducing the internal energy (“U”)</a:t>
            </a:r>
          </a:p>
        </p:txBody>
      </p:sp>
    </p:spTree>
    <p:extLst>
      <p:ext uri="{BB962C8B-B14F-4D97-AF65-F5344CB8AC3E}">
        <p14:creationId xmlns:p14="http://schemas.microsoft.com/office/powerpoint/2010/main" val="136551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Visualizing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/>
                  <a:t>as a thermodynamic surface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5ABBE39-B51A-7990-7D7C-F036541489E4}"/>
              </a:ext>
            </a:extLst>
          </p:cNvPr>
          <p:cNvGrpSpPr/>
          <p:nvPr/>
        </p:nvGrpSpPr>
        <p:grpSpPr>
          <a:xfrm>
            <a:off x="0" y="1021522"/>
            <a:ext cx="6096000" cy="4814956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EB07589-DDED-BFAA-5D0E-2951C9E3B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365CC7-20A1-9014-65C6-51A2C2D6FDA1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365CC7-20A1-9014-65C6-51A2C2D6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99" r="-659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087CF8-CE8A-2FE6-161D-B4BA5B0BBB89}"/>
                  </a:ext>
                </a:extLst>
              </p:cNvPr>
              <p:cNvSpPr txBox="1"/>
              <p:nvPr/>
            </p:nvSpPr>
            <p:spPr>
              <a:xfrm>
                <a:off x="5735781" y="1509041"/>
                <a:ext cx="6359237" cy="3141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Three surfaces here, for three different gases. We’re going to look at each, as well as at their slopes: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dirty="0"/>
                  <a:t> (</a:t>
                </a:r>
                <a:r>
                  <a:rPr lang="en-US" sz="2400" b="1" dirty="0"/>
                  <a:t>the </a:t>
                </a:r>
                <a:r>
                  <a:rPr lang="en-US" sz="2400" b="1" i="1" dirty="0"/>
                  <a:t>constant-volume heat capacity</a:t>
                </a:r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d>
                          <m:d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𝑼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(the </a:t>
                </a:r>
                <a:r>
                  <a:rPr lang="en-US" sz="2400" b="1" i="1" dirty="0"/>
                  <a:t>“internal pressure”)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087CF8-CE8A-2FE6-161D-B4BA5B0BB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781" y="1509041"/>
                <a:ext cx="6359237" cy="3141373"/>
              </a:xfrm>
              <a:prstGeom prst="rect">
                <a:avLst/>
              </a:prstGeom>
              <a:blipFill>
                <a:blip r:embed="rId5"/>
                <a:stretch>
                  <a:fillRect l="-1394" t="-2016" r="-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51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b="1" dirty="0"/>
                  <a:t> varies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02F8B44C-4BA6-91C9-A986-043CE867D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4" t="20808" r="11626" b="13131"/>
          <a:stretch/>
        </p:blipFill>
        <p:spPr bwMode="auto">
          <a:xfrm>
            <a:off x="1413164" y="3429000"/>
            <a:ext cx="3167859" cy="23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5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blipFill>
                <a:blip r:embed="rId6"/>
                <a:stretch>
                  <a:fillRect l="-1613" r="-70968" b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70B8CE9A-4916-C471-C272-F5933F610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6" t="21818" r="18755" b="11718"/>
          <a:stretch/>
        </p:blipFill>
        <p:spPr bwMode="auto">
          <a:xfrm>
            <a:off x="4696689" y="3488914"/>
            <a:ext cx="2923309" cy="2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483AF054-80F9-AE1F-776D-078700DB5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0000" r="14053" b="10505"/>
          <a:stretch/>
        </p:blipFill>
        <p:spPr bwMode="auto">
          <a:xfrm>
            <a:off x="8326460" y="3429000"/>
            <a:ext cx="3228230" cy="27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6E5AC-4957-C29A-40C8-BD80DAA60968}"/>
              </a:ext>
            </a:extLst>
          </p:cNvPr>
          <p:cNvSpPr txBox="1"/>
          <p:nvPr/>
        </p:nvSpPr>
        <p:spPr>
          <a:xfrm>
            <a:off x="1262737" y="5901769"/>
            <a:ext cx="31678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Constant slope heat capacity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7B29C-AEA5-60DE-3EAE-03CD5301258D}"/>
              </a:ext>
            </a:extLst>
          </p:cNvPr>
          <p:cNvSpPr txBox="1"/>
          <p:nvPr/>
        </p:nvSpPr>
        <p:spPr>
          <a:xfrm>
            <a:off x="4696689" y="6086434"/>
            <a:ext cx="71628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heat capacity with higher temperature</a:t>
            </a:r>
          </a:p>
        </p:txBody>
      </p:sp>
    </p:spTree>
    <p:extLst>
      <p:ext uri="{BB962C8B-B14F-4D97-AF65-F5344CB8AC3E}">
        <p14:creationId xmlns:p14="http://schemas.microsoft.com/office/powerpoint/2010/main" val="2381254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varies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4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6E5AC-4957-C29A-40C8-BD80DAA60968}"/>
                  </a:ext>
                </a:extLst>
              </p:cNvPr>
              <p:cNvSpPr txBox="1"/>
              <p:nvPr/>
            </p:nvSpPr>
            <p:spPr>
              <a:xfrm>
                <a:off x="1262737" y="5901769"/>
                <a:ext cx="6194085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is zero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66E5AC-4957-C29A-40C8-BD80DAA60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37" y="5901769"/>
                <a:ext cx="6194085" cy="461665"/>
              </a:xfrm>
              <a:prstGeom prst="rect">
                <a:avLst/>
              </a:prstGeom>
              <a:blipFill>
                <a:blip r:embed="rId7"/>
                <a:stretch>
                  <a:fillRect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C559504-2C09-83D4-EB89-19BA670F2D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129" y="3369088"/>
            <a:ext cx="2648709" cy="2258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A3A9AE-AF6D-36C2-0683-31C8E63715BE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A3A9AE-AF6D-36C2-0683-31C8E637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461665"/>
              </a:xfrm>
              <a:prstGeom prst="rect">
                <a:avLst/>
              </a:prstGeom>
              <a:blipFill>
                <a:blip r:embed="rId9"/>
                <a:stretch>
                  <a:fillRect r="-7258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8588E64-E600-CB24-24E9-B2986CB522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833" y="3338651"/>
            <a:ext cx="2760134" cy="2319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74A8E9-0DBD-F401-57BE-4A7A23493F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9014" y="3266654"/>
            <a:ext cx="3171141" cy="27282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2FA1-354F-4C40-3F6A-88B086542BBB}"/>
                  </a:ext>
                </a:extLst>
              </p:cNvPr>
              <p:cNvSpPr txBox="1"/>
              <p:nvPr/>
            </p:nvSpPr>
            <p:spPr>
              <a:xfrm>
                <a:off x="8088322" y="5901769"/>
                <a:ext cx="3845478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is nonzero at low volume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2FA1-354F-4C40-3F6A-88B086542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322" y="5901769"/>
                <a:ext cx="3845478" cy="461665"/>
              </a:xfrm>
              <a:prstGeom prst="rect">
                <a:avLst/>
              </a:prstGeom>
              <a:blipFill>
                <a:blip r:embed="rId12"/>
                <a:stretch>
                  <a:fillRect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09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0DD5777-3C55-450C-92E8-4828106AC20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86E666-F08E-8D80-223D-D720E0E0E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268"/>
          <a:stretch/>
        </p:blipFill>
        <p:spPr>
          <a:xfrm>
            <a:off x="393876" y="1565564"/>
            <a:ext cx="7184560" cy="6955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BBC352-DD2F-DBEF-E8BE-7E88553AB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20" y="3429000"/>
            <a:ext cx="11331963" cy="26673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566DC2-549E-E8CD-FBB9-D78EF21BC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473" y="461665"/>
            <a:ext cx="35052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207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123</cp:revision>
  <dcterms:created xsi:type="dcterms:W3CDTF">2021-09-19T16:02:31Z</dcterms:created>
  <dcterms:modified xsi:type="dcterms:W3CDTF">2025-09-21T17:19:45Z</dcterms:modified>
</cp:coreProperties>
</file>