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67" r:id="rId2"/>
    <p:sldId id="729" r:id="rId3"/>
    <p:sldId id="708" r:id="rId4"/>
    <p:sldId id="739" r:id="rId5"/>
    <p:sldId id="711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75"/>
    <p:restoredTop sz="95964"/>
  </p:normalViewPr>
  <p:slideViewPr>
    <p:cSldViewPr snapToGrid="0" snapToObjects="1">
      <p:cViewPr varScale="1">
        <p:scale>
          <a:sx n="108" d="100"/>
          <a:sy n="108" d="100"/>
        </p:scale>
        <p:origin x="208" y="2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17335-C2DF-254B-B4F9-D9053CDF746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752E93-9505-B04A-84EB-C5CEE39C3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E5E6C5-3ACC-5940-94AD-304EB46A6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90115C-9ECF-BF44-9517-6D5BB66F77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D06120-F476-EE4C-A4FF-72DC5FC7E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78351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D1E1B8-6447-3E4C-A4C7-D62F2A50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1E0F76-C46B-4E45-A169-35C2F05479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C9E81-0B37-414C-92BF-8B5793AF4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F56AB9-DBE5-8C4C-AE81-3167F4B1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ECFD0E-6ADB-694F-9299-693ABAE91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6606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939362-95E7-F84E-A04A-0CD954C46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6970DC-26D0-1349-BA81-4188E5EC1F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FC04AC-2113-864D-B5C7-932C0474D7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38F7F2-B139-A346-B85D-7C454940F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F27B8-68FD-0640-B0A8-0EE27636E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1800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79077-A29F-464A-B10C-A4A868BB8F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109841-EB5D-834F-9119-B3B7B7C9E1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025154-926F-5E49-AA06-57C245E4C4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61FA0B-B0D4-404A-93D8-DC3F039AB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3A419-6EFE-DC43-A8AB-703A4BD57E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CD629D-FF49-B142-BB2E-2F301E104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1815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4D691-5DFC-9449-8CAF-4D85362A2E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7AC3D1-3AE6-4A40-98B5-6410F214C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1D9CC6-44FB-A240-97BB-7810856481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D659A8-B054-5845-A815-F31A17FFD9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61237C-C5EA-D84A-A6AF-2ED154D609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582782-24B2-B648-AF83-8F636E94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1EA8732-8935-BB40-87B9-7A67F4C866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87039E-0D69-FD4F-969A-0A17D5D19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9947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B00857-3A0F-884F-8892-75ECE14B52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6D6B9B-35A7-6048-A66E-1B51EED21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F0729F-DC9E-D641-9A56-3C775D4B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D8CA027-DAC5-EB47-9F39-8AC23C792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1928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5DCCE58-64DD-C54D-9062-E86B85B52B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8A6849F-4D27-F047-8C90-28270965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DF66C-1DF3-1D49-B0CF-0C468DD93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91609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E8EFBE-8481-CF4C-8CA6-3FB2AA098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B1F8E3-CED8-3040-B0C1-6EEAFA58E7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9A48C7-8F2A-6644-B890-2223062FFE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36B821-C11F-1343-B98B-42F1640E2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F1FF95-B823-8641-85BD-4E941EC11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C29DDE-4C7E-514C-9B14-AC93AFDC8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5385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CB17D4-3DC5-2647-BEF9-AB6680E4A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A6DBB18-3799-3844-AE1D-8CCB273C498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349C8E-C566-8846-99E0-B05B9776D3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1811D8-56B5-384B-852F-B735D2A45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0D007-AD93-204E-8E03-8356C053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BFB8D6-7078-E74C-942B-AA565FE9F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1696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D611C-A5DF-684F-9F5B-1CFAD2723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8DE04E-45A0-3849-BE1A-0F1B5C8F05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0B3C9-2B9C-CC43-A9BF-72E306654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114B1D-6E8C-8C4B-A922-69FA24037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02288-920D-8A44-9265-D980DF5E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7611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0C144C1-198E-EB4E-9B83-5FBAB0B2CF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D64453-EB24-6648-98C4-F99E960E91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A6F22D-6D54-EA41-907D-D0F3A5CDC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E6274F-F43D-4642-A70F-C7F4B690C7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B9411B-EFFA-1349-B38F-339063517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162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335C83-3621-4E4B-9C4A-F7DD2616A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1077E5-9E72-7343-B6AC-250CA778A8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7846D1-73FF-8048-8E75-D5D4C7B1E72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F8E43C-D11C-C140-AE94-8DE784BCADA2}" type="datetimeFigureOut">
              <a:rPr lang="en-US" smtClean="0"/>
              <a:t>9/21/25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42BF10-D118-BD44-8E18-A358FC752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F77870-1298-1F43-9262-25C2CF3C21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C2B501-0E1D-4148-A589-BE74C9D9AD7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6713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NULL"/><Relationship Id="rId7" Type="http://schemas.openxmlformats.org/officeDocument/2006/relationships/image" Target="NULL"/><Relationship Id="rId1" Type="http://schemas.openxmlformats.org/officeDocument/2006/relationships/slideLayout" Target="../slideLayouts/slideLayout2.xml"/><Relationship Id="rId6" Type="http://schemas.openxmlformats.org/officeDocument/2006/relationships/image" Target="NULL"/><Relationship Id="rId11" Type="http://schemas.openxmlformats.org/officeDocument/2006/relationships/image" Target="../media/image7.png"/><Relationship Id="rId5" Type="http://schemas.openxmlformats.org/officeDocument/2006/relationships/image" Target="NULL"/><Relationship Id="rId10" Type="http://schemas.openxmlformats.org/officeDocument/2006/relationships/image" Target="../media/image6.png"/><Relationship Id="rId4" Type="http://schemas.openxmlformats.org/officeDocument/2006/relationships/image" Target="NUL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1240985-E633-3C40-AC86-4D9A3B1FD2D2}"/>
              </a:ext>
            </a:extLst>
          </p:cNvPr>
          <p:cNvSpPr txBox="1"/>
          <p:nvPr/>
        </p:nvSpPr>
        <p:spPr>
          <a:xfrm>
            <a:off x="0" y="0"/>
            <a:ext cx="12192000" cy="461665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Next week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7B446AF-37CD-4168-0FCE-7DED81971D4D}"/>
              </a:ext>
            </a:extLst>
          </p:cNvPr>
          <p:cNvSpPr txBox="1"/>
          <p:nvPr/>
        </p:nvSpPr>
        <p:spPr>
          <a:xfrm>
            <a:off x="1151906" y="1187532"/>
            <a:ext cx="92627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1-on-1 interviews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CGI on an ice-free Arctic</a:t>
            </a:r>
          </a:p>
        </p:txBody>
      </p:sp>
    </p:spTree>
    <p:extLst>
      <p:ext uri="{BB962C8B-B14F-4D97-AF65-F5344CB8AC3E}">
        <p14:creationId xmlns:p14="http://schemas.microsoft.com/office/powerpoint/2010/main" val="16091752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77792" y="1957779"/>
            <a:ext cx="988062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Intermolecular bond strengths</a:t>
            </a:r>
          </a:p>
          <a:p>
            <a:r>
              <a:rPr lang="en-US" sz="2400" dirty="0"/>
              <a:t>What do the colors mean in these electrostatic potential maps?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BB13244-6CE2-5306-9A7F-DEFA422D5D93}"/>
              </a:ext>
            </a:extLst>
          </p:cNvPr>
          <p:cNvGrpSpPr>
            <a:grpSpLocks noChangeAspect="1"/>
          </p:cNvGrpSpPr>
          <p:nvPr/>
        </p:nvGrpSpPr>
        <p:grpSpPr>
          <a:xfrm>
            <a:off x="2178854" y="2724531"/>
            <a:ext cx="6036459" cy="2027791"/>
            <a:chOff x="2178854" y="3110297"/>
            <a:chExt cx="7517677" cy="2525368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0BFCB90A-9A46-8630-AF17-DC15A94F63B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173165" y="3110297"/>
              <a:ext cx="3523366" cy="2525368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AF3B547C-1D3F-067E-2FB9-EE9995451A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78854" y="3386102"/>
              <a:ext cx="2821409" cy="2049427"/>
            </a:xfrm>
            <a:prstGeom prst="rect">
              <a:avLst/>
            </a:prstGeom>
          </p:spPr>
        </p:pic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9B56D861-4AB8-6A50-F868-C7CB83C4CE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4288"/>
            <a:ext cx="12192000" cy="465839"/>
          </a:xfrm>
          <a:solidFill>
            <a:schemeClr val="accent2"/>
          </a:solidFill>
        </p:spPr>
        <p:txBody>
          <a:bodyPr>
            <a:noAutofit/>
          </a:bodyPr>
          <a:lstStyle/>
          <a:p>
            <a:r>
              <a:rPr lang="en-US" sz="2400" b="1" dirty="0">
                <a:latin typeface="+mn-lt"/>
              </a:rPr>
              <a:t>Week 1 (this is a sampler, not necessarily what I’ll ask you)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2C65DF-622C-0D5C-1080-01140E445C4E}"/>
                  </a:ext>
                </a:extLst>
              </p:cNvPr>
              <p:cNvSpPr txBox="1"/>
              <p:nvPr/>
            </p:nvSpPr>
            <p:spPr>
              <a:xfrm>
                <a:off x="272799" y="777411"/>
                <a:ext cx="9657176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The E-format convention</a:t>
                </a:r>
              </a:p>
              <a:p>
                <a:r>
                  <a:rPr lang="en-US" sz="2400" dirty="0"/>
                  <a:t>Define a variable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</m:t>
                    </m:r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=8.314×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−3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400" dirty="0"/>
                  <a:t>using the E-format convention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702C65DF-622C-0D5C-1080-01140E445C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9" y="777411"/>
                <a:ext cx="9657176" cy="830997"/>
              </a:xfrm>
              <a:prstGeom prst="rect">
                <a:avLst/>
              </a:prstGeom>
              <a:blipFill>
                <a:blip r:embed="rId4"/>
                <a:stretch>
                  <a:fillRect l="-1051" t="-6061" b="-1515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5AECEC-4249-D40F-95F8-2AEC4CBB2DAA}"/>
                  </a:ext>
                </a:extLst>
              </p:cNvPr>
              <p:cNvSpPr txBox="1"/>
              <p:nvPr/>
            </p:nvSpPr>
            <p:spPr>
              <a:xfrm>
                <a:off x="272799" y="4909540"/>
                <a:ext cx="9657176" cy="140718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Equations of state</a:t>
                </a:r>
                <a:endParaRPr lang="en-US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Name this equation of state: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sSup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endParaRPr lang="en-US" sz="24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400" dirty="0"/>
                  <a:t>Describe the physical meaning behind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sz="2400" dirty="0"/>
                  <a:t> and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endParaRPr lang="en-US" sz="24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F5AECEC-4249-D40F-95F8-2AEC4CBB2D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2799" y="4909540"/>
                <a:ext cx="9657176" cy="1407180"/>
              </a:xfrm>
              <a:prstGeom prst="rect">
                <a:avLst/>
              </a:prstGeom>
              <a:blipFill>
                <a:blip r:embed="rId5"/>
                <a:stretch>
                  <a:fillRect l="-1051" t="-3571" b="-80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137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500063"/>
          </a:xfrm>
          <a:solidFill>
            <a:schemeClr val="accent2"/>
          </a:solidFill>
        </p:spPr>
        <p:txBody>
          <a:bodyPr>
            <a:normAutofit/>
          </a:bodyPr>
          <a:lstStyle/>
          <a:p>
            <a:r>
              <a:rPr lang="en-US" sz="2400" b="1" dirty="0">
                <a:latin typeface="+mn-lt"/>
              </a:rPr>
              <a:t>Week 2 (this is a sampler, not necessarily what I’ll ask you)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207297" y="702835"/>
            <a:ext cx="1003794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Visualizing derivative thermodynamic surfaces, part 1</a:t>
            </a:r>
            <a:endParaRPr lang="en-US" sz="2400" dirty="0"/>
          </a:p>
          <a:p>
            <a:r>
              <a:rPr lang="en-US" sz="2400" dirty="0"/>
              <a:t>Which thermodynamic surface is the one on the right?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4DF0C5D5-C022-924E-8657-AAD4B476518B}"/>
              </a:ext>
            </a:extLst>
          </p:cNvPr>
          <p:cNvGrpSpPr/>
          <p:nvPr/>
        </p:nvGrpSpPr>
        <p:grpSpPr>
          <a:xfrm>
            <a:off x="7943205" y="539373"/>
            <a:ext cx="1327898" cy="3737613"/>
            <a:chOff x="10406573" y="1936855"/>
            <a:chExt cx="1327898" cy="37376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8044095-921D-9640-A170-51AC75A4C7F5}"/>
                    </a:ext>
                  </a:extLst>
                </p:cNvPr>
                <p:cNvSpPr/>
                <p:nvPr/>
              </p:nvSpPr>
              <p:spPr>
                <a:xfrm>
                  <a:off x="10412985" y="1936855"/>
                  <a:ext cx="1317220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sz="2400" dirty="0"/>
                    <a:t>1.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>
                              <a:latin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b="1" dirty="0"/>
                    <a:t> </a:t>
                  </a:r>
                  <a:endParaRPr lang="en-US" sz="2400" dirty="0"/>
                </a:p>
              </p:txBody>
            </p:sp>
          </mc:Choice>
          <mc:Fallback xmlns="">
            <p:sp>
              <p:nvSpPr>
                <p:cNvPr id="9" name="Rectangle 8">
                  <a:extLst>
                    <a:ext uri="{FF2B5EF4-FFF2-40B4-BE49-F238E27FC236}">
                      <a16:creationId xmlns:a16="http://schemas.microsoft.com/office/drawing/2014/main" id="{B8044095-921D-9640-A170-51AC75A4C7F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12985" y="1936855"/>
                  <a:ext cx="1317220" cy="693138"/>
                </a:xfrm>
                <a:prstGeom prst="rect">
                  <a:avLst/>
                </a:prstGeom>
                <a:blipFill>
                  <a:blip r:embed="rId4"/>
                  <a:stretch>
                    <a:fillRect l="-6667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88C431-E495-1249-B77F-A21AA7A16139}"/>
                    </a:ext>
                  </a:extLst>
                </p:cNvPr>
                <p:cNvSpPr/>
                <p:nvPr/>
              </p:nvSpPr>
              <p:spPr>
                <a:xfrm>
                  <a:off x="10406573" y="2935085"/>
                  <a:ext cx="1302280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sz="2400" b="0" i="1" dirty="0" smtClean="0">
                          <a:latin typeface="Cambria Math" panose="02040503050406030204" pitchFamily="18" charset="0"/>
                        </a:rPr>
                        <m:t>2. </m:t>
                      </m:r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𝑃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0" name="Rectangle 9">
                  <a:extLst>
                    <a:ext uri="{FF2B5EF4-FFF2-40B4-BE49-F238E27FC236}">
                      <a16:creationId xmlns:a16="http://schemas.microsoft.com/office/drawing/2014/main" id="{6C88C431-E495-1249-B77F-A21AA7A16139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06573" y="2935085"/>
                  <a:ext cx="1302280" cy="693908"/>
                </a:xfrm>
                <a:prstGeom prst="rect">
                  <a:avLst/>
                </a:prstGeom>
                <a:blipFill>
                  <a:blip r:embed="rId5"/>
                  <a:stretch>
                    <a:fillRect l="-971" b="-18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D90538-688F-854F-BF2E-F52D87F02414}"/>
                    </a:ext>
                  </a:extLst>
                </p:cNvPr>
                <p:cNvSpPr/>
                <p:nvPr/>
              </p:nvSpPr>
              <p:spPr>
                <a:xfrm>
                  <a:off x="10446618" y="3934085"/>
                  <a:ext cx="1287853" cy="69313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3. 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𝑉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1" name="Rectangle 10">
                  <a:extLst>
                    <a:ext uri="{FF2B5EF4-FFF2-40B4-BE49-F238E27FC236}">
                      <a16:creationId xmlns:a16="http://schemas.microsoft.com/office/drawing/2014/main" id="{27D90538-688F-854F-BF2E-F52D87F02414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3934085"/>
                  <a:ext cx="1287853" cy="693138"/>
                </a:xfrm>
                <a:prstGeom prst="rect">
                  <a:avLst/>
                </a:prstGeom>
                <a:blipFill>
                  <a:blip r:embed="rId6"/>
                  <a:stretch>
                    <a:fillRect l="-980" b="-178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7A988B0-C5AE-ED48-90D8-39C8DDD2764F}"/>
                    </a:ext>
                  </a:extLst>
                </p:cNvPr>
                <p:cNvSpPr/>
                <p:nvPr/>
              </p:nvSpPr>
              <p:spPr>
                <a:xfrm>
                  <a:off x="10446618" y="4980560"/>
                  <a:ext cx="1287853" cy="693908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2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</a:rPr>
                            <m:t>4. </m:t>
                          </m:r>
                          <m:d>
                            <m:dPr>
                              <m:ctrlPr>
                                <a:rPr lang="en-US" sz="24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sz="24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num>
                                <m:den>
                                  <m:r>
                                    <a:rPr lang="en-US" sz="2400" b="0" i="1" dirty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𝜕</m:t>
                                  </m:r>
                                  <m:r>
                                    <a:rPr lang="en-US" sz="2400" b="0" i="1" dirty="0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𝑇</m:t>
                                  </m:r>
                                </m:den>
                              </m:f>
                            </m:e>
                          </m:d>
                        </m:e>
                        <m:sub>
                          <m:r>
                            <a:rPr lang="en-US" sz="2400" b="0" i="1" dirty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𝑉</m:t>
                          </m:r>
                        </m:sub>
                      </m:sSub>
                    </m:oMath>
                  </a14:m>
                  <a:r>
                    <a:rPr lang="en-US" sz="2400" dirty="0"/>
                    <a:t> </a:t>
                  </a:r>
                </a:p>
              </p:txBody>
            </p:sp>
          </mc:Choice>
          <mc:Fallback xmlns="">
            <p:sp>
              <p:nvSpPr>
                <p:cNvPr id="12" name="Rectangle 11">
                  <a:extLst>
                    <a:ext uri="{FF2B5EF4-FFF2-40B4-BE49-F238E27FC236}">
                      <a16:creationId xmlns:a16="http://schemas.microsoft.com/office/drawing/2014/main" id="{07A988B0-C5AE-ED48-90D8-39C8DDD2764F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0446618" y="4980560"/>
                  <a:ext cx="1287853" cy="693908"/>
                </a:xfrm>
                <a:prstGeom prst="rect">
                  <a:avLst/>
                </a:prstGeom>
                <a:blipFill>
                  <a:blip r:embed="rId7"/>
                  <a:stretch>
                    <a:fillRect l="-980" b="-3636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/>
              <p:nvPr/>
            </p:nvSpPr>
            <p:spPr>
              <a:xfrm>
                <a:off x="1944768" y="2712220"/>
                <a:ext cx="96853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𝑇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𝑉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7A0FCA67-6FE7-A34B-9BF9-B1579E0995B0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44768" y="2712220"/>
                <a:ext cx="968535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" name="Group 12">
            <a:extLst>
              <a:ext uri="{FF2B5EF4-FFF2-40B4-BE49-F238E27FC236}">
                <a16:creationId xmlns:a16="http://schemas.microsoft.com/office/drawing/2014/main" id="{18833733-40ED-2C68-C63C-712F1AAEF970}"/>
              </a:ext>
            </a:extLst>
          </p:cNvPr>
          <p:cNvGrpSpPr/>
          <p:nvPr/>
        </p:nvGrpSpPr>
        <p:grpSpPr>
          <a:xfrm>
            <a:off x="514651" y="1533832"/>
            <a:ext cx="6242575" cy="2930344"/>
            <a:chOff x="257476" y="2012650"/>
            <a:chExt cx="6242575" cy="2930344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D6A87CB8-C1A6-7B42-8AEC-5EDFCC11B2C0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257476" y="2012650"/>
              <a:ext cx="6242575" cy="2930344"/>
              <a:chOff x="-701281" y="1088136"/>
              <a:chExt cx="11949153" cy="5409910"/>
            </a:xfrm>
          </p:grpSpPr>
          <p:pic>
            <p:nvPicPr>
              <p:cNvPr id="7" name="Picture 2">
                <a:extLst>
                  <a:ext uri="{FF2B5EF4-FFF2-40B4-BE49-F238E27FC236}">
                    <a16:creationId xmlns:a16="http://schemas.microsoft.com/office/drawing/2014/main" id="{4A25AC05-D866-E544-9AAE-C372CF28C38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-701281" y="1088136"/>
                <a:ext cx="7147673" cy="536448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8" name="Picture 2">
                <a:extLst>
                  <a:ext uri="{FF2B5EF4-FFF2-40B4-BE49-F238E27FC236}">
                    <a16:creationId xmlns:a16="http://schemas.microsoft.com/office/drawing/2014/main" id="{350242A4-7C1D-6840-960B-28F8206F497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r="11879"/>
              <a:stretch/>
            </p:blipFill>
            <p:spPr bwMode="auto">
              <a:xfrm>
                <a:off x="5293157" y="1426464"/>
                <a:ext cx="5954715" cy="507158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15" name="Curved Left Arrow 14">
              <a:extLst>
                <a:ext uri="{FF2B5EF4-FFF2-40B4-BE49-F238E27FC236}">
                  <a16:creationId xmlns:a16="http://schemas.microsoft.com/office/drawing/2014/main" id="{08A252DC-BD10-B641-B8FD-8BEE5959AD7F}"/>
                </a:ext>
              </a:extLst>
            </p:cNvPr>
            <p:cNvSpPr/>
            <p:nvPr/>
          </p:nvSpPr>
          <p:spPr>
            <a:xfrm rot="16200000">
              <a:off x="3274291" y="1404059"/>
              <a:ext cx="525704" cy="1954243"/>
            </a:xfrm>
            <a:prstGeom prst="curvedLeftArrow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B1E5D7-5667-4BE9-A871-43062E522E03}"/>
                  </a:ext>
                </a:extLst>
              </p:cNvPr>
              <p:cNvSpPr txBox="1"/>
              <p:nvPr/>
            </p:nvSpPr>
            <p:spPr>
              <a:xfrm>
                <a:off x="207297" y="4728914"/>
                <a:ext cx="11178406" cy="10853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400" b="1" dirty="0"/>
                  <a:t>Analytical partial derivatives</a:t>
                </a:r>
                <a:endParaRPr lang="en-US" sz="2400" dirty="0"/>
              </a:p>
              <a:p>
                <a:r>
                  <a:rPr lang="en-US" sz="2400" b="0" dirty="0">
                    <a:solidFill>
                      <a:schemeClr val="tx1"/>
                    </a:solidFill>
                  </a:rPr>
                  <a:t>Suppose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𝑛𝑅𝑇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𝑛𝑏</m:t>
                        </m:r>
                      </m:den>
                    </m:f>
                    <m:r>
                      <a:rPr lang="en-US" sz="24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×(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𝑉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𝑛𝑏</m:t>
                        </m:r>
                        <m:r>
                          <a:rPr lang="en-US" sz="24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 Find the algebraic expression corresponding 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d>
                          <m:dPr>
                            <m:ctrlPr>
                              <a:rPr lang="en-US" sz="2400" i="1" dirty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𝑃</m:t>
                                </m:r>
                              </m:num>
                              <m:den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𝜕</m:t>
                                </m:r>
                                <m:r>
                                  <a:rPr lang="en-US" sz="2400" i="1" dirty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𝑉</m:t>
                                </m:r>
                              </m:den>
                            </m:f>
                          </m:e>
                        </m:d>
                      </m:e>
                      <m:sub>
                        <m:r>
                          <a:rPr lang="en-US" sz="2400" i="1" dirty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05B1E5D7-5667-4BE9-A871-43062E522E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7297" y="4728914"/>
                <a:ext cx="11178406" cy="1085362"/>
              </a:xfrm>
              <a:prstGeom prst="rect">
                <a:avLst/>
              </a:prstGeom>
              <a:blipFill>
                <a:blip r:embed="rId11"/>
                <a:stretch>
                  <a:fillRect l="-908" t="-4651" b="-465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894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A7ACD12-2A6D-4C4B-833A-3F909AC9BB7D}"/>
              </a:ext>
            </a:extLst>
          </p:cNvPr>
          <p:cNvGrpSpPr/>
          <p:nvPr/>
        </p:nvGrpSpPr>
        <p:grpSpPr>
          <a:xfrm>
            <a:off x="772160" y="1631480"/>
            <a:ext cx="6121761" cy="4730607"/>
            <a:chOff x="6531419" y="3429000"/>
            <a:chExt cx="4281264" cy="3133165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DC3A9BD-A0A9-0740-8AD2-1927629B1CA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9231" t="22895"/>
            <a:stretch/>
          </p:blipFill>
          <p:spPr>
            <a:xfrm>
              <a:off x="6531419" y="3918250"/>
              <a:ext cx="4281264" cy="2643915"/>
            </a:xfrm>
            <a:prstGeom prst="rect">
              <a:avLst/>
            </a:prstGeom>
          </p:spPr>
        </p:pic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51A4B2E1-D52C-CF4E-9EF2-0B0922A3C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37220" y="3429000"/>
              <a:ext cx="1066800" cy="558800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4DFA010B-8DE2-1142-8E60-0C708E64B03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945630" y="5024120"/>
              <a:ext cx="1066800" cy="558800"/>
            </a:xfrm>
            <a:prstGeom prst="rect">
              <a:avLst/>
            </a:prstGeom>
          </p:spPr>
        </p:pic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8F6706AA-EEB3-2E4F-B4FB-66429C2F46E2}"/>
              </a:ext>
            </a:extLst>
          </p:cNvPr>
          <p:cNvSpPr txBox="1"/>
          <p:nvPr/>
        </p:nvSpPr>
        <p:spPr>
          <a:xfrm>
            <a:off x="302229" y="1134161"/>
            <a:ext cx="1158754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Probability densities</a:t>
            </a:r>
          </a:p>
          <a:p>
            <a:r>
              <a:rPr lang="en-US" sz="2400" dirty="0"/>
              <a:t>Which graph below corresponds to the </a:t>
            </a:r>
            <a:r>
              <a:rPr lang="en-US" sz="2400" b="1" dirty="0"/>
              <a:t>heavier</a:t>
            </a:r>
            <a:r>
              <a:rPr lang="en-US" sz="2400" dirty="0"/>
              <a:t> molecule?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83FE871-878D-0144-BFF8-50CB16FB4B92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5678"/>
          <a:stretch/>
        </p:blipFill>
        <p:spPr>
          <a:xfrm>
            <a:off x="4528347" y="2834947"/>
            <a:ext cx="3886448" cy="95884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24EDC97-B1B3-4043-BE59-4FDCC7C601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74132" y="3174013"/>
            <a:ext cx="1856541" cy="1997992"/>
          </a:xfrm>
          <a:prstGeom prst="rect">
            <a:avLst/>
          </a:prstGeom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C356A336-D413-46D6-B524-26B930E93656}"/>
              </a:ext>
            </a:extLst>
          </p:cNvPr>
          <p:cNvSpPr txBox="1">
            <a:spLocks/>
          </p:cNvSpPr>
          <p:nvPr/>
        </p:nvSpPr>
        <p:spPr>
          <a:xfrm>
            <a:off x="0" y="0"/>
            <a:ext cx="12192000" cy="500063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b="1" dirty="0">
                <a:latin typeface="+mn-lt"/>
              </a:rPr>
              <a:t>Week 3 (this is a sampler, not necessarily what I’ll ask you)</a:t>
            </a:r>
          </a:p>
        </p:txBody>
      </p:sp>
    </p:spTree>
    <p:extLst>
      <p:ext uri="{BB962C8B-B14F-4D97-AF65-F5344CB8AC3E}">
        <p14:creationId xmlns:p14="http://schemas.microsoft.com/office/powerpoint/2010/main" val="37800517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85A71E9-18C7-8AFA-A06A-0B2150C1EF9C}"/>
              </a:ext>
            </a:extLst>
          </p:cNvPr>
          <p:cNvSpPr txBox="1"/>
          <p:nvPr/>
        </p:nvSpPr>
        <p:spPr>
          <a:xfrm>
            <a:off x="0" y="0"/>
            <a:ext cx="3194462" cy="830997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sz="2400" b="1" dirty="0"/>
              <a:t>Scoring the 1-on-1 interviews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4ACF0D-7CB8-75AE-8B8E-DA089C21A2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705" y="105405"/>
            <a:ext cx="6154820" cy="665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86476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2122</TotalTime>
  <Words>169</Words>
  <Application>Microsoft Macintosh PowerPoint</Application>
  <PresentationFormat>Widescreen</PresentationFormat>
  <Paragraphs>25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Cambria Math</vt:lpstr>
      <vt:lpstr>Office Theme</vt:lpstr>
      <vt:lpstr>PowerPoint Presentation</vt:lpstr>
      <vt:lpstr>Week 1 (this is a sampler, not necessarily what I’ll ask you)</vt:lpstr>
      <vt:lpstr>Week 2 (this is a sampler, not necessarily what I’ll ask you)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Steven</dc:creator>
  <cp:lastModifiedBy>Steven</cp:lastModifiedBy>
  <cp:revision>100</cp:revision>
  <dcterms:created xsi:type="dcterms:W3CDTF">2021-09-20T01:57:56Z</dcterms:created>
  <dcterms:modified xsi:type="dcterms:W3CDTF">2025-09-21T18:07:08Z</dcterms:modified>
</cp:coreProperties>
</file>