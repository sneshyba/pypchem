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512" r:id="rId2"/>
    <p:sldId id="385" r:id="rId3"/>
    <p:sldId id="305" r:id="rId4"/>
    <p:sldId id="757" r:id="rId5"/>
    <p:sldId id="295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0"/>
    <p:restoredTop sz="95964"/>
  </p:normalViewPr>
  <p:slideViewPr>
    <p:cSldViewPr snapToGrid="0">
      <p:cViewPr varScale="1">
        <p:scale>
          <a:sx n="111" d="100"/>
          <a:sy n="111" d="100"/>
        </p:scale>
        <p:origin x="536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B3DF1B-BFE4-A243-934D-50F4F400A599}" type="datetimeFigureOut">
              <a:rPr lang="en-US" smtClean="0"/>
              <a:t>9/26/25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69CFFC-C667-3B42-9C6B-16782986C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36067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dirty="0">
                <a:latin typeface="+mn-lt"/>
              </a:rPr>
              <a:t>Week 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94F8E1-D078-1143-9A1A-657540FB873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42573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367939-F8BF-0D16-B3A9-E079801812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388A5E-B25F-D3CF-76F0-5DA03378AB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4622CD-3856-B527-4C9E-8DB0437530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5ABD3-86B6-F14B-B982-ECC2CBFF3666}" type="datetimeFigureOut">
              <a:rPr lang="en-US" smtClean="0"/>
              <a:t>9/26/25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8384F8-D213-5348-7422-1C548F5544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1B5FE5-5F48-C954-3AF3-6100A814CA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13DDBA-5615-934C-9F8D-857CC8376A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70600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F8F49-76B4-614C-47B1-D7891B2C88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ECBF8A-0C85-4F0C-3AEC-77C3A0B403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A69FCA-84AA-A99A-8BEC-FFE6B83A5D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5ABD3-86B6-F14B-B982-ECC2CBFF3666}" type="datetimeFigureOut">
              <a:rPr lang="en-US" smtClean="0"/>
              <a:t>9/26/25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47C0A7-102B-CCA8-6554-AC360DB8B8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AEBDEE-3C64-1F0F-4F76-96FC40DBA7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13DDBA-5615-934C-9F8D-857CC8376A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13385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D11B7-76FA-E03D-A459-51C569C4F7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01769A-1845-5BFD-8907-BAA3BD0D1E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9619BD-366D-BAAF-4762-5A238C64B0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5ABD3-86B6-F14B-B982-ECC2CBFF3666}" type="datetimeFigureOut">
              <a:rPr lang="en-US" smtClean="0"/>
              <a:t>9/26/25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FB7DE4-0964-F738-B134-58060383CB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DD14D1-CD88-6F56-B9D7-CA718736C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13DDBA-5615-934C-9F8D-857CC8376A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0375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FB62A0-DB51-BE35-9CA6-06C8609500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14033B-C9D2-1331-8659-9F3C20743A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DF5D12-05BC-9E00-63BF-F1305A9EE3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1D1100-996D-A91A-4FB9-C715F9E650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5ABD3-86B6-F14B-B982-ECC2CBFF3666}" type="datetimeFigureOut">
              <a:rPr lang="en-US" smtClean="0"/>
              <a:t>9/26/25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968BE5-EFD3-7B96-D348-2ADB6CA49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EB2535-45E9-A959-C782-B3B8B2762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13DDBA-5615-934C-9F8D-857CC8376A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0089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B855CD-DEF8-E491-0E2F-44BC8462D8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C0E003-A53B-480E-0192-E67C4DE99E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835D5C-B690-A090-2B55-38757602AF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83B017E-3CA6-AF29-9229-3E0CF78ED0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77A55CE-D320-A3D5-A202-CDAB2A5EA17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720CEFA-E8C9-A93E-231B-A62BC26A2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5ABD3-86B6-F14B-B982-ECC2CBFF3666}" type="datetimeFigureOut">
              <a:rPr lang="en-US" smtClean="0"/>
              <a:t>9/26/25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5E05F9-1B2E-247B-4EA2-AABEE2BBD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36A472C-2537-44C6-1CDC-ED07DB3508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13DDBA-5615-934C-9F8D-857CC8376A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47731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3C894F-5473-F06D-8924-094B58FBD3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1ADD764-F2C7-0547-69FD-82751087B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5ABD3-86B6-F14B-B982-ECC2CBFF3666}" type="datetimeFigureOut">
              <a:rPr lang="en-US" smtClean="0"/>
              <a:t>9/26/25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19779D-5989-E43A-9CDA-5CE2931C4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24ADEF-9E77-89CF-EBD5-862FEE31DE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13DDBA-5615-934C-9F8D-857CC8376A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5761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28AC9D9-B637-A1E5-0F5A-654C8A4BE8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5ABD3-86B6-F14B-B982-ECC2CBFF3666}" type="datetimeFigureOut">
              <a:rPr lang="en-US" smtClean="0"/>
              <a:t>9/26/25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ACE0CB-7529-FF3B-FB36-C4A670B276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5294F5-2A25-51A6-6A51-9AD9E174B3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13DDBA-5615-934C-9F8D-857CC8376A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8567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0ABBAF-C305-D740-D8F4-E6114A2300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55CB44-86A3-C2EE-2B73-5A6F1D73B2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134D61-93BA-9D9D-F82B-2CEB7FFACB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10CA25-2D8E-FED6-57BE-A3FC7782D8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5ABD3-86B6-F14B-B982-ECC2CBFF3666}" type="datetimeFigureOut">
              <a:rPr lang="en-US" smtClean="0"/>
              <a:t>9/26/25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201A04-9C4B-9544-A080-1E123F5931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4364D7-FDEF-74B9-679C-A1C007BC7A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13DDBA-5615-934C-9F8D-857CC8376A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13598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FE6A9C-465D-D861-D6A6-B144B604CE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4CBBFC2-F634-53C7-17A0-E611557311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F58210-3397-4A7B-5941-B2E652240D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1C9B41-8CE3-FEEB-6F3D-B257891E3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5ABD3-86B6-F14B-B982-ECC2CBFF3666}" type="datetimeFigureOut">
              <a:rPr lang="en-US" smtClean="0"/>
              <a:t>9/26/25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26500A-10D3-4B09-1DB1-DF3B280FC5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0BC063-BFEB-EEA0-E903-EC03CA1089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13DDBA-5615-934C-9F8D-857CC8376A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42811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47F103-3FFB-69A7-16D7-ECC2F48F0D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DF16690-7BE9-7DE4-28AE-5F47F998D0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3E3A89-C54D-E16E-76D2-43C6A24B4D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5ABD3-86B6-F14B-B982-ECC2CBFF3666}" type="datetimeFigureOut">
              <a:rPr lang="en-US" smtClean="0"/>
              <a:t>9/26/25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EBF80B-11E6-6CE9-8032-1922226312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72E112-96E3-228F-268D-10C54E5F2A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13DDBA-5615-934C-9F8D-857CC8376A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32716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277C840-4A92-E961-A476-0A58D5558F8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A6A303-3AB9-28C7-37FB-AEF56761EB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7F5017-3ACE-C069-425D-71F7865E54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5ABD3-86B6-F14B-B982-ECC2CBFF3666}" type="datetimeFigureOut">
              <a:rPr lang="en-US" smtClean="0"/>
              <a:t>9/26/25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179BA0-5D8B-2881-0C9F-EC31E9597B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43A8F9-E45B-F7D5-E92A-7B24CC924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13DDBA-5615-934C-9F8D-857CC8376A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68720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79BFFD4-88A3-AA1E-149F-1A87A28F4D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B5F231-2A02-71D7-00C2-4899A023A3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CF50F7-EE9E-E011-5051-C8800AAE707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85ABD3-86B6-F14B-B982-ECC2CBFF3666}" type="datetimeFigureOut">
              <a:rPr lang="en-US" smtClean="0"/>
              <a:t>9/26/25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4D3BAD-8EFB-0006-5742-0CC72F0C3C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CD510A-E906-6E9B-2106-107B827AD1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13DDBA-5615-934C-9F8D-857CC8376A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9305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13" Type="http://schemas.openxmlformats.org/officeDocument/2006/relationships/image" Target="../media/image100.png"/><Relationship Id="rId3" Type="http://schemas.openxmlformats.org/officeDocument/2006/relationships/image" Target="../media/image3.gif"/><Relationship Id="rId7" Type="http://schemas.openxmlformats.org/officeDocument/2006/relationships/image" Target="../media/image40.png"/><Relationship Id="rId12" Type="http://schemas.openxmlformats.org/officeDocument/2006/relationships/image" Target="../media/image7.gif"/><Relationship Id="rId2" Type="http://schemas.openxmlformats.org/officeDocument/2006/relationships/hyperlink" Target="https://bestanimations.com/Science/Chemistry/molecules/3-molecules-vibrating.GIF" TargetMode="Externa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gif"/><Relationship Id="rId11" Type="http://schemas.openxmlformats.org/officeDocument/2006/relationships/image" Target="../media/image6.png"/><Relationship Id="rId5" Type="http://schemas.openxmlformats.org/officeDocument/2006/relationships/hyperlink" Target="https://huntresearchgroup.org.uk/teaching/teaching_comp_chem_203_qm/N2_vibration.gif" TargetMode="External"/><Relationship Id="rId10" Type="http://schemas.openxmlformats.org/officeDocument/2006/relationships/image" Target="../media/image70.png"/><Relationship Id="rId4" Type="http://schemas.openxmlformats.org/officeDocument/2006/relationships/image" Target="../media/image20.png"/><Relationship Id="rId9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8EB10F68-F78B-F0D2-BA7B-9E917E7E1A75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85528" cy="461665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Recap: Interpreting the behavior of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𝑼</m:t>
                    </m:r>
                  </m:oMath>
                </a14:m>
                <a:r>
                  <a:rPr lang="en-US" sz="2400" b="1" dirty="0"/>
                  <a:t> in the volume direction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8EB10F68-F78B-F0D2-BA7B-9E917E7E1A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0"/>
                <a:ext cx="12185528" cy="461665"/>
              </a:xfrm>
              <a:prstGeom prst="rect">
                <a:avLst/>
              </a:prstGeom>
              <a:blipFill>
                <a:blip r:embed="rId2"/>
                <a:stretch>
                  <a:fillRect l="-833" t="-8108" b="-297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Group 2">
            <a:extLst>
              <a:ext uri="{FF2B5EF4-FFF2-40B4-BE49-F238E27FC236}">
                <a16:creationId xmlns:a16="http://schemas.microsoft.com/office/drawing/2014/main" id="{496280D7-AA62-FD2D-4A71-F2E237FA1A5B}"/>
              </a:ext>
            </a:extLst>
          </p:cNvPr>
          <p:cNvGrpSpPr>
            <a:grpSpLocks noChangeAspect="1"/>
          </p:cNvGrpSpPr>
          <p:nvPr/>
        </p:nvGrpSpPr>
        <p:grpSpPr>
          <a:xfrm>
            <a:off x="673714" y="2167877"/>
            <a:ext cx="5499344" cy="3468206"/>
            <a:chOff x="3551049" y="1533046"/>
            <a:chExt cx="6812333" cy="4296254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E1B5CF8A-F0F5-3EC2-DA81-86741F73B765}"/>
                </a:ext>
              </a:extLst>
            </p:cNvPr>
            <p:cNvGrpSpPr/>
            <p:nvPr/>
          </p:nvGrpSpPr>
          <p:grpSpPr>
            <a:xfrm>
              <a:off x="3551049" y="1533046"/>
              <a:ext cx="6812333" cy="4296254"/>
              <a:chOff x="801045" y="1575076"/>
              <a:chExt cx="5166447" cy="3553750"/>
            </a:xfrm>
          </p:grpSpPr>
          <p:grpSp>
            <p:nvGrpSpPr>
              <p:cNvPr id="19" name="Group 18">
                <a:extLst>
                  <a:ext uri="{FF2B5EF4-FFF2-40B4-BE49-F238E27FC236}">
                    <a16:creationId xmlns:a16="http://schemas.microsoft.com/office/drawing/2014/main" id="{22F63AA8-A63C-D298-6DC7-2E87C9C614EB}"/>
                  </a:ext>
                </a:extLst>
              </p:cNvPr>
              <p:cNvGrpSpPr/>
              <p:nvPr/>
            </p:nvGrpSpPr>
            <p:grpSpPr>
              <a:xfrm>
                <a:off x="801045" y="1575076"/>
                <a:ext cx="3718056" cy="3553750"/>
                <a:chOff x="5651292" y="1334126"/>
                <a:chExt cx="6041036" cy="4961744"/>
              </a:xfrm>
            </p:grpSpPr>
            <p:sp>
              <p:nvSpPr>
                <p:cNvPr id="23" name="Frame 22">
                  <a:extLst>
                    <a:ext uri="{FF2B5EF4-FFF2-40B4-BE49-F238E27FC236}">
                      <a16:creationId xmlns:a16="http://schemas.microsoft.com/office/drawing/2014/main" id="{9F22756D-E712-3860-77C4-87E85B73E37E}"/>
                    </a:ext>
                  </a:extLst>
                </p:cNvPr>
                <p:cNvSpPr/>
                <p:nvPr/>
              </p:nvSpPr>
              <p:spPr>
                <a:xfrm>
                  <a:off x="5651292" y="1334126"/>
                  <a:ext cx="6041036" cy="4961744"/>
                </a:xfrm>
                <a:prstGeom prst="frame">
                  <a:avLst>
                    <a:gd name="adj1" fmla="val 1926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grpSp>
              <p:nvGrpSpPr>
                <p:cNvPr id="24" name="Group 23">
                  <a:extLst>
                    <a:ext uri="{FF2B5EF4-FFF2-40B4-BE49-F238E27FC236}">
                      <a16:creationId xmlns:a16="http://schemas.microsoft.com/office/drawing/2014/main" id="{FDD8AF11-8E3B-D878-C0C0-E1696371B7C8}"/>
                    </a:ext>
                  </a:extLst>
                </p:cNvPr>
                <p:cNvGrpSpPr/>
                <p:nvPr/>
              </p:nvGrpSpPr>
              <p:grpSpPr>
                <a:xfrm>
                  <a:off x="6016053" y="2263514"/>
                  <a:ext cx="4994223" cy="3487711"/>
                  <a:chOff x="6016053" y="2263514"/>
                  <a:chExt cx="4994223" cy="3487711"/>
                </a:xfrm>
                <a:solidFill>
                  <a:srgbClr val="7030A0"/>
                </a:solidFill>
              </p:grpSpPr>
              <p:sp>
                <p:nvSpPr>
                  <p:cNvPr id="40" name="Oval 39">
                    <a:extLst>
                      <a:ext uri="{FF2B5EF4-FFF2-40B4-BE49-F238E27FC236}">
                        <a16:creationId xmlns:a16="http://schemas.microsoft.com/office/drawing/2014/main" id="{B25D0C6F-4C13-964C-BE42-8FD233DED42F}"/>
                      </a:ext>
                    </a:extLst>
                  </p:cNvPr>
                  <p:cNvSpPr/>
                  <p:nvPr/>
                </p:nvSpPr>
                <p:spPr>
                  <a:xfrm>
                    <a:off x="6625653" y="2263514"/>
                    <a:ext cx="149902" cy="149901"/>
                  </a:xfrm>
                  <a:prstGeom prst="ellipse">
                    <a:avLst/>
                  </a:prstGeom>
                  <a:grpFill/>
                  <a:ln>
                    <a:solidFill>
                      <a:srgbClr val="7030A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41" name="Oval 40">
                    <a:extLst>
                      <a:ext uri="{FF2B5EF4-FFF2-40B4-BE49-F238E27FC236}">
                        <a16:creationId xmlns:a16="http://schemas.microsoft.com/office/drawing/2014/main" id="{FF514988-640F-916B-36E6-EB6A7C9F454B}"/>
                      </a:ext>
                    </a:extLst>
                  </p:cNvPr>
                  <p:cNvSpPr/>
                  <p:nvPr/>
                </p:nvSpPr>
                <p:spPr>
                  <a:xfrm>
                    <a:off x="7182787" y="5144124"/>
                    <a:ext cx="149902" cy="149901"/>
                  </a:xfrm>
                  <a:prstGeom prst="ellipse">
                    <a:avLst/>
                  </a:prstGeom>
                  <a:grpFill/>
                  <a:ln>
                    <a:solidFill>
                      <a:srgbClr val="7030A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42" name="Oval 41">
                    <a:extLst>
                      <a:ext uri="{FF2B5EF4-FFF2-40B4-BE49-F238E27FC236}">
                        <a16:creationId xmlns:a16="http://schemas.microsoft.com/office/drawing/2014/main" id="{0CD8CA15-F39E-B85C-4213-1CD21E986278}"/>
                      </a:ext>
                    </a:extLst>
                  </p:cNvPr>
                  <p:cNvSpPr/>
                  <p:nvPr/>
                </p:nvSpPr>
                <p:spPr>
                  <a:xfrm>
                    <a:off x="8276781" y="3259298"/>
                    <a:ext cx="149903" cy="149902"/>
                  </a:xfrm>
                  <a:prstGeom prst="ellipse">
                    <a:avLst/>
                  </a:prstGeom>
                  <a:grpFill/>
                  <a:ln>
                    <a:solidFill>
                      <a:srgbClr val="7030A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43" name="Oval 42">
                    <a:extLst>
                      <a:ext uri="{FF2B5EF4-FFF2-40B4-BE49-F238E27FC236}">
                        <a16:creationId xmlns:a16="http://schemas.microsoft.com/office/drawing/2014/main" id="{904729E0-D9AD-3EC6-57DB-0C9B6D178E2F}"/>
                      </a:ext>
                    </a:extLst>
                  </p:cNvPr>
                  <p:cNvSpPr/>
                  <p:nvPr/>
                </p:nvSpPr>
                <p:spPr>
                  <a:xfrm>
                    <a:off x="7490085" y="3629480"/>
                    <a:ext cx="149902" cy="149901"/>
                  </a:xfrm>
                  <a:prstGeom prst="ellipse">
                    <a:avLst/>
                  </a:prstGeom>
                  <a:grpFill/>
                  <a:ln>
                    <a:solidFill>
                      <a:srgbClr val="7030A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44" name="Oval 43">
                    <a:extLst>
                      <a:ext uri="{FF2B5EF4-FFF2-40B4-BE49-F238E27FC236}">
                        <a16:creationId xmlns:a16="http://schemas.microsoft.com/office/drawing/2014/main" id="{76C902EC-042A-D53C-BFF2-DF5C8C33F83B}"/>
                      </a:ext>
                    </a:extLst>
                  </p:cNvPr>
                  <p:cNvSpPr/>
                  <p:nvPr/>
                </p:nvSpPr>
                <p:spPr>
                  <a:xfrm>
                    <a:off x="7639987" y="5601324"/>
                    <a:ext cx="149902" cy="149901"/>
                  </a:xfrm>
                  <a:prstGeom prst="ellipse">
                    <a:avLst/>
                  </a:prstGeom>
                  <a:grpFill/>
                  <a:ln>
                    <a:solidFill>
                      <a:srgbClr val="7030A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46" name="Oval 45">
                    <a:extLst>
                      <a:ext uri="{FF2B5EF4-FFF2-40B4-BE49-F238E27FC236}">
                        <a16:creationId xmlns:a16="http://schemas.microsoft.com/office/drawing/2014/main" id="{D20CBDD7-3312-68DB-4323-2640735348AC}"/>
                      </a:ext>
                    </a:extLst>
                  </p:cNvPr>
                  <p:cNvSpPr/>
                  <p:nvPr/>
                </p:nvSpPr>
                <p:spPr>
                  <a:xfrm>
                    <a:off x="8446957" y="4774366"/>
                    <a:ext cx="149902" cy="149901"/>
                  </a:xfrm>
                  <a:prstGeom prst="ellipse">
                    <a:avLst/>
                  </a:prstGeom>
                  <a:grpFill/>
                  <a:ln>
                    <a:solidFill>
                      <a:srgbClr val="7030A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47" name="Oval 46">
                    <a:extLst>
                      <a:ext uri="{FF2B5EF4-FFF2-40B4-BE49-F238E27FC236}">
                        <a16:creationId xmlns:a16="http://schemas.microsoft.com/office/drawing/2014/main" id="{321F1DD6-D6DA-2A65-8CFC-5A8F0CFE5304}"/>
                      </a:ext>
                    </a:extLst>
                  </p:cNvPr>
                  <p:cNvSpPr/>
                  <p:nvPr/>
                </p:nvSpPr>
                <p:spPr>
                  <a:xfrm>
                    <a:off x="6016053" y="3814998"/>
                    <a:ext cx="149902" cy="149901"/>
                  </a:xfrm>
                  <a:prstGeom prst="ellipse">
                    <a:avLst/>
                  </a:prstGeom>
                  <a:grpFill/>
                  <a:ln>
                    <a:solidFill>
                      <a:srgbClr val="7030A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48" name="Oval 47">
                    <a:extLst>
                      <a:ext uri="{FF2B5EF4-FFF2-40B4-BE49-F238E27FC236}">
                        <a16:creationId xmlns:a16="http://schemas.microsoft.com/office/drawing/2014/main" id="{99409F5F-DF63-E4D8-EA5C-F7826A8CF6AF}"/>
                      </a:ext>
                    </a:extLst>
                  </p:cNvPr>
                  <p:cNvSpPr/>
                  <p:nvPr/>
                </p:nvSpPr>
                <p:spPr>
                  <a:xfrm>
                    <a:off x="10860374" y="4624465"/>
                    <a:ext cx="149902" cy="149901"/>
                  </a:xfrm>
                  <a:prstGeom prst="ellipse">
                    <a:avLst/>
                  </a:prstGeom>
                  <a:grpFill/>
                  <a:ln>
                    <a:solidFill>
                      <a:srgbClr val="7030A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49" name="Oval 48">
                    <a:extLst>
                      <a:ext uri="{FF2B5EF4-FFF2-40B4-BE49-F238E27FC236}">
                        <a16:creationId xmlns:a16="http://schemas.microsoft.com/office/drawing/2014/main" id="{5F2173BC-50E9-82D6-B6B4-56D1C09D8046}"/>
                      </a:ext>
                    </a:extLst>
                  </p:cNvPr>
                  <p:cNvSpPr/>
                  <p:nvPr/>
                </p:nvSpPr>
                <p:spPr>
                  <a:xfrm>
                    <a:off x="7639987" y="5601324"/>
                    <a:ext cx="149902" cy="149901"/>
                  </a:xfrm>
                  <a:prstGeom prst="ellipse">
                    <a:avLst/>
                  </a:prstGeom>
                  <a:grpFill/>
                  <a:ln>
                    <a:solidFill>
                      <a:srgbClr val="7030A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25" name="Group 24">
                  <a:extLst>
                    <a:ext uri="{FF2B5EF4-FFF2-40B4-BE49-F238E27FC236}">
                      <a16:creationId xmlns:a16="http://schemas.microsoft.com/office/drawing/2014/main" id="{7A9CF139-B5B4-98FF-229B-B4336BFF3B83}"/>
                    </a:ext>
                  </a:extLst>
                </p:cNvPr>
                <p:cNvGrpSpPr/>
                <p:nvPr/>
              </p:nvGrpSpPr>
              <p:grpSpPr>
                <a:xfrm>
                  <a:off x="6212174" y="1656413"/>
                  <a:ext cx="4910528" cy="4094812"/>
                  <a:chOff x="6016053" y="2263514"/>
                  <a:chExt cx="4087318" cy="3487711"/>
                </a:xfrm>
                <a:solidFill>
                  <a:srgbClr val="FF0000"/>
                </a:solidFill>
              </p:grpSpPr>
              <p:sp>
                <p:nvSpPr>
                  <p:cNvPr id="26" name="Oval 25">
                    <a:extLst>
                      <a:ext uri="{FF2B5EF4-FFF2-40B4-BE49-F238E27FC236}">
                        <a16:creationId xmlns:a16="http://schemas.microsoft.com/office/drawing/2014/main" id="{C808CEBF-51E8-0B34-5D7E-9E67B1589311}"/>
                      </a:ext>
                    </a:extLst>
                  </p:cNvPr>
                  <p:cNvSpPr/>
                  <p:nvPr/>
                </p:nvSpPr>
                <p:spPr>
                  <a:xfrm>
                    <a:off x="6625653" y="2263514"/>
                    <a:ext cx="149902" cy="149901"/>
                  </a:xfrm>
                  <a:prstGeom prst="ellipse">
                    <a:avLst/>
                  </a:prstGeom>
                  <a:grpFill/>
                  <a:ln>
                    <a:solidFill>
                      <a:srgbClr val="FF00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7" name="Oval 26">
                    <a:extLst>
                      <a:ext uri="{FF2B5EF4-FFF2-40B4-BE49-F238E27FC236}">
                        <a16:creationId xmlns:a16="http://schemas.microsoft.com/office/drawing/2014/main" id="{A1491B78-A756-10C4-81C9-8D67ED908A20}"/>
                      </a:ext>
                    </a:extLst>
                  </p:cNvPr>
                  <p:cNvSpPr/>
                  <p:nvPr/>
                </p:nvSpPr>
                <p:spPr>
                  <a:xfrm>
                    <a:off x="7182787" y="5144124"/>
                    <a:ext cx="149902" cy="149901"/>
                  </a:xfrm>
                  <a:prstGeom prst="ellipse">
                    <a:avLst/>
                  </a:prstGeom>
                  <a:grpFill/>
                  <a:ln>
                    <a:solidFill>
                      <a:srgbClr val="FF00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8" name="Oval 27">
                    <a:extLst>
                      <a:ext uri="{FF2B5EF4-FFF2-40B4-BE49-F238E27FC236}">
                        <a16:creationId xmlns:a16="http://schemas.microsoft.com/office/drawing/2014/main" id="{5F266377-FEE1-7971-7A4F-FFE0A671640B}"/>
                      </a:ext>
                    </a:extLst>
                  </p:cNvPr>
                  <p:cNvSpPr/>
                  <p:nvPr/>
                </p:nvSpPr>
                <p:spPr>
                  <a:xfrm>
                    <a:off x="8104543" y="3035420"/>
                    <a:ext cx="149902" cy="149901"/>
                  </a:xfrm>
                  <a:prstGeom prst="ellipse">
                    <a:avLst/>
                  </a:prstGeom>
                  <a:grpFill/>
                  <a:ln>
                    <a:solidFill>
                      <a:srgbClr val="FF00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9" name="Oval 28">
                    <a:extLst>
                      <a:ext uri="{FF2B5EF4-FFF2-40B4-BE49-F238E27FC236}">
                        <a16:creationId xmlns:a16="http://schemas.microsoft.com/office/drawing/2014/main" id="{91D72E61-A725-BAF2-767A-6D8CF4E3EF8A}"/>
                      </a:ext>
                    </a:extLst>
                  </p:cNvPr>
                  <p:cNvSpPr/>
                  <p:nvPr/>
                </p:nvSpPr>
                <p:spPr>
                  <a:xfrm>
                    <a:off x="6864246" y="3244729"/>
                    <a:ext cx="149902" cy="149901"/>
                  </a:xfrm>
                  <a:prstGeom prst="ellipse">
                    <a:avLst/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30" name="Oval 29">
                    <a:extLst>
                      <a:ext uri="{FF2B5EF4-FFF2-40B4-BE49-F238E27FC236}">
                        <a16:creationId xmlns:a16="http://schemas.microsoft.com/office/drawing/2014/main" id="{702CFDC1-9F5A-C8A5-43CD-56780131A0D1}"/>
                      </a:ext>
                    </a:extLst>
                  </p:cNvPr>
                  <p:cNvSpPr/>
                  <p:nvPr/>
                </p:nvSpPr>
                <p:spPr>
                  <a:xfrm>
                    <a:off x="7639987" y="5601324"/>
                    <a:ext cx="149902" cy="149901"/>
                  </a:xfrm>
                  <a:prstGeom prst="ellipse">
                    <a:avLst/>
                  </a:prstGeom>
                  <a:grpFill/>
                  <a:ln>
                    <a:solidFill>
                      <a:srgbClr val="FF00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6" name="Oval 35">
                    <a:extLst>
                      <a:ext uri="{FF2B5EF4-FFF2-40B4-BE49-F238E27FC236}">
                        <a16:creationId xmlns:a16="http://schemas.microsoft.com/office/drawing/2014/main" id="{AEA3C44E-DB17-71B4-F6B2-85D8D24C9C61}"/>
                      </a:ext>
                    </a:extLst>
                  </p:cNvPr>
                  <p:cNvSpPr/>
                  <p:nvPr/>
                </p:nvSpPr>
                <p:spPr>
                  <a:xfrm>
                    <a:off x="8446957" y="4102945"/>
                    <a:ext cx="149902" cy="149901"/>
                  </a:xfrm>
                  <a:prstGeom prst="ellipse">
                    <a:avLst/>
                  </a:prstGeom>
                  <a:grpFill/>
                  <a:ln>
                    <a:solidFill>
                      <a:srgbClr val="FF00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7" name="Oval 36">
                    <a:extLst>
                      <a:ext uri="{FF2B5EF4-FFF2-40B4-BE49-F238E27FC236}">
                        <a16:creationId xmlns:a16="http://schemas.microsoft.com/office/drawing/2014/main" id="{589776E8-871A-D2E9-19D3-6CC1A32EF770}"/>
                      </a:ext>
                    </a:extLst>
                  </p:cNvPr>
                  <p:cNvSpPr/>
                  <p:nvPr/>
                </p:nvSpPr>
                <p:spPr>
                  <a:xfrm>
                    <a:off x="6016053" y="3814998"/>
                    <a:ext cx="149902" cy="149901"/>
                  </a:xfrm>
                  <a:prstGeom prst="ellipse">
                    <a:avLst/>
                  </a:prstGeom>
                  <a:grpFill/>
                  <a:ln>
                    <a:solidFill>
                      <a:srgbClr val="FF00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8" name="Oval 37">
                    <a:extLst>
                      <a:ext uri="{FF2B5EF4-FFF2-40B4-BE49-F238E27FC236}">
                        <a16:creationId xmlns:a16="http://schemas.microsoft.com/office/drawing/2014/main" id="{F607673B-C4C6-71AB-1B59-794B1616785B}"/>
                      </a:ext>
                    </a:extLst>
                  </p:cNvPr>
                  <p:cNvSpPr/>
                  <p:nvPr/>
                </p:nvSpPr>
                <p:spPr>
                  <a:xfrm>
                    <a:off x="9953469" y="4423108"/>
                    <a:ext cx="149902" cy="149901"/>
                  </a:xfrm>
                  <a:prstGeom prst="ellipse">
                    <a:avLst/>
                  </a:prstGeom>
                  <a:grpFill/>
                  <a:ln>
                    <a:solidFill>
                      <a:srgbClr val="FF00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9" name="Oval 38">
                    <a:extLst>
                      <a:ext uri="{FF2B5EF4-FFF2-40B4-BE49-F238E27FC236}">
                        <a16:creationId xmlns:a16="http://schemas.microsoft.com/office/drawing/2014/main" id="{A7118F63-3F37-B855-E577-618D081B18AE}"/>
                      </a:ext>
                    </a:extLst>
                  </p:cNvPr>
                  <p:cNvSpPr/>
                  <p:nvPr/>
                </p:nvSpPr>
                <p:spPr>
                  <a:xfrm>
                    <a:off x="7639987" y="5601324"/>
                    <a:ext cx="149902" cy="149901"/>
                  </a:xfrm>
                  <a:prstGeom prst="ellipse">
                    <a:avLst/>
                  </a:prstGeom>
                  <a:grpFill/>
                  <a:ln>
                    <a:solidFill>
                      <a:srgbClr val="FF00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cxnSp>
            <p:nvCxnSpPr>
              <p:cNvPr id="20" name="Straight Arrow Connector 19">
                <a:extLst>
                  <a:ext uri="{FF2B5EF4-FFF2-40B4-BE49-F238E27FC236}">
                    <a16:creationId xmlns:a16="http://schemas.microsoft.com/office/drawing/2014/main" id="{ED910455-0655-CB38-9597-EE20257CAB3B}"/>
                  </a:ext>
                </a:extLst>
              </p:cNvPr>
              <p:cNvCxnSpPr/>
              <p:nvPr/>
            </p:nvCxnSpPr>
            <p:spPr>
              <a:xfrm flipV="1">
                <a:off x="1962710" y="2544966"/>
                <a:ext cx="697363" cy="125716"/>
              </a:xfrm>
              <a:prstGeom prst="straightConnector1">
                <a:avLst/>
              </a:prstGeom>
              <a:ln w="38100">
                <a:prstDash val="sysDot"/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D7666A6F-4C18-6284-FA0D-885DB018E75C}"/>
                  </a:ext>
                </a:extLst>
              </p:cNvPr>
              <p:cNvSpPr txBox="1"/>
              <p:nvPr/>
            </p:nvSpPr>
            <p:spPr>
              <a:xfrm>
                <a:off x="2919109" y="1868934"/>
                <a:ext cx="3048383" cy="1608376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Intermolecular attractions must be overcome when increasing the volume</a:t>
                </a:r>
              </a:p>
            </p:txBody>
          </p:sp>
        </p:grp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B59C8DED-0192-9C45-3C94-7E19E8EB31C2}"/>
                </a:ext>
              </a:extLst>
            </p:cNvPr>
            <p:cNvCxnSpPr>
              <a:cxnSpLocks/>
              <a:stCxn id="40" idx="5"/>
            </p:cNvCxnSpPr>
            <p:nvPr/>
          </p:nvCxnSpPr>
          <p:spPr>
            <a:xfrm>
              <a:off x="4445615" y="2448568"/>
              <a:ext cx="347424" cy="333003"/>
            </a:xfrm>
            <a:prstGeom prst="straightConnector1">
              <a:avLst/>
            </a:prstGeom>
            <a:ln w="38100">
              <a:prstDash val="sysDot"/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87AFE32B-A8E8-DE78-FA03-FCA75210F8DD}"/>
                </a:ext>
              </a:extLst>
            </p:cNvPr>
            <p:cNvCxnSpPr>
              <a:cxnSpLocks/>
            </p:cNvCxnSpPr>
            <p:nvPr/>
          </p:nvCxnSpPr>
          <p:spPr>
            <a:xfrm>
              <a:off x="4915565" y="2994143"/>
              <a:ext cx="127733" cy="434857"/>
            </a:xfrm>
            <a:prstGeom prst="straightConnector1">
              <a:avLst/>
            </a:prstGeom>
            <a:ln w="38100">
              <a:prstDash val="sysDot"/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1" name="TextBox 50">
            <a:extLst>
              <a:ext uri="{FF2B5EF4-FFF2-40B4-BE49-F238E27FC236}">
                <a16:creationId xmlns:a16="http://schemas.microsoft.com/office/drawing/2014/main" id="{A80EBBDE-F49F-F3D8-17F8-0623543AE0C5}"/>
              </a:ext>
            </a:extLst>
          </p:cNvPr>
          <p:cNvSpPr txBox="1"/>
          <p:nvPr/>
        </p:nvSpPr>
        <p:spPr>
          <a:xfrm>
            <a:off x="6663267" y="1192823"/>
            <a:ext cx="5379523" cy="1200329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Here’s what a typical potential energy curve looks like between two real atoms; we called this “stickiness” before.</a:t>
            </a:r>
          </a:p>
        </p:txBody>
      </p:sp>
      <p:pic>
        <p:nvPicPr>
          <p:cNvPr id="53" name="Picture 52">
            <a:extLst>
              <a:ext uri="{FF2B5EF4-FFF2-40B4-BE49-F238E27FC236}">
                <a16:creationId xmlns:a16="http://schemas.microsoft.com/office/drawing/2014/main" id="{B65E65C7-AF44-926D-1692-44DA24A30AD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6385" b="15934"/>
          <a:stretch/>
        </p:blipFill>
        <p:spPr>
          <a:xfrm>
            <a:off x="6663267" y="2692405"/>
            <a:ext cx="5255360" cy="3019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35104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EAA6968-E9F9-AC42-894F-DA9659D3D1A7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We also predicted these heat capacities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9561D192-5FB1-6E27-4935-E13877FADA0C}"/>
              </a:ext>
            </a:extLst>
          </p:cNvPr>
          <p:cNvGrpSpPr/>
          <p:nvPr/>
        </p:nvGrpSpPr>
        <p:grpSpPr>
          <a:xfrm>
            <a:off x="393413" y="3235800"/>
            <a:ext cx="6841777" cy="1667676"/>
            <a:chOff x="393413" y="3064344"/>
            <a:chExt cx="6841777" cy="1667676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511DD300-C52A-6D7D-C95E-C2998DD36BBA}"/>
                </a:ext>
              </a:extLst>
            </p:cNvPr>
            <p:cNvGrpSpPr/>
            <p:nvPr/>
          </p:nvGrpSpPr>
          <p:grpSpPr>
            <a:xfrm>
              <a:off x="393413" y="3064344"/>
              <a:ext cx="6710854" cy="1624503"/>
              <a:chOff x="0" y="3154667"/>
              <a:chExt cx="6710854" cy="1624503"/>
            </a:xfrm>
          </p:grpSpPr>
          <p:pic>
            <p:nvPicPr>
              <p:cNvPr id="14" name="Picture 2" descr="Chemical Bonding Gif">
                <a:hlinkClick r:id="rId2"/>
                <a:extLst>
                  <a:ext uri="{FF2B5EF4-FFF2-40B4-BE49-F238E27FC236}">
                    <a16:creationId xmlns:a16="http://schemas.microsoft.com/office/drawing/2014/main" id="{A4E10D2B-D320-28BD-9781-8DB5ED8D06F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0" y="3154667"/>
                <a:ext cx="4834890" cy="161163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8E126F4-CA61-8B5B-2003-1A62A5C96532}"/>
                  </a:ext>
                </a:extLst>
              </p:cNvPr>
              <p:cNvSpPr txBox="1"/>
              <p:nvPr/>
            </p:nvSpPr>
            <p:spPr>
              <a:xfrm>
                <a:off x="967279" y="4317505"/>
                <a:ext cx="377571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solidFill>
                      <a:srgbClr val="FF0000"/>
                    </a:solidFill>
                  </a:rPr>
                  <a:t>High-temperature limit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6" name="TextBox 15">
                    <a:extLst>
                      <a:ext uri="{FF2B5EF4-FFF2-40B4-BE49-F238E27FC236}">
                        <a16:creationId xmlns:a16="http://schemas.microsoft.com/office/drawing/2014/main" id="{C7690A1F-3397-E1D3-C33D-BBDC4B18DD8B}"/>
                      </a:ext>
                    </a:extLst>
                  </p:cNvPr>
                  <p:cNvSpPr txBox="1"/>
                  <p:nvPr/>
                </p:nvSpPr>
                <p:spPr>
                  <a:xfrm>
                    <a:off x="4893484" y="3569798"/>
                    <a:ext cx="1817370" cy="461665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</m:oMath>
                      </m:oMathPara>
                    </a14:m>
                    <a:endParaRPr lang="en-US" sz="2400" dirty="0"/>
                  </a:p>
                </p:txBody>
              </p:sp>
            </mc:Choice>
            <mc:Fallback xmlns="">
              <p:sp>
                <p:nvSpPr>
                  <p:cNvPr id="16" name="TextBox 15">
                    <a:extLst>
                      <a:ext uri="{FF2B5EF4-FFF2-40B4-BE49-F238E27FC236}">
                        <a16:creationId xmlns:a16="http://schemas.microsoft.com/office/drawing/2014/main" id="{C7690A1F-3397-E1D3-C33D-BBDC4B18DD8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893484" y="3569798"/>
                    <a:ext cx="1817370" cy="461665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694" b="-270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19" name="Frame 18">
              <a:extLst>
                <a:ext uri="{FF2B5EF4-FFF2-40B4-BE49-F238E27FC236}">
                  <a16:creationId xmlns:a16="http://schemas.microsoft.com/office/drawing/2014/main" id="{131A5523-C759-BC30-8277-9EE83149A805}"/>
                </a:ext>
              </a:extLst>
            </p:cNvPr>
            <p:cNvSpPr/>
            <p:nvPr/>
          </p:nvSpPr>
          <p:spPr>
            <a:xfrm>
              <a:off x="393413" y="3223260"/>
              <a:ext cx="6841777" cy="1508760"/>
            </a:xfrm>
            <a:prstGeom prst="frame">
              <a:avLst>
                <a:gd name="adj1" fmla="val 3409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8A1FAFD4-2D13-6910-B540-BDC8168E8D7D}"/>
              </a:ext>
            </a:extLst>
          </p:cNvPr>
          <p:cNvGrpSpPr/>
          <p:nvPr/>
        </p:nvGrpSpPr>
        <p:grpSpPr>
          <a:xfrm>
            <a:off x="5635053" y="1200250"/>
            <a:ext cx="4480498" cy="1955711"/>
            <a:chOff x="262491" y="549557"/>
            <a:chExt cx="4480498" cy="1955711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E2FF180F-EC99-5FD8-CAF6-5082B6CFD01A}"/>
                </a:ext>
              </a:extLst>
            </p:cNvPr>
            <p:cNvGrpSpPr/>
            <p:nvPr/>
          </p:nvGrpSpPr>
          <p:grpSpPr>
            <a:xfrm>
              <a:off x="393413" y="754510"/>
              <a:ext cx="4349576" cy="1750758"/>
              <a:chOff x="987773" y="708790"/>
              <a:chExt cx="4349576" cy="1750758"/>
            </a:xfrm>
          </p:grpSpPr>
          <p:pic>
            <p:nvPicPr>
              <p:cNvPr id="3" name="Picture 2">
                <a:hlinkClick r:id="rId5"/>
                <a:extLst>
                  <a:ext uri="{FF2B5EF4-FFF2-40B4-BE49-F238E27FC236}">
                    <a16:creationId xmlns:a16="http://schemas.microsoft.com/office/drawing/2014/main" id="{991BBCF0-A5CE-E188-1FB2-A6C1A965F3C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696720" y="708790"/>
                <a:ext cx="1727548" cy="129566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" name="TextBox 7">
                    <a:extLst>
                      <a:ext uri="{FF2B5EF4-FFF2-40B4-BE49-F238E27FC236}">
                        <a16:creationId xmlns:a16="http://schemas.microsoft.com/office/drawing/2014/main" id="{57FEC5D5-C11E-ABD6-DCEE-EE34169DAC6C}"/>
                      </a:ext>
                    </a:extLst>
                  </p:cNvPr>
                  <p:cNvSpPr txBox="1"/>
                  <p:nvPr/>
                </p:nvSpPr>
                <p:spPr>
                  <a:xfrm>
                    <a:off x="3519979" y="965936"/>
                    <a:ext cx="1817370" cy="461665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</m:oMath>
                      </m:oMathPara>
                    </a14:m>
                    <a:endParaRPr lang="en-US" sz="2400" dirty="0"/>
                  </a:p>
                </p:txBody>
              </p:sp>
            </mc:Choice>
            <mc:Fallback xmlns="">
              <p:sp>
                <p:nvSpPr>
                  <p:cNvPr id="8" name="TextBox 7">
                    <a:extLst>
                      <a:ext uri="{FF2B5EF4-FFF2-40B4-BE49-F238E27FC236}">
                        <a16:creationId xmlns:a16="http://schemas.microsoft.com/office/drawing/2014/main" id="{57FEC5D5-C11E-ABD6-DCEE-EE34169DAC6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519979" y="965936"/>
                    <a:ext cx="1817370" cy="461665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l="-694" b="-2632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A438352-65E6-8AFA-4DA8-FBAFE6CBAFA3}"/>
                  </a:ext>
                </a:extLst>
              </p:cNvPr>
              <p:cNvSpPr txBox="1"/>
              <p:nvPr/>
            </p:nvSpPr>
            <p:spPr>
              <a:xfrm>
                <a:off x="987773" y="1997883"/>
                <a:ext cx="377571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solidFill>
                      <a:srgbClr val="FF0000"/>
                    </a:solidFill>
                  </a:rPr>
                  <a:t>High-temperature limit</a:t>
                </a:r>
              </a:p>
            </p:txBody>
          </p:sp>
        </p:grpSp>
        <p:sp>
          <p:nvSpPr>
            <p:cNvPr id="22" name="Frame 21">
              <a:extLst>
                <a:ext uri="{FF2B5EF4-FFF2-40B4-BE49-F238E27FC236}">
                  <a16:creationId xmlns:a16="http://schemas.microsoft.com/office/drawing/2014/main" id="{EC67EB1F-E0BD-B067-8E36-E8F41885E605}"/>
                </a:ext>
              </a:extLst>
            </p:cNvPr>
            <p:cNvSpPr/>
            <p:nvPr/>
          </p:nvSpPr>
          <p:spPr>
            <a:xfrm>
              <a:off x="262491" y="549557"/>
              <a:ext cx="4092340" cy="1955711"/>
            </a:xfrm>
            <a:prstGeom prst="frame">
              <a:avLst>
                <a:gd name="adj1" fmla="val 2848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3C392D19-BC7D-1DB8-E82C-F8DFBEBD1716}"/>
              </a:ext>
            </a:extLst>
          </p:cNvPr>
          <p:cNvGrpSpPr/>
          <p:nvPr/>
        </p:nvGrpSpPr>
        <p:grpSpPr>
          <a:xfrm>
            <a:off x="384839" y="1228824"/>
            <a:ext cx="4624357" cy="1980507"/>
            <a:chOff x="413415" y="643026"/>
            <a:chExt cx="4624357" cy="1980507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54E1A5C7-6D30-4D9A-BFB1-15EDE8459BA4}"/>
                </a:ext>
              </a:extLst>
            </p:cNvPr>
            <p:cNvSpPr txBox="1"/>
            <p:nvPr/>
          </p:nvSpPr>
          <p:spPr>
            <a:xfrm>
              <a:off x="831504" y="2161868"/>
              <a:ext cx="377571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solidFill>
                    <a:schemeClr val="accent1"/>
                  </a:solidFill>
                </a:rPr>
                <a:t>Low-temperature limit</a:t>
              </a:r>
            </a:p>
          </p:txBody>
        </p: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A1F80411-3423-0CA0-A79D-E90C0CE6DE90}"/>
                </a:ext>
              </a:extLst>
            </p:cNvPr>
            <p:cNvGrpSpPr/>
            <p:nvPr/>
          </p:nvGrpSpPr>
          <p:grpSpPr>
            <a:xfrm>
              <a:off x="413415" y="643026"/>
              <a:ext cx="4624357" cy="1964048"/>
              <a:chOff x="5940773" y="620581"/>
              <a:chExt cx="4624357" cy="1964048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" name="TextBox 6">
                    <a:extLst>
                      <a:ext uri="{FF2B5EF4-FFF2-40B4-BE49-F238E27FC236}">
                        <a16:creationId xmlns:a16="http://schemas.microsoft.com/office/drawing/2014/main" id="{1789B6F3-BE38-7903-2EBA-51AD8F1CE186}"/>
                      </a:ext>
                    </a:extLst>
                  </p:cNvPr>
                  <p:cNvSpPr txBox="1"/>
                  <p:nvPr/>
                </p:nvSpPr>
                <p:spPr>
                  <a:xfrm>
                    <a:off x="8747760" y="1132463"/>
                    <a:ext cx="1817370" cy="461665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</m:oMath>
                      </m:oMathPara>
                    </a14:m>
                    <a:endParaRPr lang="en-US" sz="2400" dirty="0"/>
                  </a:p>
                </p:txBody>
              </p:sp>
            </mc:Choice>
            <mc:Fallback xmlns="">
              <p:sp>
                <p:nvSpPr>
                  <p:cNvPr id="7" name="TextBox 6">
                    <a:extLst>
                      <a:ext uri="{FF2B5EF4-FFF2-40B4-BE49-F238E27FC236}">
                        <a16:creationId xmlns:a16="http://schemas.microsoft.com/office/drawing/2014/main" id="{1789B6F3-BE38-7903-2EBA-51AD8F1CE18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747760" y="1132463"/>
                    <a:ext cx="1817370" cy="461665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l="-694" b="-2632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25" name="Group 24">
                <a:extLst>
                  <a:ext uri="{FF2B5EF4-FFF2-40B4-BE49-F238E27FC236}">
                    <a16:creationId xmlns:a16="http://schemas.microsoft.com/office/drawing/2014/main" id="{95CA96C1-57A3-4432-5E68-726AEB72550A}"/>
                  </a:ext>
                </a:extLst>
              </p:cNvPr>
              <p:cNvGrpSpPr/>
              <p:nvPr/>
            </p:nvGrpSpPr>
            <p:grpSpPr>
              <a:xfrm>
                <a:off x="5940773" y="620581"/>
                <a:ext cx="4323367" cy="1964048"/>
                <a:chOff x="5940773" y="620581"/>
                <a:chExt cx="4323367" cy="1964048"/>
              </a:xfrm>
            </p:grpSpPr>
            <p:pic>
              <p:nvPicPr>
                <p:cNvPr id="5" name="Picture 4">
                  <a:extLst>
                    <a:ext uri="{FF2B5EF4-FFF2-40B4-BE49-F238E27FC236}">
                      <a16:creationId xmlns:a16="http://schemas.microsoft.com/office/drawing/2014/main" id="{09605802-81F2-7183-3DF5-D92034A9AE6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6656070" y="830997"/>
                  <a:ext cx="1828800" cy="1384300"/>
                </a:xfrm>
                <a:prstGeom prst="rect">
                  <a:avLst/>
                </a:prstGeom>
              </p:spPr>
            </p:pic>
            <p:sp>
              <p:nvSpPr>
                <p:cNvPr id="24" name="Frame 23">
                  <a:extLst>
                    <a:ext uri="{FF2B5EF4-FFF2-40B4-BE49-F238E27FC236}">
                      <a16:creationId xmlns:a16="http://schemas.microsoft.com/office/drawing/2014/main" id="{D4B6A33E-0A15-8C6A-4C78-1BF44588F77F}"/>
                    </a:ext>
                  </a:extLst>
                </p:cNvPr>
                <p:cNvSpPr/>
                <p:nvPr/>
              </p:nvSpPr>
              <p:spPr>
                <a:xfrm>
                  <a:off x="5940773" y="620581"/>
                  <a:ext cx="4323367" cy="1964048"/>
                </a:xfrm>
                <a:prstGeom prst="frame">
                  <a:avLst>
                    <a:gd name="adj1" fmla="val 2827"/>
                  </a:avLst>
                </a:prstGeom>
                <a:solidFill>
                  <a:schemeClr val="tx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p:grpSp>
        </p:grp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DE1D47FB-A958-CE4A-0315-CC012D24ED59}"/>
              </a:ext>
            </a:extLst>
          </p:cNvPr>
          <p:cNvGrpSpPr/>
          <p:nvPr/>
        </p:nvGrpSpPr>
        <p:grpSpPr>
          <a:xfrm>
            <a:off x="435813" y="5132564"/>
            <a:ext cx="3792018" cy="1415970"/>
            <a:chOff x="1560073" y="5132564"/>
            <a:chExt cx="3792018" cy="1415970"/>
          </a:xfrm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2046AAE9-CB1B-07D9-2F9C-0C4701BB7434}"/>
                </a:ext>
              </a:extLst>
            </p:cNvPr>
            <p:cNvGrpSpPr/>
            <p:nvPr/>
          </p:nvGrpSpPr>
          <p:grpSpPr>
            <a:xfrm>
              <a:off x="1560073" y="5339162"/>
              <a:ext cx="3792018" cy="1209372"/>
              <a:chOff x="967279" y="3569798"/>
              <a:chExt cx="3792018" cy="1209372"/>
            </a:xfrm>
          </p:grpSpPr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F7D3B00D-0583-F81D-53FD-11C34A567269}"/>
                  </a:ext>
                </a:extLst>
              </p:cNvPr>
              <p:cNvSpPr txBox="1"/>
              <p:nvPr/>
            </p:nvSpPr>
            <p:spPr>
              <a:xfrm>
                <a:off x="967279" y="4317505"/>
                <a:ext cx="377571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solidFill>
                      <a:schemeClr val="accent1"/>
                    </a:solidFill>
                  </a:rPr>
                  <a:t>Low-temperature limit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2" name="TextBox 31">
                    <a:extLst>
                      <a:ext uri="{FF2B5EF4-FFF2-40B4-BE49-F238E27FC236}">
                        <a16:creationId xmlns:a16="http://schemas.microsoft.com/office/drawing/2014/main" id="{52C29B7D-7DE5-83C6-2E7A-014E009567EC}"/>
                      </a:ext>
                    </a:extLst>
                  </p:cNvPr>
                  <p:cNvSpPr txBox="1"/>
                  <p:nvPr/>
                </p:nvSpPr>
                <p:spPr>
                  <a:xfrm>
                    <a:off x="2941927" y="3569798"/>
                    <a:ext cx="1817370" cy="461665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</m:oMath>
                      </m:oMathPara>
                    </a14:m>
                    <a:endParaRPr lang="en-US" sz="2400" dirty="0"/>
                  </a:p>
                </p:txBody>
              </p:sp>
            </mc:Choice>
            <mc:Fallback xmlns="">
              <p:sp>
                <p:nvSpPr>
                  <p:cNvPr id="32" name="TextBox 31">
                    <a:extLst>
                      <a:ext uri="{FF2B5EF4-FFF2-40B4-BE49-F238E27FC236}">
                        <a16:creationId xmlns:a16="http://schemas.microsoft.com/office/drawing/2014/main" id="{52C29B7D-7DE5-83C6-2E7A-014E009567E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41927" y="3569798"/>
                    <a:ext cx="1817370" cy="461665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l="-690" b="-270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D09BB378-06A1-E98D-9AA9-37ADAD65471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1"/>
            <a:srcRect r="68796"/>
            <a:stretch/>
          </p:blipFill>
          <p:spPr>
            <a:xfrm>
              <a:off x="1778547" y="5132564"/>
              <a:ext cx="1593102" cy="1066800"/>
            </a:xfrm>
            <a:prstGeom prst="rect">
              <a:avLst/>
            </a:prstGeom>
          </p:spPr>
        </p:pic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826B9759-F3AB-D0FC-95E8-ABF06B6B9F30}"/>
              </a:ext>
            </a:extLst>
          </p:cNvPr>
          <p:cNvGrpSpPr/>
          <p:nvPr/>
        </p:nvGrpSpPr>
        <p:grpSpPr>
          <a:xfrm>
            <a:off x="6073570" y="5082947"/>
            <a:ext cx="4287726" cy="1508760"/>
            <a:chOff x="4919140" y="5082947"/>
            <a:chExt cx="4287726" cy="1508760"/>
          </a:xfrm>
        </p:grpSpPr>
        <p:pic>
          <p:nvPicPr>
            <p:cNvPr id="36" name="Picture 2" descr="Vibration of a CO2 molecule on Make a GIF">
              <a:extLst>
                <a:ext uri="{FF2B5EF4-FFF2-40B4-BE49-F238E27FC236}">
                  <a16:creationId xmlns:a16="http://schemas.microsoft.com/office/drawing/2014/main" id="{64BAB450-0E01-0A25-46CC-FD58DF3DAA0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2337" b="25032"/>
            <a:stretch/>
          </p:blipFill>
          <p:spPr bwMode="auto">
            <a:xfrm>
              <a:off x="5402976" y="5448485"/>
              <a:ext cx="2278247" cy="67448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DD77D889-22EC-4F58-2C67-06D26D3A96AA}"/>
                </a:ext>
              </a:extLst>
            </p:cNvPr>
            <p:cNvSpPr txBox="1"/>
            <p:nvPr/>
          </p:nvSpPr>
          <p:spPr>
            <a:xfrm>
              <a:off x="5037772" y="5984141"/>
              <a:ext cx="377571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solidFill>
                    <a:srgbClr val="FF0000"/>
                  </a:solidFill>
                </a:rPr>
                <a:t>High-temperature limit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6AB37787-7986-6D23-EC56-203DA42B1D10}"/>
                    </a:ext>
                  </a:extLst>
                </p:cNvPr>
                <p:cNvSpPr txBox="1"/>
                <p:nvPr/>
              </p:nvSpPr>
              <p:spPr>
                <a:xfrm>
                  <a:off x="7389496" y="5342254"/>
                  <a:ext cx="1817370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6AB37787-7986-6D23-EC56-203DA42B1D1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89496" y="5342254"/>
                  <a:ext cx="1817370" cy="461665"/>
                </a:xfrm>
                <a:prstGeom prst="rect">
                  <a:avLst/>
                </a:prstGeom>
                <a:blipFill>
                  <a:blip r:embed="rId13"/>
                  <a:stretch>
                    <a:fillRect l="-690" b="-270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9" name="Frame 38">
              <a:extLst>
                <a:ext uri="{FF2B5EF4-FFF2-40B4-BE49-F238E27FC236}">
                  <a16:creationId xmlns:a16="http://schemas.microsoft.com/office/drawing/2014/main" id="{993735EE-FF05-4D61-8BAE-849D3AD38C57}"/>
                </a:ext>
              </a:extLst>
            </p:cNvPr>
            <p:cNvSpPr/>
            <p:nvPr/>
          </p:nvSpPr>
          <p:spPr>
            <a:xfrm>
              <a:off x="4919140" y="5082947"/>
              <a:ext cx="3996260" cy="1508760"/>
            </a:xfrm>
            <a:prstGeom prst="frame">
              <a:avLst>
                <a:gd name="adj1" fmla="val 3409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4" name="Frame 3">
            <a:extLst>
              <a:ext uri="{FF2B5EF4-FFF2-40B4-BE49-F238E27FC236}">
                <a16:creationId xmlns:a16="http://schemas.microsoft.com/office/drawing/2014/main" id="{450F72B7-6704-47C5-1EB5-6071CC027E13}"/>
              </a:ext>
            </a:extLst>
          </p:cNvPr>
          <p:cNvSpPr/>
          <p:nvPr/>
        </p:nvSpPr>
        <p:spPr>
          <a:xfrm>
            <a:off x="415811" y="5082947"/>
            <a:ext cx="3677080" cy="1508760"/>
          </a:xfrm>
          <a:prstGeom prst="frame">
            <a:avLst>
              <a:gd name="adj1" fmla="val 3409"/>
            </a:avLst>
          </a:prstGeom>
          <a:solidFill>
            <a:schemeClr val="tx1"/>
          </a:solidFill>
          <a:ln w="222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69356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8B4F33F-417C-372E-2B20-DD3B7185BD6D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1938992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Think-pair-share: In the </a:t>
                </a:r>
                <a:r>
                  <a:rPr lang="en-US" sz="2400" b="1" i="1" dirty="0"/>
                  <a:t>Joule</a:t>
                </a:r>
                <a:r>
                  <a:rPr lang="en-US" sz="2400" b="1" dirty="0"/>
                  <a:t> </a:t>
                </a:r>
                <a:r>
                  <a:rPr lang="en-US" sz="2400" b="1" i="1" dirty="0"/>
                  <a:t>experiment</a:t>
                </a:r>
                <a:r>
                  <a:rPr lang="en-US" sz="2400" b="1" dirty="0"/>
                  <a:t>, would heat be 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sz="2400" b="1" dirty="0"/>
                  <a:t>Pulled from the water and into the two gas chambers (cooling the water a bit) after the stopcock is opened? (Call this the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𝒒</m:t>
                    </m:r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US" sz="2400" b="1" i="1" dirty="0"/>
                  <a:t> </a:t>
                </a:r>
                <a:r>
                  <a:rPr lang="en-US" sz="2400" b="1" dirty="0"/>
                  <a:t>option), or 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sz="2400" b="1" dirty="0"/>
                  <a:t>Released from the gas chambers and into the water (heating the water a bit) after the stopcock is opened? (Call this the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𝒒</m:t>
                    </m:r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US" sz="2400" b="1" i="1" dirty="0"/>
                  <a:t> </a:t>
                </a:r>
                <a:r>
                  <a:rPr lang="en-US" sz="2400" b="1" dirty="0"/>
                  <a:t>option).</a:t>
                </a:r>
                <a:endParaRPr lang="en-US" sz="2400" b="1" i="1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8B4F33F-417C-372E-2B20-DD3B7185BD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0"/>
                <a:ext cx="12192000" cy="1938992"/>
              </a:xfrm>
              <a:prstGeom prst="rect">
                <a:avLst/>
              </a:prstGeom>
              <a:blipFill>
                <a:blip r:embed="rId2"/>
                <a:stretch>
                  <a:fillRect l="-832" t="-2614" b="-65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00CAA59E-0AA4-26AB-B561-3A5F3B649E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0603" y="2904192"/>
            <a:ext cx="4617212" cy="2962547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9676AE66-47DF-B512-1D13-32A2F3E0FB83}"/>
              </a:ext>
            </a:extLst>
          </p:cNvPr>
          <p:cNvGrpSpPr/>
          <p:nvPr/>
        </p:nvGrpSpPr>
        <p:grpSpPr>
          <a:xfrm>
            <a:off x="321294" y="1938992"/>
            <a:ext cx="6019800" cy="4096232"/>
            <a:chOff x="5262141" y="579940"/>
            <a:chExt cx="6019800" cy="4096232"/>
          </a:xfrm>
        </p:grpSpPr>
        <p:pic>
          <p:nvPicPr>
            <p:cNvPr id="1026" name="Picture 2" descr="1st LAW OF THERMODYNAMICS - ppt download">
              <a:extLst>
                <a:ext uri="{FF2B5EF4-FFF2-40B4-BE49-F238E27FC236}">
                  <a16:creationId xmlns:a16="http://schemas.microsoft.com/office/drawing/2014/main" id="{0461A76E-700B-5029-AE9D-08E1DC0CD90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4122"/>
            <a:stretch/>
          </p:blipFill>
          <p:spPr bwMode="auto">
            <a:xfrm>
              <a:off x="5262141" y="804360"/>
              <a:ext cx="6019800" cy="387181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CE751DD1-99E7-969F-C59A-0292149FFF5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096732" y="579940"/>
              <a:ext cx="2781300" cy="9652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7022544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F6706AA-EEB3-2E4F-B4FB-66429C2F46E2}"/>
                  </a:ext>
                </a:extLst>
              </p:cNvPr>
              <p:cNvSpPr txBox="1"/>
              <p:nvPr/>
            </p:nvSpPr>
            <p:spPr>
              <a:xfrm>
                <a:off x="162781" y="653986"/>
                <a:ext cx="11365604" cy="53696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/>
                  <a:t>Suppose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sz="24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𝜀</m:t>
                                </m:r>
                              </m:num>
                              <m:den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𝑀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1/2</m:t>
                        </m:r>
                      </m:sup>
                    </m:sSup>
                    <m:r>
                      <a:rPr lang="en-US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sz="2400" dirty="0"/>
                  <a:t> Which formula below gives the correct result with a minimum number of parentheses?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sz="2400" dirty="0"/>
              </a:p>
              <a:p>
                <a:pPr marL="914400" lvl="1" indent="-457200">
                  <a:buFont typeface="+mj-lt"/>
                  <a:buAutoNum type="alphaUcPeriod"/>
                </a:pPr>
                <a:r>
                  <a:rPr lang="en-US" sz="2400" dirty="0"/>
                  <a:t>(2*eps/M)**1/2</a:t>
                </a:r>
              </a:p>
              <a:p>
                <a:pPr marL="914400" lvl="1" indent="-457200">
                  <a:buFont typeface="+mj-lt"/>
                  <a:buAutoNum type="alphaUcPeriod"/>
                </a:pPr>
                <a:r>
                  <a:rPr lang="en-US" sz="2400" dirty="0"/>
                  <a:t>(2*eps/M)**(1/2)</a:t>
                </a:r>
              </a:p>
              <a:p>
                <a:pPr marL="914400" lvl="1" indent="-457200">
                  <a:buFont typeface="+mj-lt"/>
                  <a:buAutoNum type="alphaUcPeriod"/>
                </a:pPr>
                <a:r>
                  <a:rPr lang="en-US" sz="2400" dirty="0"/>
                  <a:t>2*eps/M**(1/2)</a:t>
                </a:r>
              </a:p>
              <a:p>
                <a:pPr marL="914400" lvl="1" indent="-457200">
                  <a:buFont typeface="+mj-lt"/>
                  <a:buAutoNum type="alphaUcPeriod"/>
                </a:pPr>
                <a:r>
                  <a:rPr lang="en-US" sz="2400" dirty="0"/>
                  <a:t>((2*eps/M)**(1/2))</a:t>
                </a:r>
              </a:p>
              <a:p>
                <a:pPr marL="914400" lvl="1" indent="-457200">
                  <a:buFont typeface="+mj-lt"/>
                  <a:buAutoNum type="alphaUcPeriod"/>
                </a:pPr>
                <a:endParaRPr lang="en-US" sz="2400" dirty="0"/>
              </a:p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400" dirty="0"/>
                  <a:t>Suppose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  <m:sSup>
                          <m:s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𝑣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sz="2400" dirty="0"/>
                  <a:t>. Write a formula as if in Python that gives the correct result with a minimum number of parentheses.</a:t>
                </a:r>
              </a:p>
              <a:p>
                <a:endParaRPr lang="en-US" sz="2400" dirty="0"/>
              </a:p>
              <a:p>
                <a:r>
                  <a:rPr lang="en-US" sz="2400" dirty="0"/>
                  <a:t>Follow-on: One of these formulas assumes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US" sz="2400" dirty="0"/>
                  <a:t> describes a single molecule, the other assumes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US" sz="2400" dirty="0"/>
                  <a:t> describes a mole of molecules. Which is which? 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F6706AA-EEB3-2E4F-B4FB-66429C2F46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781" y="653986"/>
                <a:ext cx="11365604" cy="5369611"/>
              </a:xfrm>
              <a:prstGeom prst="rect">
                <a:avLst/>
              </a:prstGeom>
              <a:blipFill>
                <a:blip r:embed="rId3"/>
                <a:stretch>
                  <a:fillRect l="-781" b="-14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itle 1">
            <a:extLst>
              <a:ext uri="{FF2B5EF4-FFF2-40B4-BE49-F238E27FC236}">
                <a16:creationId xmlns:a16="http://schemas.microsoft.com/office/drawing/2014/main" id="{477F8678-0BE8-1AF5-56C0-6DAE18A079E5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457200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 dirty="0">
                <a:latin typeface="+mn-lt"/>
              </a:rPr>
              <a:t>Blackboard challenge #1: Order of operations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24FF4A1-2B13-5CAE-46DB-69448F36DA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3398" y="1415149"/>
            <a:ext cx="3437680" cy="2400207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25872818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E238128-7832-7C4E-9BD7-7E3C832DD903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461665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Blackboard challenge #2: Derivation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𝝅</m:t>
                        </m:r>
                      </m:e>
                      <m:sub>
                        <m: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𝑻</m:t>
                        </m:r>
                      </m:sub>
                    </m:sSub>
                  </m:oMath>
                </a14:m>
                <a:r>
                  <a:rPr lang="en-US" sz="2400" b="1" dirty="0"/>
                  <a:t> 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E238128-7832-7C4E-9BD7-7E3C832DD9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0"/>
                <a:ext cx="12192000" cy="461665"/>
              </a:xfrm>
              <a:prstGeom prst="rect">
                <a:avLst/>
              </a:prstGeom>
              <a:blipFill>
                <a:blip r:embed="rId2"/>
                <a:stretch>
                  <a:fillRect l="-832" t="-8108" b="-297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04CDFE4C-FC54-2B4F-BF5A-CFB14FCFDF00}"/>
                  </a:ext>
                </a:extLst>
              </p:cNvPr>
              <p:cNvSpPr/>
              <p:nvPr/>
            </p:nvSpPr>
            <p:spPr>
              <a:xfrm>
                <a:off x="304221" y="616079"/>
                <a:ext cx="10705155" cy="549932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b="0" dirty="0">
                    <a:ea typeface="Cambria Math" panose="02040503050406030204" pitchFamily="18" charset="0"/>
                  </a:rPr>
                  <a:t>Later in the course, </a:t>
                </a:r>
                <a:r>
                  <a:rPr lang="en-US" sz="2400" dirty="0"/>
                  <a:t>we’ll learn how to derive formulas like this</a:t>
                </a:r>
                <a14:m>
                  <m:oMath xmlns:m="http://schemas.openxmlformats.org/officeDocument/2006/math">
                    <m:r>
                      <a:rPr lang="en-US" sz="24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</m:t>
                    </m:r>
                  </m:oMath>
                </a14:m>
                <a:endParaRPr lang="en-US" sz="2400" dirty="0"/>
              </a:p>
              <a:p>
                <a:endParaRPr lang="en-US" sz="2400" dirty="0"/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𝑇</m:t>
                    </m:r>
                    <m:sSub>
                      <m:sSub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𝜕</m:t>
                                </m:r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𝑃</m:t>
                                </m:r>
                              </m:num>
                              <m:den>
                                <m:r>
                                  <a:rPr lang="en-US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𝜕</m:t>
                                </m:r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𝑇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sz="24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𝜕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𝑉</m:t>
                                </m:r>
                              </m:num>
                              <m:den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𝜕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𝑉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</m:sub>
                    </m:sSub>
                  </m:oMath>
                </a14:m>
                <a:endParaRPr lang="en-US" sz="2400" dirty="0">
                  <a:solidFill>
                    <a:schemeClr val="tx1"/>
                  </a:solidFill>
                </a:endParaRPr>
              </a:p>
              <a:p>
                <a:endParaRPr lang="en-US" sz="2400" dirty="0"/>
              </a:p>
              <a:p>
                <a:r>
                  <a:rPr lang="en-US" sz="2400" dirty="0"/>
                  <a:t>where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sz="2400" dirty="0"/>
                  <a:t> is the symbol for a thermodynamic variable called the entropy. Use this equation to come up with an </a:t>
                </a:r>
                <a:r>
                  <a:rPr lang="en-US" sz="2400" b="1" dirty="0"/>
                  <a:t>algebraic expression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𝝅</m:t>
                        </m:r>
                      </m:e>
                      <m:sub>
                        <m: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𝑻</m:t>
                        </m:r>
                      </m:sub>
                    </m:sSub>
                  </m:oMath>
                </a14:m>
                <a:r>
                  <a:rPr lang="en-US" sz="2400" dirty="0"/>
                  <a:t> for 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 sz="2400" dirty="0"/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/>
                  <a:t>an </a:t>
                </a:r>
                <a:r>
                  <a:rPr lang="en-US" sz="2400" b="1" dirty="0"/>
                  <a:t>ideal gas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/>
                  <a:t>a </a:t>
                </a:r>
                <a:r>
                  <a:rPr lang="en-US" sz="2400" b="1" dirty="0"/>
                  <a:t>vdw gas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 sz="2400" b="1" dirty="0"/>
              </a:p>
              <a:p>
                <a:r>
                  <a:rPr lang="en-US" sz="2400" dirty="0"/>
                  <a:t>Follow-on:</a:t>
                </a:r>
                <a:r>
                  <a:rPr lang="en-US" sz="2400" b="1" dirty="0"/>
                  <a:t> </a:t>
                </a:r>
                <a:r>
                  <a:rPr lang="en-US" sz="2400" dirty="0"/>
                  <a:t>Is your result #2 consistent with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 sz="2400" dirty="0"/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𝑣𝑑𝑤</m:t>
                        </m:r>
                      </m:sub>
                    </m:sSub>
                    <m:d>
                      <m:d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d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𝑅𝑇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𝑉</m:t>
                        </m:r>
                      </m:den>
                    </m:f>
                  </m:oMath>
                </a14:m>
                <a:r>
                  <a:rPr lang="en-US" sz="2400" b="1" dirty="0"/>
                  <a:t> </a:t>
                </a: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04CDFE4C-FC54-2B4F-BF5A-CFB14FCFDF0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221" y="616079"/>
                <a:ext cx="10705155" cy="5499326"/>
              </a:xfrm>
              <a:prstGeom prst="rect">
                <a:avLst/>
              </a:prstGeom>
              <a:blipFill>
                <a:blip r:embed="rId3"/>
                <a:stretch>
                  <a:fillRect l="-949" t="-6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>
            <a:extLst>
              <a:ext uri="{FF2B5EF4-FFF2-40B4-BE49-F238E27FC236}">
                <a16:creationId xmlns:a16="http://schemas.microsoft.com/office/drawing/2014/main" id="{EB480F28-D0BB-FF2B-015D-5125FFA536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6207" y="461665"/>
            <a:ext cx="2828081" cy="1814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27463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422</TotalTime>
  <Words>334</Words>
  <Application>Microsoft Macintosh PowerPoint</Application>
  <PresentationFormat>Widescreen</PresentationFormat>
  <Paragraphs>43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Steven</dc:creator>
  <cp:lastModifiedBy>Steven</cp:lastModifiedBy>
  <cp:revision>27</cp:revision>
  <dcterms:created xsi:type="dcterms:W3CDTF">2024-09-13T05:23:44Z</dcterms:created>
  <dcterms:modified xsi:type="dcterms:W3CDTF">2025-09-26T14:00:45Z</dcterms:modified>
</cp:coreProperties>
</file>