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3" r:id="rId3"/>
    <p:sldId id="329" r:id="rId4"/>
    <p:sldId id="331" r:id="rId5"/>
    <p:sldId id="327" r:id="rId6"/>
    <p:sldId id="330" r:id="rId7"/>
    <p:sldId id="343" r:id="rId8"/>
    <p:sldId id="337" r:id="rId9"/>
    <p:sldId id="338" r:id="rId10"/>
    <p:sldId id="340" r:id="rId11"/>
    <p:sldId id="345" r:id="rId12"/>
    <p:sldId id="33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58"/>
  </p:normalViewPr>
  <p:slideViewPr>
    <p:cSldViewPr snapToGrid="0" snapToObjects="1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BA7F-40FA-9C49-A379-1C6D0E65D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34D7F-9589-2F4B-9687-212B06368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A6AE0-A549-F340-8CC5-E805586A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020EA-B510-7440-8F97-E371A4F0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AD8E2-E941-3C41-89C6-E58109F1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0FF1-2E8B-0F46-83F4-2017B7988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280D-FC7D-1344-BE06-19FB4C35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AB8A9-3E0C-8A4F-BDEE-99526566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5662D-A40E-3444-AC63-995C33AA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945CC-505D-C44C-AD15-50D99957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3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ADF4-2D47-3A44-B4BB-A94D6EE8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4BF14-1528-844C-BACE-E86003AEE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5986A-4D83-474D-88C1-E58BAE01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A385-C754-8A4E-BFD4-079190F8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CA81D-E1F8-BF44-A6DF-7CA19FDC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3B7D-17D5-AA49-93B2-7FE1095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0A04-6C35-DC40-8DB0-6D3689159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89B69-D55D-FA4D-8529-194AD7067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CDCEE-651C-DC4F-A7DE-9929BE7F2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CA530-2E9E-234E-A851-FB4C2449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1D0A-01A4-6547-AFED-5752A459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09B5-3DEF-CC42-AB19-9B44A48F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76823-F107-304E-AA0F-E4EFAA4A8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05B7-6247-9F43-B526-E48DDBB14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E5ED2-8CD4-7348-9D4B-D7BB52C7E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C41D4-6D0B-FD47-B609-7814D319F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7BA43-56C7-A643-840F-30F37384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8F81AE-E9F3-F143-830D-4C5B0B31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0A42D-E66B-1945-A802-9E1A7534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68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2F1E-D17D-BE47-BA6A-A7C67416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41889-7DDC-B544-BD40-7FCF99E7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76E8C-3029-E549-9ED2-5C9EE637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0FE87-111A-C348-A931-942891B4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9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CDBC5-55E4-0E40-9492-9B408AC8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56EF8-5DB7-2848-987A-692A20519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2889C-2CFC-8845-B141-6B04DBC7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3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E99F0-6169-E64F-9D72-916852392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6001-BFA9-8141-A7B4-85A94E74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C684E-A207-2748-ACCE-7A99DF83A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419B6-FC8E-7346-ADEA-1D968B79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53D7A-3B52-754B-911D-5356909B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CB4D-AFA0-B64C-A5BB-C2A0E272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6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E194-C34A-0D46-8D65-FF8916BB9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EF9DE-2874-8E44-836C-5C5DD9B43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CF13F-EF39-BC42-8D47-4BD919749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29416-846E-2F48-A1A7-72798008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D1F83-75F2-E04F-92A9-86720F84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F7C89-84F1-8246-ACDD-778A2977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7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61CF-CDD4-3949-8514-AD8445C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3BA93-2284-1C42-BE2D-E2587C0FC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C829D-746F-C34F-8CEA-624A5F5E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A9997-0A2C-D248-8EAB-8915B4A1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79DA4-D830-2341-97BA-A0F5F123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3BAD4-24A3-A648-A610-98353DE8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401F5-2B12-BA41-8E7B-C03EADB45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984E1-B7C8-F14A-8F90-009A8F1B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D6911-FCB5-2447-8D17-9FFED95A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3AC03-4975-D849-8984-31088168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3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D9DA8-DD9E-6C48-827F-EE2AF09C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4BDCC-FF40-7149-8305-CEB6C4E9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E005-25C2-AD43-8FD1-DA594B23D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A1932-378F-164C-B083-8FF5DB5B2689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CE04F-B428-EF43-8D52-C2A163626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2F74-9374-5F4C-A967-F6FA4B7BD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3C668-BCAD-B743-99B9-B96B864A5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5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0.png"/><Relationship Id="rId3" Type="http://schemas.openxmlformats.org/officeDocument/2006/relationships/image" Target="../media/image11.png"/><Relationship Id="rId7" Type="http://schemas.openxmlformats.org/officeDocument/2006/relationships/image" Target="../media/image30.png"/><Relationship Id="rId12" Type="http://schemas.openxmlformats.org/officeDocument/2006/relationships/image" Target="../media/image4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.emf"/><Relationship Id="rId5" Type="http://schemas.openxmlformats.org/officeDocument/2006/relationships/image" Target="../media/image13.pn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48EA7-36EA-6E43-AF27-F1D07251C2A0}"/>
              </a:ext>
            </a:extLst>
          </p:cNvPr>
          <p:cNvSpPr txBox="1"/>
          <p:nvPr/>
        </p:nvSpPr>
        <p:spPr>
          <a:xfrm>
            <a:off x="206531" y="1720840"/>
            <a:ext cx="53927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we’ve done so far this week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Heat, work, and the 1</a:t>
            </a:r>
            <a:r>
              <a:rPr lang="en-US" sz="2400" baseline="30000" dirty="0"/>
              <a:t>st</a:t>
            </a:r>
            <a:r>
              <a:rPr lang="en-US" sz="2400" dirty="0"/>
              <a:t> Law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Explored how that relates to the behavior of gases as they expand &amp; contract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Constructed Carnot cycles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994E7-54F6-D9F7-DDB3-741047B03D46}"/>
              </a:ext>
            </a:extLst>
          </p:cNvPr>
          <p:cNvSpPr txBox="1"/>
          <p:nvPr/>
        </p:nvSpPr>
        <p:spPr>
          <a:xfrm>
            <a:off x="3330" y="1649"/>
            <a:ext cx="121886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AC407B-4173-064A-A57D-753E94962D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33"/>
          <a:stretch/>
        </p:blipFill>
        <p:spPr>
          <a:xfrm>
            <a:off x="5573317" y="598311"/>
            <a:ext cx="5621905" cy="6103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12A4F7-04C3-52BD-B82E-849BA6FD4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142" y="1381543"/>
            <a:ext cx="2211080" cy="38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0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a Carnot engine is a theoretical heat engine that converts heat into work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BBE4CC-2807-876F-1C54-571BDBF23534}"/>
              </a:ext>
            </a:extLst>
          </p:cNvPr>
          <p:cNvGrpSpPr/>
          <p:nvPr/>
        </p:nvGrpSpPr>
        <p:grpSpPr>
          <a:xfrm>
            <a:off x="5190895" y="1781226"/>
            <a:ext cx="2605920" cy="3295547"/>
            <a:chOff x="7540309" y="2542291"/>
            <a:chExt cx="2605920" cy="329554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89E321F-A553-3D62-8FCC-0C20622FF981}"/>
                </a:ext>
              </a:extLst>
            </p:cNvPr>
            <p:cNvGrpSpPr/>
            <p:nvPr/>
          </p:nvGrpSpPr>
          <p:grpSpPr>
            <a:xfrm>
              <a:off x="7540309" y="2542291"/>
              <a:ext cx="2605920" cy="3295547"/>
              <a:chOff x="657631" y="1868557"/>
              <a:chExt cx="2605920" cy="3295547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BA71E6A-82B8-0C12-B372-4C2A388EBA44}"/>
                  </a:ext>
                </a:extLst>
              </p:cNvPr>
              <p:cNvGrpSpPr/>
              <p:nvPr/>
            </p:nvGrpSpPr>
            <p:grpSpPr>
              <a:xfrm>
                <a:off x="657631" y="1868557"/>
                <a:ext cx="2605920" cy="3295547"/>
                <a:chOff x="3260665" y="2252870"/>
                <a:chExt cx="3666827" cy="3485321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50210F67-DBB7-BF82-56EA-EAC444CBF844}"/>
                    </a:ext>
                  </a:extLst>
                </p:cNvPr>
                <p:cNvGrpSpPr/>
                <p:nvPr/>
              </p:nvGrpSpPr>
              <p:grpSpPr>
                <a:xfrm>
                  <a:off x="3260665" y="2252870"/>
                  <a:ext cx="1142288" cy="3485321"/>
                  <a:chOff x="3260665" y="2252870"/>
                  <a:chExt cx="1142288" cy="3485321"/>
                </a:xfrm>
              </p:grpSpPr>
              <p:sp>
                <p:nvSpPr>
                  <p:cNvPr id="22" name="Can 21">
                    <a:extLst>
                      <a:ext uri="{FF2B5EF4-FFF2-40B4-BE49-F238E27FC236}">
                        <a16:creationId xmlns:a16="http://schemas.microsoft.com/office/drawing/2014/main" id="{81AB9E5C-BDD3-8766-B3D9-B45F02757DB9}"/>
                      </a:ext>
                    </a:extLst>
                  </p:cNvPr>
                  <p:cNvSpPr/>
                  <p:nvPr/>
                </p:nvSpPr>
                <p:spPr>
                  <a:xfrm>
                    <a:off x="3287083" y="3975650"/>
                    <a:ext cx="1115870" cy="463826"/>
                  </a:xfrm>
                  <a:prstGeom prst="can">
                    <a:avLst>
                      <a:gd name="adj" fmla="val 38571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Can 22">
                    <a:extLst>
                      <a:ext uri="{FF2B5EF4-FFF2-40B4-BE49-F238E27FC236}">
                        <a16:creationId xmlns:a16="http://schemas.microsoft.com/office/drawing/2014/main" id="{73466934-85FC-4B73-7A76-7D497249E28A}"/>
                      </a:ext>
                    </a:extLst>
                  </p:cNvPr>
                  <p:cNvSpPr/>
                  <p:nvPr/>
                </p:nvSpPr>
                <p:spPr>
                  <a:xfrm>
                    <a:off x="3287083" y="2252870"/>
                    <a:ext cx="1115870" cy="3485321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D610DA44-4D71-3BEF-5C84-AA13B8D0DAAD}"/>
                      </a:ext>
                    </a:extLst>
                  </p:cNvPr>
                  <p:cNvGrpSpPr/>
                  <p:nvPr/>
                </p:nvGrpSpPr>
                <p:grpSpPr>
                  <a:xfrm>
                    <a:off x="3625218" y="3356270"/>
                    <a:ext cx="468047" cy="716745"/>
                    <a:chOff x="4009533" y="4138149"/>
                    <a:chExt cx="468047" cy="716745"/>
                  </a:xfrm>
                </p:grpSpPr>
                <p:sp>
                  <p:nvSpPr>
                    <p:cNvPr id="26" name="Down Arrow 25">
                      <a:extLst>
                        <a:ext uri="{FF2B5EF4-FFF2-40B4-BE49-F238E27FC236}">
                          <a16:creationId xmlns:a16="http://schemas.microsoft.com/office/drawing/2014/main" id="{81CA0553-2434-69D5-31F4-0B97F785A7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233" y="4576486"/>
                      <a:ext cx="298649" cy="278408"/>
                    </a:xfrm>
                    <a:prstGeom prst="downArrow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7" name="Rectangle 26">
                          <a:extLst>
                            <a:ext uri="{FF2B5EF4-FFF2-40B4-BE49-F238E27FC236}">
                              <a16:creationId xmlns:a16="http://schemas.microsoft.com/office/drawing/2014/main" id="{0D57C835-2F73-0A99-3DC2-2E784436F9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09533" y="4138149"/>
                          <a:ext cx="468047" cy="327555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" name="Rectangle 5">
                          <a:extLst>
                            <a:ext uri="{FF2B5EF4-FFF2-40B4-BE49-F238E27FC236}">
                              <a16:creationId xmlns:a16="http://schemas.microsoft.com/office/drawing/2014/main" id="{34853373-B311-B34E-9113-9731A6AFBE81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009533" y="4138149"/>
                          <a:ext cx="468047" cy="327555"/>
                        </a:xfrm>
                        <a:prstGeom prst="rect">
                          <a:avLst/>
                        </a:prstGeom>
                        <a:blipFill>
                          <a:blip r:embed="rId2"/>
                          <a:stretch>
                            <a:fillRect l="-3704" r="-59259" b="-4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Rectangle 24">
                        <a:extLst>
                          <a:ext uri="{FF2B5EF4-FFF2-40B4-BE49-F238E27FC236}">
                            <a16:creationId xmlns:a16="http://schemas.microsoft.com/office/drawing/2014/main" id="{A6922ADB-88FF-52DC-6280-7C0A44DF9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60665" y="4689443"/>
                        <a:ext cx="617373" cy="878850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" name="Rectangle 8">
                        <a:extLst>
                          <a:ext uri="{FF2B5EF4-FFF2-40B4-BE49-F238E27FC236}">
                            <a16:creationId xmlns:a16="http://schemas.microsoft.com/office/drawing/2014/main" id="{CB382580-57C5-C740-B532-69767D94E55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260665" y="4689443"/>
                        <a:ext cx="617373" cy="878850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2778" r="-888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7E2885C-4537-350D-EEB2-E642AE7D5584}"/>
                    </a:ext>
                  </a:extLst>
                </p:cNvPr>
                <p:cNvGrpSpPr/>
                <p:nvPr/>
              </p:nvGrpSpPr>
              <p:grpSpPr>
                <a:xfrm>
                  <a:off x="5714493" y="2252870"/>
                  <a:ext cx="1212999" cy="3485321"/>
                  <a:chOff x="3189954" y="2252870"/>
                  <a:chExt cx="1212999" cy="3485321"/>
                </a:xfrm>
              </p:grpSpPr>
              <p:sp>
                <p:nvSpPr>
                  <p:cNvPr id="16" name="Can 15">
                    <a:extLst>
                      <a:ext uri="{FF2B5EF4-FFF2-40B4-BE49-F238E27FC236}">
                        <a16:creationId xmlns:a16="http://schemas.microsoft.com/office/drawing/2014/main" id="{AB2E51AE-C4DD-7921-08F1-5FF1643F8089}"/>
                      </a:ext>
                    </a:extLst>
                  </p:cNvPr>
                  <p:cNvSpPr/>
                  <p:nvPr/>
                </p:nvSpPr>
                <p:spPr>
                  <a:xfrm>
                    <a:off x="3287083" y="3260033"/>
                    <a:ext cx="1115870" cy="463826"/>
                  </a:xfrm>
                  <a:prstGeom prst="can">
                    <a:avLst>
                      <a:gd name="adj" fmla="val 38571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" name="Can 16">
                    <a:extLst>
                      <a:ext uri="{FF2B5EF4-FFF2-40B4-BE49-F238E27FC236}">
                        <a16:creationId xmlns:a16="http://schemas.microsoft.com/office/drawing/2014/main" id="{7E165DC9-AC57-A7A3-7691-A304B801F347}"/>
                      </a:ext>
                    </a:extLst>
                  </p:cNvPr>
                  <p:cNvSpPr/>
                  <p:nvPr/>
                </p:nvSpPr>
                <p:spPr>
                  <a:xfrm>
                    <a:off x="3287083" y="2252870"/>
                    <a:ext cx="1115870" cy="3485321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240EAA98-B92A-8D01-4A90-9C0E6EC29851}"/>
                      </a:ext>
                    </a:extLst>
                  </p:cNvPr>
                  <p:cNvGrpSpPr/>
                  <p:nvPr/>
                </p:nvGrpSpPr>
                <p:grpSpPr>
                  <a:xfrm>
                    <a:off x="3625218" y="2640653"/>
                    <a:ext cx="468047" cy="716745"/>
                    <a:chOff x="4009533" y="3422532"/>
                    <a:chExt cx="468047" cy="716745"/>
                  </a:xfrm>
                </p:grpSpPr>
                <p:sp>
                  <p:nvSpPr>
                    <p:cNvPr id="20" name="Down Arrow 19">
                      <a:extLst>
                        <a:ext uri="{FF2B5EF4-FFF2-40B4-BE49-F238E27FC236}">
                          <a16:creationId xmlns:a16="http://schemas.microsoft.com/office/drawing/2014/main" id="{C2D0B4DF-3538-426D-7D5C-E96E26814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233" y="3860869"/>
                      <a:ext cx="298649" cy="278408"/>
                    </a:xfrm>
                    <a:prstGeom prst="downArrow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" name="Rectangle 20">
                          <a:extLst>
                            <a:ext uri="{FF2B5EF4-FFF2-40B4-BE49-F238E27FC236}">
                              <a16:creationId xmlns:a16="http://schemas.microsoft.com/office/drawing/2014/main" id="{578E03C0-7F3A-8532-454D-F3DC6E336A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09533" y="3422532"/>
                          <a:ext cx="468047" cy="327555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8" name="Rectangle 17">
                          <a:extLst>
                            <a:ext uri="{FF2B5EF4-FFF2-40B4-BE49-F238E27FC236}">
                              <a16:creationId xmlns:a16="http://schemas.microsoft.com/office/drawing/2014/main" id="{F8869B43-4746-7843-BE3E-12C7E482B7E9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009533" y="3422532"/>
                          <a:ext cx="468047" cy="327555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l="-3704" r="-59259" b="-4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3CBDEE54-5A1F-11D8-C09D-610BD2FA0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89954" y="4389239"/>
                        <a:ext cx="617373" cy="878850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/>
                      </a:p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7EB2F084-5621-C74E-B6D2-FF515D72C88F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89954" y="4389239"/>
                        <a:ext cx="617373" cy="87885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857" r="-942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9" name="Right Arrow 8">
                <a:extLst>
                  <a:ext uri="{FF2B5EF4-FFF2-40B4-BE49-F238E27FC236}">
                    <a16:creationId xmlns:a16="http://schemas.microsoft.com/office/drawing/2014/main" id="{3E5BA1A1-9E11-6C8F-3B8C-9726818E9A8C}"/>
                  </a:ext>
                </a:extLst>
              </p:cNvPr>
              <p:cNvSpPr/>
              <p:nvPr/>
            </p:nvSpPr>
            <p:spPr>
              <a:xfrm>
                <a:off x="1736228" y="3558196"/>
                <a:ext cx="612265" cy="377907"/>
              </a:xfrm>
              <a:prstGeom prst="rightArrow">
                <a:avLst>
                  <a:gd name="adj1" fmla="val 39062"/>
                  <a:gd name="adj2" fmla="val 50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F6E3BB1-41E1-7CF4-FBE3-70F02CAEDFB6}"/>
                </a:ext>
              </a:extLst>
            </p:cNvPr>
            <p:cNvGrpSpPr/>
            <p:nvPr/>
          </p:nvGrpSpPr>
          <p:grpSpPr>
            <a:xfrm>
              <a:off x="7757416" y="4689460"/>
              <a:ext cx="462195" cy="1102480"/>
              <a:chOff x="10980297" y="4254750"/>
              <a:chExt cx="462195" cy="1102480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5A8BAEB-50C8-B880-422B-633C0211A1FA}"/>
                  </a:ext>
                </a:extLst>
              </p:cNvPr>
              <p:cNvSpPr/>
              <p:nvPr/>
            </p:nvSpPr>
            <p:spPr>
              <a:xfrm>
                <a:off x="11062741" y="42547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4EDE41D-190A-D3F0-9E66-20BF41B80C8F}"/>
                  </a:ext>
                </a:extLst>
              </p:cNvPr>
              <p:cNvSpPr/>
              <p:nvPr/>
            </p:nvSpPr>
            <p:spPr>
              <a:xfrm>
                <a:off x="11215141" y="44071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6C2CBBD-7E08-CF2C-050C-DA145F471091}"/>
                  </a:ext>
                </a:extLst>
              </p:cNvPr>
              <p:cNvSpPr/>
              <p:nvPr/>
            </p:nvSpPr>
            <p:spPr>
              <a:xfrm>
                <a:off x="11367541" y="45595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9B40BB5-C6EA-4170-8E7D-B1C863D74712}"/>
                  </a:ext>
                </a:extLst>
              </p:cNvPr>
              <p:cNvSpPr/>
              <p:nvPr/>
            </p:nvSpPr>
            <p:spPr>
              <a:xfrm>
                <a:off x="10980297" y="47119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7D0A120-6A0E-A130-B36D-82C03EBCA524}"/>
                  </a:ext>
                </a:extLst>
              </p:cNvPr>
              <p:cNvSpPr/>
              <p:nvPr/>
            </p:nvSpPr>
            <p:spPr>
              <a:xfrm>
                <a:off x="11132697" y="457954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8A9441A-1D87-9D81-FDAE-B88AC248BC12}"/>
                  </a:ext>
                </a:extLst>
              </p:cNvPr>
              <p:cNvSpPr/>
              <p:nvPr/>
            </p:nvSpPr>
            <p:spPr>
              <a:xfrm>
                <a:off x="11285097" y="4267247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BE266A3-0344-CBDC-F240-775D5C91ABCA}"/>
                  </a:ext>
                </a:extLst>
              </p:cNvPr>
              <p:cNvSpPr/>
              <p:nvPr/>
            </p:nvSpPr>
            <p:spPr>
              <a:xfrm>
                <a:off x="11062746" y="4419647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CE44A54-494C-EF17-2D8E-7D105305698E}"/>
                  </a:ext>
                </a:extLst>
              </p:cNvPr>
              <p:cNvSpPr/>
              <p:nvPr/>
            </p:nvSpPr>
            <p:spPr>
              <a:xfrm>
                <a:off x="11215146" y="4856857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01E11066-A38D-CF2A-0B54-7DD9EE38BF91}"/>
                  </a:ext>
                </a:extLst>
              </p:cNvPr>
              <p:cNvSpPr/>
              <p:nvPr/>
            </p:nvSpPr>
            <p:spPr>
              <a:xfrm>
                <a:off x="11125206" y="499176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AD29C0C-492D-90D5-436E-6D440545958E}"/>
                  </a:ext>
                </a:extLst>
              </p:cNvPr>
              <p:cNvSpPr/>
              <p:nvPr/>
            </p:nvSpPr>
            <p:spPr>
              <a:xfrm>
                <a:off x="11337566" y="514416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B2DD337-03D7-A8E0-5359-AD5424F26DE1}"/>
                  </a:ext>
                </a:extLst>
              </p:cNvPr>
              <p:cNvSpPr/>
              <p:nvPr/>
            </p:nvSpPr>
            <p:spPr>
              <a:xfrm>
                <a:off x="11010283" y="523660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12EEF2C-B41C-49CF-75C0-12C143CA9BF3}"/>
                  </a:ext>
                </a:extLst>
              </p:cNvPr>
              <p:cNvSpPr/>
              <p:nvPr/>
            </p:nvSpPr>
            <p:spPr>
              <a:xfrm>
                <a:off x="11207653" y="528407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430D069-6F2F-6552-4129-BDD51AF96E55}"/>
                </a:ext>
              </a:extLst>
            </p:cNvPr>
            <p:cNvGrpSpPr/>
            <p:nvPr/>
          </p:nvGrpSpPr>
          <p:grpSpPr>
            <a:xfrm>
              <a:off x="9491835" y="4031314"/>
              <a:ext cx="462195" cy="1709576"/>
              <a:chOff x="10980297" y="4254750"/>
              <a:chExt cx="462195" cy="170957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03F16C2-1EF0-006D-CFE4-5251A047CC7F}"/>
                  </a:ext>
                </a:extLst>
              </p:cNvPr>
              <p:cNvSpPr/>
              <p:nvPr/>
            </p:nvSpPr>
            <p:spPr>
              <a:xfrm>
                <a:off x="11062741" y="42547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69CE02-B7CA-78BD-50D3-F4D3303AAC8C}"/>
                  </a:ext>
                </a:extLst>
              </p:cNvPr>
              <p:cNvSpPr/>
              <p:nvPr/>
            </p:nvSpPr>
            <p:spPr>
              <a:xfrm>
                <a:off x="11215141" y="5891174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BC3DB40F-4985-1CB8-8316-D73BF151E101}"/>
                  </a:ext>
                </a:extLst>
              </p:cNvPr>
              <p:cNvSpPr/>
              <p:nvPr/>
            </p:nvSpPr>
            <p:spPr>
              <a:xfrm>
                <a:off x="11367541" y="45595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82BE658-2EAE-2DD5-0706-717D3B9DE197}"/>
                  </a:ext>
                </a:extLst>
              </p:cNvPr>
              <p:cNvSpPr/>
              <p:nvPr/>
            </p:nvSpPr>
            <p:spPr>
              <a:xfrm>
                <a:off x="10980297" y="471195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20F21AE-DC67-9E59-A664-3B84A7AEE803}"/>
                  </a:ext>
                </a:extLst>
              </p:cNvPr>
              <p:cNvSpPr/>
              <p:nvPr/>
            </p:nvSpPr>
            <p:spPr>
              <a:xfrm>
                <a:off x="11132697" y="4579540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C3EF10C-67E8-1D6E-25C2-B5FD1B92B8E9}"/>
                  </a:ext>
                </a:extLst>
              </p:cNvPr>
              <p:cNvSpPr/>
              <p:nvPr/>
            </p:nvSpPr>
            <p:spPr>
              <a:xfrm>
                <a:off x="11285097" y="4267247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D3F3D5B-7257-0AA2-9654-ACADCF558951}"/>
                  </a:ext>
                </a:extLst>
              </p:cNvPr>
              <p:cNvSpPr/>
              <p:nvPr/>
            </p:nvSpPr>
            <p:spPr>
              <a:xfrm>
                <a:off x="10987796" y="5693809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83C57B5-11ED-B792-482C-5A35F2B9EE82}"/>
                  </a:ext>
                </a:extLst>
              </p:cNvPr>
              <p:cNvSpPr/>
              <p:nvPr/>
            </p:nvSpPr>
            <p:spPr>
              <a:xfrm>
                <a:off x="11215146" y="4856857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BCFC3F5-F971-EC52-7C89-0484A6BE4CB1}"/>
                  </a:ext>
                </a:extLst>
              </p:cNvPr>
              <p:cNvSpPr/>
              <p:nvPr/>
            </p:nvSpPr>
            <p:spPr>
              <a:xfrm>
                <a:off x="11125206" y="499176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52894CC-6433-E453-EE6D-E9C5CC43A9C1}"/>
                  </a:ext>
                </a:extLst>
              </p:cNvPr>
              <p:cNvSpPr/>
              <p:nvPr/>
            </p:nvSpPr>
            <p:spPr>
              <a:xfrm>
                <a:off x="11337566" y="514416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18C9044-5DC6-F745-E557-E7BCAB9BF90A}"/>
                  </a:ext>
                </a:extLst>
              </p:cNvPr>
              <p:cNvSpPr/>
              <p:nvPr/>
            </p:nvSpPr>
            <p:spPr>
              <a:xfrm>
                <a:off x="11010283" y="523660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352F984-46AB-CA61-1396-8711657D50A1}"/>
                  </a:ext>
                </a:extLst>
              </p:cNvPr>
              <p:cNvSpPr/>
              <p:nvPr/>
            </p:nvSpPr>
            <p:spPr>
              <a:xfrm>
                <a:off x="11162683" y="5389008"/>
                <a:ext cx="74951" cy="73152"/>
              </a:xfrm>
              <a:prstGeom prst="ellipse">
                <a:avLst/>
              </a:prstGeom>
              <a:solidFill>
                <a:schemeClr val="accent4">
                  <a:lumMod val="75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396ECE4-3525-C639-E5E7-689AC056385D}"/>
              </a:ext>
            </a:extLst>
          </p:cNvPr>
          <p:cNvGrpSpPr>
            <a:grpSpLocks noChangeAspect="1"/>
          </p:cNvGrpSpPr>
          <p:nvPr/>
        </p:nvGrpSpPr>
        <p:grpSpPr>
          <a:xfrm>
            <a:off x="8170285" y="2133587"/>
            <a:ext cx="3664001" cy="2849779"/>
            <a:chOff x="5976976" y="1318994"/>
            <a:chExt cx="6120984" cy="476076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12FBC18-CB83-BA29-0DC8-5BEB650C0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76976" y="1318994"/>
              <a:ext cx="6120984" cy="476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57D44C8-E8DA-EDA6-3C52-67F40CF4D086}"/>
                    </a:ext>
                  </a:extLst>
                </p:cNvPr>
                <p:cNvSpPr/>
                <p:nvPr/>
              </p:nvSpPr>
              <p:spPr>
                <a:xfrm>
                  <a:off x="7760162" y="2174658"/>
                  <a:ext cx="60651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BD3A96C2-9ED2-8F40-8046-5E66D6B3F6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0162" y="2174658"/>
                  <a:ext cx="60651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8823347-87F4-7D5A-DBD5-3E835799F2AE}"/>
                    </a:ext>
                  </a:extLst>
                </p:cNvPr>
                <p:cNvSpPr/>
                <p:nvPr/>
              </p:nvSpPr>
              <p:spPr>
                <a:xfrm>
                  <a:off x="9279212" y="3808538"/>
                  <a:ext cx="61363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E4AA3AFA-4A41-0A46-AD00-6F7B521A1B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9212" y="3808538"/>
                  <a:ext cx="613630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757BCB2-5998-5E49-1448-F16111F07EBC}"/>
                    </a:ext>
                  </a:extLst>
                </p:cNvPr>
                <p:cNvSpPr/>
                <p:nvPr/>
              </p:nvSpPr>
              <p:spPr>
                <a:xfrm>
                  <a:off x="9196388" y="4711065"/>
                  <a:ext cx="61363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ADDD587-EF5A-5C4E-8F10-372800BB1D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6388" y="4711065"/>
                  <a:ext cx="613630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3DCA8113-F412-A931-6C43-AC1457C3CE5D}"/>
                    </a:ext>
                  </a:extLst>
                </p:cNvPr>
                <p:cNvSpPr/>
                <p:nvPr/>
              </p:nvSpPr>
              <p:spPr>
                <a:xfrm>
                  <a:off x="6860718" y="2899558"/>
                  <a:ext cx="60426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04786C1-DF8D-924B-8C9C-382497A2E2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0718" y="2899558"/>
                  <a:ext cx="60426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91ED9F91-6E7A-CB78-0717-2255948F420D}"/>
              </a:ext>
            </a:extLst>
          </p:cNvPr>
          <p:cNvSpPr txBox="1"/>
          <p:nvPr/>
        </p:nvSpPr>
        <p:spPr>
          <a:xfrm>
            <a:off x="5379619" y="5694734"/>
            <a:ext cx="5597575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“working fluid” of a Carnot engine is an ideal gas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1A9BE3B-8D93-46D4-1E4C-1A0A6CEC739F}"/>
              </a:ext>
            </a:extLst>
          </p:cNvPr>
          <p:cNvGrpSpPr/>
          <p:nvPr/>
        </p:nvGrpSpPr>
        <p:grpSpPr>
          <a:xfrm>
            <a:off x="5365687" y="3905040"/>
            <a:ext cx="2568164" cy="1800883"/>
            <a:chOff x="5365687" y="4113386"/>
            <a:chExt cx="2568164" cy="1639878"/>
          </a:xfrm>
        </p:grpSpPr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ECC5153C-2605-D7E5-88FF-65CE35B42497}"/>
                </a:ext>
              </a:extLst>
            </p:cNvPr>
            <p:cNvSpPr/>
            <p:nvPr/>
          </p:nvSpPr>
          <p:spPr>
            <a:xfrm flipV="1">
              <a:off x="5475463" y="4113386"/>
              <a:ext cx="2458388" cy="1627833"/>
            </a:xfrm>
            <a:prstGeom prst="arc">
              <a:avLst>
                <a:gd name="adj1" fmla="val 11408358"/>
                <a:gd name="adj2" fmla="val 15288712"/>
              </a:avLst>
            </a:prstGeom>
            <a:ln w="127000">
              <a:solidFill>
                <a:schemeClr val="accent1">
                  <a:alpha val="84000"/>
                </a:schemeClr>
              </a:solidFill>
              <a:prstDash val="solid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C6069796-1D9F-BF56-77B7-0F7DC88322E2}"/>
                </a:ext>
              </a:extLst>
            </p:cNvPr>
            <p:cNvSpPr/>
            <p:nvPr/>
          </p:nvSpPr>
          <p:spPr>
            <a:xfrm flipH="1" flipV="1">
              <a:off x="5365687" y="4125431"/>
              <a:ext cx="2060742" cy="1627833"/>
            </a:xfrm>
            <a:prstGeom prst="arc">
              <a:avLst>
                <a:gd name="adj1" fmla="val 11408358"/>
                <a:gd name="adj2" fmla="val 15288712"/>
              </a:avLst>
            </a:prstGeom>
            <a:ln w="127000">
              <a:solidFill>
                <a:schemeClr val="accent1">
                  <a:alpha val="84000"/>
                </a:schemeClr>
              </a:solidFill>
              <a:prstDash val="solid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E68F7A2-5B82-C822-3E25-B28EF45B0481}"/>
              </a:ext>
            </a:extLst>
          </p:cNvPr>
          <p:cNvGrpSpPr/>
          <p:nvPr/>
        </p:nvGrpSpPr>
        <p:grpSpPr>
          <a:xfrm>
            <a:off x="440582" y="1275482"/>
            <a:ext cx="4651512" cy="4762262"/>
            <a:chOff x="440582" y="1275482"/>
            <a:chExt cx="4651512" cy="4762262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0DA063C-FC3F-8E57-6A24-370C0476595B}"/>
                </a:ext>
              </a:extLst>
            </p:cNvPr>
            <p:cNvGrpSpPr/>
            <p:nvPr/>
          </p:nvGrpSpPr>
          <p:grpSpPr>
            <a:xfrm>
              <a:off x="440582" y="1275482"/>
              <a:ext cx="4651512" cy="4762262"/>
              <a:chOff x="440582" y="1275482"/>
              <a:chExt cx="4651512" cy="476226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26A388B-9139-8C08-D917-79EA6ECDF239}"/>
                  </a:ext>
                </a:extLst>
              </p:cNvPr>
              <p:cNvGrpSpPr/>
              <p:nvPr/>
            </p:nvGrpSpPr>
            <p:grpSpPr>
              <a:xfrm>
                <a:off x="440582" y="1275482"/>
                <a:ext cx="4651512" cy="4762262"/>
                <a:chOff x="7156175" y="720846"/>
                <a:chExt cx="4651512" cy="4762262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277CC8A1-4ABE-2C4B-BAC4-135EDCBA0B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l="12127" t="47139" r="46124" b="19832"/>
                <a:stretch/>
              </p:blipFill>
              <p:spPr>
                <a:xfrm>
                  <a:off x="7156175" y="720846"/>
                  <a:ext cx="4651512" cy="476226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" name="TextBox 2">
                      <a:extLst>
                        <a:ext uri="{FF2B5EF4-FFF2-40B4-BE49-F238E27FC236}">
                          <a16:creationId xmlns:a16="http://schemas.microsoft.com/office/drawing/2014/main" id="{B1FB4E96-1C4A-611F-9B4E-97DCB1F753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3700" y="930854"/>
                      <a:ext cx="4271221" cy="461665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" name="TextBox 2">
                      <a:extLst>
                        <a:ext uri="{FF2B5EF4-FFF2-40B4-BE49-F238E27FC236}">
                          <a16:creationId xmlns:a16="http://schemas.microsoft.com/office/drawing/2014/main" id="{B1FB4E96-1C4A-611F-9B4E-97DCB1F753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43700" y="930854"/>
                      <a:ext cx="4271221" cy="46166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270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327C4947-589B-B3B0-86A2-4DE8CFC508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3700" y="4821537"/>
                      <a:ext cx="4284473" cy="461665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327C4947-589B-B3B0-86A2-4DE8CFC508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443700" y="4821537"/>
                      <a:ext cx="4284473" cy="46166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270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21B2793-EB91-2439-E88D-4543DE569FAF}"/>
                  </a:ext>
                </a:extLst>
              </p:cNvPr>
              <p:cNvSpPr txBox="1"/>
              <p:nvPr/>
            </p:nvSpPr>
            <p:spPr>
              <a:xfrm>
                <a:off x="1063790" y="4621923"/>
                <a:ext cx="1186667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|</a:t>
                </a:r>
                <a:r>
                  <a:rPr lang="en-US" sz="3000" i="1" dirty="0"/>
                  <a:t>Q</a:t>
                </a:r>
                <a:r>
                  <a:rPr lang="en-US" sz="3000" i="1" baseline="-25000" dirty="0"/>
                  <a:t>C</a:t>
                </a:r>
                <a:r>
                  <a:rPr lang="en-US" sz="3000" dirty="0"/>
                  <a:t>|</a:t>
                </a:r>
                <a:endParaRPr lang="en-US" sz="3000" i="1" dirty="0"/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7369327-F758-14EE-D2AC-E3AAC9931A6A}"/>
                </a:ext>
              </a:extLst>
            </p:cNvPr>
            <p:cNvSpPr txBox="1"/>
            <p:nvPr/>
          </p:nvSpPr>
          <p:spPr>
            <a:xfrm>
              <a:off x="3766308" y="2952834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 err="1"/>
                <a:t>w</a:t>
              </a:r>
              <a:r>
                <a:rPr lang="en-US" sz="3000" i="1" baseline="-25000" dirty="0" err="1"/>
                <a:t>tot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5612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438989-E394-4942-82FD-477478DD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619" y="2160101"/>
            <a:ext cx="7084483" cy="3677737"/>
          </a:xfrm>
          <a:prstGeom prst="rect">
            <a:avLst/>
          </a:prstGeom>
        </p:spPr>
      </p:pic>
      <p:sp>
        <p:nvSpPr>
          <p:cNvPr id="2" name="Arc 1">
            <a:extLst>
              <a:ext uri="{FF2B5EF4-FFF2-40B4-BE49-F238E27FC236}">
                <a16:creationId xmlns:a16="http://schemas.microsoft.com/office/drawing/2014/main" id="{FFDF0B1D-A5A4-254B-8900-BB81CDE3E7BD}"/>
              </a:ext>
            </a:extLst>
          </p:cNvPr>
          <p:cNvSpPr/>
          <p:nvPr/>
        </p:nvSpPr>
        <p:spPr>
          <a:xfrm>
            <a:off x="8300941" y="1376815"/>
            <a:ext cx="2458388" cy="3245108"/>
          </a:xfrm>
          <a:prstGeom prst="arc">
            <a:avLst>
              <a:gd name="adj1" fmla="val 11408358"/>
              <a:gd name="adj2" fmla="val 14598055"/>
            </a:avLst>
          </a:prstGeom>
          <a:ln w="127000">
            <a:solidFill>
              <a:schemeClr val="accent1">
                <a:alpha val="84000"/>
              </a:schemeClr>
            </a:solidFill>
            <a:prstDash val="solid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E0C66A-9D29-14BE-924E-CE7B6CF6069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real thermoelectric power plants use similar ideas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4B0CED-B96F-7B52-7A59-674D7BDB3736}"/>
              </a:ext>
            </a:extLst>
          </p:cNvPr>
          <p:cNvGrpSpPr/>
          <p:nvPr/>
        </p:nvGrpSpPr>
        <p:grpSpPr>
          <a:xfrm>
            <a:off x="440582" y="1275482"/>
            <a:ext cx="4651512" cy="4762262"/>
            <a:chOff x="440582" y="1275482"/>
            <a:chExt cx="4651512" cy="476226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37A00B-D0D7-2043-A50D-84C44B5ABCEA}"/>
                </a:ext>
              </a:extLst>
            </p:cNvPr>
            <p:cNvGrpSpPr/>
            <p:nvPr/>
          </p:nvGrpSpPr>
          <p:grpSpPr>
            <a:xfrm>
              <a:off x="440582" y="1275482"/>
              <a:ext cx="4651512" cy="4762262"/>
              <a:chOff x="7156175" y="720846"/>
              <a:chExt cx="4651512" cy="4762262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51B22DC-DD16-9445-C656-92D3DDF058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127" t="47139" r="46124" b="19832"/>
              <a:stretch/>
            </p:blipFill>
            <p:spPr>
              <a:xfrm>
                <a:off x="7156175" y="720846"/>
                <a:ext cx="4651512" cy="476226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3C6704-64E5-74B0-2FBF-3248C8743B11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700" y="930854"/>
                    <a:ext cx="4271221" cy="461665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53C6704-64E5-74B0-2FBF-3248C8743B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700" y="930854"/>
                    <a:ext cx="4271221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88E119FF-E529-AF2A-B959-AEFEF30F04AE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700" y="4821537"/>
                    <a:ext cx="4284473" cy="461665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88E119FF-E529-AF2A-B959-AEFEF30F04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700" y="4821537"/>
                    <a:ext cx="4284473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7DDEAC-A79C-7555-48CF-45BAD7F2DB64}"/>
                </a:ext>
              </a:extLst>
            </p:cNvPr>
            <p:cNvSpPr txBox="1"/>
            <p:nvPr/>
          </p:nvSpPr>
          <p:spPr>
            <a:xfrm>
              <a:off x="1063790" y="4621923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/>
                <a:t>Q</a:t>
              </a:r>
              <a:r>
                <a:rPr lang="en-US" sz="3000" i="1" baseline="-25000" dirty="0"/>
                <a:t>C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449A516-AF6F-2D0D-EDA9-8EC2BC39176F}"/>
              </a:ext>
            </a:extLst>
          </p:cNvPr>
          <p:cNvSpPr txBox="1"/>
          <p:nvPr/>
        </p:nvSpPr>
        <p:spPr>
          <a:xfrm>
            <a:off x="8592751" y="859983"/>
            <a:ext cx="287114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“working fluid” is water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00EE48-7702-6435-619B-F5BFA061E42E}"/>
              </a:ext>
            </a:extLst>
          </p:cNvPr>
          <p:cNvSpPr txBox="1"/>
          <p:nvPr/>
        </p:nvSpPr>
        <p:spPr>
          <a:xfrm>
            <a:off x="3766308" y="2952834"/>
            <a:ext cx="118666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|</a:t>
            </a:r>
            <a:r>
              <a:rPr lang="en-US" sz="3000" i="1" dirty="0" err="1"/>
              <a:t>w</a:t>
            </a:r>
            <a:r>
              <a:rPr lang="en-US" sz="3000" i="1" baseline="-25000" dirty="0" err="1"/>
              <a:t>tot</a:t>
            </a:r>
            <a:r>
              <a:rPr lang="en-US" sz="3000" dirty="0"/>
              <a:t>|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278076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438989-E394-4942-82FD-477478DD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619" y="2160101"/>
            <a:ext cx="7084483" cy="367773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6ED161C-7DCF-8BA9-0648-CFF95511025C}"/>
              </a:ext>
            </a:extLst>
          </p:cNvPr>
          <p:cNvGrpSpPr/>
          <p:nvPr/>
        </p:nvGrpSpPr>
        <p:grpSpPr>
          <a:xfrm>
            <a:off x="440582" y="1275482"/>
            <a:ext cx="4651512" cy="4762262"/>
            <a:chOff x="7156175" y="720846"/>
            <a:chExt cx="4651512" cy="476226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275CF82-E49E-12FE-1C0A-99E9570714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127" t="47139" r="46124" b="19832"/>
            <a:stretch/>
          </p:blipFill>
          <p:spPr>
            <a:xfrm>
              <a:off x="7156175" y="720846"/>
              <a:ext cx="4651512" cy="47622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52B842C-21C5-7D6F-F197-34980798F681}"/>
                    </a:ext>
                  </a:extLst>
                </p:cNvPr>
                <p:cNvSpPr txBox="1"/>
                <p:nvPr/>
              </p:nvSpPr>
              <p:spPr>
                <a:xfrm>
                  <a:off x="7443700" y="930854"/>
                  <a:ext cx="4271221" cy="461665"/>
                </a:xfrm>
                <a:prstGeom prst="rect">
                  <a:avLst/>
                </a:prstGeom>
                <a:solidFill>
                  <a:srgbClr val="FF0000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52B842C-21C5-7D6F-F197-34980798F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700" y="930854"/>
                  <a:ext cx="4271221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ABFB4D-A24B-8DE5-40F9-1F6B21EDE77B}"/>
                    </a:ext>
                  </a:extLst>
                </p:cNvPr>
                <p:cNvSpPr txBox="1"/>
                <p:nvPr/>
              </p:nvSpPr>
              <p:spPr>
                <a:xfrm>
                  <a:off x="7443700" y="4821537"/>
                  <a:ext cx="4284473" cy="461665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ABFB4D-A24B-8DE5-40F9-1F6B21EDE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700" y="4821537"/>
                  <a:ext cx="42844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CE0C66A-9D29-14BE-924E-CE7B6CF6069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Let’s draw arrows from the five quantities on the left (</a:t>
            </a:r>
            <a:r>
              <a:rPr lang="en-US" sz="2400" b="1" i="1" dirty="0"/>
              <a:t>T</a:t>
            </a:r>
            <a:r>
              <a:rPr lang="en-US" sz="2400" b="1" i="1" baseline="-25000" dirty="0"/>
              <a:t>H</a:t>
            </a:r>
            <a:r>
              <a:rPr lang="en-US" sz="2400" b="1" dirty="0"/>
              <a:t>, etc.) to places on the right.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DADA8-A41C-CBC4-5150-A4AE87F60FF1}"/>
              </a:ext>
            </a:extLst>
          </p:cNvPr>
          <p:cNvSpPr txBox="1"/>
          <p:nvPr/>
        </p:nvSpPr>
        <p:spPr>
          <a:xfrm>
            <a:off x="1063790" y="4621923"/>
            <a:ext cx="118666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|</a:t>
            </a:r>
            <a:r>
              <a:rPr lang="en-US" sz="3000" i="1" dirty="0"/>
              <a:t>Q</a:t>
            </a:r>
            <a:r>
              <a:rPr lang="en-US" sz="3000" i="1" baseline="-25000" dirty="0"/>
              <a:t>C</a:t>
            </a:r>
            <a:r>
              <a:rPr lang="en-US" sz="3000" dirty="0"/>
              <a:t>|</a:t>
            </a:r>
            <a:endParaRPr lang="en-US" sz="30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F21EA-2446-57CC-541C-5690FC7C2CB9}"/>
              </a:ext>
            </a:extLst>
          </p:cNvPr>
          <p:cNvSpPr txBox="1"/>
          <p:nvPr/>
        </p:nvSpPr>
        <p:spPr>
          <a:xfrm>
            <a:off x="3766308" y="2952834"/>
            <a:ext cx="118666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|</a:t>
            </a:r>
            <a:r>
              <a:rPr lang="en-US" sz="3000" i="1" dirty="0" err="1"/>
              <a:t>w</a:t>
            </a:r>
            <a:r>
              <a:rPr lang="en-US" sz="3000" i="1" baseline="-25000" dirty="0" err="1"/>
              <a:t>tot</a:t>
            </a:r>
            <a:r>
              <a:rPr lang="en-US" sz="3000" dirty="0"/>
              <a:t>|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23567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More recap: there’s a theoretical maximum the the efficiency of any real heat engine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6005825" y="1485490"/>
                <a:ext cx="5458068" cy="41681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</a:t>
                </a:r>
                <a:r>
                  <a:rPr lang="en-US" sz="2400" b="1" dirty="0"/>
                  <a:t>observed</a:t>
                </a:r>
                <a:r>
                  <a:rPr lang="en-US" sz="2400" dirty="0"/>
                  <a:t> </a:t>
                </a:r>
                <a:r>
                  <a:rPr lang="en-US" sz="2400" b="1" dirty="0"/>
                  <a:t>efficiency </a:t>
                </a:r>
                <a:r>
                  <a:rPr lang="en-US" sz="2400" dirty="0"/>
                  <a:t>of a heat engine is defined as </a:t>
                </a:r>
              </a:p>
              <a:p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𝒐𝒃𝒔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𝒉𝒐𝒕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which we want to be as </a:t>
                </a:r>
                <a:r>
                  <a:rPr lang="en-US" sz="2400" b="1" dirty="0"/>
                  <a:t>big as possible</a:t>
                </a:r>
                <a:r>
                  <a:rPr lang="en-US" sz="2400" dirty="0"/>
                  <a:t>. Carnot showed that the biggest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𝒐𝒃𝒔</m:t>
                        </m:r>
                      </m:sub>
                    </m:sSub>
                  </m:oMath>
                </a14:m>
                <a:r>
                  <a:rPr lang="en-US" sz="2400" dirty="0"/>
                  <a:t> can get is: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𝒐𝒃𝒔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825" y="1485490"/>
                <a:ext cx="5458068" cy="4168192"/>
              </a:xfrm>
              <a:prstGeom prst="rect">
                <a:avLst/>
              </a:prstGeom>
              <a:blipFill>
                <a:blip r:embed="rId2"/>
                <a:stretch>
                  <a:fillRect l="-1620" t="-90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5007A95-F639-0CD3-E2FC-7E9065346279}"/>
              </a:ext>
            </a:extLst>
          </p:cNvPr>
          <p:cNvGrpSpPr/>
          <p:nvPr/>
        </p:nvGrpSpPr>
        <p:grpSpPr>
          <a:xfrm>
            <a:off x="440582" y="1275482"/>
            <a:ext cx="4651512" cy="4762262"/>
            <a:chOff x="440582" y="1275482"/>
            <a:chExt cx="4651512" cy="47622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6F45B8-CE4F-06DC-3C0B-453AA32AF352}"/>
                </a:ext>
              </a:extLst>
            </p:cNvPr>
            <p:cNvGrpSpPr/>
            <p:nvPr/>
          </p:nvGrpSpPr>
          <p:grpSpPr>
            <a:xfrm>
              <a:off x="440582" y="1275482"/>
              <a:ext cx="4651512" cy="4762262"/>
              <a:chOff x="7156175" y="720846"/>
              <a:chExt cx="4651512" cy="476226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7D1B03E-0641-7ECA-8159-460A0505E2D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127" t="47139" r="46124" b="19832"/>
              <a:stretch/>
            </p:blipFill>
            <p:spPr>
              <a:xfrm>
                <a:off x="7156175" y="720846"/>
                <a:ext cx="4651512" cy="476226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28EAD2CC-3CA8-858F-A168-3A6BCC3D3323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700" y="930854"/>
                    <a:ext cx="4271221" cy="461665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28EAD2CC-3CA8-858F-A168-3A6BCC3D33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700" y="930854"/>
                    <a:ext cx="4271221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C7A8C69-CE37-AA00-6109-8ABD3B952CA5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700" y="4821537"/>
                    <a:ext cx="4284473" cy="461665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1C7A8C69-CE37-AA00-6109-8ABD3B952C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700" y="4821537"/>
                    <a:ext cx="4284473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4E4776-4C06-9248-245C-40100239393A}"/>
                </a:ext>
              </a:extLst>
            </p:cNvPr>
            <p:cNvSpPr txBox="1"/>
            <p:nvPr/>
          </p:nvSpPr>
          <p:spPr>
            <a:xfrm>
              <a:off x="1063790" y="4621923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/>
                <a:t>Q</a:t>
              </a:r>
              <a:r>
                <a:rPr lang="en-US" sz="3000" i="1" baseline="-25000" dirty="0"/>
                <a:t>C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552D6B-4817-7979-BCB8-30BC157AE4B0}"/>
              </a:ext>
            </a:extLst>
          </p:cNvPr>
          <p:cNvSpPr txBox="1"/>
          <p:nvPr/>
        </p:nvSpPr>
        <p:spPr>
          <a:xfrm>
            <a:off x="3766308" y="2952834"/>
            <a:ext cx="118666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000" dirty="0"/>
              <a:t>|</a:t>
            </a:r>
            <a:r>
              <a:rPr lang="en-US" sz="3000" i="1" dirty="0" err="1"/>
              <a:t>w</a:t>
            </a:r>
            <a:r>
              <a:rPr lang="en-US" sz="3000" i="1" baseline="-25000" dirty="0" err="1"/>
              <a:t>tot</a:t>
            </a:r>
            <a:r>
              <a:rPr lang="en-US" sz="3000" dirty="0"/>
              <a:t>|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350079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9645D0D-B21D-599B-9DEC-FBEED084BF88}"/>
              </a:ext>
            </a:extLst>
          </p:cNvPr>
          <p:cNvGrpSpPr/>
          <p:nvPr/>
        </p:nvGrpSpPr>
        <p:grpSpPr>
          <a:xfrm>
            <a:off x="6487312" y="1394505"/>
            <a:ext cx="5057425" cy="4851695"/>
            <a:chOff x="6487312" y="1394505"/>
            <a:chExt cx="5057425" cy="485169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C45481-0983-EDB6-F2E0-CD8EC5CEA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9765" y="1394505"/>
              <a:ext cx="4324972" cy="4851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A4ACD9-BEC5-0FC7-122A-8876CBF17921}"/>
                </a:ext>
              </a:extLst>
            </p:cNvPr>
            <p:cNvSpPr txBox="1"/>
            <p:nvPr/>
          </p:nvSpPr>
          <p:spPr>
            <a:xfrm>
              <a:off x="6487312" y="3429000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 err="1"/>
                <a:t>w</a:t>
              </a:r>
              <a:r>
                <a:rPr lang="en-US" sz="3000" i="1" baseline="-25000" dirty="0" err="1"/>
                <a:t>tot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" y="0"/>
            <a:ext cx="5335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 </a:t>
            </a:r>
            <a:r>
              <a:rPr lang="en-US" sz="2400" b="1" i="1" dirty="0"/>
              <a:t>pumps</a:t>
            </a:r>
            <a:r>
              <a:rPr lang="en-US" sz="2400" b="1" dirty="0"/>
              <a:t> vs heat </a:t>
            </a:r>
            <a:r>
              <a:rPr lang="en-US" sz="2400" b="1" i="1" dirty="0"/>
              <a:t>engines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56847F-947E-854E-8A35-397154A4F8BA}"/>
              </a:ext>
            </a:extLst>
          </p:cNvPr>
          <p:cNvSpPr txBox="1"/>
          <p:nvPr/>
        </p:nvSpPr>
        <p:spPr>
          <a:xfrm>
            <a:off x="78504" y="609675"/>
            <a:ext cx="65321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heat engine</a:t>
            </a:r>
            <a:r>
              <a:rPr lang="en-US" sz="2400" dirty="0"/>
              <a:t>’s job is to convert heat from a hot place (like a furnace) into work (electricity), dumping the waste heat into a cold place (the ocean or something).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BCE75-1244-7297-DB4C-804ABF99A96E}"/>
              </a:ext>
            </a:extLst>
          </p:cNvPr>
          <p:cNvSpPr txBox="1"/>
          <p:nvPr/>
        </p:nvSpPr>
        <p:spPr>
          <a:xfrm>
            <a:off x="7059407" y="6396829"/>
            <a:ext cx="4260548" cy="461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www.thermal-engineering.org</a:t>
            </a:r>
            <a:r>
              <a:rPr lang="en-US" sz="1200" dirty="0"/>
              <a:t>/what-is-coefficient-of-performance-cop-heat-pump-definition/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034EF-E4C7-2099-72E8-CEA2D95E9150}"/>
              </a:ext>
            </a:extLst>
          </p:cNvPr>
          <p:cNvSpPr txBox="1"/>
          <p:nvPr/>
        </p:nvSpPr>
        <p:spPr>
          <a:xfrm>
            <a:off x="7969075" y="1297937"/>
            <a:ext cx="3133166" cy="95410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Your home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55038-F756-59B4-904F-7CB223CDD393}"/>
              </a:ext>
            </a:extLst>
          </p:cNvPr>
          <p:cNvSpPr txBox="1"/>
          <p:nvPr/>
        </p:nvSpPr>
        <p:spPr>
          <a:xfrm>
            <a:off x="7969075" y="5367407"/>
            <a:ext cx="3133166" cy="95410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Outside, on a winter day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8AF0F-FCE7-DE61-45D5-2EA90AA17D1F}"/>
              </a:ext>
            </a:extLst>
          </p:cNvPr>
          <p:cNvSpPr txBox="1"/>
          <p:nvPr/>
        </p:nvSpPr>
        <p:spPr>
          <a:xfrm>
            <a:off x="6610661" y="131632"/>
            <a:ext cx="4868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heat pump</a:t>
            </a:r>
            <a:r>
              <a:rPr lang="en-US" sz="2400" dirty="0"/>
              <a:t>’s job is to use work (electricity) to move heat from a cold place to a warm place.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0462DD-1B7B-CC7C-576F-BFAF5106141F}"/>
              </a:ext>
            </a:extLst>
          </p:cNvPr>
          <p:cNvGrpSpPr/>
          <p:nvPr/>
        </p:nvGrpSpPr>
        <p:grpSpPr>
          <a:xfrm>
            <a:off x="440582" y="1980013"/>
            <a:ext cx="4651512" cy="4762262"/>
            <a:chOff x="440582" y="1980013"/>
            <a:chExt cx="4651512" cy="476226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1F21C83-92DA-6844-8913-B4ACDF53FDD5}"/>
                </a:ext>
              </a:extLst>
            </p:cNvPr>
            <p:cNvGrpSpPr/>
            <p:nvPr/>
          </p:nvGrpSpPr>
          <p:grpSpPr>
            <a:xfrm>
              <a:off x="440582" y="1980013"/>
              <a:ext cx="4651512" cy="4762262"/>
              <a:chOff x="7156175" y="720846"/>
              <a:chExt cx="4651512" cy="476226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3D7D60F-F114-3808-6138-CB6453E2FC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2127" t="47139" r="46124" b="19832"/>
              <a:stretch/>
            </p:blipFill>
            <p:spPr>
              <a:xfrm>
                <a:off x="7156175" y="720846"/>
                <a:ext cx="4651512" cy="476226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24B7769-D483-B979-BBCB-B534237BEF4A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700" y="930854"/>
                    <a:ext cx="4271221" cy="461665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424B7769-D483-B979-BBCB-B534237BEF4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700" y="930854"/>
                    <a:ext cx="4271221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4D62463B-E092-12B8-2754-4C22AD727ECF}"/>
                      </a:ext>
                    </a:extLst>
                  </p:cNvPr>
                  <p:cNvSpPr txBox="1"/>
                  <p:nvPr/>
                </p:nvSpPr>
                <p:spPr>
                  <a:xfrm>
                    <a:off x="7443700" y="4821537"/>
                    <a:ext cx="4284473" cy="461665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4D62463B-E092-12B8-2754-4C22AD727E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3700" y="4821537"/>
                    <a:ext cx="4284473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EC1EE84-C07C-7010-A41A-825CF454E85A}"/>
                </a:ext>
              </a:extLst>
            </p:cNvPr>
            <p:cNvSpPr txBox="1"/>
            <p:nvPr/>
          </p:nvSpPr>
          <p:spPr>
            <a:xfrm>
              <a:off x="3766308" y="3658890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 err="1"/>
                <a:t>w</a:t>
              </a:r>
              <a:r>
                <a:rPr lang="en-US" sz="3000" i="1" baseline="-25000" dirty="0" err="1"/>
                <a:t>tot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4309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9645D0D-B21D-599B-9DEC-FBEED084BF88}"/>
              </a:ext>
            </a:extLst>
          </p:cNvPr>
          <p:cNvGrpSpPr/>
          <p:nvPr/>
        </p:nvGrpSpPr>
        <p:grpSpPr>
          <a:xfrm>
            <a:off x="6487312" y="1394505"/>
            <a:ext cx="5057425" cy="4851695"/>
            <a:chOff x="6487312" y="1394505"/>
            <a:chExt cx="5057425" cy="485169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C45481-0983-EDB6-F2E0-CD8EC5CEA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9765" y="1394505"/>
              <a:ext cx="4324972" cy="4851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A4ACD9-BEC5-0FC7-122A-8876CBF17921}"/>
                </a:ext>
              </a:extLst>
            </p:cNvPr>
            <p:cNvSpPr txBox="1"/>
            <p:nvPr/>
          </p:nvSpPr>
          <p:spPr>
            <a:xfrm>
              <a:off x="6487312" y="3429000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 err="1"/>
                <a:t>w</a:t>
              </a:r>
              <a:r>
                <a:rPr lang="en-US" sz="3000" i="1" baseline="-25000" dirty="0" err="1"/>
                <a:t>tot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C4D51AB-942B-FC45-BC1E-A73EAE9C61BD}"/>
              </a:ext>
            </a:extLst>
          </p:cNvPr>
          <p:cNvSpPr txBox="1"/>
          <p:nvPr/>
        </p:nvSpPr>
        <p:spPr>
          <a:xfrm>
            <a:off x="-1" y="0"/>
            <a:ext cx="533592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 </a:t>
            </a:r>
            <a:r>
              <a:rPr lang="en-US" sz="2400" b="1" i="1" dirty="0"/>
              <a:t>pumps</a:t>
            </a:r>
            <a:r>
              <a:rPr lang="en-US" sz="2400" b="1" dirty="0"/>
              <a:t> vs heat </a:t>
            </a:r>
            <a:r>
              <a:rPr lang="en-US" sz="2400" b="1" i="1" dirty="0"/>
              <a:t>engines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BCE75-1244-7297-DB4C-804ABF99A96E}"/>
              </a:ext>
            </a:extLst>
          </p:cNvPr>
          <p:cNvSpPr txBox="1"/>
          <p:nvPr/>
        </p:nvSpPr>
        <p:spPr>
          <a:xfrm>
            <a:off x="7059407" y="6396829"/>
            <a:ext cx="4260548" cy="461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www.thermal-engineering.org</a:t>
            </a:r>
            <a:r>
              <a:rPr lang="en-US" sz="1200" dirty="0"/>
              <a:t>/what-is-coefficient-of-performance-cop-heat-pump-definition/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034EF-E4C7-2099-72E8-CEA2D95E9150}"/>
              </a:ext>
            </a:extLst>
          </p:cNvPr>
          <p:cNvSpPr txBox="1"/>
          <p:nvPr/>
        </p:nvSpPr>
        <p:spPr>
          <a:xfrm>
            <a:off x="7969075" y="1297937"/>
            <a:ext cx="3133166" cy="95410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Your home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55038-F756-59B4-904F-7CB223CDD393}"/>
              </a:ext>
            </a:extLst>
          </p:cNvPr>
          <p:cNvSpPr txBox="1"/>
          <p:nvPr/>
        </p:nvSpPr>
        <p:spPr>
          <a:xfrm>
            <a:off x="7969075" y="5367407"/>
            <a:ext cx="3133166" cy="95410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Outside, on a winter day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8AF0F-FCE7-DE61-45D5-2EA90AA17D1F}"/>
              </a:ext>
            </a:extLst>
          </p:cNvPr>
          <p:cNvSpPr txBox="1"/>
          <p:nvPr/>
        </p:nvSpPr>
        <p:spPr>
          <a:xfrm>
            <a:off x="6610661" y="131632"/>
            <a:ext cx="4868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heat pump</a:t>
            </a:r>
            <a:r>
              <a:rPr lang="en-US" sz="2400" dirty="0"/>
              <a:t>’s job is to use work (electricity) to move heat from a cold place to a warm place.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369365-29BA-8298-A8C4-C5EABEDA0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89" y="1077356"/>
            <a:ext cx="5201573" cy="52887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59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9645D0D-B21D-599B-9DEC-FBEED084BF88}"/>
              </a:ext>
            </a:extLst>
          </p:cNvPr>
          <p:cNvGrpSpPr/>
          <p:nvPr/>
        </p:nvGrpSpPr>
        <p:grpSpPr>
          <a:xfrm>
            <a:off x="6487312" y="1394505"/>
            <a:ext cx="5057425" cy="4851695"/>
            <a:chOff x="6487312" y="1394505"/>
            <a:chExt cx="5057425" cy="485169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C45481-0983-EDB6-F2E0-CD8EC5CEA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9765" y="1394505"/>
              <a:ext cx="4324972" cy="48516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A4ACD9-BEC5-0FC7-122A-8876CBF17921}"/>
                </a:ext>
              </a:extLst>
            </p:cNvPr>
            <p:cNvSpPr txBox="1"/>
            <p:nvPr/>
          </p:nvSpPr>
          <p:spPr>
            <a:xfrm>
              <a:off x="6487312" y="3429000"/>
              <a:ext cx="1186667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000" dirty="0"/>
                <a:t>|</a:t>
              </a:r>
              <a:r>
                <a:rPr lang="en-US" sz="3000" i="1" dirty="0" err="1"/>
                <a:t>w</a:t>
              </a:r>
              <a:r>
                <a:rPr lang="en-US" sz="3000" i="1" baseline="-25000" dirty="0" err="1"/>
                <a:t>tot</a:t>
              </a:r>
              <a:r>
                <a:rPr lang="en-US" sz="3000" dirty="0"/>
                <a:t>|</a:t>
              </a:r>
              <a:endParaRPr lang="en-US" sz="3000" i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54997" y="510473"/>
                <a:ext cx="6701077" cy="2264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Notice from this figure that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ought to be greater than 1. </a:t>
                </a:r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97" y="510473"/>
                <a:ext cx="6701077" cy="2264594"/>
              </a:xfrm>
              <a:prstGeom prst="rect">
                <a:avLst/>
              </a:prstGeom>
              <a:blipFill>
                <a:blip r:embed="rId3"/>
                <a:stretch>
                  <a:fillRect l="-1515" t="-2235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5DBCE75-1244-7297-DB4C-804ABF99A96E}"/>
              </a:ext>
            </a:extLst>
          </p:cNvPr>
          <p:cNvSpPr txBox="1"/>
          <p:nvPr/>
        </p:nvSpPr>
        <p:spPr>
          <a:xfrm>
            <a:off x="7059407" y="6396829"/>
            <a:ext cx="4260548" cy="461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www.thermal-engineering.org</a:t>
            </a:r>
            <a:r>
              <a:rPr lang="en-US" sz="1200" dirty="0"/>
              <a:t>/what-is-coefficient-of-performance-cop-heat-pump-definition/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034EF-E4C7-2099-72E8-CEA2D95E9150}"/>
              </a:ext>
            </a:extLst>
          </p:cNvPr>
          <p:cNvSpPr txBox="1"/>
          <p:nvPr/>
        </p:nvSpPr>
        <p:spPr>
          <a:xfrm>
            <a:off x="7969075" y="1297937"/>
            <a:ext cx="3133166" cy="95410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Your home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55038-F756-59B4-904F-7CB223CDD393}"/>
              </a:ext>
            </a:extLst>
          </p:cNvPr>
          <p:cNvSpPr txBox="1"/>
          <p:nvPr/>
        </p:nvSpPr>
        <p:spPr>
          <a:xfrm>
            <a:off x="7969075" y="5367407"/>
            <a:ext cx="3133166" cy="954107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sz="2000" dirty="0"/>
              <a:t>Outside, on a winter day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8AF0F-FCE7-DE61-45D5-2EA90AA17D1F}"/>
              </a:ext>
            </a:extLst>
          </p:cNvPr>
          <p:cNvSpPr txBox="1"/>
          <p:nvPr/>
        </p:nvSpPr>
        <p:spPr>
          <a:xfrm>
            <a:off x="6856074" y="316311"/>
            <a:ext cx="4868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Here we’re using a heat pump to warm your house on a cold day.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39E256-F9C0-3E07-0EBB-9A373035180D}"/>
              </a:ext>
            </a:extLst>
          </p:cNvPr>
          <p:cNvSpPr txBox="1"/>
          <p:nvPr/>
        </p:nvSpPr>
        <p:spPr>
          <a:xfrm>
            <a:off x="-1" y="0"/>
            <a:ext cx="633135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 pumps when trying to heat your house</a:t>
            </a:r>
          </a:p>
        </p:txBody>
      </p:sp>
    </p:spTree>
    <p:extLst>
      <p:ext uri="{BB962C8B-B14F-4D97-AF65-F5344CB8AC3E}">
        <p14:creationId xmlns:p14="http://schemas.microsoft.com/office/powerpoint/2010/main" val="83629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54997" y="510473"/>
                <a:ext cx="6701077" cy="4496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Notice from this figure that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ought to be greater than 1. In fact, there’s a theoretical maximum: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which is definitely bigger than 1.</a:t>
                </a:r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97" y="510473"/>
                <a:ext cx="6701077" cy="4496167"/>
              </a:xfrm>
              <a:prstGeom prst="rect">
                <a:avLst/>
              </a:prstGeom>
              <a:blipFill>
                <a:blip r:embed="rId2"/>
                <a:stretch>
                  <a:fillRect l="-1515" t="-1127" b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A012A2A-1588-9062-E427-474F2CA29CAA}"/>
              </a:ext>
            </a:extLst>
          </p:cNvPr>
          <p:cNvGrpSpPr/>
          <p:nvPr/>
        </p:nvGrpSpPr>
        <p:grpSpPr>
          <a:xfrm>
            <a:off x="6487312" y="316311"/>
            <a:ext cx="5237011" cy="6541689"/>
            <a:chOff x="6487312" y="316311"/>
            <a:chExt cx="5237011" cy="654168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9645D0D-B21D-599B-9DEC-FBEED084BF88}"/>
                </a:ext>
              </a:extLst>
            </p:cNvPr>
            <p:cNvGrpSpPr/>
            <p:nvPr/>
          </p:nvGrpSpPr>
          <p:grpSpPr>
            <a:xfrm>
              <a:off x="6487312" y="1394505"/>
              <a:ext cx="5057425" cy="4851695"/>
              <a:chOff x="6487312" y="1394505"/>
              <a:chExt cx="5057425" cy="4851695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79C45481-0983-EDB6-F2E0-CD8EC5CEAC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9765" y="1394505"/>
                <a:ext cx="4324972" cy="48516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A4ACD9-BEC5-0FC7-122A-8876CBF17921}"/>
                  </a:ext>
                </a:extLst>
              </p:cNvPr>
              <p:cNvSpPr txBox="1"/>
              <p:nvPr/>
            </p:nvSpPr>
            <p:spPr>
              <a:xfrm>
                <a:off x="6487312" y="3429000"/>
                <a:ext cx="1186667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|</a:t>
                </a:r>
                <a:r>
                  <a:rPr lang="en-US" sz="3000" i="1" dirty="0" err="1"/>
                  <a:t>w</a:t>
                </a:r>
                <a:r>
                  <a:rPr lang="en-US" sz="3000" i="1" baseline="-25000" dirty="0" err="1"/>
                  <a:t>tot</a:t>
                </a:r>
                <a:r>
                  <a:rPr lang="en-US" sz="3000" dirty="0"/>
                  <a:t>|</a:t>
                </a:r>
                <a:endParaRPr lang="en-US" sz="3000" i="1" dirty="0"/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5DBCE75-1244-7297-DB4C-804ABF99A96E}"/>
                </a:ext>
              </a:extLst>
            </p:cNvPr>
            <p:cNvSpPr txBox="1"/>
            <p:nvPr/>
          </p:nvSpPr>
          <p:spPr>
            <a:xfrm>
              <a:off x="7059407" y="6396829"/>
              <a:ext cx="4260548" cy="4611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https://</a:t>
              </a:r>
              <a:r>
                <a:rPr lang="en-US" sz="1200" dirty="0" err="1"/>
                <a:t>www.thermal-engineering.org</a:t>
              </a:r>
              <a:r>
                <a:rPr lang="en-US" sz="1200" dirty="0"/>
                <a:t>/what-is-coefficient-of-performance-cop-heat-pump-definition/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8034EF-E4C7-2099-72E8-CEA2D95E9150}"/>
                </a:ext>
              </a:extLst>
            </p:cNvPr>
            <p:cNvSpPr txBox="1"/>
            <p:nvPr/>
          </p:nvSpPr>
          <p:spPr>
            <a:xfrm>
              <a:off x="7969075" y="1297937"/>
              <a:ext cx="3133166" cy="954107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 sz="2000" dirty="0"/>
                <a:t>Your home</a:t>
              </a:r>
            </a:p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1B55038-F756-59B4-904F-7CB223CDD393}"/>
                </a:ext>
              </a:extLst>
            </p:cNvPr>
            <p:cNvSpPr txBox="1"/>
            <p:nvPr/>
          </p:nvSpPr>
          <p:spPr>
            <a:xfrm>
              <a:off x="7969075" y="5367407"/>
              <a:ext cx="3133166" cy="954107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 sz="2000" dirty="0"/>
                <a:t>Outside, on a winter day</a:t>
              </a:r>
            </a:p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B8AF0F-FCE7-DE61-45D5-2EA90AA17D1F}"/>
                </a:ext>
              </a:extLst>
            </p:cNvPr>
            <p:cNvSpPr txBox="1"/>
            <p:nvPr/>
          </p:nvSpPr>
          <p:spPr>
            <a:xfrm>
              <a:off x="6856074" y="316311"/>
              <a:ext cx="48682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Here we’re using a heat pump to warm your house on a cold day.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39E256-F9C0-3E07-0EBB-9A373035180D}"/>
              </a:ext>
            </a:extLst>
          </p:cNvPr>
          <p:cNvSpPr txBox="1"/>
          <p:nvPr/>
        </p:nvSpPr>
        <p:spPr>
          <a:xfrm>
            <a:off x="-1" y="0"/>
            <a:ext cx="633135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 pumps when trying to heat your house</a:t>
            </a:r>
          </a:p>
        </p:txBody>
      </p:sp>
    </p:spTree>
    <p:extLst>
      <p:ext uri="{BB962C8B-B14F-4D97-AF65-F5344CB8AC3E}">
        <p14:creationId xmlns:p14="http://schemas.microsoft.com/office/powerpoint/2010/main" val="101355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54997" y="510473"/>
                <a:ext cx="6701077" cy="6298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Notice from this figure that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ought to be greater than 1. In fact, there’s a theoretical maximum: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which is definitely bigger than 1. This morning, outside it was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52℉</m:t>
                    </m:r>
                    <m: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=284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2400" dirty="0"/>
                  <a:t>. Inside we wanted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68</m:t>
                    </m:r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℉=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93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2400" dirty="0"/>
                  <a:t>. So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293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293−284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97" y="510473"/>
                <a:ext cx="6701077" cy="6298006"/>
              </a:xfrm>
              <a:prstGeom prst="rect">
                <a:avLst/>
              </a:prstGeom>
              <a:blipFill>
                <a:blip r:embed="rId2"/>
                <a:stretch>
                  <a:fillRect l="-1515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D39E256-F9C0-3E07-0EBB-9A373035180D}"/>
              </a:ext>
            </a:extLst>
          </p:cNvPr>
          <p:cNvSpPr txBox="1"/>
          <p:nvPr/>
        </p:nvSpPr>
        <p:spPr>
          <a:xfrm>
            <a:off x="-1" y="0"/>
            <a:ext cx="633135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 pumps when trying to heat your house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FA82F8-0108-F04D-44F7-F990758B4E35}"/>
              </a:ext>
            </a:extLst>
          </p:cNvPr>
          <p:cNvGrpSpPr/>
          <p:nvPr/>
        </p:nvGrpSpPr>
        <p:grpSpPr>
          <a:xfrm>
            <a:off x="6487312" y="316311"/>
            <a:ext cx="5237011" cy="6541689"/>
            <a:chOff x="6487312" y="316311"/>
            <a:chExt cx="5237011" cy="654168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6E5434-8CA3-40F8-0597-CF4983CA2F50}"/>
                </a:ext>
              </a:extLst>
            </p:cNvPr>
            <p:cNvGrpSpPr/>
            <p:nvPr/>
          </p:nvGrpSpPr>
          <p:grpSpPr>
            <a:xfrm>
              <a:off x="6487312" y="1394505"/>
              <a:ext cx="5057425" cy="4851695"/>
              <a:chOff x="6487312" y="1394505"/>
              <a:chExt cx="5057425" cy="4851695"/>
            </a:xfrm>
          </p:grpSpPr>
          <p:pic>
            <p:nvPicPr>
              <p:cNvPr id="17" name="Picture 2">
                <a:extLst>
                  <a:ext uri="{FF2B5EF4-FFF2-40B4-BE49-F238E27FC236}">
                    <a16:creationId xmlns:a16="http://schemas.microsoft.com/office/drawing/2014/main" id="{AA760650-BEE3-C17C-D0B5-E00B8D88B7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19765" y="1394505"/>
                <a:ext cx="4324972" cy="48516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67D73B-064A-288B-6498-86A745510B9D}"/>
                  </a:ext>
                </a:extLst>
              </p:cNvPr>
              <p:cNvSpPr txBox="1"/>
              <p:nvPr/>
            </p:nvSpPr>
            <p:spPr>
              <a:xfrm>
                <a:off x="6487312" y="3429000"/>
                <a:ext cx="1186667" cy="55399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|</a:t>
                </a:r>
                <a:r>
                  <a:rPr lang="en-US" sz="3000" i="1" dirty="0" err="1"/>
                  <a:t>w</a:t>
                </a:r>
                <a:r>
                  <a:rPr lang="en-US" sz="3000" i="1" baseline="-25000" dirty="0" err="1"/>
                  <a:t>tot</a:t>
                </a:r>
                <a:r>
                  <a:rPr lang="en-US" sz="3000" dirty="0"/>
                  <a:t>|</a:t>
                </a:r>
                <a:endParaRPr lang="en-US" sz="3000" i="1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4A7459-8879-B326-573C-A81A9253B3F3}"/>
                </a:ext>
              </a:extLst>
            </p:cNvPr>
            <p:cNvSpPr txBox="1"/>
            <p:nvPr/>
          </p:nvSpPr>
          <p:spPr>
            <a:xfrm>
              <a:off x="7059407" y="6396829"/>
              <a:ext cx="4260548" cy="4611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https://</a:t>
              </a:r>
              <a:r>
                <a:rPr lang="en-US" sz="1200" dirty="0" err="1"/>
                <a:t>www.thermal-engineering.org</a:t>
              </a:r>
              <a:r>
                <a:rPr lang="en-US" sz="1200" dirty="0"/>
                <a:t>/what-is-coefficient-of-performance-cop-heat-pump-definition/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7D48E6-0F03-F707-084F-07014F244E7C}"/>
                </a:ext>
              </a:extLst>
            </p:cNvPr>
            <p:cNvSpPr txBox="1"/>
            <p:nvPr/>
          </p:nvSpPr>
          <p:spPr>
            <a:xfrm>
              <a:off x="7969075" y="1297937"/>
              <a:ext cx="3133166" cy="954107"/>
            </a:xfrm>
            <a:prstGeom prst="rect">
              <a:avLst/>
            </a:prstGeom>
            <a:solidFill>
              <a:srgbClr val="C00000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 sz="2000" dirty="0"/>
                <a:t>Your home</a:t>
              </a:r>
            </a:p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40555F-CCD4-5C14-6819-D0754D09132E}"/>
                </a:ext>
              </a:extLst>
            </p:cNvPr>
            <p:cNvSpPr txBox="1"/>
            <p:nvPr/>
          </p:nvSpPr>
          <p:spPr>
            <a:xfrm>
              <a:off x="7969075" y="5367407"/>
              <a:ext cx="3133166" cy="954107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dirty="0"/>
            </a:p>
            <a:p>
              <a:pPr algn="ctr"/>
              <a:r>
                <a:rPr lang="en-US" sz="2000" dirty="0"/>
                <a:t>Outside, on a winter day</a:t>
              </a:r>
            </a:p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9E1D8F4-E950-D8B0-7606-AA6E0CD54CF7}"/>
                </a:ext>
              </a:extLst>
            </p:cNvPr>
            <p:cNvSpPr txBox="1"/>
            <p:nvPr/>
          </p:nvSpPr>
          <p:spPr>
            <a:xfrm>
              <a:off x="6856074" y="316311"/>
              <a:ext cx="48682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Here we’re using a heat pump to warm your house on a cold day.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0044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/>
              <p:nvPr/>
            </p:nvSpPr>
            <p:spPr>
              <a:xfrm>
                <a:off x="154997" y="510473"/>
                <a:ext cx="6701077" cy="6298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Notice from this figure that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400" b="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h𝑜𝑡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ought to be greater than 1. In fact, there’s a theoretical maximum: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r>
                  <a:rPr lang="en-US" sz="2400" dirty="0"/>
                  <a:t>which is definitely bigger than 1. This morning, outside it was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52℉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=284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2400" dirty="0"/>
                  <a:t>. Inside we wanted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68℉=</m:t>
                    </m:r>
                    <m: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293 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2400" dirty="0"/>
                  <a:t>. So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𝐶𝑂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h𝑒𝑎𝑡𝑖𝑛𝑔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293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293−284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𝟑𝟐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356847F-947E-854E-8A35-397154A4F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97" y="510473"/>
                <a:ext cx="6701077" cy="6298006"/>
              </a:xfrm>
              <a:prstGeom prst="rect">
                <a:avLst/>
              </a:prstGeom>
              <a:blipFill>
                <a:blip r:embed="rId2"/>
                <a:stretch>
                  <a:fillRect l="-1515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D39E256-F9C0-3E07-0EBB-9A373035180D}"/>
              </a:ext>
            </a:extLst>
          </p:cNvPr>
          <p:cNvSpPr txBox="1"/>
          <p:nvPr/>
        </p:nvSpPr>
        <p:spPr>
          <a:xfrm>
            <a:off x="-1" y="0"/>
            <a:ext cx="6331353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Heat pumps when trying to heat your house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9DD08-28D3-5428-223F-72A33DF04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384" y="461665"/>
            <a:ext cx="4618300" cy="46956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7CF757-2FD7-20B3-892E-42CDB60433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3156"/>
          <a:stretch/>
        </p:blipFill>
        <p:spPr>
          <a:xfrm>
            <a:off x="6956384" y="5461335"/>
            <a:ext cx="4943059" cy="7853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8B9687-A994-2302-F5D6-431BC12C2E2A}"/>
              </a:ext>
            </a:extLst>
          </p:cNvPr>
          <p:cNvSpPr/>
          <p:nvPr/>
        </p:nvSpPr>
        <p:spPr>
          <a:xfrm>
            <a:off x="7072132" y="5717894"/>
            <a:ext cx="3206187" cy="277792"/>
          </a:xfrm>
          <a:prstGeom prst="rect">
            <a:avLst/>
          </a:prstGeom>
          <a:solidFill>
            <a:schemeClr val="accent1">
              <a:alpha val="4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6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A994E7-54F6-D9F7-DDB3-741047B03D46}"/>
              </a:ext>
            </a:extLst>
          </p:cNvPr>
          <p:cNvSpPr txBox="1"/>
          <p:nvPr/>
        </p:nvSpPr>
        <p:spPr>
          <a:xfrm>
            <a:off x="3330" y="1649"/>
            <a:ext cx="12188669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Adding efficiency and “coefficient of performance” (COP) to our list of equations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AC407B-4173-064A-A57D-753E94962D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33"/>
          <a:stretch/>
        </p:blipFill>
        <p:spPr>
          <a:xfrm>
            <a:off x="5573317" y="598311"/>
            <a:ext cx="5621905" cy="6103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12A4F7-04C3-52BD-B82E-849BA6FD4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142" y="1381543"/>
            <a:ext cx="2211080" cy="3871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B55A16-CAE6-06A4-3EAB-65D1FC03F865}"/>
                  </a:ext>
                </a:extLst>
              </p:cNvPr>
              <p:cNvSpPr txBox="1"/>
              <p:nvPr/>
            </p:nvSpPr>
            <p:spPr>
              <a:xfrm>
                <a:off x="255904" y="1181598"/>
                <a:ext cx="4999003" cy="5306068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Heat engine</a:t>
                </a:r>
                <a:r>
                  <a:rPr lang="en-US" sz="2400" dirty="0"/>
                  <a:t>:</a:t>
                </a:r>
                <a:endParaRPr lang="en-US" sz="2400" b="1" i="1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𝒐𝒃𝒔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𝒉𝒐𝒕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≤=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endParaRPr lang="en-US" sz="2400" b="1" dirty="0">
                  <a:solidFill>
                    <a:srgbClr val="7030A0"/>
                  </a:solidFill>
                </a:endParaRPr>
              </a:p>
              <a:p>
                <a:r>
                  <a:rPr lang="en-US" sz="2400" b="1" dirty="0"/>
                  <a:t>Heat pump </a:t>
                </a:r>
                <a:r>
                  <a:rPr lang="en-US" sz="2400" dirty="0"/>
                  <a:t>(when heating your house):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𝒐𝒃𝒔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𝒉𝒐𝒕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𝑯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:endParaRPr lang="en-US" sz="2400" b="1" dirty="0">
                  <a:solidFill>
                    <a:srgbClr val="7030A0"/>
                  </a:solidFill>
                </a:endParaRPr>
              </a:p>
              <a:p>
                <a:r>
                  <a:rPr lang="en-US" sz="2400" b="1" dirty="0"/>
                  <a:t>Heat pump </a:t>
                </a:r>
                <a:r>
                  <a:rPr lang="en-US" sz="2400" dirty="0"/>
                  <a:t>(when cooling your house like AC):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𝑪𝑶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𝒐𝒃𝒔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𝒄𝒐𝒍𝒅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24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𝑯</m:t>
                                  </m:r>
                                </m:sub>
                              </m:sSub>
                              <m:r>
                                <a:rPr lang="en-US" sz="24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 dirty="0">
                  <a:solidFill>
                    <a:srgbClr val="7030A0"/>
                  </a:solidFill>
                </a:endParaRPr>
              </a:p>
              <a:p>
                <a:pPr/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B55A16-CAE6-06A4-3EAB-65D1FC03F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04" y="1181598"/>
                <a:ext cx="4999003" cy="5306068"/>
              </a:xfrm>
              <a:prstGeom prst="rect">
                <a:avLst/>
              </a:prstGeom>
              <a:blipFill>
                <a:blip r:embed="rId4"/>
                <a:stretch>
                  <a:fillRect l="-1768" t="-71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6850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714</Words>
  <Application>Microsoft Macintosh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29</cp:revision>
  <cp:lastPrinted>2024-10-10T15:07:55Z</cp:lastPrinted>
  <dcterms:created xsi:type="dcterms:W3CDTF">2021-10-08T15:12:45Z</dcterms:created>
  <dcterms:modified xsi:type="dcterms:W3CDTF">2025-10-10T15:22:53Z</dcterms:modified>
</cp:coreProperties>
</file>