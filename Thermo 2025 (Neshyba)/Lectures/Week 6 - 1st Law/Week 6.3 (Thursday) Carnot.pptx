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2"/>
    <p:sldId id="281" r:id="rId3"/>
    <p:sldId id="282" r:id="rId4"/>
    <p:sldId id="283" r:id="rId5"/>
    <p:sldId id="284" r:id="rId6"/>
    <p:sldId id="258" r:id="rId7"/>
    <p:sldId id="326" r:id="rId8"/>
    <p:sldId id="318" r:id="rId9"/>
    <p:sldId id="327" r:id="rId10"/>
    <p:sldId id="28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8"/>
    <p:restoredTop sz="93114"/>
  </p:normalViewPr>
  <p:slideViewPr>
    <p:cSldViewPr snapToGrid="0" snapToObjects="1">
      <p:cViewPr>
        <p:scale>
          <a:sx n="98" d="100"/>
          <a:sy n="98" d="100"/>
        </p:scale>
        <p:origin x="93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7EAC5-8408-0C43-AB39-DDB88E48C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2FC6F-BB5C-0A48-A8A0-D6FD94118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639F2-B6FF-9E42-9A5B-4D6C301AA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0FD46-BC7C-2540-A352-8B235E7C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06FCC-A17E-2F4B-9816-171EF87C1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9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28771-0FCB-1849-97C5-15DEF9166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7ACCB-6D65-444B-90BF-E52B5E1EA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A67CE-7845-124E-8006-FDE39738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CF6F0-F3EC-0740-8E59-8E07B86C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C5EE6-B37C-A14F-9F8D-626A1A6B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12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254AE-1DF0-0A45-A49E-054838A28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6473B-B4CD-F146-8D7B-136AC5CC4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FAE9E-3458-2249-A417-D16310E11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96904-C1CA-B845-9A35-0C669BD41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6D05C-2B9E-7540-B264-B6CA1BC1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1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07C57-90BD-3241-814F-BB89C538F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E7678-2512-5641-AAD6-87CA9EAC79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B9819-4193-9A4B-B2CA-1DC70FD8C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D32BF-9CE8-E845-A024-E84DFEE43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5A64C-77F1-B348-921B-3C7672BD9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322C7-413E-A747-B152-9B86ACA0A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3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3E9EC-4BEF-7943-B721-5A64C2F76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F98B3-8552-CB40-A76E-CF7B590B8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17982-ABA9-ED49-9BDE-FD5F3AD78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A983A5-59AA-3D46-A493-E19EC5D8FC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3E1B4F-A726-1943-9A11-A6AB19F609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64D71D-9D68-0042-95F4-00A97F3BE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663355-33F6-4E49-BECA-36338EAE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B71BAE-3E2E-7A41-B67B-8360766A3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26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CA99-3127-D041-8B28-9BB8EAA9D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2A1FC8-A284-574E-8B44-F8FCBD439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5A7701-E120-C546-B253-E793ACE95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7C63F5-7D25-B14B-9F02-39518AB4B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2FA9B1-EF5E-744E-BA01-D757DF7B1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67D91-975F-7C4C-9155-B4ECCC6A0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1B2B3-E388-4644-9D61-330A5CEF1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5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DCD4-5E72-E145-9D54-3E9A77B96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30BAA-5BAA-C744-A4B4-6AE5693CA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8FF3E-91C8-FC4A-9F2B-4DC79F640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90D91-29EC-EF47-A7AF-62E4EE3B0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EB4AA-A905-BA49-AD8A-4CA03B06A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F4BAF-2D8E-2344-BA91-FCE41297D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38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BA47-DE99-164D-B67E-8812CABF9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7B0BA5-9A7E-834F-92BD-D9376C9BF2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58FB2-5936-644B-A189-5D66795A5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76BAB-FFAA-B14A-9889-2DAE14234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1C1E7-38A2-1A4E-B910-287FF6291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9FCC8-8F6E-3B4A-ADD7-73B94A355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069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F7B64-C7B8-5348-85F3-645861743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B75B7-DB58-7844-86B3-23F0FBA14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4E74D-ABFD-9546-9FF5-9E87A8D2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21D09-8997-0145-A869-084126E8B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EDBB6-BAEF-5246-B40E-D650F33D7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645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313836-E09C-8A45-B943-CED54C124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5C2D9A-B163-3744-9195-6B9DA44D3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03F41-9424-2F44-9DA5-3494AA52B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B814-64FE-A046-86EF-08998BAE6296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4259C-07E5-104E-A20C-4F7767DB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06BD5-2A9C-2A4B-8707-1A8D4AB1D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997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EA524F-5BC8-F049-914A-A2995F1DE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61C70-C5C8-5248-B978-45E99089D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4A288-F7FC-0840-AD58-2BD8253A8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0BB814-64FE-A046-86EF-08998BAE6296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0ADD0-8084-3D4D-B4F5-A2C2941F4D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ED72A-71AB-744A-AB70-74F9513FC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9767F-F7F8-0444-8FF0-8E88AC8DA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76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40.png"/><Relationship Id="rId7" Type="http://schemas.openxmlformats.org/officeDocument/2006/relationships/image" Target="../media/image8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120.png"/><Relationship Id="rId5" Type="http://schemas.openxmlformats.org/officeDocument/2006/relationships/image" Target="../media/image64.png"/><Relationship Id="rId10" Type="http://schemas.openxmlformats.org/officeDocument/2006/relationships/image" Target="../media/image110.png"/><Relationship Id="rId4" Type="http://schemas.openxmlformats.org/officeDocument/2006/relationships/image" Target="../media/image50.png"/><Relationship Id="rId9" Type="http://schemas.openxmlformats.org/officeDocument/2006/relationships/image" Target="../media/image10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2.png"/><Relationship Id="rId7" Type="http://schemas.openxmlformats.org/officeDocument/2006/relationships/image" Target="../media/image6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130.png"/><Relationship Id="rId5" Type="http://schemas.openxmlformats.org/officeDocument/2006/relationships/image" Target="../media/image53.png"/><Relationship Id="rId10" Type="http://schemas.openxmlformats.org/officeDocument/2006/relationships/image" Target="../media/image63.png"/><Relationship Id="rId4" Type="http://schemas.openxmlformats.org/officeDocument/2006/relationships/image" Target="../media/image330.png"/><Relationship Id="rId9" Type="http://schemas.openxmlformats.org/officeDocument/2006/relationships/image" Target="../media/image6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0" y="0"/>
            <a:ext cx="115271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Thermal power generators (in Thermo, “heat engines”)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E1D17C-A4A1-2141-8E4C-F08AB04C7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747" y="884237"/>
            <a:ext cx="10268855" cy="533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338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356847F-947E-854E-8A35-397154A4F8BA}"/>
                  </a:ext>
                </a:extLst>
              </p:cNvPr>
              <p:cNvSpPr txBox="1"/>
              <p:nvPr/>
            </p:nvSpPr>
            <p:spPr>
              <a:xfrm>
                <a:off x="175347" y="1839416"/>
                <a:ext cx="5621749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As drawn, this is a </a:t>
                </a:r>
                <a:r>
                  <a:rPr lang="en-US" sz="2400" i="1" dirty="0"/>
                  <a:t>Heat Engine</a:t>
                </a:r>
                <a:r>
                  <a:rPr lang="en-US" sz="2400" dirty="0"/>
                  <a:t>, meaning system should do work on the surroundings (making electricity, eventually). So we expect </a:t>
                </a:r>
              </a:p>
              <a:p>
                <a:endParaRPr lang="en-US" sz="24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  <a:p>
                <a:endParaRPr lang="en-US" sz="2400" dirty="0"/>
              </a:p>
              <a:p>
                <a:r>
                  <a:rPr lang="en-US" sz="2400" dirty="0"/>
                  <a:t>Each leg, the work is the area under the curve, remembering that expansions have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400" dirty="0"/>
                  <a:t> and compressions have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356847F-947E-854E-8A35-397154A4F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347" y="1839416"/>
                <a:ext cx="5621749" cy="3785652"/>
              </a:xfrm>
              <a:prstGeom prst="rect">
                <a:avLst/>
              </a:prstGeom>
              <a:blipFill>
                <a:blip r:embed="rId2"/>
                <a:stretch>
                  <a:fillRect l="-1577" t="-1000" r="-2027"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A3209F91-7909-2F4E-BC9E-DE9B9FFF88E7}"/>
              </a:ext>
            </a:extLst>
          </p:cNvPr>
          <p:cNvGrpSpPr/>
          <p:nvPr/>
        </p:nvGrpSpPr>
        <p:grpSpPr>
          <a:xfrm>
            <a:off x="5797096" y="1393944"/>
            <a:ext cx="6120984" cy="4760765"/>
            <a:chOff x="5976976" y="1318994"/>
            <a:chExt cx="6120984" cy="476076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A05CDFCA-CE64-9941-90B6-115BBF64E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76976" y="1318994"/>
              <a:ext cx="6120984" cy="476076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BD3A96C2-9ED2-8F40-8046-5E66D6B3F6E6}"/>
                    </a:ext>
                  </a:extLst>
                </p:cNvPr>
                <p:cNvSpPr/>
                <p:nvPr/>
              </p:nvSpPr>
              <p:spPr>
                <a:xfrm>
                  <a:off x="7760162" y="2174658"/>
                  <a:ext cx="606513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BD3A96C2-9ED2-8F40-8046-5E66D6B3F6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0162" y="2174658"/>
                  <a:ext cx="606513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E4AA3AFA-4A41-0A46-AD00-6F7B521A1B81}"/>
                    </a:ext>
                  </a:extLst>
                </p:cNvPr>
                <p:cNvSpPr/>
                <p:nvPr/>
              </p:nvSpPr>
              <p:spPr>
                <a:xfrm>
                  <a:off x="9279212" y="3808538"/>
                  <a:ext cx="61363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E4AA3AFA-4A41-0A46-AD00-6F7B521A1B8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9212" y="3808538"/>
                  <a:ext cx="613630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8ADDD587-EF5A-5C4E-8F10-372800BB1D36}"/>
                    </a:ext>
                  </a:extLst>
                </p:cNvPr>
                <p:cNvSpPr/>
                <p:nvPr/>
              </p:nvSpPr>
              <p:spPr>
                <a:xfrm>
                  <a:off x="9196388" y="4711065"/>
                  <a:ext cx="61363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8ADDD587-EF5A-5C4E-8F10-372800BB1D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6388" y="4711065"/>
                  <a:ext cx="613630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F04786C1-DF8D-924B-8C9C-382497A2E20F}"/>
                    </a:ext>
                  </a:extLst>
                </p:cNvPr>
                <p:cNvSpPr/>
                <p:nvPr/>
              </p:nvSpPr>
              <p:spPr>
                <a:xfrm>
                  <a:off x="6860718" y="2899558"/>
                  <a:ext cx="60426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F04786C1-DF8D-924B-8C9C-382497A2E2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0718" y="2899558"/>
                  <a:ext cx="604268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BA16ADA-CE02-6315-9DDA-E32689BDB7C3}"/>
              </a:ext>
            </a:extLst>
          </p:cNvPr>
          <p:cNvSpPr txBox="1"/>
          <p:nvPr/>
        </p:nvSpPr>
        <p:spPr>
          <a:xfrm>
            <a:off x="0" y="0"/>
            <a:ext cx="115271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Thermal power generators (in Thermo, “heat engines”)</a:t>
            </a:r>
          </a:p>
        </p:txBody>
      </p:sp>
    </p:spTree>
    <p:extLst>
      <p:ext uri="{BB962C8B-B14F-4D97-AF65-F5344CB8AC3E}">
        <p14:creationId xmlns:p14="http://schemas.microsoft.com/office/powerpoint/2010/main" val="2858481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51">
            <a:extLst>
              <a:ext uri="{FF2B5EF4-FFF2-40B4-BE49-F238E27FC236}">
                <a16:creationId xmlns:a16="http://schemas.microsoft.com/office/drawing/2014/main" id="{B356847F-947E-854E-8A35-397154A4F8BA}"/>
              </a:ext>
            </a:extLst>
          </p:cNvPr>
          <p:cNvSpPr txBox="1"/>
          <p:nvPr/>
        </p:nvSpPr>
        <p:spPr>
          <a:xfrm>
            <a:off x="175347" y="1839416"/>
            <a:ext cx="56217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cost of running our power generator/heat engine is the fuel required to pour heat into our working gas during the </a:t>
            </a:r>
            <a:r>
              <a:rPr lang="en-US" sz="2400" b="1" dirty="0"/>
              <a:t>hot</a:t>
            </a:r>
            <a:r>
              <a:rPr lang="en-US" sz="2400" dirty="0"/>
              <a:t> isothermal expansion leg. 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3209F91-7909-2F4E-BC9E-DE9B9FFF88E7}"/>
              </a:ext>
            </a:extLst>
          </p:cNvPr>
          <p:cNvGrpSpPr/>
          <p:nvPr/>
        </p:nvGrpSpPr>
        <p:grpSpPr>
          <a:xfrm>
            <a:off x="5797096" y="1393944"/>
            <a:ext cx="6120984" cy="4760765"/>
            <a:chOff x="5976976" y="1318994"/>
            <a:chExt cx="6120984" cy="476076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A05CDFCA-CE64-9941-90B6-115BBF64E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76976" y="1318994"/>
              <a:ext cx="6120984" cy="476076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BD3A96C2-9ED2-8F40-8046-5E66D6B3F6E6}"/>
                    </a:ext>
                  </a:extLst>
                </p:cNvPr>
                <p:cNvSpPr/>
                <p:nvPr/>
              </p:nvSpPr>
              <p:spPr>
                <a:xfrm>
                  <a:off x="7760162" y="2174658"/>
                  <a:ext cx="548163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BD3A96C2-9ED2-8F40-8046-5E66D6B3F6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0162" y="2174658"/>
                  <a:ext cx="548163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81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E4AA3AFA-4A41-0A46-AD00-6F7B521A1B81}"/>
                    </a:ext>
                  </a:extLst>
                </p:cNvPr>
                <p:cNvSpPr/>
                <p:nvPr/>
              </p:nvSpPr>
              <p:spPr>
                <a:xfrm>
                  <a:off x="9279212" y="3808538"/>
                  <a:ext cx="1125373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E4AA3AFA-4A41-0A46-AD00-6F7B521A1B8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9212" y="3808538"/>
                  <a:ext cx="1125373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7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8ADDD587-EF5A-5C4E-8F10-372800BB1D36}"/>
                    </a:ext>
                  </a:extLst>
                </p:cNvPr>
                <p:cNvSpPr/>
                <p:nvPr/>
              </p:nvSpPr>
              <p:spPr>
                <a:xfrm>
                  <a:off x="9196388" y="4711065"/>
                  <a:ext cx="55528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8ADDD587-EF5A-5C4E-8F10-372800BB1D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6388" y="4711065"/>
                  <a:ext cx="555280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7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F04786C1-DF8D-924B-8C9C-382497A2E20F}"/>
                    </a:ext>
                  </a:extLst>
                </p:cNvPr>
                <p:cNvSpPr/>
                <p:nvPr/>
              </p:nvSpPr>
              <p:spPr>
                <a:xfrm>
                  <a:off x="6634789" y="3261154"/>
                  <a:ext cx="1125373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F04786C1-DF8D-924B-8C9C-382497A2E2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4789" y="3261154"/>
                  <a:ext cx="1125373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7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894FF9-4B81-BEC8-8ACA-79FA1FEBC1C6}"/>
              </a:ext>
            </a:extLst>
          </p:cNvPr>
          <p:cNvSpPr txBox="1"/>
          <p:nvPr/>
        </p:nvSpPr>
        <p:spPr>
          <a:xfrm>
            <a:off x="0" y="0"/>
            <a:ext cx="115271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Thermal power generators (in Thermo, “heat engines”)</a:t>
            </a:r>
          </a:p>
        </p:txBody>
      </p:sp>
    </p:spTree>
    <p:extLst>
      <p:ext uri="{BB962C8B-B14F-4D97-AF65-F5344CB8AC3E}">
        <p14:creationId xmlns:p14="http://schemas.microsoft.com/office/powerpoint/2010/main" val="2699643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356847F-947E-854E-8A35-397154A4F8BA}"/>
                  </a:ext>
                </a:extLst>
              </p:cNvPr>
              <p:cNvSpPr txBox="1"/>
              <p:nvPr/>
            </p:nvSpPr>
            <p:spPr>
              <a:xfrm>
                <a:off x="175348" y="1839416"/>
                <a:ext cx="496506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observed efficiency is defined as 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𝒐𝒃𝒔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400" b="1" dirty="0">
                              <a:solidFill>
                                <a:srgbClr val="7030A0"/>
                              </a:solidFill>
                            </a:rPr>
                            <m:t> =</m:t>
                          </m:r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𝒕𝒐𝒕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𝒉𝒐𝒕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356847F-947E-854E-8A35-397154A4F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348" y="1839416"/>
                <a:ext cx="4965064" cy="1200329"/>
              </a:xfrm>
              <a:prstGeom prst="rect">
                <a:avLst/>
              </a:prstGeom>
              <a:blipFill>
                <a:blip r:embed="rId2"/>
                <a:stretch>
                  <a:fillRect l="-1786" t="-3125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C3438989-E394-4942-82FD-477478DD2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143" y="420130"/>
            <a:ext cx="6603933" cy="3428271"/>
          </a:xfrm>
          <a:prstGeom prst="rect">
            <a:avLst/>
          </a:prstGeom>
        </p:spPr>
      </p:pic>
      <p:sp>
        <p:nvSpPr>
          <p:cNvPr id="5" name="Frame 4">
            <a:extLst>
              <a:ext uri="{FF2B5EF4-FFF2-40B4-BE49-F238E27FC236}">
                <a16:creationId xmlns:a16="http://schemas.microsoft.com/office/drawing/2014/main" id="{7C796B04-B47F-6C45-A860-7F95FF24F555}"/>
              </a:ext>
            </a:extLst>
          </p:cNvPr>
          <p:cNvSpPr/>
          <p:nvPr/>
        </p:nvSpPr>
        <p:spPr>
          <a:xfrm>
            <a:off x="1198605" y="2409568"/>
            <a:ext cx="2940909" cy="803189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7CC8A1-4ABE-2C4B-BAC4-135EDCBA0BD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127" t="47139" r="46124" b="19832"/>
          <a:stretch/>
        </p:blipFill>
        <p:spPr>
          <a:xfrm>
            <a:off x="7008914" y="4179158"/>
            <a:ext cx="2431648" cy="24895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384CA0-5260-BC16-401F-6FAFC348B051}"/>
              </a:ext>
            </a:extLst>
          </p:cNvPr>
          <p:cNvSpPr txBox="1"/>
          <p:nvPr/>
        </p:nvSpPr>
        <p:spPr>
          <a:xfrm>
            <a:off x="0" y="0"/>
            <a:ext cx="115271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Thermal power generators (in Thermo, “heat engines”)</a:t>
            </a:r>
          </a:p>
        </p:txBody>
      </p:sp>
    </p:spTree>
    <p:extLst>
      <p:ext uri="{BB962C8B-B14F-4D97-AF65-F5344CB8AC3E}">
        <p14:creationId xmlns:p14="http://schemas.microsoft.com/office/powerpoint/2010/main" val="1188898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356847F-947E-854E-8A35-397154A4F8BA}"/>
                  </a:ext>
                </a:extLst>
              </p:cNvPr>
              <p:cNvSpPr txBox="1"/>
              <p:nvPr/>
            </p:nvSpPr>
            <p:spPr>
              <a:xfrm>
                <a:off x="175347" y="1839416"/>
                <a:ext cx="5621749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theoretical maximum efficiency turns out to be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h𝑜𝑡</m:t>
                        </m:r>
                      </m:sub>
                    </m:sSub>
                  </m:oMath>
                </a14:m>
                <a:r>
                  <a:rPr lang="en-US" sz="2400" dirty="0"/>
                  <a:t>. In other words,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𝑜𝑏𝑠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=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h𝑜𝑡</m:t>
                        </m:r>
                      </m:sub>
                    </m:sSub>
                  </m:oMath>
                </a14:m>
                <a:r>
                  <a:rPr lang="en-US" sz="2400" dirty="0"/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h𝑜𝑡</m:t>
                        </m:r>
                      </m:sub>
                    </m:sSub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𝒐𝒃𝒔</m:t>
                        </m:r>
                      </m:sub>
                    </m:sSub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>
                    <a:solidFill>
                      <a:srgbClr val="7030A0"/>
                    </a:solidFill>
                  </a:rPr>
                  <a:t>&lt;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𝒉𝒐𝒕</m:t>
                        </m:r>
                      </m:sub>
                    </m:sSub>
                  </m:oMath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356847F-947E-854E-8A35-397154A4F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347" y="1839416"/>
                <a:ext cx="5621749" cy="3416320"/>
              </a:xfrm>
              <a:prstGeom prst="rect">
                <a:avLst/>
              </a:prstGeom>
              <a:blipFill>
                <a:blip r:embed="rId2"/>
                <a:stretch>
                  <a:fillRect l="-157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A3209F91-7909-2F4E-BC9E-DE9B9FFF88E7}"/>
              </a:ext>
            </a:extLst>
          </p:cNvPr>
          <p:cNvGrpSpPr/>
          <p:nvPr/>
        </p:nvGrpSpPr>
        <p:grpSpPr>
          <a:xfrm>
            <a:off x="5797096" y="1393944"/>
            <a:ext cx="6120984" cy="4760765"/>
            <a:chOff x="5976976" y="1318994"/>
            <a:chExt cx="6120984" cy="476076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A05CDFCA-CE64-9941-90B6-115BBF64E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76976" y="1318994"/>
              <a:ext cx="6120984" cy="476076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BD3A96C2-9ED2-8F40-8046-5E66D6B3F6E6}"/>
                    </a:ext>
                  </a:extLst>
                </p:cNvPr>
                <p:cNvSpPr/>
                <p:nvPr/>
              </p:nvSpPr>
              <p:spPr>
                <a:xfrm>
                  <a:off x="7760162" y="2174658"/>
                  <a:ext cx="548163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BD3A96C2-9ED2-8F40-8046-5E66D6B3F6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0162" y="2174658"/>
                  <a:ext cx="548163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81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E4AA3AFA-4A41-0A46-AD00-6F7B521A1B81}"/>
                    </a:ext>
                  </a:extLst>
                </p:cNvPr>
                <p:cNvSpPr/>
                <p:nvPr/>
              </p:nvSpPr>
              <p:spPr>
                <a:xfrm>
                  <a:off x="9279212" y="3808538"/>
                  <a:ext cx="1125373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E4AA3AFA-4A41-0A46-AD00-6F7B521A1B8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9212" y="3808538"/>
                  <a:ext cx="1125373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7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8ADDD587-EF5A-5C4E-8F10-372800BB1D36}"/>
                    </a:ext>
                  </a:extLst>
                </p:cNvPr>
                <p:cNvSpPr/>
                <p:nvPr/>
              </p:nvSpPr>
              <p:spPr>
                <a:xfrm>
                  <a:off x="9196388" y="4711065"/>
                  <a:ext cx="55528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8ADDD587-EF5A-5C4E-8F10-372800BB1D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6388" y="4711065"/>
                  <a:ext cx="555280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7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F04786C1-DF8D-924B-8C9C-382497A2E20F}"/>
                    </a:ext>
                  </a:extLst>
                </p:cNvPr>
                <p:cNvSpPr/>
                <p:nvPr/>
              </p:nvSpPr>
              <p:spPr>
                <a:xfrm>
                  <a:off x="6634789" y="3261154"/>
                  <a:ext cx="1125373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F04786C1-DF8D-924B-8C9C-382497A2E2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4789" y="3261154"/>
                  <a:ext cx="1125373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7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Frame 10">
            <a:extLst>
              <a:ext uri="{FF2B5EF4-FFF2-40B4-BE49-F238E27FC236}">
                <a16:creationId xmlns:a16="http://schemas.microsoft.com/office/drawing/2014/main" id="{E8C2DB6A-DA2B-1E40-9F21-5106DFD894D8}"/>
              </a:ext>
            </a:extLst>
          </p:cNvPr>
          <p:cNvSpPr/>
          <p:nvPr/>
        </p:nvSpPr>
        <p:spPr>
          <a:xfrm>
            <a:off x="1714639" y="3918844"/>
            <a:ext cx="2940909" cy="803189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0F56B-217E-60B8-BE8E-02DBFFDFD693}"/>
              </a:ext>
            </a:extLst>
          </p:cNvPr>
          <p:cNvSpPr txBox="1"/>
          <p:nvPr/>
        </p:nvSpPr>
        <p:spPr>
          <a:xfrm>
            <a:off x="0" y="0"/>
            <a:ext cx="115271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Thermal power generators (in Thermo, “heat engines”)</a:t>
            </a:r>
          </a:p>
        </p:txBody>
      </p:sp>
    </p:spTree>
    <p:extLst>
      <p:ext uri="{BB962C8B-B14F-4D97-AF65-F5344CB8AC3E}">
        <p14:creationId xmlns:p14="http://schemas.microsoft.com/office/powerpoint/2010/main" val="4093227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038E464-FF7A-BB43-B55D-EA23A8564F54}"/>
                  </a:ext>
                </a:extLst>
              </p:cNvPr>
              <p:cNvSpPr/>
              <p:nvPr/>
            </p:nvSpPr>
            <p:spPr>
              <a:xfrm>
                <a:off x="3850718" y="332957"/>
                <a:ext cx="8457995" cy="6796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𝑛𝑅𝑇𝑙𝑛</m:t>
                    </m:r>
                    <m:r>
                      <a:rPr lang="en-US" sz="24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 </a:t>
                </a:r>
                <a:r>
                  <a:rPr lang="en-US" sz="2400" dirty="0">
                    <a:solidFill>
                      <a:srgbClr val="7030A0"/>
                    </a:solidFill>
                    <a:sym typeface="Wingdings" pitchFamily="2" charset="2"/>
                  </a:rPr>
                  <a:t>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𝒆𝒙𝒑</m:t>
                    </m:r>
                    <m:d>
                      <m:d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num>
                          <m:den>
                            <m:r>
                              <a:rPr lang="en-US" sz="24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𝒏𝑹𝑻</m:t>
                            </m:r>
                          </m:den>
                        </m:f>
                      </m:e>
                    </m:d>
                  </m:oMath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038E464-FF7A-BB43-B55D-EA23A8564F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718" y="332957"/>
                <a:ext cx="8457995" cy="679673"/>
              </a:xfrm>
              <a:prstGeom prst="rect">
                <a:avLst/>
              </a:prstGeom>
              <a:blipFill>
                <a:blip r:embed="rId2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F6BB4808-0E86-424B-A557-66DD59ACBD8A}"/>
              </a:ext>
            </a:extLst>
          </p:cNvPr>
          <p:cNvGrpSpPr/>
          <p:nvPr/>
        </p:nvGrpSpPr>
        <p:grpSpPr>
          <a:xfrm>
            <a:off x="657631" y="1868557"/>
            <a:ext cx="2605920" cy="3295547"/>
            <a:chOff x="657631" y="1868557"/>
            <a:chExt cx="2605920" cy="329554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55D6683-8AF7-4849-B7F4-26722BF038A3}"/>
                </a:ext>
              </a:extLst>
            </p:cNvPr>
            <p:cNvGrpSpPr/>
            <p:nvPr/>
          </p:nvGrpSpPr>
          <p:grpSpPr>
            <a:xfrm>
              <a:off x="657631" y="1868557"/>
              <a:ext cx="2605920" cy="3295547"/>
              <a:chOff x="3260665" y="2252870"/>
              <a:chExt cx="3666827" cy="3485321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270DAC84-C411-D944-9781-5F3324170B5F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16" name="Can 15">
                  <a:extLst>
                    <a:ext uri="{FF2B5EF4-FFF2-40B4-BE49-F238E27FC236}">
                      <a16:creationId xmlns:a16="http://schemas.microsoft.com/office/drawing/2014/main" id="{EE2751A3-AF25-A548-9FEC-A7356E3880A0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Can 16">
                  <a:extLst>
                    <a:ext uri="{FF2B5EF4-FFF2-40B4-BE49-F238E27FC236}">
                      <a16:creationId xmlns:a16="http://schemas.microsoft.com/office/drawing/2014/main" id="{E74C3D26-B714-E64B-A184-A3F9A79218B7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B46EAB2B-2A7D-C24B-95E0-9EA38DE8D653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20" name="Down Arrow 19">
                    <a:extLst>
                      <a:ext uri="{FF2B5EF4-FFF2-40B4-BE49-F238E27FC236}">
                        <a16:creationId xmlns:a16="http://schemas.microsoft.com/office/drawing/2014/main" id="{1035346E-ADA4-3B40-B9A6-2B879F2BEA58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1" name="Rectangle 20">
                        <a:extLst>
                          <a:ext uri="{FF2B5EF4-FFF2-40B4-BE49-F238E27FC236}">
                            <a16:creationId xmlns:a16="http://schemas.microsoft.com/office/drawing/2014/main" id="{E0E856BA-DE2B-F148-8F07-24A6EDD235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BF1816E9-29A6-0148-9B47-CC2D0081AC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461665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46166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778" r="-88889" b="-85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80C7AA67-2BC1-7146-B0A6-2E2974647257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0" name="Can 9">
                  <a:extLst>
                    <a:ext uri="{FF2B5EF4-FFF2-40B4-BE49-F238E27FC236}">
                      <a16:creationId xmlns:a16="http://schemas.microsoft.com/office/drawing/2014/main" id="{5B3463F7-9B43-E74B-874D-35C948F1E388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Can 10">
                  <a:extLst>
                    <a:ext uri="{FF2B5EF4-FFF2-40B4-BE49-F238E27FC236}">
                      <a16:creationId xmlns:a16="http://schemas.microsoft.com/office/drawing/2014/main" id="{44A93AD2-D14D-434F-BD2C-25DD9D7A66EC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F58DA261-B166-6549-AD48-21C62FE2E6D9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4" name="Down Arrow 13">
                    <a:extLst>
                      <a:ext uri="{FF2B5EF4-FFF2-40B4-BE49-F238E27FC236}">
                        <a16:creationId xmlns:a16="http://schemas.microsoft.com/office/drawing/2014/main" id="{F8B36164-299A-3F4B-90D9-A5EFBB0244CE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5" name="Rectangle 14">
                        <a:extLst>
                          <a:ext uri="{FF2B5EF4-FFF2-40B4-BE49-F238E27FC236}">
                            <a16:creationId xmlns:a16="http://schemas.microsoft.com/office/drawing/2014/main" id="{582F4195-DBDA-884F-AA75-5214C58800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Rectangle 12">
                      <a:extLst>
                        <a:ext uri="{FF2B5EF4-FFF2-40B4-BE49-F238E27FC236}">
                          <a16:creationId xmlns:a16="http://schemas.microsoft.com/office/drawing/2014/main" id="{B6191D2F-E29B-F445-B33E-9261127FC5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461665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461665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857" r="-94286" b="-85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9E8731ED-3697-3741-9031-13602E9253B6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DF1BF8E-8B4A-8F44-BC44-F917F53B9405}"/>
              </a:ext>
            </a:extLst>
          </p:cNvPr>
          <p:cNvGrpSpPr/>
          <p:nvPr/>
        </p:nvGrpSpPr>
        <p:grpSpPr>
          <a:xfrm>
            <a:off x="6001877" y="13253"/>
            <a:ext cx="8230960" cy="6872157"/>
            <a:chOff x="5498293" y="-1205948"/>
            <a:chExt cx="8230960" cy="68721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89C0F5B-896C-924F-8CF0-B901EDC9A502}"/>
                    </a:ext>
                  </a:extLst>
                </p:cNvPr>
                <p:cNvSpPr txBox="1"/>
                <p:nvPr/>
              </p:nvSpPr>
              <p:spPr>
                <a:xfrm>
                  <a:off x="5498293" y="2863659"/>
                  <a:ext cx="55308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𝑒𝑥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C4D51AB-942B-FC45-BC1E-A73EAE9C61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8293" y="2863659"/>
                  <a:ext cx="553081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2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FA8F59D-6551-0D47-9A58-BA4B8FAD49C8}"/>
                </a:ext>
              </a:extLst>
            </p:cNvPr>
            <p:cNvCxnSpPr>
              <a:cxnSpLocks/>
            </p:cNvCxnSpPr>
            <p:nvPr/>
          </p:nvCxnSpPr>
          <p:spPr>
            <a:xfrm>
              <a:off x="6308035" y="2415475"/>
              <a:ext cx="0" cy="2732792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D5B1447-7975-A84F-9E91-287B250497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8035" y="5121763"/>
              <a:ext cx="3313043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27985CD5-A3DD-6E41-85D1-0B9883219100}"/>
                    </a:ext>
                  </a:extLst>
                </p:cNvPr>
                <p:cNvSpPr/>
                <p:nvPr/>
              </p:nvSpPr>
              <p:spPr>
                <a:xfrm>
                  <a:off x="6475058" y="5194678"/>
                  <a:ext cx="54059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4704EF62-C43B-814F-BCD6-A9CBD506BD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5058" y="5194678"/>
                  <a:ext cx="540597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EA70E68D-7CA9-864B-B936-9ABD157698A1}"/>
                    </a:ext>
                  </a:extLst>
                </p:cNvPr>
                <p:cNvSpPr/>
                <p:nvPr/>
              </p:nvSpPr>
              <p:spPr>
                <a:xfrm>
                  <a:off x="7648756" y="5204544"/>
                  <a:ext cx="54771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A6C043F6-4AC9-1D42-8E88-FBADBC1B94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8756" y="5204544"/>
                  <a:ext cx="547714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CF1B6E75-49EE-094A-8702-D444769B8176}"/>
                </a:ext>
              </a:extLst>
            </p:cNvPr>
            <p:cNvSpPr/>
            <p:nvPr/>
          </p:nvSpPr>
          <p:spPr>
            <a:xfrm>
              <a:off x="6559827" y="-1205948"/>
              <a:ext cx="7169426" cy="6056244"/>
            </a:xfrm>
            <a:prstGeom prst="arc">
              <a:avLst>
                <a:gd name="adj1" fmla="val 6171250"/>
                <a:gd name="adj2" fmla="val 10117375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CF14E53-D2B1-D547-91E4-4598278C0EA7}"/>
                </a:ext>
              </a:extLst>
            </p:cNvPr>
            <p:cNvSpPr/>
            <p:nvPr/>
          </p:nvSpPr>
          <p:spPr>
            <a:xfrm>
              <a:off x="6745357" y="3151676"/>
              <a:ext cx="225287" cy="1943584"/>
            </a:xfrm>
            <a:prstGeom prst="rect">
              <a:avLst/>
            </a:prstGeom>
            <a:pattFill prst="lt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D215F94-7216-DF43-956B-1490E06EF9EB}"/>
                </a:ext>
              </a:extLst>
            </p:cNvPr>
            <p:cNvSpPr/>
            <p:nvPr/>
          </p:nvSpPr>
          <p:spPr>
            <a:xfrm>
              <a:off x="6990521" y="3532372"/>
              <a:ext cx="218662" cy="1556264"/>
            </a:xfrm>
            <a:prstGeom prst="rect">
              <a:avLst/>
            </a:prstGeom>
            <a:pattFill prst="lt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3520583-2C72-0447-929D-153C34AC089A}"/>
                </a:ext>
              </a:extLst>
            </p:cNvPr>
            <p:cNvSpPr/>
            <p:nvPr/>
          </p:nvSpPr>
          <p:spPr>
            <a:xfrm>
              <a:off x="7209183" y="3809796"/>
              <a:ext cx="238539" cy="1285468"/>
            </a:xfrm>
            <a:prstGeom prst="rect">
              <a:avLst/>
            </a:prstGeom>
            <a:pattFill prst="lt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BDC368A-0734-1B4B-AEFD-432332EEB458}"/>
                </a:ext>
              </a:extLst>
            </p:cNvPr>
            <p:cNvSpPr/>
            <p:nvPr/>
          </p:nvSpPr>
          <p:spPr>
            <a:xfrm>
              <a:off x="7466005" y="4030256"/>
              <a:ext cx="220255" cy="1058380"/>
            </a:xfrm>
            <a:prstGeom prst="rect">
              <a:avLst/>
            </a:prstGeom>
            <a:pattFill prst="lt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74BD2F1-E6D3-2D44-84CA-48B60D111013}"/>
                </a:ext>
              </a:extLst>
            </p:cNvPr>
            <p:cNvSpPr/>
            <p:nvPr/>
          </p:nvSpPr>
          <p:spPr>
            <a:xfrm>
              <a:off x="7685382" y="4157400"/>
              <a:ext cx="239417" cy="931231"/>
            </a:xfrm>
            <a:prstGeom prst="rect">
              <a:avLst/>
            </a:prstGeom>
            <a:pattFill prst="lt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4EF8508-BCF4-FE4B-9C74-64CC12F461CE}"/>
                </a:ext>
              </a:extLst>
            </p:cNvPr>
            <p:cNvCxnSpPr>
              <a:cxnSpLocks/>
            </p:cNvCxnSpPr>
            <p:nvPr/>
          </p:nvCxnSpPr>
          <p:spPr>
            <a:xfrm>
              <a:off x="5986755" y="3151676"/>
              <a:ext cx="763043" cy="0"/>
            </a:xfrm>
            <a:prstGeom prst="line">
              <a:avLst/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25A9734E-3D90-E047-A15F-5D45E6166967}"/>
                    </a:ext>
                  </a:extLst>
                </p:cNvPr>
                <p:cNvSpPr txBox="1"/>
                <p:nvPr/>
              </p:nvSpPr>
              <p:spPr>
                <a:xfrm>
                  <a:off x="8380278" y="4033446"/>
                  <a:ext cx="295165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𝐼𝑑𝑒𝑎𝑙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𝑛𝑅𝑇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32C9E83-EFD5-D044-B498-2D26C64B1E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0278" y="4033446"/>
                  <a:ext cx="2951652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427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Arc 37">
            <a:extLst>
              <a:ext uri="{FF2B5EF4-FFF2-40B4-BE49-F238E27FC236}">
                <a16:creationId xmlns:a16="http://schemas.microsoft.com/office/drawing/2014/main" id="{D8304A26-1226-C044-BDE0-DEB5DF6806F6}"/>
              </a:ext>
            </a:extLst>
          </p:cNvPr>
          <p:cNvSpPr/>
          <p:nvPr/>
        </p:nvSpPr>
        <p:spPr>
          <a:xfrm>
            <a:off x="5255267" y="449414"/>
            <a:ext cx="2263972" cy="1159318"/>
          </a:xfrm>
          <a:prstGeom prst="arc">
            <a:avLst>
              <a:gd name="adj1" fmla="val 315439"/>
              <a:gd name="adj2" fmla="val 10350524"/>
            </a:avLst>
          </a:prstGeom>
          <a:ln w="635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AE8B5A-224B-AFFA-C7A7-4004C477D56C}"/>
              </a:ext>
            </a:extLst>
          </p:cNvPr>
          <p:cNvSpPr txBox="1"/>
          <p:nvPr/>
        </p:nvSpPr>
        <p:spPr>
          <a:xfrm>
            <a:off x="6204627" y="1687724"/>
            <a:ext cx="809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0FB38A-4770-AD5D-7522-F1ABD4A8E766}"/>
              </a:ext>
            </a:extLst>
          </p:cNvPr>
          <p:cNvSpPr txBox="1"/>
          <p:nvPr/>
        </p:nvSpPr>
        <p:spPr>
          <a:xfrm>
            <a:off x="3330" y="1649"/>
            <a:ext cx="3495244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1. Derive this expression for isothermal PV work</a:t>
            </a:r>
          </a:p>
        </p:txBody>
      </p:sp>
    </p:spTree>
    <p:extLst>
      <p:ext uri="{BB962C8B-B14F-4D97-AF65-F5344CB8AC3E}">
        <p14:creationId xmlns:p14="http://schemas.microsoft.com/office/powerpoint/2010/main" val="3950209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220033" y="1868557"/>
            <a:ext cx="4192941" cy="4224702"/>
            <a:chOff x="220033" y="1868557"/>
            <a:chExt cx="4192941" cy="42247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220033" y="1868557"/>
              <a:ext cx="4192941" cy="4224702"/>
              <a:chOff x="2644915" y="2252870"/>
              <a:chExt cx="5899947" cy="446798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778" r="-8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57" r="-9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C0E7F3-94AD-1948-84D4-399CD36A8115}"/>
                  </a:ext>
                </a:extLst>
              </p:cNvPr>
              <p:cNvSpPr txBox="1"/>
              <p:nvPr/>
            </p:nvSpPr>
            <p:spPr>
              <a:xfrm>
                <a:off x="2644915" y="5842001"/>
                <a:ext cx="5899947" cy="878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 heat going in/out</a:t>
                </a:r>
              </a:p>
              <a:p>
                <a:r>
                  <a:rPr lang="en-US" sz="2400" dirty="0"/>
                  <a:t>Temperature is going down</a:t>
                </a:r>
              </a:p>
            </p:txBody>
          </p: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DF898887-C165-264E-8254-196382BC8A59}"/>
              </a:ext>
            </a:extLst>
          </p:cNvPr>
          <p:cNvSpPr txBox="1"/>
          <p:nvPr/>
        </p:nvSpPr>
        <p:spPr>
          <a:xfrm>
            <a:off x="-27284" y="0"/>
            <a:ext cx="3840768" cy="120032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2. Derive this expression for multi-step adiabatic expansion of an ideal gas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90686B-BBDA-3E43-A7CF-05972F1B9DEE}"/>
              </a:ext>
            </a:extLst>
          </p:cNvPr>
          <p:cNvGrpSpPr/>
          <p:nvPr/>
        </p:nvGrpSpPr>
        <p:grpSpPr>
          <a:xfrm>
            <a:off x="4141692" y="-1023159"/>
            <a:ext cx="9226891" cy="3819047"/>
            <a:chOff x="-2927580" y="-2519032"/>
            <a:chExt cx="17025401" cy="727375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3C99FF1-0E1C-C046-8790-9AE3C46988AF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3A075C1-0769-3F48-8CC4-7D0ABA28AC8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5208C65A-B5EB-9140-87B6-4F02136DD4D5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57" name="Frame 56">
                    <a:extLst>
                      <a:ext uri="{FF2B5EF4-FFF2-40B4-BE49-F238E27FC236}">
                        <a16:creationId xmlns:a16="http://schemas.microsoft.com/office/drawing/2014/main" id="{389A2CEC-B82B-7845-B543-25750CCD8B23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Frame 57">
                    <a:extLst>
                      <a:ext uri="{FF2B5EF4-FFF2-40B4-BE49-F238E27FC236}">
                        <a16:creationId xmlns:a16="http://schemas.microsoft.com/office/drawing/2014/main" id="{40776E7B-19A6-2446-A9C5-12E44495F0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C17C2A02-CDCD-864D-ABF6-CA835A890A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BEFF127-DFF9-BA4D-9A11-35D13D535F8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31F1F960-4B19-1749-9C3B-834B258FFDA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08F235F3-8408-9944-96BA-B1C19A03D3A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b="-1891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D4DDABB3-B939-8D4F-9B57-DFFADDEDBC6A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80AE1402-19BF-3746-B974-CB5483B848EF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8CAB41BA-2526-9D47-879F-05E2939C67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5203143-265B-B541-871C-4880795C5C2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7E418680-9C76-544F-8FCF-EEA2C0D491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D9AEA35C-26A6-494D-967A-04E1F65D6217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4A099DCA-C904-4C4D-A665-8C5C2BBA0488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9E71A1F-D9D4-1A49-9291-47A10D3EC572}"/>
                </a:ext>
              </a:extLst>
            </p:cNvPr>
            <p:cNvSpPr/>
            <p:nvPr/>
          </p:nvSpPr>
          <p:spPr>
            <a:xfrm>
              <a:off x="10303974" y="2691000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125D66F-D3C5-2D42-BF11-A35150F95A49}"/>
                </a:ext>
              </a:extLst>
            </p:cNvPr>
            <p:cNvSpPr/>
            <p:nvPr/>
          </p:nvSpPr>
          <p:spPr>
            <a:xfrm>
              <a:off x="9781029" y="2565217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0A9AE6C-0A73-D64A-9D4D-B034B13D704D}"/>
              </a:ext>
            </a:extLst>
          </p:cNvPr>
          <p:cNvCxnSpPr>
            <a:cxnSpLocks/>
          </p:cNvCxnSpPr>
          <p:nvPr/>
        </p:nvCxnSpPr>
        <p:spPr>
          <a:xfrm flipH="1" flipV="1">
            <a:off x="11029104" y="2274851"/>
            <a:ext cx="318658" cy="26379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38A1DCC-F7F8-4945-AF78-DF6DC9AE497F}"/>
              </a:ext>
            </a:extLst>
          </p:cNvPr>
          <p:cNvGrpSpPr/>
          <p:nvPr/>
        </p:nvGrpSpPr>
        <p:grpSpPr>
          <a:xfrm>
            <a:off x="7465602" y="1182817"/>
            <a:ext cx="6741046" cy="5637876"/>
            <a:chOff x="6001877" y="-86139"/>
            <a:chExt cx="8303847" cy="6958292"/>
          </a:xfrm>
        </p:grpSpPr>
        <p:sp>
          <p:nvSpPr>
            <p:cNvPr id="68" name="Arc 67">
              <a:extLst>
                <a:ext uri="{FF2B5EF4-FFF2-40B4-BE49-F238E27FC236}">
                  <a16:creationId xmlns:a16="http://schemas.microsoft.com/office/drawing/2014/main" id="{40183D0F-68E9-1342-AD84-8BDC6B9846F5}"/>
                </a:ext>
              </a:extLst>
            </p:cNvPr>
            <p:cNvSpPr/>
            <p:nvPr/>
          </p:nvSpPr>
          <p:spPr>
            <a:xfrm>
              <a:off x="7136298" y="-86139"/>
              <a:ext cx="7169426" cy="6738730"/>
            </a:xfrm>
            <a:prstGeom prst="arc">
              <a:avLst>
                <a:gd name="adj1" fmla="val 7846197"/>
                <a:gd name="adj2" fmla="val 10431800"/>
              </a:avLst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590C978-CB45-BA4B-9222-3308A12CC42C}"/>
                </a:ext>
              </a:extLst>
            </p:cNvPr>
            <p:cNvGrpSpPr/>
            <p:nvPr/>
          </p:nvGrpSpPr>
          <p:grpSpPr>
            <a:xfrm>
              <a:off x="6001877" y="-13256"/>
              <a:ext cx="8230960" cy="6885409"/>
              <a:chOff x="6001877" y="-92767"/>
              <a:chExt cx="8230960" cy="6885409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4E3EAC7-6E99-0D42-967B-8DCD2E2777C3}"/>
                  </a:ext>
                </a:extLst>
              </p:cNvPr>
              <p:cNvGrpSpPr/>
              <p:nvPr/>
            </p:nvGrpSpPr>
            <p:grpSpPr>
              <a:xfrm>
                <a:off x="6001877" y="-92767"/>
                <a:ext cx="8230960" cy="6885409"/>
                <a:chOff x="5498293" y="-1219200"/>
                <a:chExt cx="8230960" cy="688540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𝑒𝑥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778" r="-16667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8387D4E3-599C-B843-813B-DB041613A4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08035" y="2388971"/>
                  <a:ext cx="0" cy="2732792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251DDA82-8D20-B943-94D3-BCBB417F5E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08035" y="5121763"/>
                  <a:ext cx="3313043" cy="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2857" b="-2580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778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7" name="Arc 76">
                  <a:extLst>
                    <a:ext uri="{FF2B5EF4-FFF2-40B4-BE49-F238E27FC236}">
                      <a16:creationId xmlns:a16="http://schemas.microsoft.com/office/drawing/2014/main" id="{5C0AD07D-CDB9-4449-9BC5-0F49C4B7AF30}"/>
                    </a:ext>
                  </a:extLst>
                </p:cNvPr>
                <p:cNvSpPr/>
                <p:nvPr/>
              </p:nvSpPr>
              <p:spPr>
                <a:xfrm>
                  <a:off x="6559827" y="-1219200"/>
                  <a:ext cx="7169426" cy="6056244"/>
                </a:xfrm>
                <a:prstGeom prst="arc">
                  <a:avLst>
                    <a:gd name="adj1" fmla="val 6171250"/>
                    <a:gd name="adj2" fmla="val 10117375"/>
                  </a:avLst>
                </a:prstGeom>
                <a:ln w="63500">
                  <a:solidFill>
                    <a:schemeClr val="tx1">
                      <a:alpha val="28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3C536A03-7AB7-B847-BB2D-3A068ABACCB4}"/>
                    </a:ext>
                  </a:extLst>
                </p:cNvPr>
                <p:cNvSpPr/>
                <p:nvPr/>
              </p:nvSpPr>
              <p:spPr>
                <a:xfrm>
                  <a:off x="6745357" y="3325324"/>
                  <a:ext cx="225451" cy="176993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3375D27C-C978-014C-B80F-4EC30343DE28}"/>
                    </a:ext>
                  </a:extLst>
                </p:cNvPr>
                <p:cNvSpPr/>
                <p:nvPr/>
              </p:nvSpPr>
              <p:spPr>
                <a:xfrm>
                  <a:off x="6990521" y="3903528"/>
                  <a:ext cx="218662" cy="118510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964DE7E0-F868-704D-BAB3-1B509591F0A1}"/>
                    </a:ext>
                  </a:extLst>
                </p:cNvPr>
                <p:cNvSpPr/>
                <p:nvPr/>
              </p:nvSpPr>
              <p:spPr>
                <a:xfrm>
                  <a:off x="7209183" y="4181004"/>
                  <a:ext cx="237824" cy="914260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1CC7899D-7F72-4C45-9449-3E1B045463EF}"/>
                    </a:ext>
                  </a:extLst>
                </p:cNvPr>
                <p:cNvSpPr/>
                <p:nvPr/>
              </p:nvSpPr>
              <p:spPr>
                <a:xfrm>
                  <a:off x="7466005" y="4492488"/>
                  <a:ext cx="200379" cy="59614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74CA30D7-71BB-E64D-841C-43AFC382F8E4}"/>
                    </a:ext>
                  </a:extLst>
                </p:cNvPr>
                <p:cNvSpPr/>
                <p:nvPr/>
              </p:nvSpPr>
              <p:spPr>
                <a:xfrm>
                  <a:off x="7685382" y="4690865"/>
                  <a:ext cx="252669" cy="39776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0E8523A3-E41B-C746-A92B-BB2D8DC0B9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86755" y="3284196"/>
                  <a:ext cx="763043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/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𝐼𝑑𝑒𝑎𝑙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𝑛𝑅𝑇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29" b="-4193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/>
              <p:nvPr/>
            </p:nvSpPr>
            <p:spPr>
              <a:xfrm>
                <a:off x="3784124" y="446701"/>
                <a:ext cx="5677000" cy="21160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en-US" sz="22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𝑑𝑇</m:t>
                          </m:r>
                        </m:e>
                      </m:nary>
                      <m:r>
                        <a:rPr lang="en-US" sz="2200" b="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𝑛𝑅</m:t>
                          </m:r>
                        </m:num>
                        <m:den>
                          <m:sSub>
                            <m:sSubPr>
                              <m:ctrlPr>
                                <a:rPr lang="en-US" sz="2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2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sz="22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sz="22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22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2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2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2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a:rPr lang="en-US" sz="22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US" sz="2200" dirty="0">
                  <a:solidFill>
                    <a:srgbClr val="7030A0"/>
                  </a:solidFill>
                </a:endParaRPr>
              </a:p>
              <a:p>
                <a:endParaRPr lang="en-US" sz="2200" dirty="0">
                  <a:solidFill>
                    <a:srgbClr val="7030A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2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2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sz="2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2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2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2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22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2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2200" b="1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2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𝒏𝑹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2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sz="22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n-US" sz="2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124" y="446701"/>
                <a:ext cx="5677000" cy="2116028"/>
              </a:xfrm>
              <a:prstGeom prst="rect">
                <a:avLst/>
              </a:prstGeom>
              <a:blipFill>
                <a:blip r:embed="rId11"/>
                <a:stretch>
                  <a:fillRect l="-19687" t="-63473" b="-34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Arc 84">
            <a:extLst>
              <a:ext uri="{FF2B5EF4-FFF2-40B4-BE49-F238E27FC236}">
                <a16:creationId xmlns:a16="http://schemas.microsoft.com/office/drawing/2014/main" id="{E8912C3E-F0F2-1C47-A998-54B1881B9D2F}"/>
              </a:ext>
            </a:extLst>
          </p:cNvPr>
          <p:cNvSpPr/>
          <p:nvPr/>
        </p:nvSpPr>
        <p:spPr>
          <a:xfrm flipH="1">
            <a:off x="6564023" y="830090"/>
            <a:ext cx="794650" cy="1399922"/>
          </a:xfrm>
          <a:prstGeom prst="arc">
            <a:avLst>
              <a:gd name="adj1" fmla="val 4981034"/>
              <a:gd name="adj2" fmla="val 15900305"/>
            </a:avLst>
          </a:prstGeom>
          <a:ln w="635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D143D8-7F0F-F900-04C4-C2A9950AEFE2}"/>
              </a:ext>
            </a:extLst>
          </p:cNvPr>
          <p:cNvSpPr txBox="1"/>
          <p:nvPr/>
        </p:nvSpPr>
        <p:spPr>
          <a:xfrm>
            <a:off x="7397997" y="1343239"/>
            <a:ext cx="809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5497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ACFA47B-C0C9-5C4D-8E07-18164A31AAD6}"/>
              </a:ext>
            </a:extLst>
          </p:cNvPr>
          <p:cNvGrpSpPr/>
          <p:nvPr/>
        </p:nvGrpSpPr>
        <p:grpSpPr>
          <a:xfrm>
            <a:off x="220033" y="1868557"/>
            <a:ext cx="4192941" cy="4224702"/>
            <a:chOff x="220033" y="1868557"/>
            <a:chExt cx="4192941" cy="42247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E12621-44F7-C34A-8C13-CBC0D2A34F30}"/>
                </a:ext>
              </a:extLst>
            </p:cNvPr>
            <p:cNvGrpSpPr/>
            <p:nvPr/>
          </p:nvGrpSpPr>
          <p:grpSpPr>
            <a:xfrm>
              <a:off x="220033" y="1868557"/>
              <a:ext cx="4192941" cy="4224702"/>
              <a:chOff x="2644915" y="2252870"/>
              <a:chExt cx="5899947" cy="4467981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CF3E780-4900-E148-86E7-E234D9EA4AAA}"/>
                  </a:ext>
                </a:extLst>
              </p:cNvPr>
              <p:cNvGrpSpPr/>
              <p:nvPr/>
            </p:nvGrpSpPr>
            <p:grpSpPr>
              <a:xfrm>
                <a:off x="3260665" y="2252870"/>
                <a:ext cx="1142288" cy="3485321"/>
                <a:chOff x="3260665" y="2252870"/>
                <a:chExt cx="1142288" cy="3485321"/>
              </a:xfrm>
            </p:grpSpPr>
            <p:sp>
              <p:nvSpPr>
                <p:cNvPr id="3" name="Can 2">
                  <a:extLst>
                    <a:ext uri="{FF2B5EF4-FFF2-40B4-BE49-F238E27FC236}">
                      <a16:creationId xmlns:a16="http://schemas.microsoft.com/office/drawing/2014/main" id="{0882A6BC-BC35-4440-880D-412A45C8EE4D}"/>
                    </a:ext>
                  </a:extLst>
                </p:cNvPr>
                <p:cNvSpPr/>
                <p:nvPr/>
              </p:nvSpPr>
              <p:spPr>
                <a:xfrm>
                  <a:off x="3287083" y="3975650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Can 3">
                  <a:extLst>
                    <a:ext uri="{FF2B5EF4-FFF2-40B4-BE49-F238E27FC236}">
                      <a16:creationId xmlns:a16="http://schemas.microsoft.com/office/drawing/2014/main" id="{143CFE32-ACB5-FB40-A3B4-93EFC595F593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4F6F86D-D64E-A449-B61A-F960F21DEEAF}"/>
                    </a:ext>
                  </a:extLst>
                </p:cNvPr>
                <p:cNvGrpSpPr/>
                <p:nvPr/>
              </p:nvGrpSpPr>
              <p:grpSpPr>
                <a:xfrm>
                  <a:off x="3625218" y="3356270"/>
                  <a:ext cx="468047" cy="716745"/>
                  <a:chOff x="4009533" y="4138149"/>
                  <a:chExt cx="468047" cy="716745"/>
                </a:xfrm>
              </p:grpSpPr>
              <p:sp>
                <p:nvSpPr>
                  <p:cNvPr id="5" name="Down Arrow 4">
                    <a:extLst>
                      <a:ext uri="{FF2B5EF4-FFF2-40B4-BE49-F238E27FC236}">
                        <a16:creationId xmlns:a16="http://schemas.microsoft.com/office/drawing/2014/main" id="{F07B1AB4-2909-6942-95E2-82466D5A7ABF}"/>
                      </a:ext>
                    </a:extLst>
                  </p:cNvPr>
                  <p:cNvSpPr/>
                  <p:nvPr/>
                </p:nvSpPr>
                <p:spPr>
                  <a:xfrm>
                    <a:off x="4094233" y="4576486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34853373-B311-B34E-9113-9731A6AFBE8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4138149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B382580-57C5-C740-B532-69767D94E55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0665" y="4689443"/>
                      <a:ext cx="617373" cy="87885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2778" r="-888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265C-4F5D-2D49-BC82-F596CF56855C}"/>
                  </a:ext>
                </a:extLst>
              </p:cNvPr>
              <p:cNvGrpSpPr/>
              <p:nvPr/>
            </p:nvGrpSpPr>
            <p:grpSpPr>
              <a:xfrm>
                <a:off x="5714493" y="2252870"/>
                <a:ext cx="1212999" cy="3485321"/>
                <a:chOff x="3189954" y="2252870"/>
                <a:chExt cx="1212999" cy="3485321"/>
              </a:xfrm>
            </p:grpSpPr>
            <p:sp>
              <p:nvSpPr>
                <p:cNvPr id="13" name="Can 12">
                  <a:extLst>
                    <a:ext uri="{FF2B5EF4-FFF2-40B4-BE49-F238E27FC236}">
                      <a16:creationId xmlns:a16="http://schemas.microsoft.com/office/drawing/2014/main" id="{3C712100-84AF-7046-84AC-4D133CD09E12}"/>
                    </a:ext>
                  </a:extLst>
                </p:cNvPr>
                <p:cNvSpPr/>
                <p:nvPr/>
              </p:nvSpPr>
              <p:spPr>
                <a:xfrm>
                  <a:off x="3287083" y="3260033"/>
                  <a:ext cx="1115870" cy="463826"/>
                </a:xfrm>
                <a:prstGeom prst="can">
                  <a:avLst>
                    <a:gd name="adj" fmla="val 38571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Can 13">
                  <a:extLst>
                    <a:ext uri="{FF2B5EF4-FFF2-40B4-BE49-F238E27FC236}">
                      <a16:creationId xmlns:a16="http://schemas.microsoft.com/office/drawing/2014/main" id="{B6A83E51-FE95-8F4E-AAC8-B2BF0768B47B}"/>
                    </a:ext>
                  </a:extLst>
                </p:cNvPr>
                <p:cNvSpPr/>
                <p:nvPr/>
              </p:nvSpPr>
              <p:spPr>
                <a:xfrm>
                  <a:off x="3287083" y="2252870"/>
                  <a:ext cx="1115870" cy="3485321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298807A1-ACC4-E74B-9FE2-A7F4209E0204}"/>
                    </a:ext>
                  </a:extLst>
                </p:cNvPr>
                <p:cNvGrpSpPr/>
                <p:nvPr/>
              </p:nvGrpSpPr>
              <p:grpSpPr>
                <a:xfrm>
                  <a:off x="3625218" y="2640653"/>
                  <a:ext cx="468047" cy="716745"/>
                  <a:chOff x="4009533" y="3422532"/>
                  <a:chExt cx="468047" cy="716745"/>
                </a:xfrm>
              </p:grpSpPr>
              <p:sp>
                <p:nvSpPr>
                  <p:cNvPr id="17" name="Down Arrow 16">
                    <a:extLst>
                      <a:ext uri="{FF2B5EF4-FFF2-40B4-BE49-F238E27FC236}">
                        <a16:creationId xmlns:a16="http://schemas.microsoft.com/office/drawing/2014/main" id="{A8315161-C400-2F43-9F0C-73E784675808}"/>
                      </a:ext>
                    </a:extLst>
                  </p:cNvPr>
                  <p:cNvSpPr/>
                  <p:nvPr/>
                </p:nvSpPr>
                <p:spPr>
                  <a:xfrm>
                    <a:off x="4094233" y="3860869"/>
                    <a:ext cx="298649" cy="278408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F8869B43-4746-7843-BE3E-12C7E482B7E9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009533" y="3422532"/>
                        <a:ext cx="468047" cy="32755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704" r="-59259" b="-4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7EB2F084-5621-C74E-B6D2-FF515D72C88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89954" y="4389239"/>
                      <a:ext cx="617373" cy="87885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857" r="-942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C0E7F3-94AD-1948-84D4-399CD36A8115}"/>
                  </a:ext>
                </a:extLst>
              </p:cNvPr>
              <p:cNvSpPr txBox="1"/>
              <p:nvPr/>
            </p:nvSpPr>
            <p:spPr>
              <a:xfrm>
                <a:off x="2644915" y="5842001"/>
                <a:ext cx="5899947" cy="878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 heat going in/out</a:t>
                </a:r>
              </a:p>
              <a:p>
                <a:r>
                  <a:rPr lang="en-US" sz="2400" dirty="0"/>
                  <a:t>Temperature is going down</a:t>
                </a:r>
              </a:p>
            </p:txBody>
          </p:sp>
        </p:grp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208EE3A7-21A8-A049-84BF-4EF614CDA2DA}"/>
                </a:ext>
              </a:extLst>
            </p:cNvPr>
            <p:cNvSpPr/>
            <p:nvPr/>
          </p:nvSpPr>
          <p:spPr>
            <a:xfrm>
              <a:off x="1736228" y="3558196"/>
              <a:ext cx="612265" cy="377907"/>
            </a:xfrm>
            <a:prstGeom prst="rightArrow">
              <a:avLst>
                <a:gd name="adj1" fmla="val 3906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DF898887-C165-264E-8254-196382BC8A59}"/>
              </a:ext>
            </a:extLst>
          </p:cNvPr>
          <p:cNvSpPr txBox="1"/>
          <p:nvPr/>
        </p:nvSpPr>
        <p:spPr>
          <a:xfrm>
            <a:off x="-27284" y="0"/>
            <a:ext cx="3840768" cy="120032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3. Derive </a:t>
            </a:r>
            <a:r>
              <a:rPr lang="en-US" sz="2400" b="1" i="1" dirty="0"/>
              <a:t>this</a:t>
            </a:r>
            <a:r>
              <a:rPr lang="en-US" sz="2400" b="1" dirty="0"/>
              <a:t> expression for multi-step adiabatic expansion of an ideal gas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90686B-BBDA-3E43-A7CF-05972F1B9DEE}"/>
              </a:ext>
            </a:extLst>
          </p:cNvPr>
          <p:cNvGrpSpPr/>
          <p:nvPr/>
        </p:nvGrpSpPr>
        <p:grpSpPr>
          <a:xfrm>
            <a:off x="4141692" y="-1023159"/>
            <a:ext cx="9226891" cy="3819047"/>
            <a:chOff x="-2927580" y="-2519032"/>
            <a:chExt cx="17025401" cy="727375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3C99FF1-0E1C-C046-8790-9AE3C46988AF}"/>
                </a:ext>
              </a:extLst>
            </p:cNvPr>
            <p:cNvGrpSpPr/>
            <p:nvPr/>
          </p:nvGrpSpPr>
          <p:grpSpPr>
            <a:xfrm>
              <a:off x="-2927580" y="-2519032"/>
              <a:ext cx="17025401" cy="7273753"/>
              <a:chOff x="-7264053" y="-1522649"/>
              <a:chExt cx="17025401" cy="727375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3A075C1-0769-3F48-8CC4-7D0ABA28AC87}"/>
                  </a:ext>
                </a:extLst>
              </p:cNvPr>
              <p:cNvGrpSpPr/>
              <p:nvPr/>
            </p:nvGrpSpPr>
            <p:grpSpPr>
              <a:xfrm>
                <a:off x="2196621" y="1301259"/>
                <a:ext cx="5095406" cy="4449846"/>
                <a:chOff x="1321977" y="1539799"/>
                <a:chExt cx="5095406" cy="4449846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5208C65A-B5EB-9140-87B6-4F02136DD4D5}"/>
                    </a:ext>
                  </a:extLst>
                </p:cNvPr>
                <p:cNvGrpSpPr/>
                <p:nvPr/>
              </p:nvGrpSpPr>
              <p:grpSpPr>
                <a:xfrm>
                  <a:off x="1321977" y="1539799"/>
                  <a:ext cx="5095406" cy="4449846"/>
                  <a:chOff x="2177322" y="1859897"/>
                  <a:chExt cx="5095406" cy="4449846"/>
                </a:xfrm>
              </p:grpSpPr>
              <p:sp>
                <p:nvSpPr>
                  <p:cNvPr id="57" name="Frame 56">
                    <a:extLst>
                      <a:ext uri="{FF2B5EF4-FFF2-40B4-BE49-F238E27FC236}">
                        <a16:creationId xmlns:a16="http://schemas.microsoft.com/office/drawing/2014/main" id="{389A2CEC-B82B-7845-B543-25750CCD8B23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Frame 57">
                    <a:extLst>
                      <a:ext uri="{FF2B5EF4-FFF2-40B4-BE49-F238E27FC236}">
                        <a16:creationId xmlns:a16="http://schemas.microsoft.com/office/drawing/2014/main" id="{40776E7B-19A6-2446-A9C5-12E44495F00D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C17C2A02-CDCD-864D-ABF6-CA835A890A0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BEFF127-DFF9-BA4D-9A11-35D13D535F8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31F1F960-4B19-1749-9C3B-834B258FFDA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52336" y="5317376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08F235F3-8408-9944-96BA-B1C19A03D3A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sz="2400" i="1" dirty="0"/>
                      </a:p>
                    </p:txBody>
                  </p:sp>
                </mc:Choice>
                <mc:Fallback xmlns=""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D108DEB-CE9E-3846-8803-D8B58216CC48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8669" y="2521075"/>
                        <a:ext cx="2325269" cy="879287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b="-1891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D4DDABB3-B939-8D4F-9B57-DFFADDEDBC6A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80AE1402-19BF-3746-B974-CB5483B848EF}"/>
                      </a:ext>
                    </a:extLst>
                  </p:cNvPr>
                  <p:cNvSpPr/>
                  <p:nvPr/>
                </p:nvSpPr>
                <p:spPr>
                  <a:xfrm>
                    <a:off x="2205877" y="4791001"/>
                    <a:ext cx="35939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8CAB41BA-2526-9D47-879F-05E2939C67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5203143-265B-B541-871C-4880795C5C20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7E418680-9C76-544F-8FCF-EEA2C0D491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19057" y="3446291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D9AEA35C-26A6-494D-967A-04E1F65D6217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4A099DCA-C904-4C4D-A665-8C5C2BBA0488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9E71A1F-D9D4-1A49-9291-47A10D3EC572}"/>
                </a:ext>
              </a:extLst>
            </p:cNvPr>
            <p:cNvSpPr/>
            <p:nvPr/>
          </p:nvSpPr>
          <p:spPr>
            <a:xfrm>
              <a:off x="10303974" y="2691000"/>
              <a:ext cx="252993" cy="244371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125D66F-D3C5-2D42-BF11-A35150F95A49}"/>
                </a:ext>
              </a:extLst>
            </p:cNvPr>
            <p:cNvSpPr/>
            <p:nvPr/>
          </p:nvSpPr>
          <p:spPr>
            <a:xfrm>
              <a:off x="9781029" y="2565217"/>
              <a:ext cx="252993" cy="2443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0A9AE6C-0A73-D64A-9D4D-B034B13D704D}"/>
              </a:ext>
            </a:extLst>
          </p:cNvPr>
          <p:cNvCxnSpPr>
            <a:cxnSpLocks/>
          </p:cNvCxnSpPr>
          <p:nvPr/>
        </p:nvCxnSpPr>
        <p:spPr>
          <a:xfrm flipH="1" flipV="1">
            <a:off x="11029104" y="2274851"/>
            <a:ext cx="318658" cy="26379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38A1DCC-F7F8-4945-AF78-DF6DC9AE497F}"/>
              </a:ext>
            </a:extLst>
          </p:cNvPr>
          <p:cNvGrpSpPr/>
          <p:nvPr/>
        </p:nvGrpSpPr>
        <p:grpSpPr>
          <a:xfrm>
            <a:off x="7465602" y="1182817"/>
            <a:ext cx="6741046" cy="5637876"/>
            <a:chOff x="6001877" y="-86139"/>
            <a:chExt cx="8303847" cy="6958292"/>
          </a:xfrm>
        </p:grpSpPr>
        <p:sp>
          <p:nvSpPr>
            <p:cNvPr id="68" name="Arc 67">
              <a:extLst>
                <a:ext uri="{FF2B5EF4-FFF2-40B4-BE49-F238E27FC236}">
                  <a16:creationId xmlns:a16="http://schemas.microsoft.com/office/drawing/2014/main" id="{40183D0F-68E9-1342-AD84-8BDC6B9846F5}"/>
                </a:ext>
              </a:extLst>
            </p:cNvPr>
            <p:cNvSpPr/>
            <p:nvPr/>
          </p:nvSpPr>
          <p:spPr>
            <a:xfrm>
              <a:off x="7136298" y="-86139"/>
              <a:ext cx="7169426" cy="6738730"/>
            </a:xfrm>
            <a:prstGeom prst="arc">
              <a:avLst>
                <a:gd name="adj1" fmla="val 7846197"/>
                <a:gd name="adj2" fmla="val 10431800"/>
              </a:avLst>
            </a:prstGeom>
            <a:ln w="635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590C978-CB45-BA4B-9222-3308A12CC42C}"/>
                </a:ext>
              </a:extLst>
            </p:cNvPr>
            <p:cNvGrpSpPr/>
            <p:nvPr/>
          </p:nvGrpSpPr>
          <p:grpSpPr>
            <a:xfrm>
              <a:off x="6001877" y="-13256"/>
              <a:ext cx="8230960" cy="6885409"/>
              <a:chOff x="6001877" y="-92767"/>
              <a:chExt cx="8230960" cy="6885409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84E3EAC7-6E99-0D42-967B-8DCD2E2777C3}"/>
                  </a:ext>
                </a:extLst>
              </p:cNvPr>
              <p:cNvGrpSpPr/>
              <p:nvPr/>
            </p:nvGrpSpPr>
            <p:grpSpPr>
              <a:xfrm>
                <a:off x="6001877" y="-92767"/>
                <a:ext cx="8230960" cy="6885409"/>
                <a:chOff x="5498293" y="-1219200"/>
                <a:chExt cx="8230960" cy="688540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𝑒𝑥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A8FAC938-A9A5-6A4D-B25D-30477A85FEA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8293" y="2969675"/>
                      <a:ext cx="553081" cy="46166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778" r="-16667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8387D4E3-599C-B843-813B-DB041613A4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08035" y="2388971"/>
                  <a:ext cx="0" cy="2732792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251DDA82-8D20-B943-94D3-BCBB417F5E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08035" y="5121763"/>
                  <a:ext cx="3313043" cy="0"/>
                </a:xfrm>
                <a:prstGeom prst="line">
                  <a:avLst/>
                </a:prstGeom>
                <a:ln w="635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C443AE38-44DA-E64D-91D2-031A38D55EA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75058" y="5194678"/>
                      <a:ext cx="540597" cy="46166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2857" b="-2580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446B560D-D93B-9645-AF5D-A49E8108C4B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48756" y="5204544"/>
                      <a:ext cx="547714" cy="46166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778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7" name="Arc 76">
                  <a:extLst>
                    <a:ext uri="{FF2B5EF4-FFF2-40B4-BE49-F238E27FC236}">
                      <a16:creationId xmlns:a16="http://schemas.microsoft.com/office/drawing/2014/main" id="{5C0AD07D-CDB9-4449-9BC5-0F49C4B7AF30}"/>
                    </a:ext>
                  </a:extLst>
                </p:cNvPr>
                <p:cNvSpPr/>
                <p:nvPr/>
              </p:nvSpPr>
              <p:spPr>
                <a:xfrm>
                  <a:off x="6559827" y="-1219200"/>
                  <a:ext cx="7169426" cy="6056244"/>
                </a:xfrm>
                <a:prstGeom prst="arc">
                  <a:avLst>
                    <a:gd name="adj1" fmla="val 6171250"/>
                    <a:gd name="adj2" fmla="val 10117375"/>
                  </a:avLst>
                </a:prstGeom>
                <a:ln w="63500">
                  <a:solidFill>
                    <a:schemeClr val="tx1">
                      <a:alpha val="28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3C536A03-7AB7-B847-BB2D-3A068ABACCB4}"/>
                    </a:ext>
                  </a:extLst>
                </p:cNvPr>
                <p:cNvSpPr/>
                <p:nvPr/>
              </p:nvSpPr>
              <p:spPr>
                <a:xfrm>
                  <a:off x="6745357" y="3325324"/>
                  <a:ext cx="225451" cy="176993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3375D27C-C978-014C-B80F-4EC30343DE28}"/>
                    </a:ext>
                  </a:extLst>
                </p:cNvPr>
                <p:cNvSpPr/>
                <p:nvPr/>
              </p:nvSpPr>
              <p:spPr>
                <a:xfrm>
                  <a:off x="6990521" y="3903528"/>
                  <a:ext cx="218662" cy="118510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964DE7E0-F868-704D-BAB3-1B509591F0A1}"/>
                    </a:ext>
                  </a:extLst>
                </p:cNvPr>
                <p:cNvSpPr/>
                <p:nvPr/>
              </p:nvSpPr>
              <p:spPr>
                <a:xfrm>
                  <a:off x="7209183" y="4181004"/>
                  <a:ext cx="237824" cy="914260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1CC7899D-7F72-4C45-9449-3E1B045463EF}"/>
                    </a:ext>
                  </a:extLst>
                </p:cNvPr>
                <p:cNvSpPr/>
                <p:nvPr/>
              </p:nvSpPr>
              <p:spPr>
                <a:xfrm>
                  <a:off x="7466005" y="4492488"/>
                  <a:ext cx="200379" cy="596148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74CA30D7-71BB-E64D-841C-43AFC382F8E4}"/>
                    </a:ext>
                  </a:extLst>
                </p:cNvPr>
                <p:cNvSpPr/>
                <p:nvPr/>
              </p:nvSpPr>
              <p:spPr>
                <a:xfrm>
                  <a:off x="7685382" y="4690865"/>
                  <a:ext cx="252669" cy="397766"/>
                </a:xfrm>
                <a:prstGeom prst="rect">
                  <a:avLst/>
                </a:prstGeom>
                <a:pattFill prst="ltDnDiag">
                  <a:fgClr>
                    <a:schemeClr val="accent1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0E8523A3-E41B-C746-A92B-BB2D8DC0B9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86755" y="3284196"/>
                  <a:ext cx="763043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/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𝐼𝑑𝑒𝑎𝑙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𝑛𝑅𝑇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EB52B31E-321A-1F4E-800A-609587E243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2601" y="4799128"/>
                    <a:ext cx="2951652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29" b="-4193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/>
              <p:nvPr/>
            </p:nvSpPr>
            <p:spPr>
              <a:xfrm>
                <a:off x="3906007" y="218617"/>
                <a:ext cx="4099143" cy="22007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0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30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3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30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30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0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30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30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000" b="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3000" b="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30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000" b="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3000" b="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sz="3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30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𝑛𝑅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30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3000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sz="3000" dirty="0">
                    <a:solidFill>
                      <a:srgbClr val="7030A0"/>
                    </a:solidFill>
                  </a:rPr>
                  <a:t> 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d>
                          <m:d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400" b="1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2400" b="1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b="1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2400" b="1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𝒏𝑹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  <m:sub>
                                <m:r>
                                  <a:rPr lang="en-US" sz="2400" b="1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</m:sub>
                            </m:sSub>
                          </m:den>
                        </m:f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F1AC6B9-7395-B54E-A276-1D7BF90BE5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007" y="218617"/>
                <a:ext cx="4099143" cy="2200795"/>
              </a:xfrm>
              <a:prstGeom prst="rect">
                <a:avLst/>
              </a:prstGeom>
              <a:blipFill>
                <a:blip r:embed="rId11"/>
                <a:stretch>
                  <a:fillRect l="-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49D3299-45C9-F40C-213A-BC927E5618DC}"/>
              </a:ext>
            </a:extLst>
          </p:cNvPr>
          <p:cNvSpPr txBox="1"/>
          <p:nvPr/>
        </p:nvSpPr>
        <p:spPr>
          <a:xfrm>
            <a:off x="7397997" y="1343239"/>
            <a:ext cx="809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?</a:t>
            </a: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A0184F36-DE11-6DCB-3CC4-14AFD5FC5095}"/>
              </a:ext>
            </a:extLst>
          </p:cNvPr>
          <p:cNvSpPr/>
          <p:nvPr/>
        </p:nvSpPr>
        <p:spPr>
          <a:xfrm flipH="1">
            <a:off x="6564023" y="830090"/>
            <a:ext cx="794650" cy="1399922"/>
          </a:xfrm>
          <a:prstGeom prst="arc">
            <a:avLst>
              <a:gd name="adj1" fmla="val 4981034"/>
              <a:gd name="adj2" fmla="val 15900305"/>
            </a:avLst>
          </a:prstGeom>
          <a:ln w="635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227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-11290" y="293"/>
            <a:ext cx="1220328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4. Show that the Carnot cycle’s efficiency really is</a:t>
            </a:r>
            <a:r>
              <a:rPr lang="en-US" sz="2400" b="1" i="1" dirty="0"/>
              <a:t> </a:t>
            </a:r>
            <a:r>
              <a:rPr lang="en-US" sz="2400" b="1" dirty="0"/>
              <a:t>the theoretical maximum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356847F-947E-854E-8A35-397154A4F8BA}"/>
                  </a:ext>
                </a:extLst>
              </p:cNvPr>
              <p:cNvSpPr txBox="1"/>
              <p:nvPr/>
            </p:nvSpPr>
            <p:spPr>
              <a:xfrm>
                <a:off x="123443" y="842751"/>
                <a:ext cx="6346805" cy="5152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We said the theoretical maximum efficiency of a heat engine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h𝑜𝑡</m:t>
                            </m:r>
                          </m:sub>
                        </m:sSub>
                      </m:den>
                    </m:f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h𝑜𝑡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𝑐𝑜𝑙𝑑</m:t>
                        </m:r>
                      </m:sub>
                    </m:sSub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For a Carnot cycle, it turns out that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𝐶𝑎𝑟𝑛𝑜𝑡</m:t>
                        </m:r>
                      </m:sub>
                    </m:sSub>
                    <m:r>
                      <a:rPr lang="en-US" sz="2400" b="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𝑡𝑜𝑡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h𝑜𝑡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sSub>
                          <m:sSub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h𝑜𝑡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  </a:t>
                </a:r>
              </a:p>
              <a:p>
                <a:endParaRPr lang="en-US" sz="2400" dirty="0">
                  <a:solidFill>
                    <a:srgbClr val="7030A0"/>
                  </a:solidFill>
                </a:endParaRPr>
              </a:p>
              <a:p>
                <a:endParaRPr lang="en-US" sz="2400" dirty="0">
                  <a:solidFill>
                    <a:srgbClr val="7030A0"/>
                  </a:solidFill>
                </a:endParaRPr>
              </a:p>
              <a:p>
                <a:endParaRPr lang="en-US" sz="2400" dirty="0">
                  <a:solidFill>
                    <a:srgbClr val="7030A0"/>
                  </a:solidFill>
                </a:endParaRPr>
              </a:p>
              <a:p>
                <a:r>
                  <a:rPr lang="en-US" sz="2400" dirty="0"/>
                  <a:t>To get there, you can use the following: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</m:den>
                    </m:f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𝑪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den>
                    </m:f>
                  </m:oMath>
                </a14:m>
                <a:endParaRPr lang="en-US" sz="2400" b="1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356847F-947E-854E-8A35-397154A4F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43" y="842751"/>
                <a:ext cx="6346805" cy="5152885"/>
              </a:xfrm>
              <a:prstGeom prst="rect">
                <a:avLst/>
              </a:prstGeom>
              <a:blipFill>
                <a:blip r:embed="rId2"/>
                <a:stretch>
                  <a:fillRect l="-1397" t="-9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A3209F91-7909-2F4E-BC9E-DE9B9FFF88E7}"/>
              </a:ext>
            </a:extLst>
          </p:cNvPr>
          <p:cNvGrpSpPr/>
          <p:nvPr/>
        </p:nvGrpSpPr>
        <p:grpSpPr>
          <a:xfrm>
            <a:off x="7072132" y="1208749"/>
            <a:ext cx="5119868" cy="4166013"/>
            <a:chOff x="5976976" y="1318994"/>
            <a:chExt cx="6120984" cy="476076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A05CDFCA-CE64-9941-90B6-115BBF64E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76976" y="1318994"/>
              <a:ext cx="6120984" cy="476076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BD3A96C2-9ED2-8F40-8046-5E66D6B3F6E6}"/>
                    </a:ext>
                  </a:extLst>
                </p:cNvPr>
                <p:cNvSpPr/>
                <p:nvPr/>
              </p:nvSpPr>
              <p:spPr>
                <a:xfrm>
                  <a:off x="7760161" y="2174658"/>
                  <a:ext cx="641626" cy="4572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BD3A96C2-9ED2-8F40-8046-5E66D6B3F6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0161" y="2174658"/>
                  <a:ext cx="641626" cy="4572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E4AA3AFA-4A41-0A46-AD00-6F7B521A1B81}"/>
                    </a:ext>
                  </a:extLst>
                </p:cNvPr>
                <p:cNvSpPr/>
                <p:nvPr/>
              </p:nvSpPr>
              <p:spPr>
                <a:xfrm>
                  <a:off x="9279212" y="3808538"/>
                  <a:ext cx="1980687" cy="4572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=−880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E4AA3AFA-4A41-0A46-AD00-6F7B521A1B8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9212" y="3808538"/>
                  <a:ext cx="1980687" cy="457231"/>
                </a:xfrm>
                <a:prstGeom prst="rect">
                  <a:avLst/>
                </a:prstGeom>
                <a:blipFill>
                  <a:blip r:embed="rId5"/>
                  <a:stretch>
                    <a:fillRect b="-151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8ADDD587-EF5A-5C4E-8F10-372800BB1D36}"/>
                    </a:ext>
                  </a:extLst>
                </p:cNvPr>
                <p:cNvSpPr/>
                <p:nvPr/>
              </p:nvSpPr>
              <p:spPr>
                <a:xfrm>
                  <a:off x="9196388" y="4711065"/>
                  <a:ext cx="648756" cy="4572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8ADDD587-EF5A-5C4E-8F10-372800BB1D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6388" y="4711065"/>
                  <a:ext cx="648756" cy="4572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F04786C1-DF8D-924B-8C9C-382497A2E20F}"/>
                    </a:ext>
                  </a:extLst>
                </p:cNvPr>
                <p:cNvSpPr/>
                <p:nvPr/>
              </p:nvSpPr>
              <p:spPr>
                <a:xfrm>
                  <a:off x="6417818" y="4107318"/>
                  <a:ext cx="1825530" cy="4572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2000" dirty="0" smtClean="0"/>
                          <m:t>+880 </m:t>
                        </m:r>
                        <m:r>
                          <m:rPr>
                            <m:nor/>
                          </m:rPr>
                          <a:rPr lang="en-US" sz="2000" dirty="0" smtClean="0"/>
                          <m:t>J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F04786C1-DF8D-924B-8C9C-382497A2E2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7818" y="4107318"/>
                  <a:ext cx="1825530" cy="457231"/>
                </a:xfrm>
                <a:prstGeom prst="rect">
                  <a:avLst/>
                </a:prstGeom>
                <a:blipFill>
                  <a:blip r:embed="rId7"/>
                  <a:stretch>
                    <a:fillRect t="-6250" b="-218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Arc 12">
            <a:extLst>
              <a:ext uri="{FF2B5EF4-FFF2-40B4-BE49-F238E27FC236}">
                <a16:creationId xmlns:a16="http://schemas.microsoft.com/office/drawing/2014/main" id="{EF087E73-3611-E04E-9057-3A189B21F827}"/>
              </a:ext>
            </a:extLst>
          </p:cNvPr>
          <p:cNvSpPr/>
          <p:nvPr/>
        </p:nvSpPr>
        <p:spPr>
          <a:xfrm rot="16200000">
            <a:off x="2022108" y="3153832"/>
            <a:ext cx="663217" cy="1274875"/>
          </a:xfrm>
          <a:prstGeom prst="arc">
            <a:avLst>
              <a:gd name="adj1" fmla="val 4981034"/>
              <a:gd name="adj2" fmla="val 15900305"/>
            </a:avLst>
          </a:prstGeom>
          <a:ln w="635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BAEC-A8CF-95AF-34B2-ABD3EB81DB59}"/>
              </a:ext>
            </a:extLst>
          </p:cNvPr>
          <p:cNvSpPr txBox="1"/>
          <p:nvPr/>
        </p:nvSpPr>
        <p:spPr>
          <a:xfrm>
            <a:off x="2181413" y="4122878"/>
            <a:ext cx="809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63367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BA2816-DC48-2474-42F0-4AE0E63A3A2E}"/>
              </a:ext>
            </a:extLst>
          </p:cNvPr>
          <p:cNvSpPr txBox="1"/>
          <p:nvPr/>
        </p:nvSpPr>
        <p:spPr>
          <a:xfrm>
            <a:off x="0" y="0"/>
            <a:ext cx="115271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We’ll use the rest of the time on the Carnot Cycle CGI 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D12D31-6A74-CD86-4D43-AF7AAD69C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09" y="557715"/>
            <a:ext cx="6077468" cy="407778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509099-42A2-B0A2-B216-7393CF8D3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699" y="4087138"/>
            <a:ext cx="6940073" cy="257380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22290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450</Words>
  <Application>Microsoft Macintosh PowerPoint</Application>
  <PresentationFormat>Widescreen</PresentationFormat>
  <Paragraphs>100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Steven</cp:lastModifiedBy>
  <cp:revision>96</cp:revision>
  <dcterms:created xsi:type="dcterms:W3CDTF">2018-08-07T04:05:17Z</dcterms:created>
  <dcterms:modified xsi:type="dcterms:W3CDTF">2025-09-29T03:49:51Z</dcterms:modified>
</cp:coreProperties>
</file>