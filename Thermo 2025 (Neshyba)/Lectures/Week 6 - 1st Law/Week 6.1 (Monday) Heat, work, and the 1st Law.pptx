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326" r:id="rId3"/>
    <p:sldId id="325" r:id="rId4"/>
    <p:sldId id="286" r:id="rId5"/>
    <p:sldId id="327" r:id="rId6"/>
    <p:sldId id="282" r:id="rId7"/>
    <p:sldId id="287" r:id="rId8"/>
    <p:sldId id="288" r:id="rId9"/>
    <p:sldId id="289" r:id="rId10"/>
    <p:sldId id="290" r:id="rId11"/>
    <p:sldId id="307" r:id="rId12"/>
    <p:sldId id="320" r:id="rId13"/>
    <p:sldId id="296" r:id="rId14"/>
    <p:sldId id="294" r:id="rId15"/>
    <p:sldId id="295" r:id="rId16"/>
    <p:sldId id="324" r:id="rId17"/>
    <p:sldId id="297" r:id="rId18"/>
    <p:sldId id="298" r:id="rId19"/>
    <p:sldId id="332" r:id="rId20"/>
    <p:sldId id="3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1"/>
  </p:normalViewPr>
  <p:slideViewPr>
    <p:cSldViewPr snapToGrid="0" snapToObjects="1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EAC5-8408-0C43-AB39-DDB88E48C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2FC6F-BB5C-0A48-A8A0-D6FD94118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639F2-B6FF-9E42-9A5B-4D6C301A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0FD46-BC7C-2540-A352-8B235E7C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6FCC-A17E-2F4B-9816-171EF87C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8771-0FCB-1849-97C5-15DEF916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ACCB-6D65-444B-90BF-E52B5E1E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67CE-7845-124E-8006-FDE39738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F6F0-F3EC-0740-8E59-8E07B86C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5EE6-B37C-A14F-9F8D-626A1A6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54AE-1DF0-0A45-A49E-054838A2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6473B-B4CD-F146-8D7B-136AC5CC4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AE9E-3458-2249-A417-D16310E1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6904-C1CA-B845-9A35-0C669BD4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D05C-2B9E-7540-B264-B6CA1BC1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1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7C57-90BD-3241-814F-BB89C538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7678-2512-5641-AAD6-87CA9EAC7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9819-4193-9A4B-B2CA-1DC70FD8C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D32BF-9CE8-E845-A024-E84DFEE4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5A64C-77F1-B348-921B-3C7672BD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322C7-413E-A747-B152-9B86ACA0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3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E9EC-4BEF-7943-B721-5A64C2F7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F98B3-8552-CB40-A76E-CF7B590B8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7982-ABA9-ED49-9BDE-FD5F3AD78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983A5-59AA-3D46-A493-E19EC5D8F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E1B4F-A726-1943-9A11-A6AB19F60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4D71D-9D68-0042-95F4-00A97F3B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63355-33F6-4E49-BECA-36338EAE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71BAE-3E2E-7A41-B67B-8360766A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2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CA99-3127-D041-8B28-9BB8EAA9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A1FC8-A284-574E-8B44-F8FCBD43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A7701-E120-C546-B253-E793ACE9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C63F5-7D25-B14B-9F02-39518AB4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9B1-EF5E-744E-BA01-D757DF7B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67D91-975F-7C4C-9155-B4ECCC6A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B2B3-E388-4644-9D61-330A5CEF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5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DCD4-5E72-E145-9D54-3E9A77B9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0BAA-5BAA-C744-A4B4-6AE5693CA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FF3E-91C8-FC4A-9F2B-4DC79F640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90D91-29EC-EF47-A7AF-62E4EE3B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EB4AA-A905-BA49-AD8A-4CA03B06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F4BAF-2D8E-2344-BA91-FCE41297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3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BA47-DE99-164D-B67E-8812CABF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B0BA5-9A7E-834F-92BD-D9376C9BF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58FB2-5936-644B-A189-5D66795A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76BAB-FFAA-B14A-9889-2DAE1423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1C1E7-38A2-1A4E-B910-287FF629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9FCC8-8F6E-3B4A-ADD7-73B94A35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7B64-C7B8-5348-85F3-64586174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B75B7-DB58-7844-86B3-23F0FBA1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4E74D-ABFD-9546-9FF5-9E87A8D2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21D09-8997-0145-A869-084126E8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DBB6-BAEF-5246-B40E-D650F33D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4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13836-E09C-8A45-B943-CED54C124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C2D9A-B163-3744-9195-6B9DA44D3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3F41-9424-2F44-9DA5-3494AA52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259C-07E5-104E-A20C-4F7767DB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6BD5-2A9C-2A4B-8707-1A8D4AB1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A524F-5BC8-F049-914A-A2995F1D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1C70-C5C8-5248-B978-45E99089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4A288-F7FC-0840-AD58-2BD8253A8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BB814-64FE-A046-86EF-08998BAE6296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ADD0-8084-3D4D-B4F5-A2C2941F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D72A-71AB-744A-AB70-74F9513F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wikipedia.org/wiki/Joul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9" Type="http://schemas.openxmlformats.org/officeDocument/2006/relationships/image" Target="../media/image1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ambridge" TargetMode="External"/><Relationship Id="rId2" Type="http://schemas.openxmlformats.org/officeDocument/2006/relationships/hyperlink" Target="https://en.wikipedia.org/wiki/James_Joul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0.png"/><Relationship Id="rId4" Type="http://schemas.openxmlformats.org/officeDocument/2006/relationships/image" Target="../media/image8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40.png"/><Relationship Id="rId7" Type="http://schemas.openxmlformats.org/officeDocument/2006/relationships/image" Target="../media/image10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30.png"/><Relationship Id="rId4" Type="http://schemas.openxmlformats.org/officeDocument/2006/relationships/image" Target="../media/image220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convertunits.com/" TargetMode="Externa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40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What’s a Joule?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5E64CE-0683-C055-F7A7-A974F092DDCE}"/>
              </a:ext>
            </a:extLst>
          </p:cNvPr>
          <p:cNvSpPr txBox="1"/>
          <p:nvPr/>
        </p:nvSpPr>
        <p:spPr>
          <a:xfrm>
            <a:off x="753762" y="4510936"/>
            <a:ext cx="4324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en.wikipedia.org</a:t>
            </a:r>
            <a:r>
              <a:rPr lang="en-US" dirty="0">
                <a:hlinkClick r:id="rId2"/>
              </a:rPr>
              <a:t>/wiki/Joule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963A401-B0A5-242C-3B6C-B02E9527AC31}"/>
              </a:ext>
            </a:extLst>
          </p:cNvPr>
          <p:cNvGrpSpPr/>
          <p:nvPr/>
        </p:nvGrpSpPr>
        <p:grpSpPr>
          <a:xfrm>
            <a:off x="7006281" y="2236573"/>
            <a:ext cx="2286000" cy="461665"/>
            <a:chOff x="7006281" y="2236573"/>
            <a:chExt cx="2286000" cy="4616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F194D8C-ECF7-772B-F33F-32EEBB2AF4DF}"/>
                </a:ext>
              </a:extLst>
            </p:cNvPr>
            <p:cNvSpPr txBox="1"/>
            <p:nvPr/>
          </p:nvSpPr>
          <p:spPr>
            <a:xfrm>
              <a:off x="7006281" y="2236573"/>
              <a:ext cx="2286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7030A0"/>
                  </a:solidFill>
                </a:rPr>
                <a:t>Like a cell phone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75B01A-EE7F-898E-9ABB-DE16A412BA07}"/>
                </a:ext>
              </a:extLst>
            </p:cNvPr>
            <p:cNvSpPr/>
            <p:nvPr/>
          </p:nvSpPr>
          <p:spPr>
            <a:xfrm>
              <a:off x="7068065" y="2248072"/>
              <a:ext cx="2114197" cy="438665"/>
            </a:xfrm>
            <a:prstGeom prst="rect">
              <a:avLst/>
            </a:prstGeom>
            <a:solidFill>
              <a:schemeClr val="accent1">
                <a:alpha val="44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F58809-62C2-167D-58A7-AB4B8B375BE7}"/>
              </a:ext>
            </a:extLst>
          </p:cNvPr>
          <p:cNvGrpSpPr/>
          <p:nvPr/>
        </p:nvGrpSpPr>
        <p:grpSpPr>
          <a:xfrm>
            <a:off x="117192" y="698876"/>
            <a:ext cx="11273358" cy="3150973"/>
            <a:chOff x="327257" y="877330"/>
            <a:chExt cx="11273358" cy="315097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B424CE1-A215-40C5-2EE0-DAFE6FCD11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3991"/>
            <a:stretch/>
          </p:blipFill>
          <p:spPr>
            <a:xfrm>
              <a:off x="327257" y="877330"/>
              <a:ext cx="11273358" cy="315097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FD353F-D3FC-087C-F346-38D143DEA872}"/>
                </a:ext>
              </a:extLst>
            </p:cNvPr>
            <p:cNvSpPr/>
            <p:nvPr/>
          </p:nvSpPr>
          <p:spPr>
            <a:xfrm>
              <a:off x="4609070" y="2570205"/>
              <a:ext cx="1050325" cy="321276"/>
            </a:xfrm>
            <a:prstGeom prst="rect">
              <a:avLst/>
            </a:prstGeom>
            <a:solidFill>
              <a:schemeClr val="accent1">
                <a:alpha val="44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FEDEBBBA-AF88-E747-4A7D-012D4476F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065" y="4239414"/>
            <a:ext cx="3453027" cy="229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401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It takes 4.18 Joules to heat up one gram of liquid water one degree C</a:t>
            </a:r>
          </a:p>
        </p:txBody>
      </p:sp>
      <p:pic>
        <p:nvPicPr>
          <p:cNvPr id="1028" name="Picture 4" descr="Specific Heat Capacity: Definition, Formula, Water Heat Capacity">
            <a:extLst>
              <a:ext uri="{FF2B5EF4-FFF2-40B4-BE49-F238E27FC236}">
                <a16:creationId xmlns:a16="http://schemas.microsoft.com/office/drawing/2014/main" id="{3376C8A2-D5F3-5E20-C5DF-D7E39156F8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37"/>
          <a:stretch/>
        </p:blipFill>
        <p:spPr bwMode="auto">
          <a:xfrm>
            <a:off x="388037" y="2486000"/>
            <a:ext cx="4974795" cy="403607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at Capacity of Water">
            <a:extLst>
              <a:ext uri="{FF2B5EF4-FFF2-40B4-BE49-F238E27FC236}">
                <a16:creationId xmlns:a16="http://schemas.microsoft.com/office/drawing/2014/main" id="{BAAA1124-8C6E-1B8C-7CBC-731075A3A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86000"/>
            <a:ext cx="5194815" cy="4108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F03C58-FC1F-31BA-6964-9D02E0DD69AD}"/>
                  </a:ext>
                </a:extLst>
              </p:cNvPr>
              <p:cNvSpPr txBox="1"/>
              <p:nvPr/>
            </p:nvSpPr>
            <p:spPr>
              <a:xfrm>
                <a:off x="194018" y="689002"/>
                <a:ext cx="11803963" cy="156966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That number is called the “specific heat capacity” or “specific heat” of a substance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Water has a really big specific heat capacity.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In Thermodynamics, we use “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” to refer to the amount of heat that goes into/out of a substance, or “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𝑑𝑞</m:t>
                    </m:r>
                  </m:oMath>
                </a14:m>
                <a:r>
                  <a:rPr lang="en-US" sz="2400" dirty="0"/>
                  <a:t>” if we want to indicate that we’re thinking about a tiny amount of heat. 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F03C58-FC1F-31BA-6964-9D02E0DD6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18" y="689002"/>
                <a:ext cx="11803963" cy="1569660"/>
              </a:xfrm>
              <a:prstGeom prst="rect">
                <a:avLst/>
              </a:prstGeom>
              <a:blipFill>
                <a:blip r:embed="rId4"/>
                <a:stretch>
                  <a:fillRect l="-751" t="-3175" r="-1073" b="-714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D77E04C-BDE2-0A1B-C71C-93D2DA08BC4A}"/>
                  </a:ext>
                </a:extLst>
              </p:cNvPr>
              <p:cNvSpPr txBox="1"/>
              <p:nvPr/>
            </p:nvSpPr>
            <p:spPr>
              <a:xfrm>
                <a:off x="2999603" y="5320270"/>
                <a:ext cx="15476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(or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𝑑𝑞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D77E04C-BDE2-0A1B-C71C-93D2DA08B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603" y="5320270"/>
                <a:ext cx="1547683" cy="461665"/>
              </a:xfrm>
              <a:prstGeom prst="rect">
                <a:avLst/>
              </a:prstGeom>
              <a:blipFill>
                <a:blip r:embed="rId5"/>
                <a:stretch>
                  <a:fillRect l="-813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6658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About that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b="1" dirty="0"/>
                  <a:t> … we have to be talking about when the temperature of a substance is different from its surroundings, and there’s no insulating barrier between them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830997"/>
              </a:xfrm>
              <a:prstGeom prst="rect">
                <a:avLst/>
              </a:prstGeom>
              <a:blipFill>
                <a:blip r:embed="rId2"/>
                <a:stretch>
                  <a:fillRect l="-832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D2FDA6E-7F8E-DAEC-F7ED-84A5234648A6}"/>
              </a:ext>
            </a:extLst>
          </p:cNvPr>
          <p:cNvGrpSpPr>
            <a:grpSpLocks noChangeAspect="1"/>
          </p:cNvGrpSpPr>
          <p:nvPr/>
        </p:nvGrpSpPr>
        <p:grpSpPr>
          <a:xfrm>
            <a:off x="1889406" y="1660777"/>
            <a:ext cx="7558957" cy="3998617"/>
            <a:chOff x="7232006" y="538562"/>
            <a:chExt cx="5596032" cy="2960248"/>
          </a:xfrm>
        </p:grpSpPr>
        <p:sp>
          <p:nvSpPr>
            <p:cNvPr id="4" name="Donut 3">
              <a:extLst>
                <a:ext uri="{FF2B5EF4-FFF2-40B4-BE49-F238E27FC236}">
                  <a16:creationId xmlns:a16="http://schemas.microsoft.com/office/drawing/2014/main" id="{441B06E8-C513-86CC-A2D6-9F42F5F7E5B1}"/>
                </a:ext>
              </a:extLst>
            </p:cNvPr>
            <p:cNvSpPr/>
            <p:nvPr/>
          </p:nvSpPr>
          <p:spPr>
            <a:xfrm>
              <a:off x="9173981" y="1774942"/>
              <a:ext cx="2068642" cy="1723868"/>
            </a:xfrm>
            <a:prstGeom prst="donut">
              <a:avLst>
                <a:gd name="adj" fmla="val 49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8054A11-F5EA-576F-963A-680B9B01DCF2}"/>
                    </a:ext>
                  </a:extLst>
                </p:cNvPr>
                <p:cNvSpPr txBox="1"/>
                <p:nvPr/>
              </p:nvSpPr>
              <p:spPr>
                <a:xfrm>
                  <a:off x="9598664" y="2251733"/>
                  <a:ext cx="1224951" cy="6152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2000" dirty="0"/>
                </a:p>
                <a:p>
                  <a:pPr algn="ctr"/>
                  <a:r>
                    <a:rPr lang="en-US" sz="2400" dirty="0"/>
                    <a:t>(system)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8054A11-F5EA-576F-963A-680B9B01DC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8664" y="2251733"/>
                  <a:ext cx="1224951" cy="615202"/>
                </a:xfrm>
                <a:prstGeom prst="rect">
                  <a:avLst/>
                </a:prstGeom>
                <a:blipFill>
                  <a:blip r:embed="rId3"/>
                  <a:stretch>
                    <a:fillRect b="-149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50358E7-7DA5-FB5B-A820-6646FBE8CD0B}"/>
                </a:ext>
              </a:extLst>
            </p:cNvPr>
            <p:cNvGrpSpPr/>
            <p:nvPr/>
          </p:nvGrpSpPr>
          <p:grpSpPr>
            <a:xfrm>
              <a:off x="10523096" y="538562"/>
              <a:ext cx="2304942" cy="1739943"/>
              <a:chOff x="10523096" y="538562"/>
              <a:chExt cx="2304942" cy="1739943"/>
            </a:xfrm>
          </p:grpSpPr>
          <p:cxnSp>
            <p:nvCxnSpPr>
              <p:cNvPr id="12" name="Curved Connector 11">
                <a:extLst>
                  <a:ext uri="{FF2B5EF4-FFF2-40B4-BE49-F238E27FC236}">
                    <a16:creationId xmlns:a16="http://schemas.microsoft.com/office/drawing/2014/main" id="{5EB0B237-9AC2-2F1A-9697-B519DDB052F0}"/>
                  </a:ext>
                </a:extLst>
              </p:cNvPr>
              <p:cNvCxnSpPr/>
              <p:nvPr/>
            </p:nvCxnSpPr>
            <p:spPr>
              <a:xfrm rot="5400000">
                <a:off x="10178322" y="1289154"/>
                <a:ext cx="1334125" cy="644577"/>
              </a:xfrm>
              <a:prstGeom prst="curvedConnector3">
                <a:avLst/>
              </a:prstGeom>
              <a:ln w="635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A0FB1A3A-C1E6-1B38-E4CB-B8DE7A9E9B6B}"/>
                      </a:ext>
                    </a:extLst>
                  </p:cNvPr>
                  <p:cNvSpPr/>
                  <p:nvPr/>
                </p:nvSpPr>
                <p:spPr>
                  <a:xfrm>
                    <a:off x="11325492" y="538562"/>
                    <a:ext cx="1502546" cy="88862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n-US" sz="2400" i="1" dirty="0">
                      <a:solidFill>
                        <a:srgbClr val="FF0000"/>
                      </a:solidFill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oMath>
                      </m:oMathPara>
                    </a14:m>
                    <a:endParaRPr lang="en-US" sz="2400" dirty="0">
                      <a:solidFill>
                        <a:srgbClr val="FF0000"/>
                      </a:solidFill>
                    </a:endParaRPr>
                  </a:p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Heating occurs</a:t>
                    </a:r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A0FB1A3A-C1E6-1B38-E4CB-B8DE7A9E9B6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25492" y="538562"/>
                    <a:ext cx="1502546" cy="88862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375" r="-4375" b="-104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47CFF6-BE2D-3836-D84A-EDF04167D54D}"/>
                </a:ext>
              </a:extLst>
            </p:cNvPr>
            <p:cNvGrpSpPr/>
            <p:nvPr/>
          </p:nvGrpSpPr>
          <p:grpSpPr>
            <a:xfrm>
              <a:off x="7232006" y="595779"/>
              <a:ext cx="2667178" cy="1668733"/>
              <a:chOff x="8377277" y="687007"/>
              <a:chExt cx="2667178" cy="1668733"/>
            </a:xfrm>
          </p:grpSpPr>
          <p:cxnSp>
            <p:nvCxnSpPr>
              <p:cNvPr id="9" name="Curved Connector 8">
                <a:extLst>
                  <a:ext uri="{FF2B5EF4-FFF2-40B4-BE49-F238E27FC236}">
                    <a16:creationId xmlns:a16="http://schemas.microsoft.com/office/drawing/2014/main" id="{5CD1D488-CCBB-F5C5-2598-CA51383BD91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0090626" y="1781184"/>
                <a:ext cx="953829" cy="574556"/>
              </a:xfrm>
              <a:prstGeom prst="curvedConnector3">
                <a:avLst/>
              </a:prstGeom>
              <a:ln w="635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81A41DF6-5424-18C8-4AD1-E840E6927096}"/>
                      </a:ext>
                    </a:extLst>
                  </p:cNvPr>
                  <p:cNvSpPr/>
                  <p:nvPr/>
                </p:nvSpPr>
                <p:spPr>
                  <a:xfrm>
                    <a:off x="8377277" y="687007"/>
                    <a:ext cx="1476199" cy="88862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n-US" sz="240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accent1"/>
                      </a:solidFill>
                    </a:endParaRPr>
                  </a:p>
                  <a:p>
                    <a:pPr algn="ctr"/>
                    <a:r>
                      <a:rPr lang="en-US" sz="2400" dirty="0">
                        <a:solidFill>
                          <a:schemeClr val="accent1"/>
                        </a:solidFill>
                      </a:rPr>
                      <a:t>Cooling occurs</a:t>
                    </a: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81A41DF6-5424-18C8-4AD1-E840E692709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7277" y="687007"/>
                    <a:ext cx="1476199" cy="88862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797" r="-4430"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7E5280-1DDB-B23A-7B15-02CD35A62758}"/>
                  </a:ext>
                </a:extLst>
              </p:cNvPr>
              <p:cNvSpPr txBox="1"/>
              <p:nvPr/>
            </p:nvSpPr>
            <p:spPr>
              <a:xfrm>
                <a:off x="2713866" y="5934426"/>
                <a:ext cx="63916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𝑠𝑢𝑟𝑟</m:t>
                        </m:r>
                      </m:sub>
                    </m:sSub>
                  </m:oMath>
                </a14:m>
                <a:r>
                  <a:rPr lang="en-US" sz="2400" dirty="0"/>
                  <a:t>, “thermal equilibrium”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7E5280-1DDB-B23A-7B15-02CD35A62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866" y="5934426"/>
                <a:ext cx="6391665" cy="461665"/>
              </a:xfrm>
              <a:prstGeom prst="rect">
                <a:avLst/>
              </a:prstGeom>
              <a:blipFill>
                <a:blip r:embed="rId6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1312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C923DA-AA60-D446-8BC7-AEF15C2BA6D7}"/>
                  </a:ext>
                </a:extLst>
              </p:cNvPr>
              <p:cNvSpPr txBox="1"/>
              <p:nvPr/>
            </p:nvSpPr>
            <p:spPr>
              <a:xfrm>
                <a:off x="199772" y="1221645"/>
                <a:ext cx="4134497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“PV work” happens when the </a:t>
                </a:r>
                <a:r>
                  <a:rPr lang="en-US" sz="2400" b="1" dirty="0"/>
                  <a:t>pressure</a:t>
                </a:r>
                <a:r>
                  <a:rPr lang="en-US" sz="2400" dirty="0"/>
                  <a:t> of our system is different from its surroundings, and the system is able to expand or contract to adjust.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In Thermodynamics, we use “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” to refer to the amount of energy that goes into/out of a substance, or “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” if we want to indicate that we’re thinking about a tiny amount of work. 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C923DA-AA60-D446-8BC7-AEF15C2BA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72" y="1221645"/>
                <a:ext cx="4134497" cy="4893647"/>
              </a:xfrm>
              <a:prstGeom prst="rect">
                <a:avLst/>
              </a:prstGeom>
              <a:blipFill>
                <a:blip r:embed="rId2"/>
                <a:stretch>
                  <a:fillRect l="-2141" t="-1295" r="-3364" b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07D232E-57BA-55C5-F7BA-826C58781036}"/>
              </a:ext>
            </a:extLst>
          </p:cNvPr>
          <p:cNvGrpSpPr/>
          <p:nvPr/>
        </p:nvGrpSpPr>
        <p:grpSpPr>
          <a:xfrm>
            <a:off x="5019310" y="1566882"/>
            <a:ext cx="5981523" cy="3912720"/>
            <a:chOff x="5736005" y="2814917"/>
            <a:chExt cx="5981523" cy="391272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F3FE004-6EEF-C74E-A506-CF6528AA3E4D}"/>
                </a:ext>
              </a:extLst>
            </p:cNvPr>
            <p:cNvGrpSpPr/>
            <p:nvPr/>
          </p:nvGrpSpPr>
          <p:grpSpPr>
            <a:xfrm>
              <a:off x="5787036" y="4396182"/>
              <a:ext cx="2642904" cy="2331455"/>
              <a:chOff x="6917283" y="3244839"/>
              <a:chExt cx="2642904" cy="2331455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73F206E-4F3B-8040-8CAF-4FDCE197D3C3}"/>
                  </a:ext>
                </a:extLst>
              </p:cNvPr>
              <p:cNvGrpSpPr/>
              <p:nvPr/>
            </p:nvGrpSpPr>
            <p:grpSpPr>
              <a:xfrm>
                <a:off x="6917283" y="3244839"/>
                <a:ext cx="2642904" cy="2331455"/>
                <a:chOff x="1147177" y="3910460"/>
                <a:chExt cx="3292300" cy="2698574"/>
              </a:xfrm>
            </p:grpSpPr>
            <p:sp>
              <p:nvSpPr>
                <p:cNvPr id="38" name="Donut 37">
                  <a:extLst>
                    <a:ext uri="{FF2B5EF4-FFF2-40B4-BE49-F238E27FC236}">
                      <a16:creationId xmlns:a16="http://schemas.microsoft.com/office/drawing/2014/main" id="{9AA584EB-F4D2-E44C-9383-63A1B85B18F8}"/>
                    </a:ext>
                  </a:extLst>
                </p:cNvPr>
                <p:cNvSpPr/>
                <p:nvPr/>
              </p:nvSpPr>
              <p:spPr>
                <a:xfrm>
                  <a:off x="1606409" y="4479007"/>
                  <a:ext cx="2329488" cy="1958814"/>
                </a:xfrm>
                <a:prstGeom prst="donut">
                  <a:avLst>
                    <a:gd name="adj" fmla="val 3384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Donut 38">
                  <a:extLst>
                    <a:ext uri="{FF2B5EF4-FFF2-40B4-BE49-F238E27FC236}">
                      <a16:creationId xmlns:a16="http://schemas.microsoft.com/office/drawing/2014/main" id="{F77226C3-0E54-C342-941A-5CD283BC6B94}"/>
                    </a:ext>
                  </a:extLst>
                </p:cNvPr>
                <p:cNvSpPr/>
                <p:nvPr/>
              </p:nvSpPr>
              <p:spPr>
                <a:xfrm>
                  <a:off x="1147177" y="3910460"/>
                  <a:ext cx="3292300" cy="2698574"/>
                </a:xfrm>
                <a:prstGeom prst="donut">
                  <a:avLst>
                    <a:gd name="adj" fmla="val 2070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FD43C725-FB0F-BD48-8125-A2596BEEFA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57660" y="4866641"/>
                  <a:ext cx="374258" cy="236362"/>
                </a:xfrm>
                <a:prstGeom prst="straightConnector1">
                  <a:avLst/>
                </a:prstGeom>
                <a:ln w="635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64BF5177-069D-9145-B7C8-CE27B271AB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211197" y="4160981"/>
                  <a:ext cx="177305" cy="318586"/>
                </a:xfrm>
                <a:prstGeom prst="straightConnector1">
                  <a:avLst/>
                </a:prstGeom>
                <a:ln w="635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E54DC61B-5DF2-DC4C-9288-EDC6F3304099}"/>
                      </a:ext>
                    </a:extLst>
                  </p:cNvPr>
                  <p:cNvSpPr/>
                  <p:nvPr/>
                </p:nvSpPr>
                <p:spPr>
                  <a:xfrm>
                    <a:off x="7707102" y="4103789"/>
                    <a:ext cx="1059821" cy="76944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400" b="0" dirty="0">
                      <a:solidFill>
                        <a:schemeClr val="tx1"/>
                      </a:solidFill>
                    </a:endParaRPr>
                  </a:p>
                  <a:p>
                    <a:r>
                      <a:rPr lang="en-US" sz="2000" dirty="0">
                        <a:solidFill>
                          <a:schemeClr val="tx1"/>
                        </a:solidFill>
                      </a:rPr>
                      <a:t>(system)</a:t>
                    </a:r>
                  </a:p>
                </p:txBody>
              </p:sp>
            </mc:Choice>
            <mc:Fallback xmlns="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E54DC61B-5DF2-DC4C-9288-EDC6F33040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7102" y="4103789"/>
                    <a:ext cx="1059821" cy="76944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5882" r="-5882" b="-129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FEB5A4C5-06CB-8A4A-B6F8-AA6791ED79AD}"/>
                    </a:ext>
                  </a:extLst>
                </p:cNvPr>
                <p:cNvSpPr/>
                <p:nvPr/>
              </p:nvSpPr>
              <p:spPr>
                <a:xfrm>
                  <a:off x="8793406" y="2814917"/>
                  <a:ext cx="2924122" cy="163121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𝑒𝑥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n-US" sz="2000" dirty="0">
                    <a:solidFill>
                      <a:srgbClr val="FF0000"/>
                    </a:solidFill>
                  </a:endParaRPr>
                </a:p>
                <a:p>
                  <a:pPr algn="ctr"/>
                  <a:r>
                    <a:rPr lang="en-US" sz="2000" dirty="0">
                      <a:solidFill>
                        <a:srgbClr val="FF0000"/>
                      </a:solidFill>
                    </a:rPr>
                    <a:t>System contracts </a:t>
                  </a:r>
                </a:p>
                <a:p>
                  <a:pPr algn="ctr"/>
                  <a:r>
                    <a:rPr lang="en-US" sz="2000" dirty="0">
                      <a:solidFill>
                        <a:srgbClr val="FF0000"/>
                      </a:solidFill>
                    </a:rPr>
                    <a:t>“Surroundings do work on the system”</a:t>
                  </a:r>
                </a:p>
              </p:txBody>
            </p:sp>
          </mc:Choice>
          <mc:Fallback xmlns="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FEB5A4C5-06CB-8A4A-B6F8-AA6791ED79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3406" y="2814917"/>
                  <a:ext cx="2924122" cy="1631216"/>
                </a:xfrm>
                <a:prstGeom prst="rect">
                  <a:avLst/>
                </a:prstGeom>
                <a:blipFill>
                  <a:blip r:embed="rId7"/>
                  <a:stretch>
                    <a:fillRect l="-1732" r="-3463" b="-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A7949D7-AF4D-5442-827D-1F697972E4AA}"/>
                    </a:ext>
                  </a:extLst>
                </p:cNvPr>
                <p:cNvSpPr/>
                <p:nvPr/>
              </p:nvSpPr>
              <p:spPr>
                <a:xfrm>
                  <a:off x="5736005" y="2818093"/>
                  <a:ext cx="2924123" cy="163121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𝑒𝑥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en-US" sz="2000" dirty="0">
                    <a:solidFill>
                      <a:srgbClr val="0070C0"/>
                    </a:solidFill>
                  </a:endParaRPr>
                </a:p>
                <a:p>
                  <a:pPr algn="ctr"/>
                  <a:r>
                    <a:rPr lang="en-US" sz="2000" dirty="0">
                      <a:solidFill>
                        <a:srgbClr val="0070C0"/>
                      </a:solidFill>
                    </a:rPr>
                    <a:t>System expands</a:t>
                  </a:r>
                </a:p>
                <a:p>
                  <a:pPr algn="ctr"/>
                  <a:r>
                    <a:rPr lang="en-US" sz="2000" dirty="0">
                      <a:solidFill>
                        <a:srgbClr val="0070C0"/>
                      </a:solidFill>
                    </a:rPr>
                    <a:t>“System does work on the surroundings”</a:t>
                  </a:r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A7949D7-AF4D-5442-827D-1F697972E4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6005" y="2818093"/>
                  <a:ext cx="2924123" cy="1631216"/>
                </a:xfrm>
                <a:prstGeom prst="rect">
                  <a:avLst/>
                </a:prstGeom>
                <a:blipFill>
                  <a:blip r:embed="rId8"/>
                  <a:stretch>
                    <a:fillRect l="-1299" r="-3463" b="-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6C01A29-2A98-1D4C-9077-FB0024D358C8}"/>
                </a:ext>
              </a:extLst>
            </p:cNvPr>
            <p:cNvGrpSpPr/>
            <p:nvPr/>
          </p:nvGrpSpPr>
          <p:grpSpPr>
            <a:xfrm>
              <a:off x="9443875" y="4916504"/>
              <a:ext cx="1870004" cy="1692333"/>
              <a:chOff x="7285933" y="3736039"/>
              <a:chExt cx="1870004" cy="1692333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6FA3817E-4D6C-884A-BDAF-D2B27E12E799}"/>
                  </a:ext>
                </a:extLst>
              </p:cNvPr>
              <p:cNvGrpSpPr/>
              <p:nvPr/>
            </p:nvGrpSpPr>
            <p:grpSpPr>
              <a:xfrm>
                <a:off x="7285933" y="3736039"/>
                <a:ext cx="1870004" cy="1692333"/>
                <a:chOff x="1606409" y="4479007"/>
                <a:chExt cx="2329488" cy="1958814"/>
              </a:xfrm>
            </p:grpSpPr>
            <p:sp>
              <p:nvSpPr>
                <p:cNvPr id="58" name="Donut 57">
                  <a:extLst>
                    <a:ext uri="{FF2B5EF4-FFF2-40B4-BE49-F238E27FC236}">
                      <a16:creationId xmlns:a16="http://schemas.microsoft.com/office/drawing/2014/main" id="{4E051B1E-D7DA-714E-985F-C170C674F16D}"/>
                    </a:ext>
                  </a:extLst>
                </p:cNvPr>
                <p:cNvSpPr/>
                <p:nvPr/>
              </p:nvSpPr>
              <p:spPr>
                <a:xfrm>
                  <a:off x="1606409" y="4479007"/>
                  <a:ext cx="2329488" cy="1958814"/>
                </a:xfrm>
                <a:prstGeom prst="donut">
                  <a:avLst>
                    <a:gd name="adj" fmla="val 3384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Donut 58">
                  <a:extLst>
                    <a:ext uri="{FF2B5EF4-FFF2-40B4-BE49-F238E27FC236}">
                      <a16:creationId xmlns:a16="http://schemas.microsoft.com/office/drawing/2014/main" id="{816BF10E-D106-794E-86D1-0BC6A0D33311}"/>
                    </a:ext>
                  </a:extLst>
                </p:cNvPr>
                <p:cNvSpPr/>
                <p:nvPr/>
              </p:nvSpPr>
              <p:spPr>
                <a:xfrm>
                  <a:off x="1909998" y="4996606"/>
                  <a:ext cx="1722310" cy="1034916"/>
                </a:xfrm>
                <a:prstGeom prst="donut">
                  <a:avLst>
                    <a:gd name="adj" fmla="val 5811"/>
                  </a:avLst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4BE761FF-350B-2A4D-B74B-7D14FD8831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90415" y="5115911"/>
                  <a:ext cx="283900" cy="170180"/>
                </a:xfrm>
                <a:prstGeom prst="straightConnector1">
                  <a:avLst/>
                </a:prstGeom>
                <a:ln w="635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65FB9B58-7613-9141-BBEA-323BC47C56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79876" y="4617497"/>
                  <a:ext cx="137544" cy="379109"/>
                </a:xfrm>
                <a:prstGeom prst="straightConnector1">
                  <a:avLst/>
                </a:prstGeom>
                <a:ln w="635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386EE4EE-8F32-5D4A-8B50-FD3BA6D400BB}"/>
                      </a:ext>
                    </a:extLst>
                  </p:cNvPr>
                  <p:cNvSpPr/>
                  <p:nvPr/>
                </p:nvSpPr>
                <p:spPr>
                  <a:xfrm>
                    <a:off x="7707102" y="4181846"/>
                    <a:ext cx="1059821" cy="76944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400" b="0" dirty="0">
                      <a:solidFill>
                        <a:schemeClr val="tx1"/>
                      </a:solidFill>
                    </a:endParaRPr>
                  </a:p>
                  <a:p>
                    <a:r>
                      <a:rPr lang="en-US" sz="2000" dirty="0">
                        <a:solidFill>
                          <a:schemeClr val="tx1"/>
                        </a:solidFill>
                      </a:rPr>
                      <a:t>(system)</a:t>
                    </a:r>
                  </a:p>
                </p:txBody>
              </p:sp>
            </mc:Choice>
            <mc:Fallback xmlns=""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386EE4EE-8F32-5D4A-8B50-FD3BA6D400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7102" y="4181846"/>
                    <a:ext cx="1059821" cy="76944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5882" r="-4706"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9B9ACE-333F-A9B3-1596-C08505534F2D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Thermodynamics calls it “work” when energy moves between a system and its surroundings as a result of anything other than a difference in temperature </a:t>
            </a:r>
          </a:p>
        </p:txBody>
      </p:sp>
    </p:spTree>
    <p:extLst>
      <p:ext uri="{BB962C8B-B14F-4D97-AF65-F5344CB8AC3E}">
        <p14:creationId xmlns:p14="http://schemas.microsoft.com/office/powerpoint/2010/main" val="26408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9B9ACE-333F-A9B3-1596-C08505534F2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Other kinds of “work”: what happens when you stir, stretch, compress, or cause friction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4CD2B0-6AF9-5FB3-7743-F4CCECAE61E9}"/>
              </a:ext>
            </a:extLst>
          </p:cNvPr>
          <p:cNvSpPr txBox="1"/>
          <p:nvPr/>
        </p:nvSpPr>
        <p:spPr>
          <a:xfrm>
            <a:off x="338953" y="1887194"/>
            <a:ext cx="55450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1845, the English physicist </a:t>
            </a:r>
            <a:r>
              <a:rPr lang="en-US" sz="2400" dirty="0">
                <a:hlinkClick r:id="rId2" tooltip="James Joule"/>
              </a:rPr>
              <a:t>James Joule</a:t>
            </a:r>
            <a:r>
              <a:rPr lang="en-US" sz="2400" dirty="0"/>
              <a:t> wrote a paper </a:t>
            </a:r>
            <a:r>
              <a:rPr lang="en-US" sz="2400" i="1" dirty="0"/>
              <a:t>On the mechanical equivalent of heat</a:t>
            </a:r>
            <a:r>
              <a:rPr lang="en-US" sz="2400" dirty="0"/>
              <a:t> for the British Association meeting in </a:t>
            </a:r>
            <a:r>
              <a:rPr lang="en-US" sz="2400" dirty="0">
                <a:hlinkClick r:id="rId3" tooltip="Cambridge"/>
              </a:rPr>
              <a:t>Cambridge</a:t>
            </a:r>
            <a:r>
              <a:rPr lang="en-US" sz="2400" dirty="0"/>
              <a:t>. In this paper, he reported his best-known experiment, in which the </a:t>
            </a:r>
            <a:r>
              <a:rPr lang="en-US" sz="2400" i="1" dirty="0"/>
              <a:t>mechanical power</a:t>
            </a:r>
            <a:r>
              <a:rPr lang="en-US" sz="2400" dirty="0"/>
              <a:t> released through the action of a "weight </a:t>
            </a:r>
            <a:r>
              <a:rPr lang="en-US" sz="2400" i="1" dirty="0"/>
              <a:t>falling</a:t>
            </a:r>
            <a:r>
              <a:rPr lang="en-US" sz="2400" dirty="0"/>
              <a:t> through a height" was used to turn a paddle-wheel in an insulated barrel of water. </a:t>
            </a: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983FD44A-1A64-2485-3891-E8FFDE83F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048" y="978242"/>
            <a:ext cx="5695467" cy="469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284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  <a:r>
              <a:rPr lang="en-US" sz="2400" b="1" baseline="30000" dirty="0"/>
              <a:t>st</a:t>
            </a:r>
            <a:r>
              <a:rPr lang="en-US" sz="2400" b="1" dirty="0"/>
              <a:t> law, infinitesimal form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40EDAA-6A51-B744-8BB9-4DCA81A067C0}"/>
                  </a:ext>
                </a:extLst>
              </p:cNvPr>
              <p:cNvSpPr txBox="1"/>
              <p:nvPr/>
            </p:nvSpPr>
            <p:spPr>
              <a:xfrm>
                <a:off x="193782" y="664311"/>
                <a:ext cx="10436019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𝒅𝑼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𝒅𝒒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𝒅𝒘</m:t>
                      </m:r>
                    </m:oMath>
                  </m:oMathPara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This is the same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that we’ve been talking about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𝑑𝑤</m:t>
                    </m:r>
                  </m:oMath>
                </a14:m>
                <a:r>
                  <a:rPr lang="en-US" sz="2400" dirty="0"/>
                  <a:t> is positive, the energy of the system goes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up</a:t>
                </a: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𝑑𝑤</m:t>
                    </m:r>
                  </m:oMath>
                </a14:m>
                <a:r>
                  <a:rPr lang="en-US" sz="2400" dirty="0"/>
                  <a:t> is negative, the energy of the system goes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down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changes are large, we say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40EDAA-6A51-B744-8BB9-4DCA81A06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82" y="664311"/>
                <a:ext cx="10436019" cy="3416320"/>
              </a:xfrm>
              <a:prstGeom prst="rect">
                <a:avLst/>
              </a:prstGeom>
              <a:blipFill>
                <a:blip r:embed="rId2"/>
                <a:stretch>
                  <a:fillRect l="-851" b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486C14D-B6BB-9A4F-B0B7-6503F76DA5AC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2927580" y="-2519032"/>
              <a:chExt cx="17025401" cy="727375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33AA5F8-39B5-5C4B-913F-A840D39ED361}"/>
                  </a:ext>
                </a:extLst>
              </p:cNvPr>
              <p:cNvGrpSpPr/>
              <p:nvPr/>
            </p:nvGrpSpPr>
            <p:grpSpPr>
              <a:xfrm>
                <a:off x="-2927580" y="-2519032"/>
                <a:ext cx="17025401" cy="7273754"/>
                <a:chOff x="-7264053" y="-1522649"/>
                <a:chExt cx="17025401" cy="7273754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8BA57AD-9DBE-3148-87D4-7C94C1381777}"/>
                    </a:ext>
                  </a:extLst>
                </p:cNvPr>
                <p:cNvGrpSpPr/>
                <p:nvPr/>
              </p:nvGrpSpPr>
              <p:grpSpPr>
                <a:xfrm>
                  <a:off x="2196621" y="1301259"/>
                  <a:ext cx="5095406" cy="4449846"/>
                  <a:chOff x="1321977" y="1539799"/>
                  <a:chExt cx="5095406" cy="4449846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AC4C8024-B96F-1540-9561-7379F8584EBF}"/>
                      </a:ext>
                    </a:extLst>
                  </p:cNvPr>
                  <p:cNvGrpSpPr/>
                  <p:nvPr/>
                </p:nvGrpSpPr>
                <p:grpSpPr>
                  <a:xfrm>
                    <a:off x="1321977" y="1539799"/>
                    <a:ext cx="5095406" cy="4449846"/>
                    <a:chOff x="2177322" y="1859897"/>
                    <a:chExt cx="5095406" cy="4449846"/>
                  </a:xfrm>
                </p:grpSpPr>
                <p:sp>
                  <p:nvSpPr>
                    <p:cNvPr id="33" name="Frame 32">
                      <a:extLst>
                        <a:ext uri="{FF2B5EF4-FFF2-40B4-BE49-F238E27FC236}">
                          <a16:creationId xmlns:a16="http://schemas.microsoft.com/office/drawing/2014/main" id="{D68BD596-B277-A046-B32E-2CD1229852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8564" y="2338466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4" name="Frame 33">
                      <a:extLst>
                        <a:ext uri="{FF2B5EF4-FFF2-40B4-BE49-F238E27FC236}">
                          <a16:creationId xmlns:a16="http://schemas.microsoft.com/office/drawing/2014/main" id="{7B5EB19A-AB09-374D-AEBF-5C09226BE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5620" y="1859897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id="{F8396F2E-66FA-C640-A8CE-C8D56AFD61B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203554" y="1866835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Connector 35">
                      <a:extLst>
                        <a:ext uri="{FF2B5EF4-FFF2-40B4-BE49-F238E27FC236}">
                          <a16:creationId xmlns:a16="http://schemas.microsoft.com/office/drawing/2014/main" id="{73971957-E19B-304A-98FF-173D0A14C60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35711" y="1917358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Connector 36">
                      <a:extLst>
                        <a:ext uri="{FF2B5EF4-FFF2-40B4-BE49-F238E27FC236}">
                          <a16:creationId xmlns:a16="http://schemas.microsoft.com/office/drawing/2014/main" id="{BB071D00-6653-3045-9669-0D129E7D690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52336" y="5317376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Connector 37">
                      <a:extLst>
                        <a:ext uri="{FF2B5EF4-FFF2-40B4-BE49-F238E27FC236}">
                          <a16:creationId xmlns:a16="http://schemas.microsoft.com/office/drawing/2014/main" id="{7B8F546F-4C4A-3A44-BC0F-C56043C291D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177322" y="5334001"/>
                      <a:ext cx="719528" cy="494675"/>
                    </a:xfrm>
                    <a:prstGeom prst="line">
                      <a:avLst/>
                    </a:prstGeom>
                    <a:ln w="635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 xmlns="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  <a:blipFill>
                          <a:blip r:embed="rId3"/>
                          <a:stretch>
                            <a:fillRect b="-1578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0" name="Rectangle 39">
                      <a:extLst>
                        <a:ext uri="{FF2B5EF4-FFF2-40B4-BE49-F238E27FC236}">
                          <a16:creationId xmlns:a16="http://schemas.microsoft.com/office/drawing/2014/main" id="{B016F11F-660D-4A41-BA22-17998D028F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242" y="5848078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7CF41985-AEDE-214E-A4C3-F740446D4A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05877" y="4791001"/>
                      <a:ext cx="35939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V</a:t>
                      </a:r>
                    </a:p>
                  </p:txBody>
                </p: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67C232A9-393A-AE41-B792-4C78D6D8CD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3554" y="5824238"/>
                      <a:ext cx="4314668" cy="0"/>
                    </a:xfrm>
                    <a:prstGeom prst="line">
                      <a:avLst/>
                    </a:prstGeom>
                    <a:ln w="63500"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DD96E945-3D92-4F47-BE77-512549DC3D0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61461" y="4222012"/>
                    <a:ext cx="662066" cy="408928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0A4C6BCC-8348-0D42-8D86-1FDF7D15D3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19057" y="3446291"/>
                    <a:ext cx="677055" cy="486637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" name="Arc 27">
                  <a:extLst>
                    <a:ext uri="{FF2B5EF4-FFF2-40B4-BE49-F238E27FC236}">
                      <a16:creationId xmlns:a16="http://schemas.microsoft.com/office/drawing/2014/main" id="{EDB7A530-1C2B-7D45-8C03-502C393D94BC}"/>
                    </a:ext>
                  </a:extLst>
                </p:cNvPr>
                <p:cNvSpPr/>
                <p:nvPr/>
              </p:nvSpPr>
              <p:spPr>
                <a:xfrm>
                  <a:off x="-6548553" y="-1522649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277ECA4A-7553-6D41-AD93-5B9A4B802ABF}"/>
                    </a:ext>
                  </a:extLst>
                </p:cNvPr>
                <p:cNvSpPr/>
                <p:nvPr/>
              </p:nvSpPr>
              <p:spPr>
                <a:xfrm>
                  <a:off x="-7264053" y="-1075780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1DB1309-DD7F-0C48-BCF2-E4602063FD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26114" y="3749989"/>
                <a:ext cx="1177719" cy="411595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350327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00198" y="2830276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Frame 42">
            <a:extLst>
              <a:ext uri="{FF2B5EF4-FFF2-40B4-BE49-F238E27FC236}">
                <a16:creationId xmlns:a16="http://schemas.microsoft.com/office/drawing/2014/main" id="{2274508B-F9F5-7F4E-B021-74D6253448B1}"/>
              </a:ext>
            </a:extLst>
          </p:cNvPr>
          <p:cNvSpPr/>
          <p:nvPr/>
        </p:nvSpPr>
        <p:spPr>
          <a:xfrm>
            <a:off x="4226598" y="953040"/>
            <a:ext cx="2388426" cy="563357"/>
          </a:xfrm>
          <a:prstGeom prst="frame">
            <a:avLst>
              <a:gd name="adj1" fmla="val 7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9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Applying the 1</a:t>
            </a:r>
            <a:r>
              <a:rPr lang="en-US" sz="2400" b="1" baseline="30000" dirty="0"/>
              <a:t>st</a:t>
            </a:r>
            <a:r>
              <a:rPr lang="en-US" sz="2400" b="1" dirty="0"/>
              <a:t> law when heating (or cooling) a diatomic ideal gas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486C14D-B6BB-9A4F-B0B7-6503F76DA5AC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2927580" y="-2519032"/>
              <a:chExt cx="17025401" cy="727375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33AA5F8-39B5-5C4B-913F-A840D39ED361}"/>
                  </a:ext>
                </a:extLst>
              </p:cNvPr>
              <p:cNvGrpSpPr/>
              <p:nvPr/>
            </p:nvGrpSpPr>
            <p:grpSpPr>
              <a:xfrm>
                <a:off x="-2927580" y="-2519032"/>
                <a:ext cx="17025401" cy="7273754"/>
                <a:chOff x="-7264053" y="-1522649"/>
                <a:chExt cx="17025401" cy="7273754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8BA57AD-9DBE-3148-87D4-7C94C1381777}"/>
                    </a:ext>
                  </a:extLst>
                </p:cNvPr>
                <p:cNvGrpSpPr/>
                <p:nvPr/>
              </p:nvGrpSpPr>
              <p:grpSpPr>
                <a:xfrm>
                  <a:off x="2196621" y="1301259"/>
                  <a:ext cx="5095406" cy="4449846"/>
                  <a:chOff x="1321977" y="1539799"/>
                  <a:chExt cx="5095406" cy="4449846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AC4C8024-B96F-1540-9561-7379F8584EBF}"/>
                      </a:ext>
                    </a:extLst>
                  </p:cNvPr>
                  <p:cNvGrpSpPr/>
                  <p:nvPr/>
                </p:nvGrpSpPr>
                <p:grpSpPr>
                  <a:xfrm>
                    <a:off x="1321977" y="1539799"/>
                    <a:ext cx="5095406" cy="4449846"/>
                    <a:chOff x="2177322" y="1859897"/>
                    <a:chExt cx="5095406" cy="4449846"/>
                  </a:xfrm>
                </p:grpSpPr>
                <p:sp>
                  <p:nvSpPr>
                    <p:cNvPr id="33" name="Frame 32">
                      <a:extLst>
                        <a:ext uri="{FF2B5EF4-FFF2-40B4-BE49-F238E27FC236}">
                          <a16:creationId xmlns:a16="http://schemas.microsoft.com/office/drawing/2014/main" id="{D68BD596-B277-A046-B32E-2CD1229852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8564" y="2338466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4" name="Frame 33">
                      <a:extLst>
                        <a:ext uri="{FF2B5EF4-FFF2-40B4-BE49-F238E27FC236}">
                          <a16:creationId xmlns:a16="http://schemas.microsoft.com/office/drawing/2014/main" id="{7B5EB19A-AB09-374D-AEBF-5C09226BE5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5620" y="1859897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id="{F8396F2E-66FA-C640-A8CE-C8D56AFD61B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203554" y="1866835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Connector 35">
                      <a:extLst>
                        <a:ext uri="{FF2B5EF4-FFF2-40B4-BE49-F238E27FC236}">
                          <a16:creationId xmlns:a16="http://schemas.microsoft.com/office/drawing/2014/main" id="{73971957-E19B-304A-98FF-173D0A14C60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35711" y="1917358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Connector 36">
                      <a:extLst>
                        <a:ext uri="{FF2B5EF4-FFF2-40B4-BE49-F238E27FC236}">
                          <a16:creationId xmlns:a16="http://schemas.microsoft.com/office/drawing/2014/main" id="{BB071D00-6653-3045-9669-0D129E7D690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52336" y="5317376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Connector 37">
                      <a:extLst>
                        <a:ext uri="{FF2B5EF4-FFF2-40B4-BE49-F238E27FC236}">
                          <a16:creationId xmlns:a16="http://schemas.microsoft.com/office/drawing/2014/main" id="{7B8F546F-4C4A-3A44-BC0F-C56043C291D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177322" y="5334001"/>
                      <a:ext cx="719528" cy="494675"/>
                    </a:xfrm>
                    <a:prstGeom prst="line">
                      <a:avLst/>
                    </a:prstGeom>
                    <a:ln w="635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 xmlns="">
                    <p:sp>
                      <p:nvSpPr>
                        <p:cNvPr id="39" name="Rectangle 38">
                          <a:extLst>
                            <a:ext uri="{FF2B5EF4-FFF2-40B4-BE49-F238E27FC236}">
                              <a16:creationId xmlns:a16="http://schemas.microsoft.com/office/drawing/2014/main" id="{E43DEF79-5739-FE4D-9F9C-39DEF0228D5C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  <a:blipFill>
                          <a:blip r:embed="rId2"/>
                          <a:stretch>
                            <a:fillRect b="-1578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0" name="Rectangle 39">
                      <a:extLst>
                        <a:ext uri="{FF2B5EF4-FFF2-40B4-BE49-F238E27FC236}">
                          <a16:creationId xmlns:a16="http://schemas.microsoft.com/office/drawing/2014/main" id="{B016F11F-660D-4A41-BA22-17998D028F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242" y="5848078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7CF41985-AEDE-214E-A4C3-F740446D4A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05877" y="4791001"/>
                      <a:ext cx="35939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V</a:t>
                      </a:r>
                    </a:p>
                  </p:txBody>
                </p: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67C232A9-393A-AE41-B792-4C78D6D8CD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3554" y="5824238"/>
                      <a:ext cx="4314668" cy="0"/>
                    </a:xfrm>
                    <a:prstGeom prst="line">
                      <a:avLst/>
                    </a:prstGeom>
                    <a:ln w="63500"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DD96E945-3D92-4F47-BE77-512549DC3D0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61461" y="4222012"/>
                    <a:ext cx="662066" cy="408928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0A4C6BCC-8348-0D42-8D86-1FDF7D15D3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19057" y="3446291"/>
                    <a:ext cx="677055" cy="486637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" name="Arc 27">
                  <a:extLst>
                    <a:ext uri="{FF2B5EF4-FFF2-40B4-BE49-F238E27FC236}">
                      <a16:creationId xmlns:a16="http://schemas.microsoft.com/office/drawing/2014/main" id="{EDB7A530-1C2B-7D45-8C03-502C393D94BC}"/>
                    </a:ext>
                  </a:extLst>
                </p:cNvPr>
                <p:cNvSpPr/>
                <p:nvPr/>
              </p:nvSpPr>
              <p:spPr>
                <a:xfrm>
                  <a:off x="-6548553" y="-1522649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277ECA4A-7553-6D41-AD93-5B9A4B802ABF}"/>
                    </a:ext>
                  </a:extLst>
                </p:cNvPr>
                <p:cNvSpPr/>
                <p:nvPr/>
              </p:nvSpPr>
              <p:spPr>
                <a:xfrm>
                  <a:off x="-7264053" y="-1075780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1DB1309-DD7F-0C48-BCF2-E4602063FD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26114" y="4161584"/>
                <a:ext cx="1051803" cy="0"/>
              </a:xfrm>
              <a:prstGeom prst="line">
                <a:avLst/>
              </a:prstGeom>
              <a:ln w="635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688244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D2D1A6-76BD-DB4A-9DBF-34141BAB9DF8}"/>
              </a:ext>
            </a:extLst>
          </p:cNvPr>
          <p:cNvGrpSpPr/>
          <p:nvPr/>
        </p:nvGrpSpPr>
        <p:grpSpPr>
          <a:xfrm>
            <a:off x="889237" y="1107301"/>
            <a:ext cx="3835297" cy="3915209"/>
            <a:chOff x="9173981" y="-416399"/>
            <a:chExt cx="3835297" cy="3915209"/>
          </a:xfrm>
        </p:grpSpPr>
        <p:sp>
          <p:nvSpPr>
            <p:cNvPr id="43" name="Donut 42">
              <a:extLst>
                <a:ext uri="{FF2B5EF4-FFF2-40B4-BE49-F238E27FC236}">
                  <a16:creationId xmlns:a16="http://schemas.microsoft.com/office/drawing/2014/main" id="{3B300B8E-A9CA-9D4D-9A5F-9C353D4E6DA7}"/>
                </a:ext>
              </a:extLst>
            </p:cNvPr>
            <p:cNvSpPr/>
            <p:nvPr/>
          </p:nvSpPr>
          <p:spPr>
            <a:xfrm>
              <a:off x="9173981" y="1774942"/>
              <a:ext cx="2068642" cy="1723868"/>
            </a:xfrm>
            <a:prstGeom prst="donut">
              <a:avLst>
                <a:gd name="adj" fmla="val 49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0F77F6-0DF9-EC4A-92C5-E40C4EF70E1C}"/>
                </a:ext>
              </a:extLst>
            </p:cNvPr>
            <p:cNvSpPr txBox="1"/>
            <p:nvPr/>
          </p:nvSpPr>
          <p:spPr>
            <a:xfrm>
              <a:off x="9598664" y="2251733"/>
              <a:ext cx="12249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</a:p>
            <a:p>
              <a:pPr algn="ctr"/>
              <a:r>
                <a:rPr lang="en-US" sz="2000" dirty="0"/>
                <a:t>(system)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13CDAFC-4588-2246-9E7A-DF4085048834}"/>
                </a:ext>
              </a:extLst>
            </p:cNvPr>
            <p:cNvGrpSpPr/>
            <p:nvPr/>
          </p:nvGrpSpPr>
          <p:grpSpPr>
            <a:xfrm>
              <a:off x="10039170" y="-416399"/>
              <a:ext cx="2970108" cy="2694904"/>
              <a:chOff x="10039170" y="-416399"/>
              <a:chExt cx="2970108" cy="2694904"/>
            </a:xfrm>
          </p:grpSpPr>
          <p:cxnSp>
            <p:nvCxnSpPr>
              <p:cNvPr id="49" name="Curved Connector 48">
                <a:extLst>
                  <a:ext uri="{FF2B5EF4-FFF2-40B4-BE49-F238E27FC236}">
                    <a16:creationId xmlns:a16="http://schemas.microsoft.com/office/drawing/2014/main" id="{F37D7A4E-F605-5F4B-AE73-DBBF9E320118}"/>
                  </a:ext>
                </a:extLst>
              </p:cNvPr>
              <p:cNvCxnSpPr/>
              <p:nvPr/>
            </p:nvCxnSpPr>
            <p:spPr>
              <a:xfrm rot="5400000">
                <a:off x="10178322" y="1289154"/>
                <a:ext cx="1334125" cy="644577"/>
              </a:xfrm>
              <a:prstGeom prst="curvedConnector3">
                <a:avLst/>
              </a:prstGeom>
              <a:ln w="635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6755A9C-1126-8646-BBCC-DDA6BADC0768}"/>
                      </a:ext>
                    </a:extLst>
                  </p:cNvPr>
                  <p:cNvSpPr/>
                  <p:nvPr/>
                </p:nvSpPr>
                <p:spPr>
                  <a:xfrm>
                    <a:off x="10039170" y="-416399"/>
                    <a:ext cx="2970108" cy="120032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n-US" sz="2400" i="1" dirty="0">
                      <a:solidFill>
                        <a:srgbClr val="FF0000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=+10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  <a:p>
                    <a:r>
                      <a:rPr lang="en-US" sz="2400" dirty="0">
                        <a:solidFill>
                          <a:schemeClr val="tx1"/>
                        </a:solidFill>
                      </a:rPr>
                      <a:t>Keep the volume fixed</a:t>
                    </a:r>
                  </a:p>
                </p:txBody>
              </p:sp>
            </mc:Choice>
            <mc:Fallback xmlns=""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6755A9C-1126-8646-BBCC-DDA6BADC07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39170" y="-416399"/>
                    <a:ext cx="2970108" cy="120032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419" r="-2564"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8A1BD232-F49D-5D48-8FA4-83DD20E7BB67}"/>
              </a:ext>
            </a:extLst>
          </p:cNvPr>
          <p:cNvSpPr/>
          <p:nvPr/>
        </p:nvSpPr>
        <p:spPr>
          <a:xfrm>
            <a:off x="3717895" y="2824082"/>
            <a:ext cx="77443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This looks like </a:t>
            </a:r>
            <a:r>
              <a:rPr lang="en-US" sz="2400" b="1" dirty="0">
                <a:solidFill>
                  <a:schemeClr val="tx1"/>
                </a:solidFill>
              </a:rPr>
              <a:t>isochoric heating</a:t>
            </a:r>
          </a:p>
        </p:txBody>
      </p:sp>
    </p:spTree>
    <p:extLst>
      <p:ext uri="{BB962C8B-B14F-4D97-AF65-F5344CB8AC3E}">
        <p14:creationId xmlns:p14="http://schemas.microsoft.com/office/powerpoint/2010/main" val="226678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33AA5F8-39B5-5C4B-913F-A840D39ED361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8BA57AD-9DBE-3148-87D4-7C94C138177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AC4C8024-B96F-1540-9561-7379F8584EBF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33" name="Frame 32">
                    <a:extLst>
                      <a:ext uri="{FF2B5EF4-FFF2-40B4-BE49-F238E27FC236}">
                        <a16:creationId xmlns:a16="http://schemas.microsoft.com/office/drawing/2014/main" id="{D68BD596-B277-A046-B32E-2CD1229852D9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Frame 33">
                    <a:extLst>
                      <a:ext uri="{FF2B5EF4-FFF2-40B4-BE49-F238E27FC236}">
                        <a16:creationId xmlns:a16="http://schemas.microsoft.com/office/drawing/2014/main" id="{7B5EB19A-AB09-374D-AEBF-5C09226BE5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8396F2E-66FA-C640-A8CE-C8D56AFD61B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73971957-E19B-304A-98FF-173D0A14C6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BB071D00-6653-3045-9669-0D129E7D690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7B8F546F-4C4A-3A44-BC0F-C56043C291D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b="-1578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B016F11F-660D-4A41-BA22-17998D028F3C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7CF41985-AEDE-214E-A4C3-F740446D4AAC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67C232A9-393A-AE41-B792-4C78D6D8CD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D96E945-3D92-4F47-BE77-512549DC3D0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A4C6BCC-8348-0D42-8D86-1FDF7D15D3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EDB7A530-1C2B-7D45-8C03-502C393D94BC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277ECA4A-7553-6D41-AD93-5B9A4B802ABF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688244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661A6C1-7E32-244C-B1C3-08750F360D43}"/>
              </a:ext>
            </a:extLst>
          </p:cNvPr>
          <p:cNvGrpSpPr/>
          <p:nvPr/>
        </p:nvGrpSpPr>
        <p:grpSpPr>
          <a:xfrm>
            <a:off x="889237" y="1107301"/>
            <a:ext cx="3835297" cy="3915209"/>
            <a:chOff x="9173981" y="-416399"/>
            <a:chExt cx="3835297" cy="3915209"/>
          </a:xfrm>
        </p:grpSpPr>
        <p:sp>
          <p:nvSpPr>
            <p:cNvPr id="47" name="Donut 46">
              <a:extLst>
                <a:ext uri="{FF2B5EF4-FFF2-40B4-BE49-F238E27FC236}">
                  <a16:creationId xmlns:a16="http://schemas.microsoft.com/office/drawing/2014/main" id="{80F702DC-B09D-EC4B-AA89-4FAB3E7A5280}"/>
                </a:ext>
              </a:extLst>
            </p:cNvPr>
            <p:cNvSpPr/>
            <p:nvPr/>
          </p:nvSpPr>
          <p:spPr>
            <a:xfrm>
              <a:off x="9173981" y="1774942"/>
              <a:ext cx="2068642" cy="1723868"/>
            </a:xfrm>
            <a:prstGeom prst="donut">
              <a:avLst>
                <a:gd name="adj" fmla="val 49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0A5AC75-2D8F-8945-B7B4-52938497A945}"/>
                </a:ext>
              </a:extLst>
            </p:cNvPr>
            <p:cNvSpPr txBox="1"/>
            <p:nvPr/>
          </p:nvSpPr>
          <p:spPr>
            <a:xfrm>
              <a:off x="9598664" y="2251733"/>
              <a:ext cx="12249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</a:p>
            <a:p>
              <a:pPr algn="ctr"/>
              <a:r>
                <a:rPr lang="en-US" sz="2000" dirty="0"/>
                <a:t>(system)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0A1CB33-EC7F-CA49-8280-858FE6C3C973}"/>
                </a:ext>
              </a:extLst>
            </p:cNvPr>
            <p:cNvGrpSpPr/>
            <p:nvPr/>
          </p:nvGrpSpPr>
          <p:grpSpPr>
            <a:xfrm>
              <a:off x="10039170" y="-416399"/>
              <a:ext cx="2970108" cy="2694904"/>
              <a:chOff x="10039170" y="-416399"/>
              <a:chExt cx="2970108" cy="2694904"/>
            </a:xfrm>
          </p:grpSpPr>
          <p:cxnSp>
            <p:nvCxnSpPr>
              <p:cNvPr id="53" name="Curved Connector 52">
                <a:extLst>
                  <a:ext uri="{FF2B5EF4-FFF2-40B4-BE49-F238E27FC236}">
                    <a16:creationId xmlns:a16="http://schemas.microsoft.com/office/drawing/2014/main" id="{31A48AEB-64DF-C944-B8FD-91E4A99269C0}"/>
                  </a:ext>
                </a:extLst>
              </p:cNvPr>
              <p:cNvCxnSpPr/>
              <p:nvPr/>
            </p:nvCxnSpPr>
            <p:spPr>
              <a:xfrm rot="5400000">
                <a:off x="10178322" y="1289154"/>
                <a:ext cx="1334125" cy="644577"/>
              </a:xfrm>
              <a:prstGeom prst="curvedConnector3">
                <a:avLst/>
              </a:prstGeom>
              <a:ln w="635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008D400A-361F-C946-84C0-28C95D71501C}"/>
                      </a:ext>
                    </a:extLst>
                  </p:cNvPr>
                  <p:cNvSpPr/>
                  <p:nvPr/>
                </p:nvSpPr>
                <p:spPr>
                  <a:xfrm>
                    <a:off x="10039170" y="-416399"/>
                    <a:ext cx="2970108" cy="120032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n-US" sz="2400" i="1" dirty="0">
                      <a:solidFill>
                        <a:srgbClr val="FF0000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𝑑𝑞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=+10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oMath>
                      </m:oMathPara>
                    </a14:m>
                    <a:endParaRPr lang="en-US" sz="2400" dirty="0"/>
                  </a:p>
                  <a:p>
                    <a:r>
                      <a:rPr lang="en-US" sz="2400" dirty="0">
                        <a:solidFill>
                          <a:schemeClr val="tx1"/>
                        </a:solidFill>
                      </a:rPr>
                      <a:t>Keep the volume fixed</a:t>
                    </a:r>
                  </a:p>
                </p:txBody>
              </p:sp>
            </mc:Choice>
            <mc:Fallback xmlns="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008D400A-361F-C946-84C0-28C95D7150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39170" y="-416399"/>
                    <a:ext cx="2970108" cy="120032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419" r="-2564"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88D900D-DB70-6C4E-A10A-A7EC83F85DEC}"/>
                  </a:ext>
                </a:extLst>
              </p:cNvPr>
              <p:cNvSpPr/>
              <p:nvPr/>
            </p:nvSpPr>
            <p:spPr>
              <a:xfrm>
                <a:off x="3717895" y="2824082"/>
                <a:ext cx="774434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This looks like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isochoric heating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𝑑𝑞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trike="sngStrike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=+10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88D900D-DB70-6C4E-A10A-A7EC83F85D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95" y="2824082"/>
                <a:ext cx="7744340" cy="1200329"/>
              </a:xfrm>
              <a:prstGeom prst="rect">
                <a:avLst/>
              </a:prstGeom>
              <a:blipFill>
                <a:blip r:embed="rId4"/>
                <a:stretch>
                  <a:fillRect l="-1146" t="-4211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A4F2BA9B-DC4D-984A-BC94-244C9E3F4B62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Applying the 1</a:t>
            </a:r>
            <a:r>
              <a:rPr lang="en-US" sz="2400" b="1" baseline="30000" dirty="0"/>
              <a:t>st</a:t>
            </a:r>
            <a:r>
              <a:rPr lang="en-US" sz="2400" b="1" dirty="0"/>
              <a:t> law when heating (or cooling) a diatomic ideal gas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A8C9D04-DF9D-6F47-B44E-1658D82726B5}"/>
              </a:ext>
            </a:extLst>
          </p:cNvPr>
          <p:cNvCxnSpPr>
            <a:cxnSpLocks/>
          </p:cNvCxnSpPr>
          <p:nvPr/>
        </p:nvCxnSpPr>
        <p:spPr>
          <a:xfrm>
            <a:off x="10584502" y="3008394"/>
            <a:ext cx="570023" cy="0"/>
          </a:xfrm>
          <a:prstGeom prst="line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07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33AA5F8-39B5-5C4B-913F-A840D39ED361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8BA57AD-9DBE-3148-87D4-7C94C138177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AC4C8024-B96F-1540-9561-7379F8584EBF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33" name="Frame 32">
                    <a:extLst>
                      <a:ext uri="{FF2B5EF4-FFF2-40B4-BE49-F238E27FC236}">
                        <a16:creationId xmlns:a16="http://schemas.microsoft.com/office/drawing/2014/main" id="{D68BD596-B277-A046-B32E-2CD1229852D9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Frame 33">
                    <a:extLst>
                      <a:ext uri="{FF2B5EF4-FFF2-40B4-BE49-F238E27FC236}">
                        <a16:creationId xmlns:a16="http://schemas.microsoft.com/office/drawing/2014/main" id="{7B5EB19A-AB09-374D-AEBF-5C09226BE5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8396F2E-66FA-C640-A8CE-C8D56AFD61B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73971957-E19B-304A-98FF-173D0A14C6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BB071D00-6653-3045-9669-0D129E7D690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7B8F546F-4C4A-3A44-BC0F-C56043C291D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b="-1578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B016F11F-660D-4A41-BA22-17998D028F3C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7CF41985-AEDE-214E-A4C3-F740446D4AAC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67C232A9-393A-AE41-B792-4C78D6D8CD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D96E945-3D92-4F47-BE77-512549DC3D0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A4C6BCC-8348-0D42-8D86-1FDF7D15D3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EDB7A530-1C2B-7D45-8C03-502C393D94BC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277ECA4A-7553-6D41-AD93-5B9A4B802ABF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688244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8667B00-8549-C24C-B050-6D12B17948A8}"/>
                  </a:ext>
                </a:extLst>
              </p:cNvPr>
              <p:cNvSpPr/>
              <p:nvPr/>
            </p:nvSpPr>
            <p:spPr>
              <a:xfrm>
                <a:off x="3717895" y="2824082"/>
                <a:ext cx="7744340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This looks like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isochoric heating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=+10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We can also figure out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change in temperature</a:t>
                </a:r>
                <a:r>
                  <a:rPr lang="en-US" sz="2400" dirty="0">
                    <a:solidFill>
                      <a:schemeClr val="tx1"/>
                    </a:solidFill>
                  </a:rPr>
                  <a:t>!</a:t>
                </a: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8667B00-8549-C24C-B050-6D12B17948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95" y="2824082"/>
                <a:ext cx="7744340" cy="1938992"/>
              </a:xfrm>
              <a:prstGeom prst="rect">
                <a:avLst/>
              </a:prstGeom>
              <a:blipFill>
                <a:blip r:embed="rId3"/>
                <a:stretch>
                  <a:fillRect l="-1146" t="-2614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A0446FF6-0B4F-E640-8363-AA316DAFFF18}"/>
              </a:ext>
            </a:extLst>
          </p:cNvPr>
          <p:cNvGrpSpPr/>
          <p:nvPr/>
        </p:nvGrpSpPr>
        <p:grpSpPr>
          <a:xfrm>
            <a:off x="889237" y="1107301"/>
            <a:ext cx="3835297" cy="3915209"/>
            <a:chOff x="9173981" y="-416399"/>
            <a:chExt cx="3835297" cy="3915209"/>
          </a:xfrm>
        </p:grpSpPr>
        <p:sp>
          <p:nvSpPr>
            <p:cNvPr id="47" name="Donut 46">
              <a:extLst>
                <a:ext uri="{FF2B5EF4-FFF2-40B4-BE49-F238E27FC236}">
                  <a16:creationId xmlns:a16="http://schemas.microsoft.com/office/drawing/2014/main" id="{E0013723-DA5D-EA4E-9519-9475314D9C62}"/>
                </a:ext>
              </a:extLst>
            </p:cNvPr>
            <p:cNvSpPr/>
            <p:nvPr/>
          </p:nvSpPr>
          <p:spPr>
            <a:xfrm>
              <a:off x="9173981" y="1774942"/>
              <a:ext cx="2068642" cy="1723868"/>
            </a:xfrm>
            <a:prstGeom prst="donut">
              <a:avLst>
                <a:gd name="adj" fmla="val 49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C8CDB05-35F3-2E42-BA54-148D0CE773CB}"/>
                </a:ext>
              </a:extLst>
            </p:cNvPr>
            <p:cNvSpPr txBox="1"/>
            <p:nvPr/>
          </p:nvSpPr>
          <p:spPr>
            <a:xfrm>
              <a:off x="9598664" y="2251733"/>
              <a:ext cx="12249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</a:p>
            <a:p>
              <a:pPr algn="ctr"/>
              <a:r>
                <a:rPr lang="en-US" sz="2000" dirty="0"/>
                <a:t>(system)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59ABA29-C09B-C446-9099-5875BE76A7AC}"/>
                </a:ext>
              </a:extLst>
            </p:cNvPr>
            <p:cNvGrpSpPr/>
            <p:nvPr/>
          </p:nvGrpSpPr>
          <p:grpSpPr>
            <a:xfrm>
              <a:off x="10039170" y="-416399"/>
              <a:ext cx="2970108" cy="2694904"/>
              <a:chOff x="10039170" y="-416399"/>
              <a:chExt cx="2970108" cy="2694904"/>
            </a:xfrm>
          </p:grpSpPr>
          <p:cxnSp>
            <p:nvCxnSpPr>
              <p:cNvPr id="53" name="Curved Connector 52">
                <a:extLst>
                  <a:ext uri="{FF2B5EF4-FFF2-40B4-BE49-F238E27FC236}">
                    <a16:creationId xmlns:a16="http://schemas.microsoft.com/office/drawing/2014/main" id="{C35B9185-6170-6543-8219-4DDD5A44F58B}"/>
                  </a:ext>
                </a:extLst>
              </p:cNvPr>
              <p:cNvCxnSpPr/>
              <p:nvPr/>
            </p:nvCxnSpPr>
            <p:spPr>
              <a:xfrm rot="5400000">
                <a:off x="10178322" y="1289154"/>
                <a:ext cx="1334125" cy="644577"/>
              </a:xfrm>
              <a:prstGeom prst="curvedConnector3">
                <a:avLst/>
              </a:prstGeom>
              <a:ln w="635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8B627C20-A287-604C-AA6C-AE834B38E0FD}"/>
                      </a:ext>
                    </a:extLst>
                  </p:cNvPr>
                  <p:cNvSpPr/>
                  <p:nvPr/>
                </p:nvSpPr>
                <p:spPr>
                  <a:xfrm>
                    <a:off x="10039170" y="-416399"/>
                    <a:ext cx="2970108" cy="120032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n-US" sz="2400" i="1" dirty="0">
                      <a:solidFill>
                        <a:srgbClr val="FF0000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𝑑𝑞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=+10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oMath>
                      </m:oMathPara>
                    </a14:m>
                    <a:endParaRPr lang="en-US" sz="2400" dirty="0"/>
                  </a:p>
                  <a:p>
                    <a:r>
                      <a:rPr lang="en-US" sz="2400" dirty="0">
                        <a:solidFill>
                          <a:schemeClr val="tx1"/>
                        </a:solidFill>
                      </a:rPr>
                      <a:t>Keep the volume fixed</a:t>
                    </a:r>
                  </a:p>
                </p:txBody>
              </p:sp>
            </mc:Choice>
            <mc:Fallback xmlns="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8B627C20-A287-604C-AA6C-AE834B38E0F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39170" y="-416399"/>
                    <a:ext cx="2970108" cy="120032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419" r="-2564"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0C80C21-6821-A341-8E4C-E914FE88E8CC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Applying the 1</a:t>
            </a:r>
            <a:r>
              <a:rPr lang="en-US" sz="2400" b="1" baseline="30000" dirty="0"/>
              <a:t>st</a:t>
            </a:r>
            <a:r>
              <a:rPr lang="en-US" sz="2400" b="1" dirty="0"/>
              <a:t> law when heating (or cooling) a diatomic ideal gas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10B93F4-CDB5-1D40-96BE-FAE0AFD5C928}"/>
              </a:ext>
            </a:extLst>
          </p:cNvPr>
          <p:cNvCxnSpPr>
            <a:cxnSpLocks/>
          </p:cNvCxnSpPr>
          <p:nvPr/>
        </p:nvCxnSpPr>
        <p:spPr>
          <a:xfrm>
            <a:off x="10584502" y="3008394"/>
            <a:ext cx="570023" cy="0"/>
          </a:xfrm>
          <a:prstGeom prst="line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152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33AA5F8-39B5-5C4B-913F-A840D39ED361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8BA57AD-9DBE-3148-87D4-7C94C138177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AC4C8024-B96F-1540-9561-7379F8584EBF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33" name="Frame 32">
                    <a:extLst>
                      <a:ext uri="{FF2B5EF4-FFF2-40B4-BE49-F238E27FC236}">
                        <a16:creationId xmlns:a16="http://schemas.microsoft.com/office/drawing/2014/main" id="{D68BD596-B277-A046-B32E-2CD1229852D9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Frame 33">
                    <a:extLst>
                      <a:ext uri="{FF2B5EF4-FFF2-40B4-BE49-F238E27FC236}">
                        <a16:creationId xmlns:a16="http://schemas.microsoft.com/office/drawing/2014/main" id="{7B5EB19A-AB09-374D-AEBF-5C09226BE5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8396F2E-66FA-C640-A8CE-C8D56AFD61B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73971957-E19B-304A-98FF-173D0A14C6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BB071D00-6653-3045-9669-0D129E7D690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7B8F546F-4C4A-3A44-BC0F-C56043C291D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b="-1578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B016F11F-660D-4A41-BA22-17998D028F3C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7CF41985-AEDE-214E-A4C3-F740446D4AAC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67C232A9-393A-AE41-B792-4C78D6D8CD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D96E945-3D92-4F47-BE77-512549DC3D0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A4C6BCC-8348-0D42-8D86-1FDF7D15D3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EDB7A530-1C2B-7D45-8C03-502C393D94BC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277ECA4A-7553-6D41-AD93-5B9A4B802ABF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688244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8667B00-8549-C24C-B050-6D12B17948A8}"/>
                  </a:ext>
                </a:extLst>
              </p:cNvPr>
              <p:cNvSpPr/>
              <p:nvPr/>
            </p:nvSpPr>
            <p:spPr>
              <a:xfrm>
                <a:off x="3717895" y="2824082"/>
                <a:ext cx="7744340" cy="30135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This looks like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isochoric heating</a:t>
                </a:r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=+10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We can also figure out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change in temperature</a:t>
                </a:r>
                <a:r>
                  <a:rPr lang="en-US" sz="2400" dirty="0">
                    <a:solidFill>
                      <a:schemeClr val="tx1"/>
                    </a:solidFill>
                  </a:rPr>
                  <a:t>!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𝒅𝑼</m:t>
                    </m:r>
                    <m:r>
                      <a:rPr lang="en-US" sz="2400" b="1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𝑑𝑈</m:t>
                        </m:r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𝟑𝟒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sz="24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8667B00-8549-C24C-B050-6D12B17948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95" y="2824082"/>
                <a:ext cx="7744340" cy="3013582"/>
              </a:xfrm>
              <a:prstGeom prst="rect">
                <a:avLst/>
              </a:prstGeom>
              <a:blipFill>
                <a:blip r:embed="rId3"/>
                <a:stretch>
                  <a:fillRect l="-1146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A0446FF6-0B4F-E640-8363-AA316DAFFF18}"/>
              </a:ext>
            </a:extLst>
          </p:cNvPr>
          <p:cNvGrpSpPr/>
          <p:nvPr/>
        </p:nvGrpSpPr>
        <p:grpSpPr>
          <a:xfrm>
            <a:off x="889237" y="1107301"/>
            <a:ext cx="3835297" cy="3915209"/>
            <a:chOff x="9173981" y="-416399"/>
            <a:chExt cx="3835297" cy="3915209"/>
          </a:xfrm>
        </p:grpSpPr>
        <p:sp>
          <p:nvSpPr>
            <p:cNvPr id="47" name="Donut 46">
              <a:extLst>
                <a:ext uri="{FF2B5EF4-FFF2-40B4-BE49-F238E27FC236}">
                  <a16:creationId xmlns:a16="http://schemas.microsoft.com/office/drawing/2014/main" id="{E0013723-DA5D-EA4E-9519-9475314D9C62}"/>
                </a:ext>
              </a:extLst>
            </p:cNvPr>
            <p:cNvSpPr/>
            <p:nvPr/>
          </p:nvSpPr>
          <p:spPr>
            <a:xfrm>
              <a:off x="9173981" y="1774942"/>
              <a:ext cx="2068642" cy="1723868"/>
            </a:xfrm>
            <a:prstGeom prst="donut">
              <a:avLst>
                <a:gd name="adj" fmla="val 493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C8CDB05-35F3-2E42-BA54-148D0CE773CB}"/>
                </a:ext>
              </a:extLst>
            </p:cNvPr>
            <p:cNvSpPr txBox="1"/>
            <p:nvPr/>
          </p:nvSpPr>
          <p:spPr>
            <a:xfrm>
              <a:off x="9598664" y="2251733"/>
              <a:ext cx="12249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</a:p>
            <a:p>
              <a:pPr algn="ctr"/>
              <a:r>
                <a:rPr lang="en-US" sz="2000" dirty="0"/>
                <a:t>(system)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59ABA29-C09B-C446-9099-5875BE76A7AC}"/>
                </a:ext>
              </a:extLst>
            </p:cNvPr>
            <p:cNvGrpSpPr/>
            <p:nvPr/>
          </p:nvGrpSpPr>
          <p:grpSpPr>
            <a:xfrm>
              <a:off x="10039170" y="-416399"/>
              <a:ext cx="2970108" cy="2694904"/>
              <a:chOff x="10039170" y="-416399"/>
              <a:chExt cx="2970108" cy="2694904"/>
            </a:xfrm>
          </p:grpSpPr>
          <p:cxnSp>
            <p:nvCxnSpPr>
              <p:cNvPr id="53" name="Curved Connector 52">
                <a:extLst>
                  <a:ext uri="{FF2B5EF4-FFF2-40B4-BE49-F238E27FC236}">
                    <a16:creationId xmlns:a16="http://schemas.microsoft.com/office/drawing/2014/main" id="{C35B9185-6170-6543-8219-4DDD5A44F58B}"/>
                  </a:ext>
                </a:extLst>
              </p:cNvPr>
              <p:cNvCxnSpPr/>
              <p:nvPr/>
            </p:nvCxnSpPr>
            <p:spPr>
              <a:xfrm rot="5400000">
                <a:off x="10178322" y="1289154"/>
                <a:ext cx="1334125" cy="644577"/>
              </a:xfrm>
              <a:prstGeom prst="curvedConnector3">
                <a:avLst/>
              </a:prstGeom>
              <a:ln w="635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8B627C20-A287-604C-AA6C-AE834B38E0FD}"/>
                      </a:ext>
                    </a:extLst>
                  </p:cNvPr>
                  <p:cNvSpPr/>
                  <p:nvPr/>
                </p:nvSpPr>
                <p:spPr>
                  <a:xfrm>
                    <a:off x="10039170" y="-416399"/>
                    <a:ext cx="2970108" cy="120032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𝑠𝑢𝑟𝑟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n-US" sz="2400" i="1" dirty="0">
                      <a:solidFill>
                        <a:srgbClr val="FF0000"/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𝑑𝑞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=+10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oMath>
                      </m:oMathPara>
                    </a14:m>
                    <a:endParaRPr lang="en-US" sz="2400" dirty="0"/>
                  </a:p>
                  <a:p>
                    <a:r>
                      <a:rPr lang="en-US" sz="2400" dirty="0">
                        <a:solidFill>
                          <a:schemeClr val="tx1"/>
                        </a:solidFill>
                      </a:rPr>
                      <a:t>Keep the volume fixed</a:t>
                    </a:r>
                  </a:p>
                </p:txBody>
              </p:sp>
            </mc:Choice>
            <mc:Fallback xmlns="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8B627C20-A287-604C-AA6C-AE834B38E0F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39170" y="-416399"/>
                    <a:ext cx="2970108" cy="120032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419" r="-2564"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C619C0E-929E-AC47-8B74-6ED802237E81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Applying the 1</a:t>
            </a:r>
            <a:r>
              <a:rPr lang="en-US" sz="2400" b="1" baseline="30000" dirty="0"/>
              <a:t>st</a:t>
            </a:r>
            <a:r>
              <a:rPr lang="en-US" sz="2400" b="1" dirty="0"/>
              <a:t> law when heating (or cooling) a diatomic ideal gas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3053DB-6712-384C-BA11-5AA509229A77}"/>
                  </a:ext>
                </a:extLst>
              </p:cNvPr>
              <p:cNvSpPr txBox="1"/>
              <p:nvPr/>
            </p:nvSpPr>
            <p:spPr>
              <a:xfrm>
                <a:off x="6277700" y="6020845"/>
                <a:ext cx="28397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dirty="0"/>
                  <a:t> in the classical limit)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A3053DB-6712-384C-BA11-5AA509229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700" y="6020845"/>
                <a:ext cx="2839733" cy="369332"/>
              </a:xfrm>
              <a:prstGeom prst="rect">
                <a:avLst/>
              </a:prstGeom>
              <a:blipFill>
                <a:blip r:embed="rId5"/>
                <a:stretch>
                  <a:fillRect t="-10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>
            <a:extLst>
              <a:ext uri="{FF2B5EF4-FFF2-40B4-BE49-F238E27FC236}">
                <a16:creationId xmlns:a16="http://schemas.microsoft.com/office/drawing/2014/main" id="{6C5F4917-D0F9-054D-8A86-51F8E9646D51}"/>
              </a:ext>
            </a:extLst>
          </p:cNvPr>
          <p:cNvSpPr/>
          <p:nvPr/>
        </p:nvSpPr>
        <p:spPr>
          <a:xfrm rot="5400000">
            <a:off x="7454283" y="5556137"/>
            <a:ext cx="271049" cy="65836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F874B17-A466-0B4D-BDD3-85CFEB94DA1D}"/>
              </a:ext>
            </a:extLst>
          </p:cNvPr>
          <p:cNvCxnSpPr>
            <a:cxnSpLocks/>
          </p:cNvCxnSpPr>
          <p:nvPr/>
        </p:nvCxnSpPr>
        <p:spPr>
          <a:xfrm>
            <a:off x="10584502" y="3008394"/>
            <a:ext cx="570023" cy="0"/>
          </a:xfrm>
          <a:prstGeom prst="line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028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-3403385" y="-1358805"/>
            <a:ext cx="13038371" cy="6444483"/>
            <a:chOff x="-2945614" y="-2503428"/>
            <a:chExt cx="16971298" cy="725814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33AA5F8-39B5-5C4B-913F-A840D39ED361}"/>
                </a:ext>
              </a:extLst>
            </p:cNvPr>
            <p:cNvGrpSpPr/>
            <p:nvPr/>
          </p:nvGrpSpPr>
          <p:grpSpPr>
            <a:xfrm>
              <a:off x="-2945614" y="-2503428"/>
              <a:ext cx="16971298" cy="7258149"/>
              <a:chOff x="-7282087" y="-1507045"/>
              <a:chExt cx="16971298" cy="725815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8BA57AD-9DBE-3148-87D4-7C94C138177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AC4C8024-B96F-1540-9561-7379F8584EBF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33" name="Frame 32">
                    <a:extLst>
                      <a:ext uri="{FF2B5EF4-FFF2-40B4-BE49-F238E27FC236}">
                        <a16:creationId xmlns:a16="http://schemas.microsoft.com/office/drawing/2014/main" id="{D68BD596-B277-A046-B32E-2CD1229852D9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Frame 33">
                    <a:extLst>
                      <a:ext uri="{FF2B5EF4-FFF2-40B4-BE49-F238E27FC236}">
                        <a16:creationId xmlns:a16="http://schemas.microsoft.com/office/drawing/2014/main" id="{7B5EB19A-AB09-374D-AEBF-5C09226BE5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8396F2E-66FA-C640-A8CE-C8D56AFD61B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73971957-E19B-304A-98FF-173D0A14C6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BB071D00-6653-3045-9669-0D129E7D690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7B8F546F-4C4A-3A44-BC0F-C56043C291D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B016F11F-660D-4A41-BA22-17998D028F3C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7CF41985-AEDE-214E-A4C3-F740446D4AAC}"/>
                      </a:ext>
                    </a:extLst>
                  </p:cNvPr>
                  <p:cNvSpPr/>
                  <p:nvPr/>
                </p:nvSpPr>
                <p:spPr>
                  <a:xfrm>
                    <a:off x="2205877" y="5056269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67C232A9-393A-AE41-B792-4C78D6D8CD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D96E945-3D92-4F47-BE77-512549DC3D0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A4C6BCC-8348-0D42-8D86-1FDF7D15D3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EDB7A530-1C2B-7D45-8C03-502C393D94BC}"/>
                  </a:ext>
                </a:extLst>
              </p:cNvPr>
              <p:cNvSpPr/>
              <p:nvPr/>
            </p:nvSpPr>
            <p:spPr>
              <a:xfrm>
                <a:off x="-6620690" y="-1507045"/>
                <a:ext cx="16309901" cy="5521942"/>
              </a:xfrm>
              <a:prstGeom prst="arc">
                <a:avLst>
                  <a:gd name="adj1" fmla="val 1333856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277ECA4A-7553-6D41-AD93-5B9A4B802ABF}"/>
                  </a:ext>
                </a:extLst>
              </p:cNvPr>
              <p:cNvSpPr/>
              <p:nvPr/>
            </p:nvSpPr>
            <p:spPr>
              <a:xfrm>
                <a:off x="-7282087" y="-1044571"/>
                <a:ext cx="16309900" cy="5521942"/>
              </a:xfrm>
              <a:prstGeom prst="arc">
                <a:avLst>
                  <a:gd name="adj1" fmla="val 1344915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688244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C80C21-6821-A341-8E4C-E914FE88E8CC}"/>
                  </a:ext>
                </a:extLst>
              </p:cNvPr>
              <p:cNvSpPr txBox="1"/>
              <p:nvPr/>
            </p:nvSpPr>
            <p:spPr>
              <a:xfrm>
                <a:off x="-1" y="0"/>
                <a:ext cx="12192001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 brief aside: How did we know that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𝒅𝑼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en-US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𝒅𝑻</m:t>
                    </m:r>
                  </m:oMath>
                </a14:m>
                <a:r>
                  <a:rPr lang="en-US" sz="2400" b="1" dirty="0"/>
                  <a:t>?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C80C21-6821-A341-8E4C-E914FE88E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12192001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955523B-688C-6448-8FA1-440562B46087}"/>
              </a:ext>
            </a:extLst>
          </p:cNvPr>
          <p:cNvSpPr txBox="1"/>
          <p:nvPr/>
        </p:nvSpPr>
        <p:spPr>
          <a:xfrm>
            <a:off x="6371947" y="4695734"/>
            <a:ext cx="1522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E4DBDC-2D52-4447-BF76-7581DF8BB494}"/>
              </a:ext>
            </a:extLst>
          </p:cNvPr>
          <p:cNvCxnSpPr/>
          <p:nvPr/>
        </p:nvCxnSpPr>
        <p:spPr>
          <a:xfrm flipV="1">
            <a:off x="5364528" y="2827444"/>
            <a:ext cx="3363836" cy="10518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480434-7FC6-7847-8DEE-A93877EE90E5}"/>
                  </a:ext>
                </a:extLst>
              </p:cNvPr>
              <p:cNvSpPr txBox="1"/>
              <p:nvPr/>
            </p:nvSpPr>
            <p:spPr>
              <a:xfrm>
                <a:off x="8779742" y="2502450"/>
                <a:ext cx="3232149" cy="695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Slope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num>
                              <m:den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480434-7FC6-7847-8DEE-A93877EE9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742" y="2502450"/>
                <a:ext cx="3232149" cy="695255"/>
              </a:xfrm>
              <a:prstGeom prst="rect">
                <a:avLst/>
              </a:prstGeom>
              <a:blipFill>
                <a:blip r:embed="rId4"/>
                <a:stretch>
                  <a:fillRect l="-2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26E70A6-9F51-5F46-881B-01D6CEC6FD7E}"/>
              </a:ext>
            </a:extLst>
          </p:cNvPr>
          <p:cNvCxnSpPr>
            <a:cxnSpLocks/>
          </p:cNvCxnSpPr>
          <p:nvPr/>
        </p:nvCxnSpPr>
        <p:spPr>
          <a:xfrm>
            <a:off x="6205322" y="4588359"/>
            <a:ext cx="857708" cy="0"/>
          </a:xfrm>
          <a:prstGeom prst="line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33F3DC5-716B-B540-A448-DF9F47077149}"/>
              </a:ext>
            </a:extLst>
          </p:cNvPr>
          <p:cNvSpPr txBox="1"/>
          <p:nvPr/>
        </p:nvSpPr>
        <p:spPr>
          <a:xfrm>
            <a:off x="8625213" y="1202528"/>
            <a:ext cx="3523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“Slope equals rise/run”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D07E02-7476-D045-A81F-DFEB2F247199}"/>
              </a:ext>
            </a:extLst>
          </p:cNvPr>
          <p:cNvCxnSpPr/>
          <p:nvPr/>
        </p:nvCxnSpPr>
        <p:spPr>
          <a:xfrm>
            <a:off x="9643623" y="1750228"/>
            <a:ext cx="0" cy="74203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231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-3403385" y="-1358805"/>
            <a:ext cx="13038371" cy="6444483"/>
            <a:chOff x="-2945614" y="-2503428"/>
            <a:chExt cx="16971298" cy="725814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33AA5F8-39B5-5C4B-913F-A840D39ED361}"/>
                </a:ext>
              </a:extLst>
            </p:cNvPr>
            <p:cNvGrpSpPr/>
            <p:nvPr/>
          </p:nvGrpSpPr>
          <p:grpSpPr>
            <a:xfrm>
              <a:off x="-2945614" y="-2503428"/>
              <a:ext cx="16971298" cy="7258149"/>
              <a:chOff x="-7282087" y="-1507045"/>
              <a:chExt cx="16971298" cy="725815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8BA57AD-9DBE-3148-87D4-7C94C138177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AC4C8024-B96F-1540-9561-7379F8584EBF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33" name="Frame 32">
                    <a:extLst>
                      <a:ext uri="{FF2B5EF4-FFF2-40B4-BE49-F238E27FC236}">
                        <a16:creationId xmlns:a16="http://schemas.microsoft.com/office/drawing/2014/main" id="{D68BD596-B277-A046-B32E-2CD1229852D9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Frame 33">
                    <a:extLst>
                      <a:ext uri="{FF2B5EF4-FFF2-40B4-BE49-F238E27FC236}">
                        <a16:creationId xmlns:a16="http://schemas.microsoft.com/office/drawing/2014/main" id="{7B5EB19A-AB09-374D-AEBF-5C09226BE5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8396F2E-66FA-C640-A8CE-C8D56AFD61B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73971957-E19B-304A-98FF-173D0A14C6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BB071D00-6653-3045-9669-0D129E7D690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7B8F546F-4C4A-3A44-BC0F-C56043C291D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B016F11F-660D-4A41-BA22-17998D028F3C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7CF41985-AEDE-214E-A4C3-F740446D4AAC}"/>
                      </a:ext>
                    </a:extLst>
                  </p:cNvPr>
                  <p:cNvSpPr/>
                  <p:nvPr/>
                </p:nvSpPr>
                <p:spPr>
                  <a:xfrm>
                    <a:off x="2205877" y="5056269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67C232A9-393A-AE41-B792-4C78D6D8CD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D96E945-3D92-4F47-BE77-512549DC3D0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A4C6BCC-8348-0D42-8D86-1FDF7D15D3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EDB7A530-1C2B-7D45-8C03-502C393D94BC}"/>
                  </a:ext>
                </a:extLst>
              </p:cNvPr>
              <p:cNvSpPr/>
              <p:nvPr/>
            </p:nvSpPr>
            <p:spPr>
              <a:xfrm>
                <a:off x="-6620690" y="-1507045"/>
                <a:ext cx="16309901" cy="5521942"/>
              </a:xfrm>
              <a:prstGeom prst="arc">
                <a:avLst>
                  <a:gd name="adj1" fmla="val 1333856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277ECA4A-7553-6D41-AD93-5B9A4B802ABF}"/>
                  </a:ext>
                </a:extLst>
              </p:cNvPr>
              <p:cNvSpPr/>
              <p:nvPr/>
            </p:nvSpPr>
            <p:spPr>
              <a:xfrm>
                <a:off x="-7282087" y="-1044571"/>
                <a:ext cx="16309900" cy="5521942"/>
              </a:xfrm>
              <a:prstGeom prst="arc">
                <a:avLst>
                  <a:gd name="adj1" fmla="val 1344915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10424924" y="2688244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C80C21-6821-A341-8E4C-E914FE88E8CC}"/>
                  </a:ext>
                </a:extLst>
              </p:cNvPr>
              <p:cNvSpPr txBox="1"/>
              <p:nvPr/>
            </p:nvSpPr>
            <p:spPr>
              <a:xfrm>
                <a:off x="-1" y="0"/>
                <a:ext cx="12192001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 brief aside: How did we know that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𝒅𝑼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en-US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𝒅𝑻</m:t>
                    </m:r>
                  </m:oMath>
                </a14:m>
                <a:r>
                  <a:rPr lang="en-US" sz="2400" b="1" dirty="0"/>
                  <a:t>?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0C80C21-6821-A341-8E4C-E914FE88E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0"/>
                <a:ext cx="12192001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955523B-688C-6448-8FA1-440562B46087}"/>
              </a:ext>
            </a:extLst>
          </p:cNvPr>
          <p:cNvSpPr txBox="1"/>
          <p:nvPr/>
        </p:nvSpPr>
        <p:spPr>
          <a:xfrm>
            <a:off x="6371947" y="4695734"/>
            <a:ext cx="1522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E4DBDC-2D52-4447-BF76-7581DF8BB494}"/>
              </a:ext>
            </a:extLst>
          </p:cNvPr>
          <p:cNvCxnSpPr/>
          <p:nvPr/>
        </p:nvCxnSpPr>
        <p:spPr>
          <a:xfrm flipV="1">
            <a:off x="5364528" y="2827444"/>
            <a:ext cx="3363836" cy="10518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480434-7FC6-7847-8DEE-A93877EE90E5}"/>
                  </a:ext>
                </a:extLst>
              </p:cNvPr>
              <p:cNvSpPr txBox="1"/>
              <p:nvPr/>
            </p:nvSpPr>
            <p:spPr>
              <a:xfrm>
                <a:off x="8779742" y="2502450"/>
                <a:ext cx="3232149" cy="1433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Slope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num>
                              <m:den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So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𝒅𝑼</m:t>
                    </m:r>
                    <m:r>
                      <a:rPr lang="en-US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1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 baseline="-25000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𝒅𝑻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480434-7FC6-7847-8DEE-A93877EE9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9742" y="2502450"/>
                <a:ext cx="3232149" cy="1433919"/>
              </a:xfrm>
              <a:prstGeom prst="rect">
                <a:avLst/>
              </a:prstGeom>
              <a:blipFill>
                <a:blip r:embed="rId4"/>
                <a:stretch>
                  <a:fillRect l="-2745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26E70A6-9F51-5F46-881B-01D6CEC6FD7E}"/>
              </a:ext>
            </a:extLst>
          </p:cNvPr>
          <p:cNvCxnSpPr>
            <a:cxnSpLocks/>
          </p:cNvCxnSpPr>
          <p:nvPr/>
        </p:nvCxnSpPr>
        <p:spPr>
          <a:xfrm>
            <a:off x="6205322" y="4588359"/>
            <a:ext cx="857708" cy="0"/>
          </a:xfrm>
          <a:prstGeom prst="line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ame 44">
            <a:extLst>
              <a:ext uri="{FF2B5EF4-FFF2-40B4-BE49-F238E27FC236}">
                <a16:creationId xmlns:a16="http://schemas.microsoft.com/office/drawing/2014/main" id="{47DB1E61-42C4-5545-B5C8-433D8B364E3E}"/>
              </a:ext>
            </a:extLst>
          </p:cNvPr>
          <p:cNvSpPr/>
          <p:nvPr/>
        </p:nvSpPr>
        <p:spPr>
          <a:xfrm>
            <a:off x="9204304" y="3391378"/>
            <a:ext cx="1934820" cy="563357"/>
          </a:xfrm>
          <a:prstGeom prst="frame">
            <a:avLst>
              <a:gd name="adj1" fmla="val 7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D98A15-48D5-4443-91F8-9C8F56C78C38}"/>
              </a:ext>
            </a:extLst>
          </p:cNvPr>
          <p:cNvGrpSpPr/>
          <p:nvPr/>
        </p:nvGrpSpPr>
        <p:grpSpPr>
          <a:xfrm>
            <a:off x="8668315" y="4135428"/>
            <a:ext cx="3523685" cy="1299620"/>
            <a:chOff x="8625213" y="101083"/>
            <a:chExt cx="3523685" cy="129962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33F3DC5-716B-B540-A448-DF9F47077149}"/>
                </a:ext>
              </a:extLst>
            </p:cNvPr>
            <p:cNvSpPr txBox="1"/>
            <p:nvPr/>
          </p:nvSpPr>
          <p:spPr>
            <a:xfrm>
              <a:off x="8625213" y="939038"/>
              <a:ext cx="35236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“Rise equals slope x run”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CD07E02-7476-D045-A81F-DFEB2F247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09885" y="101083"/>
              <a:ext cx="0" cy="607004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4350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Next: applying the 1</a:t>
            </a:r>
            <a:r>
              <a:rPr lang="en-US" sz="2400" b="1" baseline="30000" dirty="0"/>
              <a:t>st</a:t>
            </a:r>
            <a:r>
              <a:rPr lang="en-US" sz="2400" b="1" dirty="0"/>
              <a:t> law when expanding (or contracting) a diatomic ideal gas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33AA5F8-39B5-5C4B-913F-A840D39ED361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8BA57AD-9DBE-3148-87D4-7C94C138177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AC4C8024-B96F-1540-9561-7379F8584EBF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33" name="Frame 32">
                    <a:extLst>
                      <a:ext uri="{FF2B5EF4-FFF2-40B4-BE49-F238E27FC236}">
                        <a16:creationId xmlns:a16="http://schemas.microsoft.com/office/drawing/2014/main" id="{D68BD596-B277-A046-B32E-2CD1229852D9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Frame 33">
                    <a:extLst>
                      <a:ext uri="{FF2B5EF4-FFF2-40B4-BE49-F238E27FC236}">
                        <a16:creationId xmlns:a16="http://schemas.microsoft.com/office/drawing/2014/main" id="{7B5EB19A-AB09-374D-AEBF-5C09226BE5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8396F2E-66FA-C640-A8CE-C8D56AFD61B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73971957-E19B-304A-98FF-173D0A14C6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BB071D00-6653-3045-9669-0D129E7D690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7B8F546F-4C4A-3A44-BC0F-C56043C291D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b="-1578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B016F11F-660D-4A41-BA22-17998D028F3C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7CF41985-AEDE-214E-A4C3-F740446D4AAC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67C232A9-393A-AE41-B792-4C78D6D8CD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D96E945-3D92-4F47-BE77-512549DC3D0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A4C6BCC-8348-0D42-8D86-1FDF7D15D3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EDB7A530-1C2B-7D45-8C03-502C393D94BC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277ECA4A-7553-6D41-AD93-5B9A4B802ABF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9971634" y="2506287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4FECE75-9C6A-4A49-82DB-C312CE1E3FA5}"/>
              </a:ext>
            </a:extLst>
          </p:cNvPr>
          <p:cNvGrpSpPr/>
          <p:nvPr/>
        </p:nvGrpSpPr>
        <p:grpSpPr>
          <a:xfrm>
            <a:off x="634760" y="2928644"/>
            <a:ext cx="2642904" cy="2331455"/>
            <a:chOff x="6917283" y="3244839"/>
            <a:chExt cx="2642904" cy="233145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D313D39-5D18-034B-961D-BB5CC293747D}"/>
                </a:ext>
              </a:extLst>
            </p:cNvPr>
            <p:cNvGrpSpPr/>
            <p:nvPr/>
          </p:nvGrpSpPr>
          <p:grpSpPr>
            <a:xfrm>
              <a:off x="6917283" y="3244839"/>
              <a:ext cx="2642904" cy="2331455"/>
              <a:chOff x="1147177" y="3910460"/>
              <a:chExt cx="3292300" cy="2698574"/>
            </a:xfrm>
          </p:grpSpPr>
          <p:sp>
            <p:nvSpPr>
              <p:cNvPr id="49" name="Donut 48">
                <a:extLst>
                  <a:ext uri="{FF2B5EF4-FFF2-40B4-BE49-F238E27FC236}">
                    <a16:creationId xmlns:a16="http://schemas.microsoft.com/office/drawing/2014/main" id="{32D94031-4349-414B-8C18-C443E15A3D5C}"/>
                  </a:ext>
                </a:extLst>
              </p:cNvPr>
              <p:cNvSpPr/>
              <p:nvPr/>
            </p:nvSpPr>
            <p:spPr>
              <a:xfrm>
                <a:off x="1606409" y="4479007"/>
                <a:ext cx="2329488" cy="1958814"/>
              </a:xfrm>
              <a:prstGeom prst="donut">
                <a:avLst>
                  <a:gd name="adj" fmla="val 3384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Donut 49">
                <a:extLst>
                  <a:ext uri="{FF2B5EF4-FFF2-40B4-BE49-F238E27FC236}">
                    <a16:creationId xmlns:a16="http://schemas.microsoft.com/office/drawing/2014/main" id="{CBD08017-AB00-CB4E-B269-C09E05B12522}"/>
                  </a:ext>
                </a:extLst>
              </p:cNvPr>
              <p:cNvSpPr/>
              <p:nvPr/>
            </p:nvSpPr>
            <p:spPr>
              <a:xfrm>
                <a:off x="1147177" y="3910460"/>
                <a:ext cx="3292300" cy="2698574"/>
              </a:xfrm>
              <a:prstGeom prst="donut">
                <a:avLst>
                  <a:gd name="adj" fmla="val 20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44159D44-343D-3545-A116-537A678FA4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57660" y="4866641"/>
                <a:ext cx="374258" cy="236362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B848A2F2-ECF3-0E48-8334-512486C472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11197" y="4160981"/>
                <a:ext cx="177305" cy="318586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27E9ECB-0FFC-4F49-9A26-1FEA1F9E4771}"/>
                    </a:ext>
                  </a:extLst>
                </p:cNvPr>
                <p:cNvSpPr/>
                <p:nvPr/>
              </p:nvSpPr>
              <p:spPr>
                <a:xfrm>
                  <a:off x="7707102" y="4103789"/>
                  <a:ext cx="1059821" cy="76944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400" b="0" dirty="0">
                    <a:solidFill>
                      <a:schemeClr val="tx1"/>
                    </a:solidFill>
                  </a:endParaRPr>
                </a:p>
                <a:p>
                  <a:r>
                    <a:rPr lang="en-US" sz="2000" dirty="0">
                      <a:solidFill>
                        <a:schemeClr val="tx1"/>
                      </a:solidFill>
                    </a:rPr>
                    <a:t>(system)</a:t>
                  </a: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27E9ECB-0FFC-4F49-9A26-1FEA1F9E4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7102" y="4103789"/>
                  <a:ext cx="1059821" cy="769441"/>
                </a:xfrm>
                <a:prstGeom prst="rect">
                  <a:avLst/>
                </a:prstGeom>
                <a:blipFill>
                  <a:blip r:embed="rId3"/>
                  <a:stretch>
                    <a:fillRect l="-5952" r="-5952"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A9D59D0-AE36-CB4A-B9F2-ABE793F8C7C2}"/>
                  </a:ext>
                </a:extLst>
              </p:cNvPr>
              <p:cNvSpPr/>
              <p:nvPr/>
            </p:nvSpPr>
            <p:spPr>
              <a:xfrm>
                <a:off x="1754426" y="1107301"/>
                <a:ext cx="3621697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Keep the temperature fixed</a:t>
                </a: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A9D59D0-AE36-CB4A-B9F2-ABE793F8C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426" y="1107301"/>
                <a:ext cx="3621697" cy="1200329"/>
              </a:xfrm>
              <a:prstGeom prst="rect">
                <a:avLst/>
              </a:prstGeom>
              <a:blipFill>
                <a:blip r:embed="rId4"/>
                <a:stretch>
                  <a:fillRect l="-2797" r="-174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AB48E74-E3AD-404F-8771-578061B07171}"/>
                  </a:ext>
                </a:extLst>
              </p:cNvPr>
              <p:cNvSpPr/>
              <p:nvPr/>
            </p:nvSpPr>
            <p:spPr>
              <a:xfrm>
                <a:off x="3717894" y="2824082"/>
                <a:ext cx="8474105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This looks like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isothermal expansion</a:t>
                </a:r>
              </a:p>
              <a:p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=−10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Because it’s an ideal gas and </a:t>
                </a:r>
                <a:r>
                  <a:rPr lang="en-US" sz="2400" dirty="0"/>
                  <a:t>the temperature is constant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AB48E74-E3AD-404F-8771-578061B07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94" y="2824082"/>
                <a:ext cx="8474105" cy="2677656"/>
              </a:xfrm>
              <a:prstGeom prst="rect">
                <a:avLst/>
              </a:prstGeom>
              <a:blipFill>
                <a:blip r:embed="rId5"/>
                <a:stretch>
                  <a:fillRect l="-1046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5228108-5FCB-CF44-9292-384809A555CF}"/>
              </a:ext>
            </a:extLst>
          </p:cNvPr>
          <p:cNvCxnSpPr>
            <a:cxnSpLocks/>
          </p:cNvCxnSpPr>
          <p:nvPr/>
        </p:nvCxnSpPr>
        <p:spPr>
          <a:xfrm flipV="1">
            <a:off x="10584502" y="2764805"/>
            <a:ext cx="265468" cy="24358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124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Next: applying the 1</a:t>
            </a:r>
            <a:r>
              <a:rPr lang="en-US" sz="2400" b="1" baseline="30000" dirty="0"/>
              <a:t>st</a:t>
            </a:r>
            <a:r>
              <a:rPr lang="en-US" sz="2400" b="1" dirty="0"/>
              <a:t> law when expanding (or contracting) a diatomic ideal gas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33AA5F8-39B5-5C4B-913F-A840D39ED361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8BA57AD-9DBE-3148-87D4-7C94C138177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AC4C8024-B96F-1540-9561-7379F8584EBF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33" name="Frame 32">
                    <a:extLst>
                      <a:ext uri="{FF2B5EF4-FFF2-40B4-BE49-F238E27FC236}">
                        <a16:creationId xmlns:a16="http://schemas.microsoft.com/office/drawing/2014/main" id="{D68BD596-B277-A046-B32E-2CD1229852D9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Frame 33">
                    <a:extLst>
                      <a:ext uri="{FF2B5EF4-FFF2-40B4-BE49-F238E27FC236}">
                        <a16:creationId xmlns:a16="http://schemas.microsoft.com/office/drawing/2014/main" id="{7B5EB19A-AB09-374D-AEBF-5C09226BE5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8396F2E-66FA-C640-A8CE-C8D56AFD61B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73971957-E19B-304A-98FF-173D0A14C6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BB071D00-6653-3045-9669-0D129E7D690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7B8F546F-4C4A-3A44-BC0F-C56043C291D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b="-1578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B016F11F-660D-4A41-BA22-17998D028F3C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7CF41985-AEDE-214E-A4C3-F740446D4AAC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67C232A9-393A-AE41-B792-4C78D6D8CD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D96E945-3D92-4F47-BE77-512549DC3D0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A4C6BCC-8348-0D42-8D86-1FDF7D15D3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EDB7A530-1C2B-7D45-8C03-502C393D94BC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277ECA4A-7553-6D41-AD93-5B9A4B802ABF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9971634" y="2506287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4FECE75-9C6A-4A49-82DB-C312CE1E3FA5}"/>
              </a:ext>
            </a:extLst>
          </p:cNvPr>
          <p:cNvGrpSpPr/>
          <p:nvPr/>
        </p:nvGrpSpPr>
        <p:grpSpPr>
          <a:xfrm>
            <a:off x="634760" y="2928644"/>
            <a:ext cx="2642904" cy="2331455"/>
            <a:chOff x="6917283" y="3244839"/>
            <a:chExt cx="2642904" cy="233145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D313D39-5D18-034B-961D-BB5CC293747D}"/>
                </a:ext>
              </a:extLst>
            </p:cNvPr>
            <p:cNvGrpSpPr/>
            <p:nvPr/>
          </p:nvGrpSpPr>
          <p:grpSpPr>
            <a:xfrm>
              <a:off x="6917283" y="3244839"/>
              <a:ext cx="2642904" cy="2331455"/>
              <a:chOff x="1147177" y="3910460"/>
              <a:chExt cx="3292300" cy="2698574"/>
            </a:xfrm>
          </p:grpSpPr>
          <p:sp>
            <p:nvSpPr>
              <p:cNvPr id="49" name="Donut 48">
                <a:extLst>
                  <a:ext uri="{FF2B5EF4-FFF2-40B4-BE49-F238E27FC236}">
                    <a16:creationId xmlns:a16="http://schemas.microsoft.com/office/drawing/2014/main" id="{32D94031-4349-414B-8C18-C443E15A3D5C}"/>
                  </a:ext>
                </a:extLst>
              </p:cNvPr>
              <p:cNvSpPr/>
              <p:nvPr/>
            </p:nvSpPr>
            <p:spPr>
              <a:xfrm>
                <a:off x="1606409" y="4479007"/>
                <a:ext cx="2329488" cy="1958814"/>
              </a:xfrm>
              <a:prstGeom prst="donut">
                <a:avLst>
                  <a:gd name="adj" fmla="val 3384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Donut 49">
                <a:extLst>
                  <a:ext uri="{FF2B5EF4-FFF2-40B4-BE49-F238E27FC236}">
                    <a16:creationId xmlns:a16="http://schemas.microsoft.com/office/drawing/2014/main" id="{CBD08017-AB00-CB4E-B269-C09E05B12522}"/>
                  </a:ext>
                </a:extLst>
              </p:cNvPr>
              <p:cNvSpPr/>
              <p:nvPr/>
            </p:nvSpPr>
            <p:spPr>
              <a:xfrm>
                <a:off x="1147177" y="3910460"/>
                <a:ext cx="3292300" cy="2698574"/>
              </a:xfrm>
              <a:prstGeom prst="donut">
                <a:avLst>
                  <a:gd name="adj" fmla="val 20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44159D44-343D-3545-A116-537A678FA4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57660" y="4866641"/>
                <a:ext cx="374258" cy="236362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B848A2F2-ECF3-0E48-8334-512486C472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11197" y="4160981"/>
                <a:ext cx="177305" cy="318586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27E9ECB-0FFC-4F49-9A26-1FEA1F9E4771}"/>
                    </a:ext>
                  </a:extLst>
                </p:cNvPr>
                <p:cNvSpPr/>
                <p:nvPr/>
              </p:nvSpPr>
              <p:spPr>
                <a:xfrm>
                  <a:off x="7707102" y="4103789"/>
                  <a:ext cx="1059821" cy="76944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400" b="0" dirty="0">
                    <a:solidFill>
                      <a:schemeClr val="tx1"/>
                    </a:solidFill>
                  </a:endParaRPr>
                </a:p>
                <a:p>
                  <a:r>
                    <a:rPr lang="en-US" sz="2000" dirty="0">
                      <a:solidFill>
                        <a:schemeClr val="tx1"/>
                      </a:solidFill>
                    </a:rPr>
                    <a:t>(system)</a:t>
                  </a: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27E9ECB-0FFC-4F49-9A26-1FEA1F9E4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7102" y="4103789"/>
                  <a:ext cx="1059821" cy="769441"/>
                </a:xfrm>
                <a:prstGeom prst="rect">
                  <a:avLst/>
                </a:prstGeom>
                <a:blipFill>
                  <a:blip r:embed="rId3"/>
                  <a:stretch>
                    <a:fillRect l="-5952" r="-5952"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A9D59D0-AE36-CB4A-B9F2-ABE793F8C7C2}"/>
                  </a:ext>
                </a:extLst>
              </p:cNvPr>
              <p:cNvSpPr/>
              <p:nvPr/>
            </p:nvSpPr>
            <p:spPr>
              <a:xfrm>
                <a:off x="1754426" y="1107301"/>
                <a:ext cx="3621697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Keep the temperature fixed</a:t>
                </a: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A9D59D0-AE36-CB4A-B9F2-ABE793F8C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426" y="1107301"/>
                <a:ext cx="3621697" cy="1200329"/>
              </a:xfrm>
              <a:prstGeom prst="rect">
                <a:avLst/>
              </a:prstGeom>
              <a:blipFill>
                <a:blip r:embed="rId4"/>
                <a:stretch>
                  <a:fillRect l="-2797" r="-174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AB48E74-E3AD-404F-8771-578061B07171}"/>
                  </a:ext>
                </a:extLst>
              </p:cNvPr>
              <p:cNvSpPr/>
              <p:nvPr/>
            </p:nvSpPr>
            <p:spPr>
              <a:xfrm>
                <a:off x="3717894" y="2824082"/>
                <a:ext cx="8474105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This looks like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isothermal expansion</a:t>
                </a:r>
              </a:p>
              <a:p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=−10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Because it’s an ideal gas and the temperature is constant</a:t>
                </a:r>
                <a:endParaRPr lang="en-US" sz="2400" i="1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But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𝒅𝑼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𝒅𝒒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𝒅𝒘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/>
                  <a:t>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=+10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400" dirty="0"/>
                  <a:t> ! </a:t>
                </a: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AB48E74-E3AD-404F-8771-578061B07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94" y="2824082"/>
                <a:ext cx="8474105" cy="2677656"/>
              </a:xfrm>
              <a:prstGeom prst="rect">
                <a:avLst/>
              </a:prstGeom>
              <a:blipFill>
                <a:blip r:embed="rId5"/>
                <a:stretch>
                  <a:fillRect l="-1046" t="-1887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C255FBA-A0D4-2842-83A4-F475EDD3956F}"/>
              </a:ext>
            </a:extLst>
          </p:cNvPr>
          <p:cNvCxnSpPr>
            <a:cxnSpLocks/>
          </p:cNvCxnSpPr>
          <p:nvPr/>
        </p:nvCxnSpPr>
        <p:spPr>
          <a:xfrm flipV="1">
            <a:off x="10584502" y="2764805"/>
            <a:ext cx="265468" cy="24358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364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77FFEF-1824-B51F-6CD6-3A564341CCBE}"/>
                  </a:ext>
                </a:extLst>
              </p:cNvPr>
              <p:cNvSpPr txBox="1"/>
              <p:nvPr/>
            </p:nvSpPr>
            <p:spPr>
              <a:xfrm>
                <a:off x="121694" y="5826306"/>
                <a:ext cx="7188522" cy="10431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So, if the pressure were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𝑎𝑡𝑚</m:t>
                    </m:r>
                  </m:oMath>
                </a14:m>
                <a:r>
                  <a:rPr lang="en-US" sz="2400" dirty="0"/>
                  <a:t>, the volume change would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𝑎𝑡𝑚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~1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𝑎𝑡𝑚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77FFEF-1824-B51F-6CD6-3A564341C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94" y="5826306"/>
                <a:ext cx="7188522" cy="1043171"/>
              </a:xfrm>
              <a:prstGeom prst="rect">
                <a:avLst/>
              </a:prstGeom>
              <a:blipFill>
                <a:blip r:embed="rId2"/>
                <a:stretch>
                  <a:fillRect l="-1411" t="-2410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F306525C-8EED-3048-A8D4-26D5413706AD}"/>
              </a:ext>
            </a:extLst>
          </p:cNvPr>
          <p:cNvGrpSpPr/>
          <p:nvPr/>
        </p:nvGrpSpPr>
        <p:grpSpPr>
          <a:xfrm>
            <a:off x="3781046" y="-499229"/>
            <a:ext cx="9226891" cy="3819047"/>
            <a:chOff x="-2927580" y="-2519032"/>
            <a:chExt cx="17025401" cy="727375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33AA5F8-39B5-5C4B-913F-A840D39ED361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8BA57AD-9DBE-3148-87D4-7C94C138177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AC4C8024-B96F-1540-9561-7379F8584EBF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33" name="Frame 32">
                    <a:extLst>
                      <a:ext uri="{FF2B5EF4-FFF2-40B4-BE49-F238E27FC236}">
                        <a16:creationId xmlns:a16="http://schemas.microsoft.com/office/drawing/2014/main" id="{D68BD596-B277-A046-B32E-2CD1229852D9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Frame 33">
                    <a:extLst>
                      <a:ext uri="{FF2B5EF4-FFF2-40B4-BE49-F238E27FC236}">
                        <a16:creationId xmlns:a16="http://schemas.microsoft.com/office/drawing/2014/main" id="{7B5EB19A-AB09-374D-AEBF-5C09226BE5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F8396F2E-66FA-C640-A8CE-C8D56AFD61B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73971957-E19B-304A-98FF-173D0A14C6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>
                    <a:extLst>
                      <a:ext uri="{FF2B5EF4-FFF2-40B4-BE49-F238E27FC236}">
                        <a16:creationId xmlns:a16="http://schemas.microsoft.com/office/drawing/2014/main" id="{BB071D00-6653-3045-9669-0D129E7D690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7B8F546F-4C4A-3A44-BC0F-C56043C291D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E43DEF79-5739-FE4D-9F9C-39DEF0228D5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b="-1578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B016F11F-660D-4A41-BA22-17998D028F3C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7CF41985-AEDE-214E-A4C3-F740446D4AAC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67C232A9-393A-AE41-B792-4C78D6D8CD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D96E945-3D92-4F47-BE77-512549DC3D0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A4C6BCC-8348-0D42-8D86-1FDF7D15D3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EDB7A530-1C2B-7D45-8C03-502C393D94BC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277ECA4A-7553-6D41-AD93-5B9A4B802ABF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206830-A961-0546-8895-5BC08EE30055}"/>
                </a:ext>
              </a:extLst>
            </p:cNvPr>
            <p:cNvSpPr/>
            <p:nvPr/>
          </p:nvSpPr>
          <p:spPr>
            <a:xfrm>
              <a:off x="9971634" y="2506287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DDBABDE-2AC8-384F-A361-BED73A8DBC23}"/>
                </a:ext>
              </a:extLst>
            </p:cNvPr>
            <p:cNvSpPr/>
            <p:nvPr/>
          </p:nvSpPr>
          <p:spPr>
            <a:xfrm>
              <a:off x="9525381" y="2908258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4FECE75-9C6A-4A49-82DB-C312CE1E3FA5}"/>
              </a:ext>
            </a:extLst>
          </p:cNvPr>
          <p:cNvGrpSpPr/>
          <p:nvPr/>
        </p:nvGrpSpPr>
        <p:grpSpPr>
          <a:xfrm>
            <a:off x="634760" y="2928644"/>
            <a:ext cx="2642904" cy="2331455"/>
            <a:chOff x="6917283" y="3244839"/>
            <a:chExt cx="2642904" cy="233145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D313D39-5D18-034B-961D-BB5CC293747D}"/>
                </a:ext>
              </a:extLst>
            </p:cNvPr>
            <p:cNvGrpSpPr/>
            <p:nvPr/>
          </p:nvGrpSpPr>
          <p:grpSpPr>
            <a:xfrm>
              <a:off x="6917283" y="3244839"/>
              <a:ext cx="2642904" cy="2331455"/>
              <a:chOff x="1147177" y="3910460"/>
              <a:chExt cx="3292300" cy="2698574"/>
            </a:xfrm>
          </p:grpSpPr>
          <p:sp>
            <p:nvSpPr>
              <p:cNvPr id="49" name="Donut 48">
                <a:extLst>
                  <a:ext uri="{FF2B5EF4-FFF2-40B4-BE49-F238E27FC236}">
                    <a16:creationId xmlns:a16="http://schemas.microsoft.com/office/drawing/2014/main" id="{32D94031-4349-414B-8C18-C443E15A3D5C}"/>
                  </a:ext>
                </a:extLst>
              </p:cNvPr>
              <p:cNvSpPr/>
              <p:nvPr/>
            </p:nvSpPr>
            <p:spPr>
              <a:xfrm>
                <a:off x="1606409" y="4479007"/>
                <a:ext cx="2329488" cy="1958814"/>
              </a:xfrm>
              <a:prstGeom prst="donut">
                <a:avLst>
                  <a:gd name="adj" fmla="val 3384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Donut 49">
                <a:extLst>
                  <a:ext uri="{FF2B5EF4-FFF2-40B4-BE49-F238E27FC236}">
                    <a16:creationId xmlns:a16="http://schemas.microsoft.com/office/drawing/2014/main" id="{CBD08017-AB00-CB4E-B269-C09E05B12522}"/>
                  </a:ext>
                </a:extLst>
              </p:cNvPr>
              <p:cNvSpPr/>
              <p:nvPr/>
            </p:nvSpPr>
            <p:spPr>
              <a:xfrm>
                <a:off x="1147177" y="3910460"/>
                <a:ext cx="3292300" cy="2698574"/>
              </a:xfrm>
              <a:prstGeom prst="donut">
                <a:avLst>
                  <a:gd name="adj" fmla="val 207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44159D44-343D-3545-A116-537A678FA4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57660" y="4866641"/>
                <a:ext cx="374258" cy="236362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B848A2F2-ECF3-0E48-8334-512486C472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11197" y="4160981"/>
                <a:ext cx="177305" cy="318586"/>
              </a:xfrm>
              <a:prstGeom prst="straightConnector1">
                <a:avLst/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27E9ECB-0FFC-4F49-9A26-1FEA1F9E4771}"/>
                    </a:ext>
                  </a:extLst>
                </p:cNvPr>
                <p:cNvSpPr/>
                <p:nvPr/>
              </p:nvSpPr>
              <p:spPr>
                <a:xfrm>
                  <a:off x="7707102" y="4103789"/>
                  <a:ext cx="1059821" cy="76944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400" b="0" dirty="0">
                    <a:solidFill>
                      <a:schemeClr val="tx1"/>
                    </a:solidFill>
                  </a:endParaRPr>
                </a:p>
                <a:p>
                  <a:r>
                    <a:rPr lang="en-US" sz="2000" dirty="0">
                      <a:solidFill>
                        <a:schemeClr val="tx1"/>
                      </a:solidFill>
                    </a:rPr>
                    <a:t>(system)</a:t>
                  </a: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27E9ECB-0FFC-4F49-9A26-1FEA1F9E4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7102" y="4103789"/>
                  <a:ext cx="1059821" cy="769441"/>
                </a:xfrm>
                <a:prstGeom prst="rect">
                  <a:avLst/>
                </a:prstGeom>
                <a:blipFill>
                  <a:blip r:embed="rId4"/>
                  <a:stretch>
                    <a:fillRect l="-5952" r="-5952"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A9D59D0-AE36-CB4A-B9F2-ABE793F8C7C2}"/>
                  </a:ext>
                </a:extLst>
              </p:cNvPr>
              <p:cNvSpPr/>
              <p:nvPr/>
            </p:nvSpPr>
            <p:spPr>
              <a:xfrm>
                <a:off x="1754426" y="1107301"/>
                <a:ext cx="3621697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Keep the temperature fixed</a:t>
                </a: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A9D59D0-AE36-CB4A-B9F2-ABE793F8C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426" y="1107301"/>
                <a:ext cx="3621697" cy="1200329"/>
              </a:xfrm>
              <a:prstGeom prst="rect">
                <a:avLst/>
              </a:prstGeom>
              <a:blipFill>
                <a:blip r:embed="rId5"/>
                <a:stretch>
                  <a:fillRect l="-2797" r="-174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AB48E74-E3AD-404F-8771-578061B07171}"/>
                  </a:ext>
                </a:extLst>
              </p:cNvPr>
              <p:cNvSpPr/>
              <p:nvPr/>
            </p:nvSpPr>
            <p:spPr>
              <a:xfrm>
                <a:off x="3717895" y="2317453"/>
                <a:ext cx="5023731" cy="32621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We can even tell from this how much expansion! How? Because we have a formula for the energy (work) of expansion: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𝒅𝒘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𝒆𝒙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𝒅𝑽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=&gt;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𝒅𝑽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𝒆𝒙</m:t>
                            </m:r>
                          </m:sub>
                        </m:sSub>
                      </m:den>
                    </m:f>
                  </m:oMath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AB48E74-E3AD-404F-8771-578061B07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95" y="2317453"/>
                <a:ext cx="5023731" cy="3262175"/>
              </a:xfrm>
              <a:prstGeom prst="rect">
                <a:avLst/>
              </a:prstGeom>
              <a:blipFill>
                <a:blip r:embed="rId6"/>
                <a:stretch>
                  <a:fillRect l="-1763"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5919D0EF-EF4D-564B-9620-1CDFC4F81CFD}"/>
              </a:ext>
            </a:extLst>
          </p:cNvPr>
          <p:cNvGrpSpPr/>
          <p:nvPr/>
        </p:nvGrpSpPr>
        <p:grpSpPr>
          <a:xfrm>
            <a:off x="7751928" y="1315211"/>
            <a:ext cx="6521852" cy="5351949"/>
            <a:chOff x="5498293" y="-1205948"/>
            <a:chExt cx="8230960" cy="71061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9D252006-8863-8C47-9952-3363BB20A6E6}"/>
                    </a:ext>
                  </a:extLst>
                </p:cNvPr>
                <p:cNvSpPr txBox="1"/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𝑒𝑥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4D51AB-942B-FC45-BC1E-A73EAE9C6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7A10B9B-1122-E540-8636-FF4E6EA77F3E}"/>
                </a:ext>
              </a:extLst>
            </p:cNvPr>
            <p:cNvCxnSpPr>
              <a:cxnSpLocks/>
            </p:cNvCxnSpPr>
            <p:nvPr/>
          </p:nvCxnSpPr>
          <p:spPr>
            <a:xfrm>
              <a:off x="6308035" y="2415475"/>
              <a:ext cx="0" cy="273279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19E03E9-86A8-BA46-8E5F-71BCE19249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8035" y="5121763"/>
              <a:ext cx="3313043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F072F81-DDB9-C44E-AAC5-3FE5AFAF84EE}"/>
                    </a:ext>
                  </a:extLst>
                </p:cNvPr>
                <p:cNvSpPr/>
                <p:nvPr/>
              </p:nvSpPr>
              <p:spPr>
                <a:xfrm>
                  <a:off x="5578210" y="5287249"/>
                  <a:ext cx="2053997" cy="6129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 dirty="0"/>
                    <a:t>Width =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𝑑𝑉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F072F81-DDB9-C44E-AAC5-3FE5AFAF84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8210" y="5287249"/>
                  <a:ext cx="2053997" cy="612987"/>
                </a:xfrm>
                <a:prstGeom prst="rect">
                  <a:avLst/>
                </a:prstGeom>
                <a:blipFill>
                  <a:blip r:embed="rId8"/>
                  <a:stretch>
                    <a:fillRect l="-6202" t="-7895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40F1FF73-973C-144E-BE50-05142E606EBD}"/>
                </a:ext>
              </a:extLst>
            </p:cNvPr>
            <p:cNvSpPr/>
            <p:nvPr/>
          </p:nvSpPr>
          <p:spPr>
            <a:xfrm>
              <a:off x="6559827" y="-1205948"/>
              <a:ext cx="7169426" cy="6056244"/>
            </a:xfrm>
            <a:prstGeom prst="arc">
              <a:avLst>
                <a:gd name="adj1" fmla="val 6171250"/>
                <a:gd name="adj2" fmla="val 10117375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DCE958C-3CBB-EB4D-877C-56F7B17F4BE6}"/>
                </a:ext>
              </a:extLst>
            </p:cNvPr>
            <p:cNvSpPr/>
            <p:nvPr/>
          </p:nvSpPr>
          <p:spPr>
            <a:xfrm>
              <a:off x="6745357" y="3151676"/>
              <a:ext cx="225287" cy="1943584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548DBAB-2953-FE48-A4A2-AB76A1F32902}"/>
                </a:ext>
              </a:extLst>
            </p:cNvPr>
            <p:cNvCxnSpPr>
              <a:cxnSpLocks/>
            </p:cNvCxnSpPr>
            <p:nvPr/>
          </p:nvCxnSpPr>
          <p:spPr>
            <a:xfrm>
              <a:off x="5986755" y="3151676"/>
              <a:ext cx="763043" cy="0"/>
            </a:xfrm>
            <a:prstGeom prst="line">
              <a:avLst/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9E67C77-F63D-1448-8FFD-986B858A745D}"/>
                    </a:ext>
                  </a:extLst>
                </p:cNvPr>
                <p:cNvSpPr txBox="1"/>
                <p:nvPr/>
              </p:nvSpPr>
              <p:spPr>
                <a:xfrm>
                  <a:off x="8007170" y="3634055"/>
                  <a:ext cx="29516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𝐼𝑑𝑒𝑎𝑙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9E67C77-F63D-1448-8FFD-986B858A7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7170" y="3634055"/>
                  <a:ext cx="2951652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543" b="-517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DEEAFCF-2C30-734D-877A-D10C5AAFBF85}"/>
              </a:ext>
            </a:extLst>
          </p:cNvPr>
          <p:cNvSpPr txBox="1"/>
          <p:nvPr/>
        </p:nvSpPr>
        <p:spPr>
          <a:xfrm>
            <a:off x="-1" y="-506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Relating PV work to the change in volume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BCF3891-3423-1043-B45F-E06A543B319C}"/>
              </a:ext>
            </a:extLst>
          </p:cNvPr>
          <p:cNvCxnSpPr>
            <a:cxnSpLocks/>
          </p:cNvCxnSpPr>
          <p:nvPr/>
        </p:nvCxnSpPr>
        <p:spPr>
          <a:xfrm flipV="1">
            <a:off x="10584502" y="2764805"/>
            <a:ext cx="265468" cy="24358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ame 70">
            <a:extLst>
              <a:ext uri="{FF2B5EF4-FFF2-40B4-BE49-F238E27FC236}">
                <a16:creationId xmlns:a16="http://schemas.microsoft.com/office/drawing/2014/main" id="{54753617-83C5-F547-B830-9446B7023736}"/>
              </a:ext>
            </a:extLst>
          </p:cNvPr>
          <p:cNvSpPr/>
          <p:nvPr/>
        </p:nvSpPr>
        <p:spPr>
          <a:xfrm>
            <a:off x="5083905" y="4116602"/>
            <a:ext cx="2388426" cy="563357"/>
          </a:xfrm>
          <a:prstGeom prst="frame">
            <a:avLst>
              <a:gd name="adj1" fmla="val 72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0FA0FD6-CBF3-E24C-879C-A9B84AE628EE}"/>
                  </a:ext>
                </a:extLst>
              </p:cNvPr>
              <p:cNvSpPr/>
              <p:nvPr/>
            </p:nvSpPr>
            <p:spPr>
              <a:xfrm>
                <a:off x="10635008" y="6080861"/>
                <a:ext cx="45570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0FA0FD6-CBF3-E24C-879C-A9B84AE628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5008" y="6080861"/>
                <a:ext cx="45570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492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77FFEF-1824-B51F-6CD6-3A564341CCBE}"/>
                  </a:ext>
                </a:extLst>
              </p:cNvPr>
              <p:cNvSpPr txBox="1"/>
              <p:nvPr/>
            </p:nvSpPr>
            <p:spPr>
              <a:xfrm>
                <a:off x="121694" y="5826306"/>
                <a:ext cx="7188522" cy="10431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So, if the pressure were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𝑎𝑡𝑚</m:t>
                    </m:r>
                  </m:oMath>
                </a14:m>
                <a:r>
                  <a:rPr lang="en-US" sz="2400" dirty="0"/>
                  <a:t>, the volume change would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𝑎𝑡𝑚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𝒂𝒕𝒎</m:t>
                            </m:r>
                          </m:num>
                          <m:den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𝟏𝟎𝟎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𝑱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77FFEF-1824-B51F-6CD6-3A564341C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94" y="5826306"/>
                <a:ext cx="7188522" cy="1043171"/>
              </a:xfrm>
              <a:prstGeom prst="rect">
                <a:avLst/>
              </a:prstGeom>
              <a:blipFill>
                <a:blip r:embed="rId2"/>
                <a:stretch>
                  <a:fillRect l="-1411" t="-2410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DEEAFCF-2C30-734D-877A-D10C5AAFBF85}"/>
                  </a:ext>
                </a:extLst>
              </p:cNvPr>
              <p:cNvSpPr txBox="1"/>
              <p:nvPr/>
            </p:nvSpPr>
            <p:spPr>
              <a:xfrm>
                <a:off x="-1" y="-5060"/>
                <a:ext cx="12192001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Conversions … good to know that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𝒂𝒕𝒎</m:t>
                    </m:r>
                  </m:oMath>
                </a14:m>
                <a:r>
                  <a:rPr lang="en-US" sz="2400" b="1" dirty="0"/>
                  <a:t> equals about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r>
                  <a:rPr lang="en-US" sz="2400" b="1" dirty="0"/>
                  <a:t> … but the exact conversion is</a:t>
                </a: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DEEAFCF-2C30-734D-877A-D10C5AAFB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5060"/>
                <a:ext cx="12192001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73CC07A-783E-4599-3836-08E5C286E1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368"/>
          <a:stretch/>
        </p:blipFill>
        <p:spPr>
          <a:xfrm>
            <a:off x="3149599" y="1219199"/>
            <a:ext cx="6368143" cy="21702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DF624C-3324-66FA-4E92-0D9B0BEE0E8C}"/>
              </a:ext>
            </a:extLst>
          </p:cNvPr>
          <p:cNvSpPr txBox="1"/>
          <p:nvPr/>
        </p:nvSpPr>
        <p:spPr>
          <a:xfrm>
            <a:off x="2913743" y="810269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https://</a:t>
            </a:r>
            <a:r>
              <a:rPr lang="en-US" dirty="0" err="1">
                <a:hlinkClick r:id="rId5"/>
              </a:rPr>
              <a:t>www.convertunits.com</a:t>
            </a:r>
            <a:r>
              <a:rPr lang="en-US" dirty="0">
                <a:hlinkClick r:id="rId5"/>
              </a:rPr>
              <a:t>/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21B6F-D113-21FE-62D5-5E90F4EE11AF}"/>
              </a:ext>
            </a:extLst>
          </p:cNvPr>
          <p:cNvSpPr txBox="1"/>
          <p:nvPr/>
        </p:nvSpPr>
        <p:spPr>
          <a:xfrm>
            <a:off x="7574692" y="4053016"/>
            <a:ext cx="4312508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However, we’ll be doing most of our work with the help of Pint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FAC939-A0FB-709E-28B6-E00A6A48B291}"/>
              </a:ext>
            </a:extLst>
          </p:cNvPr>
          <p:cNvCxnSpPr>
            <a:cxnSpLocks/>
          </p:cNvCxnSpPr>
          <p:nvPr/>
        </p:nvCxnSpPr>
        <p:spPr>
          <a:xfrm flipV="1">
            <a:off x="3546389" y="3002692"/>
            <a:ext cx="469557" cy="2823614"/>
          </a:xfrm>
          <a:prstGeom prst="straightConnector1">
            <a:avLst/>
          </a:prstGeom>
          <a:ln w="127000">
            <a:solidFill>
              <a:schemeClr val="accent1">
                <a:alpha val="51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856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657631" y="1868557"/>
            <a:ext cx="2605920" cy="3295547"/>
            <a:chOff x="657631" y="1868557"/>
            <a:chExt cx="2605920" cy="329554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657631" y="1868557"/>
              <a:ext cx="2605920" cy="3295547"/>
              <a:chOff x="3260665" y="2252870"/>
              <a:chExt cx="3666827" cy="348532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46166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4616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 b="-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46166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 b="-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3DEC74-FB16-9C42-AE8B-0D4E108FB17D}"/>
              </a:ext>
            </a:extLst>
          </p:cNvPr>
          <p:cNvGrpSpPr/>
          <p:nvPr/>
        </p:nvGrpSpPr>
        <p:grpSpPr>
          <a:xfrm>
            <a:off x="6001877" y="13253"/>
            <a:ext cx="8230960" cy="6872157"/>
            <a:chOff x="5498293" y="-1205948"/>
            <a:chExt cx="8230960" cy="68721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4D51AB-942B-FC45-BC1E-A73EAE9C61BD}"/>
                    </a:ext>
                  </a:extLst>
                </p:cNvPr>
                <p:cNvSpPr txBox="1"/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𝑒𝑥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4D51AB-942B-FC45-BC1E-A73EAE9C6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554E467-193F-F94C-A4DC-CE6D093D76A1}"/>
                </a:ext>
              </a:extLst>
            </p:cNvPr>
            <p:cNvCxnSpPr>
              <a:cxnSpLocks/>
            </p:cNvCxnSpPr>
            <p:nvPr/>
          </p:nvCxnSpPr>
          <p:spPr>
            <a:xfrm>
              <a:off x="6308035" y="2415475"/>
              <a:ext cx="0" cy="273279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A092CFE-E316-0C4C-B9C6-FB307D96D0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8035" y="5121763"/>
              <a:ext cx="3313043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704EF62-C43B-814F-BCD6-A9CBD506BDB4}"/>
                    </a:ext>
                  </a:extLst>
                </p:cNvPr>
                <p:cNvSpPr/>
                <p:nvPr/>
              </p:nvSpPr>
              <p:spPr>
                <a:xfrm>
                  <a:off x="6475058" y="5194678"/>
                  <a:ext cx="54059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704EF62-C43B-814F-BCD6-A9CBD506BD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5058" y="5194678"/>
                  <a:ext cx="540597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6C043F6-4AC9-1D42-8E88-FBADBC1B947D}"/>
                    </a:ext>
                  </a:extLst>
                </p:cNvPr>
                <p:cNvSpPr/>
                <p:nvPr/>
              </p:nvSpPr>
              <p:spPr>
                <a:xfrm>
                  <a:off x="7648756" y="5204544"/>
                  <a:ext cx="5477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6C043F6-4AC9-1D42-8E88-FBADBC1B94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756" y="5204544"/>
                  <a:ext cx="54771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2CD1A006-E385-B348-9E52-130BAEAD6649}"/>
                </a:ext>
              </a:extLst>
            </p:cNvPr>
            <p:cNvSpPr/>
            <p:nvPr/>
          </p:nvSpPr>
          <p:spPr>
            <a:xfrm>
              <a:off x="6559827" y="-1205948"/>
              <a:ext cx="7169426" cy="6056244"/>
            </a:xfrm>
            <a:prstGeom prst="arc">
              <a:avLst>
                <a:gd name="adj1" fmla="val 6171250"/>
                <a:gd name="adj2" fmla="val 10117375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830831-F260-8D40-A0AB-04B5B4E25464}"/>
                </a:ext>
              </a:extLst>
            </p:cNvPr>
            <p:cNvSpPr/>
            <p:nvPr/>
          </p:nvSpPr>
          <p:spPr>
            <a:xfrm>
              <a:off x="6745357" y="3151676"/>
              <a:ext cx="225287" cy="1943584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16EA764-C3EE-BF40-8FC3-A28D67E78280}"/>
                </a:ext>
              </a:extLst>
            </p:cNvPr>
            <p:cNvSpPr/>
            <p:nvPr/>
          </p:nvSpPr>
          <p:spPr>
            <a:xfrm>
              <a:off x="6990521" y="3532372"/>
              <a:ext cx="218662" cy="1556264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E707FDB-7C07-DC43-9D17-66801AFD749E}"/>
                </a:ext>
              </a:extLst>
            </p:cNvPr>
            <p:cNvSpPr/>
            <p:nvPr/>
          </p:nvSpPr>
          <p:spPr>
            <a:xfrm>
              <a:off x="7209183" y="3809796"/>
              <a:ext cx="238539" cy="1285468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30D84D2-E7CF-8E47-A8E0-CB02A048E9AC}"/>
                </a:ext>
              </a:extLst>
            </p:cNvPr>
            <p:cNvSpPr/>
            <p:nvPr/>
          </p:nvSpPr>
          <p:spPr>
            <a:xfrm>
              <a:off x="7466005" y="4030256"/>
              <a:ext cx="220255" cy="1058380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218F236-9ED7-7047-B18D-E5685DA48CC6}"/>
                </a:ext>
              </a:extLst>
            </p:cNvPr>
            <p:cNvSpPr/>
            <p:nvPr/>
          </p:nvSpPr>
          <p:spPr>
            <a:xfrm>
              <a:off x="7685382" y="4157400"/>
              <a:ext cx="239417" cy="931231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83BD629-36CE-A64D-B4FC-31278FF28C7D}"/>
                </a:ext>
              </a:extLst>
            </p:cNvPr>
            <p:cNvCxnSpPr>
              <a:cxnSpLocks/>
            </p:cNvCxnSpPr>
            <p:nvPr/>
          </p:nvCxnSpPr>
          <p:spPr>
            <a:xfrm>
              <a:off x="5986755" y="3151676"/>
              <a:ext cx="763043" cy="0"/>
            </a:xfrm>
            <a:prstGeom prst="line">
              <a:avLst/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32C9E83-EFD5-D044-B498-2D26C64B1E86}"/>
                    </a:ext>
                  </a:extLst>
                </p:cNvPr>
                <p:cNvSpPr txBox="1"/>
                <p:nvPr/>
              </p:nvSpPr>
              <p:spPr>
                <a:xfrm>
                  <a:off x="8380278" y="4033446"/>
                  <a:ext cx="29516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𝐼𝑑𝑒𝑎𝑙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32C9E83-EFD5-D044-B498-2D26C64B1E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0278" y="4033446"/>
                  <a:ext cx="2951652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427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734004" y="246733"/>
                <a:ext cx="845799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Each step does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𝒅𝒘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𝒆𝒙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𝒅𝑽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work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After each step let a little heat in to keep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constant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</a:t>
                </a:r>
                <a:r>
                  <a:rPr lang="en-US" sz="2400" dirty="0">
                    <a:solidFill>
                      <a:schemeClr val="tx1"/>
                    </a:solidFill>
                  </a:rPr>
                  <a:t>rop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𝑒𝑥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 bit so the system expands a little more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004" y="246733"/>
                <a:ext cx="8457995" cy="1200329"/>
              </a:xfrm>
              <a:prstGeom prst="rect">
                <a:avLst/>
              </a:prstGeom>
              <a:blipFill>
                <a:blip r:embed="rId10"/>
                <a:stretch>
                  <a:fillRect l="-1049" t="-3158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8E41DE7-9E11-93D0-556D-96C22A18FCE9}"/>
              </a:ext>
            </a:extLst>
          </p:cNvPr>
          <p:cNvSpPr txBox="1"/>
          <p:nvPr/>
        </p:nvSpPr>
        <p:spPr>
          <a:xfrm>
            <a:off x="0" y="-160"/>
            <a:ext cx="3525253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Multistep isothermal expansion/contraction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631289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657631" y="1868557"/>
            <a:ext cx="2605920" cy="3295547"/>
            <a:chOff x="657631" y="1868557"/>
            <a:chExt cx="2605920" cy="329554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657631" y="1868557"/>
              <a:ext cx="2605920" cy="3295547"/>
              <a:chOff x="3260665" y="2252870"/>
              <a:chExt cx="3666827" cy="348532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46166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4616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 b="-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46166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 b="-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3DEC74-FB16-9C42-AE8B-0D4E108FB17D}"/>
              </a:ext>
            </a:extLst>
          </p:cNvPr>
          <p:cNvGrpSpPr/>
          <p:nvPr/>
        </p:nvGrpSpPr>
        <p:grpSpPr>
          <a:xfrm>
            <a:off x="6001877" y="13253"/>
            <a:ext cx="8230960" cy="6872157"/>
            <a:chOff x="5498293" y="-1205948"/>
            <a:chExt cx="8230960" cy="68721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4D51AB-942B-FC45-BC1E-A73EAE9C61BD}"/>
                    </a:ext>
                  </a:extLst>
                </p:cNvPr>
                <p:cNvSpPr txBox="1"/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𝑒𝑥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4D51AB-942B-FC45-BC1E-A73EAE9C6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554E467-193F-F94C-A4DC-CE6D093D76A1}"/>
                </a:ext>
              </a:extLst>
            </p:cNvPr>
            <p:cNvCxnSpPr>
              <a:cxnSpLocks/>
            </p:cNvCxnSpPr>
            <p:nvPr/>
          </p:nvCxnSpPr>
          <p:spPr>
            <a:xfrm>
              <a:off x="6308035" y="2415475"/>
              <a:ext cx="0" cy="273279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A092CFE-E316-0C4C-B9C6-FB307D96D0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8035" y="5121763"/>
              <a:ext cx="3313043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704EF62-C43B-814F-BCD6-A9CBD506BDB4}"/>
                    </a:ext>
                  </a:extLst>
                </p:cNvPr>
                <p:cNvSpPr/>
                <p:nvPr/>
              </p:nvSpPr>
              <p:spPr>
                <a:xfrm>
                  <a:off x="6475058" y="5194678"/>
                  <a:ext cx="54059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704EF62-C43B-814F-BCD6-A9CBD506BD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5058" y="5194678"/>
                  <a:ext cx="540597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6C043F6-4AC9-1D42-8E88-FBADBC1B947D}"/>
                    </a:ext>
                  </a:extLst>
                </p:cNvPr>
                <p:cNvSpPr/>
                <p:nvPr/>
              </p:nvSpPr>
              <p:spPr>
                <a:xfrm>
                  <a:off x="7648756" y="5204544"/>
                  <a:ext cx="5477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6C043F6-4AC9-1D42-8E88-FBADBC1B94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756" y="5204544"/>
                  <a:ext cx="54771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2CD1A006-E385-B348-9E52-130BAEAD6649}"/>
                </a:ext>
              </a:extLst>
            </p:cNvPr>
            <p:cNvSpPr/>
            <p:nvPr/>
          </p:nvSpPr>
          <p:spPr>
            <a:xfrm>
              <a:off x="6559827" y="-1205948"/>
              <a:ext cx="7169426" cy="6056244"/>
            </a:xfrm>
            <a:prstGeom prst="arc">
              <a:avLst>
                <a:gd name="adj1" fmla="val 6171250"/>
                <a:gd name="adj2" fmla="val 10117375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830831-F260-8D40-A0AB-04B5B4E25464}"/>
                </a:ext>
              </a:extLst>
            </p:cNvPr>
            <p:cNvSpPr/>
            <p:nvPr/>
          </p:nvSpPr>
          <p:spPr>
            <a:xfrm>
              <a:off x="6745357" y="3151676"/>
              <a:ext cx="225287" cy="1943584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16EA764-C3EE-BF40-8FC3-A28D67E78280}"/>
                </a:ext>
              </a:extLst>
            </p:cNvPr>
            <p:cNvSpPr/>
            <p:nvPr/>
          </p:nvSpPr>
          <p:spPr>
            <a:xfrm>
              <a:off x="6990521" y="3532372"/>
              <a:ext cx="218662" cy="1556264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E707FDB-7C07-DC43-9D17-66801AFD749E}"/>
                </a:ext>
              </a:extLst>
            </p:cNvPr>
            <p:cNvSpPr/>
            <p:nvPr/>
          </p:nvSpPr>
          <p:spPr>
            <a:xfrm>
              <a:off x="7209183" y="3809796"/>
              <a:ext cx="238539" cy="1285468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30D84D2-E7CF-8E47-A8E0-CB02A048E9AC}"/>
                </a:ext>
              </a:extLst>
            </p:cNvPr>
            <p:cNvSpPr/>
            <p:nvPr/>
          </p:nvSpPr>
          <p:spPr>
            <a:xfrm>
              <a:off x="7466005" y="4030256"/>
              <a:ext cx="220255" cy="1058380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218F236-9ED7-7047-B18D-E5685DA48CC6}"/>
                </a:ext>
              </a:extLst>
            </p:cNvPr>
            <p:cNvSpPr/>
            <p:nvPr/>
          </p:nvSpPr>
          <p:spPr>
            <a:xfrm>
              <a:off x="7685382" y="4157400"/>
              <a:ext cx="239417" cy="931231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83BD629-36CE-A64D-B4FC-31278FF28C7D}"/>
                </a:ext>
              </a:extLst>
            </p:cNvPr>
            <p:cNvCxnSpPr>
              <a:cxnSpLocks/>
            </p:cNvCxnSpPr>
            <p:nvPr/>
          </p:nvCxnSpPr>
          <p:spPr>
            <a:xfrm>
              <a:off x="5986755" y="3151676"/>
              <a:ext cx="763043" cy="0"/>
            </a:xfrm>
            <a:prstGeom prst="line">
              <a:avLst/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32C9E83-EFD5-D044-B498-2D26C64B1E86}"/>
                    </a:ext>
                  </a:extLst>
                </p:cNvPr>
                <p:cNvSpPr txBox="1"/>
                <p:nvPr/>
              </p:nvSpPr>
              <p:spPr>
                <a:xfrm>
                  <a:off x="8380278" y="4033446"/>
                  <a:ext cx="29516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𝐼𝑑𝑒𝑎𝑙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32C9E83-EFD5-D044-B498-2D26C64B1E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0278" y="4033446"/>
                  <a:ext cx="2951652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427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734004" y="246733"/>
                <a:ext cx="8457995" cy="25382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Each step does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𝒅𝒘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𝒆𝒙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𝒅𝑽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work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After each step let a little heat in to keep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constant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</a:t>
                </a:r>
                <a:r>
                  <a:rPr lang="en-US" sz="2400" dirty="0">
                    <a:solidFill>
                      <a:schemeClr val="tx1"/>
                    </a:solidFill>
                  </a:rPr>
                  <a:t>rop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𝑒𝑥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 bit so the system expands a little more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𝑛𝑅𝑇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e>
                          </m:nary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𝑛𝑅𝑇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004" y="246733"/>
                <a:ext cx="8457995" cy="2538259"/>
              </a:xfrm>
              <a:prstGeom prst="rect">
                <a:avLst/>
              </a:prstGeom>
              <a:blipFill>
                <a:blip r:embed="rId10"/>
                <a:stretch>
                  <a:fillRect l="-3898" t="-1493" b="-80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FEACEF98-26F5-9D4F-A930-189F916195D8}"/>
              </a:ext>
            </a:extLst>
          </p:cNvPr>
          <p:cNvSpPr txBox="1"/>
          <p:nvPr/>
        </p:nvSpPr>
        <p:spPr>
          <a:xfrm>
            <a:off x="0" y="-160"/>
            <a:ext cx="3525253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Multistep isothermal expansion/contraction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2045334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657631" y="1868557"/>
            <a:ext cx="2605920" cy="3295547"/>
            <a:chOff x="657631" y="1868557"/>
            <a:chExt cx="2605920" cy="329554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657631" y="1868557"/>
              <a:ext cx="2605920" cy="3295547"/>
              <a:chOff x="3260665" y="2252870"/>
              <a:chExt cx="3666827" cy="348532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46166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46166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 b="-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46166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 b="-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3DEC74-FB16-9C42-AE8B-0D4E108FB17D}"/>
              </a:ext>
            </a:extLst>
          </p:cNvPr>
          <p:cNvGrpSpPr/>
          <p:nvPr/>
        </p:nvGrpSpPr>
        <p:grpSpPr>
          <a:xfrm>
            <a:off x="6001877" y="13253"/>
            <a:ext cx="8230960" cy="6872157"/>
            <a:chOff x="5498293" y="-1205948"/>
            <a:chExt cx="8230960" cy="68721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4D51AB-942B-FC45-BC1E-A73EAE9C61BD}"/>
                    </a:ext>
                  </a:extLst>
                </p:cNvPr>
                <p:cNvSpPr txBox="1"/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𝑒𝑥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4D51AB-942B-FC45-BC1E-A73EAE9C6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554E467-193F-F94C-A4DC-CE6D093D76A1}"/>
                </a:ext>
              </a:extLst>
            </p:cNvPr>
            <p:cNvCxnSpPr>
              <a:cxnSpLocks/>
            </p:cNvCxnSpPr>
            <p:nvPr/>
          </p:nvCxnSpPr>
          <p:spPr>
            <a:xfrm>
              <a:off x="6308035" y="2415475"/>
              <a:ext cx="0" cy="273279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A092CFE-E316-0C4C-B9C6-FB307D96D0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8035" y="5121763"/>
              <a:ext cx="3313043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704EF62-C43B-814F-BCD6-A9CBD506BDB4}"/>
                    </a:ext>
                  </a:extLst>
                </p:cNvPr>
                <p:cNvSpPr/>
                <p:nvPr/>
              </p:nvSpPr>
              <p:spPr>
                <a:xfrm>
                  <a:off x="6475058" y="5194678"/>
                  <a:ext cx="54059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704EF62-C43B-814F-BCD6-A9CBD506BD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5058" y="5194678"/>
                  <a:ext cx="540597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6C043F6-4AC9-1D42-8E88-FBADBC1B947D}"/>
                    </a:ext>
                  </a:extLst>
                </p:cNvPr>
                <p:cNvSpPr/>
                <p:nvPr/>
              </p:nvSpPr>
              <p:spPr>
                <a:xfrm>
                  <a:off x="7648756" y="5204544"/>
                  <a:ext cx="5477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6C043F6-4AC9-1D42-8E88-FBADBC1B94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756" y="5204544"/>
                  <a:ext cx="54771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2CD1A006-E385-B348-9E52-130BAEAD6649}"/>
                </a:ext>
              </a:extLst>
            </p:cNvPr>
            <p:cNvSpPr/>
            <p:nvPr/>
          </p:nvSpPr>
          <p:spPr>
            <a:xfrm>
              <a:off x="6559827" y="-1205948"/>
              <a:ext cx="7169426" cy="6056244"/>
            </a:xfrm>
            <a:prstGeom prst="arc">
              <a:avLst>
                <a:gd name="adj1" fmla="val 6171250"/>
                <a:gd name="adj2" fmla="val 10117375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C830831-F260-8D40-A0AB-04B5B4E25464}"/>
                </a:ext>
              </a:extLst>
            </p:cNvPr>
            <p:cNvSpPr/>
            <p:nvPr/>
          </p:nvSpPr>
          <p:spPr>
            <a:xfrm>
              <a:off x="6745357" y="3151676"/>
              <a:ext cx="225287" cy="1943584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16EA764-C3EE-BF40-8FC3-A28D67E78280}"/>
                </a:ext>
              </a:extLst>
            </p:cNvPr>
            <p:cNvSpPr/>
            <p:nvPr/>
          </p:nvSpPr>
          <p:spPr>
            <a:xfrm>
              <a:off x="6990521" y="3532372"/>
              <a:ext cx="218662" cy="1556264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E707FDB-7C07-DC43-9D17-66801AFD749E}"/>
                </a:ext>
              </a:extLst>
            </p:cNvPr>
            <p:cNvSpPr/>
            <p:nvPr/>
          </p:nvSpPr>
          <p:spPr>
            <a:xfrm>
              <a:off x="7209183" y="3809796"/>
              <a:ext cx="238539" cy="1285468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30D84D2-E7CF-8E47-A8E0-CB02A048E9AC}"/>
                </a:ext>
              </a:extLst>
            </p:cNvPr>
            <p:cNvSpPr/>
            <p:nvPr/>
          </p:nvSpPr>
          <p:spPr>
            <a:xfrm>
              <a:off x="7466005" y="4030256"/>
              <a:ext cx="220255" cy="1058380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218F236-9ED7-7047-B18D-E5685DA48CC6}"/>
                </a:ext>
              </a:extLst>
            </p:cNvPr>
            <p:cNvSpPr/>
            <p:nvPr/>
          </p:nvSpPr>
          <p:spPr>
            <a:xfrm>
              <a:off x="7685382" y="4157400"/>
              <a:ext cx="239417" cy="931231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83BD629-36CE-A64D-B4FC-31278FF28C7D}"/>
                </a:ext>
              </a:extLst>
            </p:cNvPr>
            <p:cNvCxnSpPr>
              <a:cxnSpLocks/>
            </p:cNvCxnSpPr>
            <p:nvPr/>
          </p:nvCxnSpPr>
          <p:spPr>
            <a:xfrm>
              <a:off x="5986755" y="3151676"/>
              <a:ext cx="763043" cy="0"/>
            </a:xfrm>
            <a:prstGeom prst="line">
              <a:avLst/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32C9E83-EFD5-D044-B498-2D26C64B1E86}"/>
                    </a:ext>
                  </a:extLst>
                </p:cNvPr>
                <p:cNvSpPr txBox="1"/>
                <p:nvPr/>
              </p:nvSpPr>
              <p:spPr>
                <a:xfrm>
                  <a:off x="8380278" y="4033446"/>
                  <a:ext cx="29516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𝐼𝑑𝑒𝑎𝑙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32C9E83-EFD5-D044-B498-2D26C64B1E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0278" y="4033446"/>
                  <a:ext cx="2951652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427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734004" y="246733"/>
                <a:ext cx="8457995" cy="25382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Each step does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𝒅𝒘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𝒆𝒙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𝒅𝑽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work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After each step let a little heat in to keep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constant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</a:t>
                </a:r>
                <a:r>
                  <a:rPr lang="en-US" sz="2400" dirty="0">
                    <a:solidFill>
                      <a:schemeClr val="tx1"/>
                    </a:solidFill>
                  </a:rPr>
                  <a:t>rop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𝑒𝑥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 bit so the system expands a little more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𝑛𝑅𝑇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e>
                          </m:nary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𝑛𝑅𝑇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e>
                          </m:nary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𝒏𝑹𝑻𝒍𝒏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004" y="246733"/>
                <a:ext cx="8457995" cy="2538259"/>
              </a:xfrm>
              <a:prstGeom prst="rect">
                <a:avLst/>
              </a:prstGeom>
              <a:blipFill>
                <a:blip r:embed="rId10"/>
                <a:stretch>
                  <a:fillRect l="-3898" t="-1493" b="-80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FEACEF98-26F5-9D4F-A930-189F916195D8}"/>
              </a:ext>
            </a:extLst>
          </p:cNvPr>
          <p:cNvSpPr txBox="1"/>
          <p:nvPr/>
        </p:nvSpPr>
        <p:spPr>
          <a:xfrm>
            <a:off x="0" y="-160"/>
            <a:ext cx="3525253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Multistep isothermal expansion/contraction of an ideal gas</a:t>
            </a:r>
          </a:p>
        </p:txBody>
      </p:sp>
    </p:spTree>
    <p:extLst>
      <p:ext uri="{BB962C8B-B14F-4D97-AF65-F5344CB8AC3E}">
        <p14:creationId xmlns:p14="http://schemas.microsoft.com/office/powerpoint/2010/main" val="3020944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-15388" y="-4294"/>
                <a:ext cx="1220738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also get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2400" b="1" dirty="0"/>
                  <a:t> with the help of the 1st Law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388" y="-4294"/>
                <a:ext cx="12207388" cy="461665"/>
              </a:xfrm>
              <a:prstGeom prst="rect">
                <a:avLst/>
              </a:prstGeom>
              <a:blipFill>
                <a:blip r:embed="rId2"/>
                <a:stretch>
                  <a:fillRect l="-727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B23079-D543-3262-3519-B57695A3446D}"/>
                  </a:ext>
                </a:extLst>
              </p:cNvPr>
              <p:cNvSpPr txBox="1"/>
              <p:nvPr/>
            </p:nvSpPr>
            <p:spPr>
              <a:xfrm>
                <a:off x="1668706" y="625943"/>
                <a:ext cx="8839200" cy="1314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dirty="0"/>
                  <a:t>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Law says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an ideal gas,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=0⇒∆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That means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so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𝒏𝑹𝑻𝒍𝒏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B23079-D543-3262-3519-B57695A34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706" y="625943"/>
                <a:ext cx="8839200" cy="1314399"/>
              </a:xfrm>
              <a:prstGeom prst="rect">
                <a:avLst/>
              </a:prstGeom>
              <a:blipFill>
                <a:blip r:embed="rId3"/>
                <a:stretch>
                  <a:fillRect l="-2152" t="-6731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82C6A8B-EDED-442C-F4A5-05BB175794A6}"/>
              </a:ext>
            </a:extLst>
          </p:cNvPr>
          <p:cNvGrpSpPr>
            <a:grpSpLocks noChangeAspect="1"/>
          </p:cNvGrpSpPr>
          <p:nvPr/>
        </p:nvGrpSpPr>
        <p:grpSpPr>
          <a:xfrm>
            <a:off x="-4301663" y="457371"/>
            <a:ext cx="13744362" cy="5688846"/>
            <a:chOff x="-2927580" y="-2519032"/>
            <a:chExt cx="17025401" cy="727375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BEE3BC3-8CC5-B152-7B40-80A5D033AE1E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2927580" y="-2519032"/>
              <a:chExt cx="17025401" cy="7273754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3ABFFD1-D55C-8881-F242-6A25E744C4E6}"/>
                  </a:ext>
                </a:extLst>
              </p:cNvPr>
              <p:cNvGrpSpPr/>
              <p:nvPr/>
            </p:nvGrpSpPr>
            <p:grpSpPr>
              <a:xfrm>
                <a:off x="-2927580" y="-2519032"/>
                <a:ext cx="17025401" cy="7273754"/>
                <a:chOff x="-7264053" y="-1522649"/>
                <a:chExt cx="17025401" cy="7273754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3F28410A-1EEF-562A-39D8-84007C121BFC}"/>
                    </a:ext>
                  </a:extLst>
                </p:cNvPr>
                <p:cNvGrpSpPr/>
                <p:nvPr/>
              </p:nvGrpSpPr>
              <p:grpSpPr>
                <a:xfrm>
                  <a:off x="2196621" y="1301259"/>
                  <a:ext cx="5095406" cy="4449846"/>
                  <a:chOff x="1321977" y="1539799"/>
                  <a:chExt cx="5095406" cy="4449846"/>
                </a:xfrm>
              </p:grpSpPr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E6CB4DA6-6393-65BD-89FC-D78C7EC443A3}"/>
                      </a:ext>
                    </a:extLst>
                  </p:cNvPr>
                  <p:cNvGrpSpPr/>
                  <p:nvPr/>
                </p:nvGrpSpPr>
                <p:grpSpPr>
                  <a:xfrm>
                    <a:off x="1321977" y="1539799"/>
                    <a:ext cx="5095406" cy="4449846"/>
                    <a:chOff x="2177322" y="1859897"/>
                    <a:chExt cx="5095406" cy="4449846"/>
                  </a:xfrm>
                </p:grpSpPr>
                <p:sp>
                  <p:nvSpPr>
                    <p:cNvPr id="20" name="Frame 19">
                      <a:extLst>
                        <a:ext uri="{FF2B5EF4-FFF2-40B4-BE49-F238E27FC236}">
                          <a16:creationId xmlns:a16="http://schemas.microsoft.com/office/drawing/2014/main" id="{D4DD3680-B2C7-C5E2-B6D2-880D1098CD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8564" y="2338466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1" name="Frame 20">
                      <a:extLst>
                        <a:ext uri="{FF2B5EF4-FFF2-40B4-BE49-F238E27FC236}">
                          <a16:creationId xmlns:a16="http://schemas.microsoft.com/office/drawing/2014/main" id="{F0C80B62-FB69-1183-9EEF-D44B6EEB69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5620" y="1859897"/>
                      <a:ext cx="4407108" cy="3492708"/>
                    </a:xfrm>
                    <a:prstGeom prst="frame">
                      <a:avLst>
                        <a:gd name="adj1" fmla="val 1770"/>
                      </a:avLst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68EEE413-5643-5384-04F3-ABFE3755351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203554" y="1866835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3323843D-0281-23E4-43BC-5CBCAA86ADB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35711" y="1917358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ECECF866-E53D-C7D7-B331-D91C91444BA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6552336" y="5317376"/>
                      <a:ext cx="719528" cy="494675"/>
                    </a:xfrm>
                    <a:prstGeom prst="line">
                      <a:avLst/>
                    </a:prstGeom>
                    <a:ln w="635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ED5E5817-FFA0-4940-D187-8DBD01BE5C0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177322" y="5334001"/>
                      <a:ext cx="719528" cy="494675"/>
                    </a:xfrm>
                    <a:prstGeom prst="line">
                      <a:avLst/>
                    </a:prstGeom>
                    <a:ln w="635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6" name="Rectangle 25">
                          <a:extLst>
                            <a:ext uri="{FF2B5EF4-FFF2-40B4-BE49-F238E27FC236}">
                              <a16:creationId xmlns:a16="http://schemas.microsoft.com/office/drawing/2014/main" id="{F7FF7315-3164-1F83-9613-7471217D09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4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i="1" dirty="0"/>
                        </a:p>
                      </p:txBody>
                    </p:sp>
                  </mc:Choice>
                  <mc:Fallback xmlns="">
                    <p:sp>
                      <p:nvSpPr>
                        <p:cNvPr id="63" name="Rectangle 62">
                          <a:extLst>
                            <a:ext uri="{FF2B5EF4-FFF2-40B4-BE49-F238E27FC236}">
                              <a16:creationId xmlns:a16="http://schemas.microsoft.com/office/drawing/2014/main" id="{BD108DEB-CE9E-3846-8803-D8B58216CC48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948669" y="2521075"/>
                          <a:ext cx="2325269" cy="879287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 b="-1891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27" name="Rectangle 26">
                      <a:extLst>
                        <a:ext uri="{FF2B5EF4-FFF2-40B4-BE49-F238E27FC236}">
                          <a16:creationId xmlns:a16="http://schemas.microsoft.com/office/drawing/2014/main" id="{DC386503-2C74-C3A5-FA08-B7BD94303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242" y="5848078"/>
                      <a:ext cx="335348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T</a:t>
                      </a:r>
                    </a:p>
                  </p:txBody>
                </p:sp>
                <p:sp>
                  <p:nvSpPr>
                    <p:cNvPr id="28" name="Rectangle 27">
                      <a:extLst>
                        <a:ext uri="{FF2B5EF4-FFF2-40B4-BE49-F238E27FC236}">
                          <a16:creationId xmlns:a16="http://schemas.microsoft.com/office/drawing/2014/main" id="{3FE2388A-24CF-30FD-878F-1C4E48880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05877" y="4791001"/>
                      <a:ext cx="35939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sz="2400" dirty="0"/>
                        <a:t>V</a:t>
                      </a:r>
                    </a:p>
                  </p:txBody>
                </p:sp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1B55042E-1B6E-CAAA-1012-3FBC7BA915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203554" y="5824238"/>
                      <a:ext cx="4314668" cy="0"/>
                    </a:xfrm>
                    <a:prstGeom prst="line">
                      <a:avLst/>
                    </a:prstGeom>
                    <a:ln w="63500"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5521A7A1-2482-2AD7-4AA0-77C3DDA1B09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61461" y="4222012"/>
                    <a:ext cx="662066" cy="408928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49CD98C8-6CD0-FBD4-A957-EB4858E04F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719057" y="3446291"/>
                    <a:ext cx="677055" cy="486637"/>
                  </a:xfrm>
                  <a:prstGeom prst="line">
                    <a:avLst/>
                  </a:prstGeom>
                  <a:ln w="63500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" name="Arc 14">
                  <a:extLst>
                    <a:ext uri="{FF2B5EF4-FFF2-40B4-BE49-F238E27FC236}">
                      <a16:creationId xmlns:a16="http://schemas.microsoft.com/office/drawing/2014/main" id="{3E07168E-35DD-F719-8495-ED498C0752EA}"/>
                    </a:ext>
                  </a:extLst>
                </p:cNvPr>
                <p:cNvSpPr/>
                <p:nvPr/>
              </p:nvSpPr>
              <p:spPr>
                <a:xfrm>
                  <a:off x="-6548553" y="-1522649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" name="Arc 15">
                  <a:extLst>
                    <a:ext uri="{FF2B5EF4-FFF2-40B4-BE49-F238E27FC236}">
                      <a16:creationId xmlns:a16="http://schemas.microsoft.com/office/drawing/2014/main" id="{818E0CD9-B202-52EC-9C1E-A74FD4B2F881}"/>
                    </a:ext>
                  </a:extLst>
                </p:cNvPr>
                <p:cNvSpPr/>
                <p:nvPr/>
              </p:nvSpPr>
              <p:spPr>
                <a:xfrm>
                  <a:off x="-7264053" y="-1075780"/>
                  <a:ext cx="16309901" cy="5521942"/>
                </a:xfrm>
                <a:prstGeom prst="arc">
                  <a:avLst>
                    <a:gd name="adj1" fmla="val 1153804"/>
                    <a:gd name="adj2" fmla="val 3865988"/>
                  </a:avLst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4A28326-59D0-A484-E6F2-789306DC97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82251" y="3779678"/>
                <a:ext cx="676549" cy="470844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40A2729-2486-3C80-D045-EF0345F0D616}"/>
                </a:ext>
              </a:extLst>
            </p:cNvPr>
            <p:cNvSpPr/>
            <p:nvPr/>
          </p:nvSpPr>
          <p:spPr>
            <a:xfrm>
              <a:off x="9958650" y="2790803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EFEAEE-FE74-2B40-D637-317CE24B4F66}"/>
                </a:ext>
              </a:extLst>
            </p:cNvPr>
            <p:cNvSpPr/>
            <p:nvPr/>
          </p:nvSpPr>
          <p:spPr>
            <a:xfrm>
              <a:off x="10499320" y="2351351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972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2247</TotalTime>
  <Words>1313</Words>
  <Application>Microsoft Macintosh PowerPoint</Application>
  <PresentationFormat>Widescreen</PresentationFormat>
  <Paragraphs>217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229</cp:revision>
  <dcterms:created xsi:type="dcterms:W3CDTF">2018-08-07T04:05:17Z</dcterms:created>
  <dcterms:modified xsi:type="dcterms:W3CDTF">2025-10-06T17:03:04Z</dcterms:modified>
</cp:coreProperties>
</file>