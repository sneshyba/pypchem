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378" r:id="rId3"/>
    <p:sldId id="376" r:id="rId4"/>
    <p:sldId id="377" r:id="rId5"/>
    <p:sldId id="3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6"/>
    <p:restoredTop sz="94659"/>
  </p:normalViewPr>
  <p:slideViewPr>
    <p:cSldViewPr snapToGrid="0" snapToObjects="1">
      <p:cViewPr varScale="1">
        <p:scale>
          <a:sx n="106" d="100"/>
          <a:sy n="106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209A4-A4D3-9148-A9AD-2CB10B89C2EE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C1FC1-AA9D-5040-86FA-C96A5D17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8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EAC5-8408-0C43-AB39-DDB88E48C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2FC6F-BB5C-0A48-A8A0-D6FD94118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639F2-B6FF-9E42-9A5B-4D6C301A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0FD46-BC7C-2540-A352-8B235E7C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6FCC-A17E-2F4B-9816-171EF87C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8771-0FCB-1849-97C5-15DEF916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ACCB-6D65-444B-90BF-E52B5E1E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67CE-7845-124E-8006-FDE39738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F6F0-F3EC-0740-8E59-8E07B86C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5EE6-B37C-A14F-9F8D-626A1A6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54AE-1DF0-0A45-A49E-054838A2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6473B-B4CD-F146-8D7B-136AC5CC4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AE9E-3458-2249-A417-D16310E1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6904-C1CA-B845-9A35-0C669BD4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D05C-2B9E-7540-B264-B6CA1BC1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1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7C57-90BD-3241-814F-BB89C538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7678-2512-5641-AAD6-87CA9EAC7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9819-4193-9A4B-B2CA-1DC70FD8C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D32BF-9CE8-E845-A024-E84DFEE4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5A64C-77F1-B348-921B-3C7672BD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322C7-413E-A747-B152-9B86ACA0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3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E9EC-4BEF-7943-B721-5A64C2F7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F98B3-8552-CB40-A76E-CF7B590B8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7982-ABA9-ED49-9BDE-FD5F3AD78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983A5-59AA-3D46-A493-E19EC5D8F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E1B4F-A726-1943-9A11-A6AB19F60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4D71D-9D68-0042-95F4-00A97F3B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63355-33F6-4E49-BECA-36338EAE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71BAE-3E2E-7A41-B67B-8360766A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2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CA99-3127-D041-8B28-9BB8EAA9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A1FC8-A284-574E-8B44-F8FCBD43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A7701-E120-C546-B253-E793ACE9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C63F5-7D25-B14B-9F02-39518AB4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9B1-EF5E-744E-BA01-D757DF7B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67D91-975F-7C4C-9155-B4ECCC6A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B2B3-E388-4644-9D61-330A5CEF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5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DCD4-5E72-E145-9D54-3E9A77B9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0BAA-5BAA-C744-A4B4-6AE5693CA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FF3E-91C8-FC4A-9F2B-4DC79F640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90D91-29EC-EF47-A7AF-62E4EE3B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EB4AA-A905-BA49-AD8A-4CA03B06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F4BAF-2D8E-2344-BA91-FCE41297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3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BA47-DE99-164D-B67E-8812CABF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B0BA5-9A7E-834F-92BD-D9376C9BF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58FB2-5936-644B-A189-5D66795A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76BAB-FFAA-B14A-9889-2DAE1423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1C1E7-38A2-1A4E-B910-287FF629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9FCC8-8F6E-3B4A-ADD7-73B94A35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7B64-C7B8-5348-85F3-64586174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B75B7-DB58-7844-86B3-23F0FBA1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4E74D-ABFD-9546-9FF5-9E87A8D2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21D09-8997-0145-A869-084126E8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DBB6-BAEF-5246-B40E-D650F33D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4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13836-E09C-8A45-B943-CED54C124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C2D9A-B163-3744-9195-6B9DA44D3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3F41-9424-2F44-9DA5-3494AA52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259C-07E5-104E-A20C-4F7767DB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6BD5-2A9C-2A4B-8707-1A8D4AB1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A524F-5BC8-F049-914A-A2995F1D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1C70-C5C8-5248-B978-45E99089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4A288-F7FC-0840-AD58-2BD8253A8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BB814-64FE-A046-86EF-08998BAE6296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ADD0-8084-3D4D-B4F5-A2C2941F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D72A-71AB-744A-AB70-74F9513F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D882765-B54A-6E47-A680-7F84B3BB57E6}"/>
              </a:ext>
            </a:extLst>
          </p:cNvPr>
          <p:cNvGrpSpPr/>
          <p:nvPr/>
        </p:nvGrpSpPr>
        <p:grpSpPr>
          <a:xfrm>
            <a:off x="2093625" y="802724"/>
            <a:ext cx="7272727" cy="845986"/>
            <a:chOff x="1723869" y="1777849"/>
            <a:chExt cx="7272727" cy="84598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E5E4AA8-69C6-0040-A60B-B03FCF293BE7}"/>
                </a:ext>
              </a:extLst>
            </p:cNvPr>
            <p:cNvCxnSpPr>
              <a:cxnSpLocks/>
            </p:cNvCxnSpPr>
            <p:nvPr/>
          </p:nvCxnSpPr>
          <p:spPr>
            <a:xfrm>
              <a:off x="4249611" y="2193348"/>
              <a:ext cx="1858780" cy="0"/>
            </a:xfrm>
            <a:prstGeom prst="straightConnector1">
              <a:avLst/>
            </a:prstGeom>
            <a:ln w="63500"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0ABD80-4098-D74F-B132-950294B8C930}"/>
                </a:ext>
              </a:extLst>
            </p:cNvPr>
            <p:cNvSpPr txBox="1"/>
            <p:nvPr/>
          </p:nvSpPr>
          <p:spPr>
            <a:xfrm>
              <a:off x="1723869" y="1792838"/>
              <a:ext cx="2278505" cy="83099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Macroscopic world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6DF1A2-65C8-DB43-9B35-66D552B26981}"/>
                </a:ext>
              </a:extLst>
            </p:cNvPr>
            <p:cNvSpPr txBox="1"/>
            <p:nvPr/>
          </p:nvSpPr>
          <p:spPr>
            <a:xfrm>
              <a:off x="6718091" y="1777849"/>
              <a:ext cx="2278505" cy="83099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Microscopic world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2C84CB-1E70-AEFC-34C9-A1B378D6D4B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Recap: Thermodynamics and molecular insight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E9ED30-CF7C-CCBE-EC1C-6BBEFB412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33" y="1865375"/>
            <a:ext cx="1701255" cy="167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7C83BE-D403-F613-D207-3DFA832FB1CB}"/>
              </a:ext>
            </a:extLst>
          </p:cNvPr>
          <p:cNvSpPr/>
          <p:nvPr/>
        </p:nvSpPr>
        <p:spPr>
          <a:xfrm>
            <a:off x="2642934" y="1918438"/>
            <a:ext cx="76704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The</a:t>
            </a:r>
            <a:r>
              <a:rPr lang="en-US" sz="2400" dirty="0"/>
              <a:t> </a:t>
            </a:r>
            <a:r>
              <a:rPr lang="en-US" sz="2400" b="1" dirty="0"/>
              <a:t>kinetic-molecular theory of gases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molecules are in constant motion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Slower-moving molecules=&gt; lower temperature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Faster-moving molecules =&gt; higher temperature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8C50C50-E26A-9EB1-39E7-0D86F34DC3A9}"/>
              </a:ext>
            </a:extLst>
          </p:cNvPr>
          <p:cNvGrpSpPr/>
          <p:nvPr/>
        </p:nvGrpSpPr>
        <p:grpSpPr>
          <a:xfrm>
            <a:off x="279399" y="4265054"/>
            <a:ext cx="2552707" cy="2300842"/>
            <a:chOff x="279399" y="4265054"/>
            <a:chExt cx="2552707" cy="230084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D7AB155-8199-7CC6-EFE3-15AEEF754558}"/>
                </a:ext>
              </a:extLst>
            </p:cNvPr>
            <p:cNvGrpSpPr/>
            <p:nvPr/>
          </p:nvGrpSpPr>
          <p:grpSpPr>
            <a:xfrm>
              <a:off x="279399" y="4265054"/>
              <a:ext cx="841375" cy="2292443"/>
              <a:chOff x="279399" y="4265054"/>
              <a:chExt cx="841375" cy="2292443"/>
            </a:xfrm>
          </p:grpSpPr>
          <p:pic>
            <p:nvPicPr>
              <p:cNvPr id="18" name="Picture 2" descr="Airpower America - Manual Tire Pump - Walmart.com">
                <a:extLst>
                  <a:ext uri="{FF2B5EF4-FFF2-40B4-BE49-F238E27FC236}">
                    <a16:creationId xmlns:a16="http://schemas.microsoft.com/office/drawing/2014/main" id="{1BA16260-FFB6-E1BD-B556-FEA837AF49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085" r="28871" b="89821"/>
              <a:stretch/>
            </p:blipFill>
            <p:spPr bwMode="auto">
              <a:xfrm>
                <a:off x="279399" y="4265054"/>
                <a:ext cx="841375" cy="1989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2" descr="Airpower America - Manual Tire Pump - Walmart.com">
                <a:extLst>
                  <a:ext uri="{FF2B5EF4-FFF2-40B4-BE49-F238E27FC236}">
                    <a16:creationId xmlns:a16="http://schemas.microsoft.com/office/drawing/2014/main" id="{3BFF433E-8248-C96F-D78C-B593C51CB8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745" t="10426" r="35205"/>
              <a:stretch/>
            </p:blipFill>
            <p:spPr bwMode="auto">
              <a:xfrm>
                <a:off x="409575" y="4806602"/>
                <a:ext cx="587375" cy="17508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4D7DE66-EAC8-79FC-C69A-D4137C5DDBA1}"/>
                  </a:ext>
                </a:extLst>
              </p:cNvPr>
              <p:cNvCxnSpPr>
                <a:cxnSpLocks/>
                <a:stCxn id="18" idx="2"/>
              </p:cNvCxnSpPr>
              <p:nvPr/>
            </p:nvCxnSpPr>
            <p:spPr>
              <a:xfrm flipH="1">
                <a:off x="698240" y="4464019"/>
                <a:ext cx="1847" cy="44735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8175151-9EA6-6732-EF88-7F0286463DCB}"/>
                </a:ext>
              </a:extLst>
            </p:cNvPr>
            <p:cNvGrpSpPr/>
            <p:nvPr/>
          </p:nvGrpSpPr>
          <p:grpSpPr>
            <a:xfrm>
              <a:off x="1990731" y="4394322"/>
              <a:ext cx="841375" cy="2171574"/>
              <a:chOff x="279399" y="4385923"/>
              <a:chExt cx="841375" cy="2171574"/>
            </a:xfrm>
          </p:grpSpPr>
          <p:pic>
            <p:nvPicPr>
              <p:cNvPr id="15" name="Picture 14" descr="Airpower America - Manual Tire Pump - Walmart.com">
                <a:extLst>
                  <a:ext uri="{FF2B5EF4-FFF2-40B4-BE49-F238E27FC236}">
                    <a16:creationId xmlns:a16="http://schemas.microsoft.com/office/drawing/2014/main" id="{8C2BF7D8-A02B-7D6E-5FC6-AD18C528DA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085" r="28871" b="89821"/>
              <a:stretch/>
            </p:blipFill>
            <p:spPr bwMode="auto">
              <a:xfrm>
                <a:off x="279399" y="4385923"/>
                <a:ext cx="841375" cy="1989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Airpower America - Manual Tire Pump - Walmart.com">
                <a:extLst>
                  <a:ext uri="{FF2B5EF4-FFF2-40B4-BE49-F238E27FC236}">
                    <a16:creationId xmlns:a16="http://schemas.microsoft.com/office/drawing/2014/main" id="{3B4F19A5-8055-ECAC-BED3-63338BB892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745" t="10426" r="35205"/>
              <a:stretch/>
            </p:blipFill>
            <p:spPr bwMode="auto">
              <a:xfrm>
                <a:off x="409575" y="4806602"/>
                <a:ext cx="587375" cy="17508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1070648-F349-0840-D7C8-9B4703165C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8240" y="4574111"/>
                <a:ext cx="1846" cy="337266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Left Arrow 13">
              <a:extLst>
                <a:ext uri="{FF2B5EF4-FFF2-40B4-BE49-F238E27FC236}">
                  <a16:creationId xmlns:a16="http://schemas.microsoft.com/office/drawing/2014/main" id="{A8088904-6D13-DD6B-6247-71113D4C81F9}"/>
                </a:ext>
              </a:extLst>
            </p:cNvPr>
            <p:cNvSpPr/>
            <p:nvPr/>
          </p:nvSpPr>
          <p:spPr>
            <a:xfrm rot="10800000">
              <a:off x="1025726" y="5207447"/>
              <a:ext cx="609566" cy="48342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44255FE8-1A7E-16D9-DE2E-E7EA68F1E090}"/>
              </a:ext>
            </a:extLst>
          </p:cNvPr>
          <p:cNvCxnSpPr/>
          <p:nvPr/>
        </p:nvCxnSpPr>
        <p:spPr>
          <a:xfrm flipV="1">
            <a:off x="2700083" y="4887006"/>
            <a:ext cx="692947" cy="365760"/>
          </a:xfrm>
          <a:prstGeom prst="curvedConnector3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C7C4C039-5709-095E-D9AF-85B589601244}"/>
              </a:ext>
            </a:extLst>
          </p:cNvPr>
          <p:cNvCxnSpPr>
            <a:cxnSpLocks/>
          </p:cNvCxnSpPr>
          <p:nvPr/>
        </p:nvCxnSpPr>
        <p:spPr>
          <a:xfrm>
            <a:off x="2635649" y="5615981"/>
            <a:ext cx="549723" cy="376214"/>
          </a:xfrm>
          <a:prstGeom prst="curvedConnector3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ED497ED6-0414-FC83-265B-F819CD9B8EB9}"/>
              </a:ext>
            </a:extLst>
          </p:cNvPr>
          <p:cNvCxnSpPr>
            <a:cxnSpLocks/>
          </p:cNvCxnSpPr>
          <p:nvPr/>
        </p:nvCxnSpPr>
        <p:spPr>
          <a:xfrm rot="10800000">
            <a:off x="1527071" y="4948306"/>
            <a:ext cx="566554" cy="304461"/>
          </a:xfrm>
          <a:prstGeom prst="curvedConnector3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45363B-C161-3251-0F98-C99F3A963D4A}"/>
              </a:ext>
            </a:extLst>
          </p:cNvPr>
          <p:cNvSpPr txBox="1"/>
          <p:nvPr/>
        </p:nvSpPr>
        <p:spPr>
          <a:xfrm>
            <a:off x="3360194" y="4815001"/>
            <a:ext cx="1589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Adiabatic heating &amp; cooling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CFDF8C3-5741-1AED-847D-898A58A95509}"/>
              </a:ext>
            </a:extLst>
          </p:cNvPr>
          <p:cNvGrpSpPr>
            <a:grpSpLocks noChangeAspect="1"/>
          </p:cNvGrpSpPr>
          <p:nvPr/>
        </p:nvGrpSpPr>
        <p:grpSpPr>
          <a:xfrm>
            <a:off x="5873056" y="4114177"/>
            <a:ext cx="2100513" cy="2186540"/>
            <a:chOff x="907575" y="1033740"/>
            <a:chExt cx="3664425" cy="381450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8642A2C-DFD9-2C1B-6C51-6EACB87B4B12}"/>
                </a:ext>
              </a:extLst>
            </p:cNvPr>
            <p:cNvGrpSpPr/>
            <p:nvPr/>
          </p:nvGrpSpPr>
          <p:grpSpPr>
            <a:xfrm>
              <a:off x="907575" y="1033740"/>
              <a:ext cx="3664425" cy="3814502"/>
              <a:chOff x="6935396" y="2658004"/>
              <a:chExt cx="3664425" cy="381450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E3E17053-D397-ECA8-C7AD-B0ADA22B01A5}"/>
                  </a:ext>
                </a:extLst>
              </p:cNvPr>
              <p:cNvGrpSpPr/>
              <p:nvPr/>
            </p:nvGrpSpPr>
            <p:grpSpPr>
              <a:xfrm>
                <a:off x="6935396" y="2658004"/>
                <a:ext cx="3664425" cy="3814502"/>
                <a:chOff x="8650032" y="2150586"/>
                <a:chExt cx="2341029" cy="2522375"/>
              </a:xfrm>
            </p:grpSpPr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0B6775C3-6D6E-8FBA-8A59-E2CFA036EE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55188" y="2150586"/>
                  <a:ext cx="1935873" cy="1274450"/>
                </a:xfrm>
                <a:prstGeom prst="rect">
                  <a:avLst/>
                </a:prstGeom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DC77E99C-ABF6-25CA-A587-9EE03D0AB1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50032" y="3398511"/>
                  <a:ext cx="1935873" cy="1274450"/>
                </a:xfrm>
                <a:prstGeom prst="rect">
                  <a:avLst/>
                </a:prstGeom>
              </p:spPr>
            </p:pic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B9D58E8-A764-597B-4E81-2F6C25468C55}"/>
                  </a:ext>
                </a:extLst>
              </p:cNvPr>
              <p:cNvSpPr txBox="1"/>
              <p:nvPr/>
            </p:nvSpPr>
            <p:spPr>
              <a:xfrm>
                <a:off x="8009614" y="3438660"/>
                <a:ext cx="50430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b="1" dirty="0"/>
                  <a:t>-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637C75-80F6-55FF-4501-2AFABB72E77B}"/>
                  </a:ext>
                </a:extLst>
              </p:cNvPr>
              <p:cNvSpPr txBox="1"/>
              <p:nvPr/>
            </p:nvSpPr>
            <p:spPr>
              <a:xfrm>
                <a:off x="9858467" y="3091437"/>
                <a:ext cx="50430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b="1" dirty="0"/>
                  <a:t>-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7D19E02-E2FC-D5A9-CDED-E207FA261405}"/>
                  </a:ext>
                </a:extLst>
              </p:cNvPr>
              <p:cNvSpPr txBox="1"/>
              <p:nvPr/>
            </p:nvSpPr>
            <p:spPr>
              <a:xfrm>
                <a:off x="7317436" y="5394014"/>
                <a:ext cx="50430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b="1" dirty="0"/>
                  <a:t>-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6E702A8-59E3-0BB1-ECE0-52F51B3589C8}"/>
                  </a:ext>
                </a:extLst>
              </p:cNvPr>
              <p:cNvSpPr txBox="1"/>
              <p:nvPr/>
            </p:nvSpPr>
            <p:spPr>
              <a:xfrm>
                <a:off x="9221475" y="5069407"/>
                <a:ext cx="50430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b="1" dirty="0"/>
                  <a:t>-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1D8BF85-7A7B-55FB-6E93-BC6C53367363}"/>
                  </a:ext>
                </a:extLst>
              </p:cNvPr>
              <p:cNvSpPr txBox="1"/>
              <p:nvPr/>
            </p:nvSpPr>
            <p:spPr>
              <a:xfrm>
                <a:off x="8895960" y="3553369"/>
                <a:ext cx="50430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b="1" dirty="0"/>
                  <a:t>+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6721923-CB58-B47F-35E3-6E9EF985F114}"/>
                  </a:ext>
                </a:extLst>
              </p:cNvPr>
              <p:cNvSpPr txBox="1"/>
              <p:nvPr/>
            </p:nvSpPr>
            <p:spPr>
              <a:xfrm>
                <a:off x="8111815" y="4775717"/>
                <a:ext cx="50430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b="1" dirty="0"/>
                  <a:t>+</a:t>
                </a: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171E7BB-FF3C-3D89-E478-76167F6815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6099" y="2665245"/>
              <a:ext cx="269216" cy="657384"/>
            </a:xfrm>
            <a:prstGeom prst="straightConnector1">
              <a:avLst/>
            </a:prstGeom>
            <a:ln w="22225">
              <a:solidFill>
                <a:schemeClr val="accent3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B56D8C4-E3D6-5B72-DB37-D753B0A263D5}"/>
              </a:ext>
            </a:extLst>
          </p:cNvPr>
          <p:cNvSpPr txBox="1"/>
          <p:nvPr/>
        </p:nvSpPr>
        <p:spPr>
          <a:xfrm>
            <a:off x="7691546" y="5274949"/>
            <a:ext cx="2032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Intermolecular stickiness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760C1F22-5FB9-1FF3-5A0B-E870C8AB174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335" t="19315" r="37993" b="47321"/>
          <a:stretch/>
        </p:blipFill>
        <p:spPr>
          <a:xfrm>
            <a:off x="8733869" y="3563797"/>
            <a:ext cx="3101196" cy="106361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58673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378156-39DA-9856-959A-91945368316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 we’re going to get good at plotting 1D functions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FDFFBB-02BF-BF19-B0EF-042A41B8D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936" y="742571"/>
            <a:ext cx="7552690" cy="5671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C0BBEA-BD11-B9EE-8B97-8CF5666B7194}"/>
                  </a:ext>
                </a:extLst>
              </p:cNvPr>
              <p:cNvSpPr txBox="1"/>
              <p:nvPr/>
            </p:nvSpPr>
            <p:spPr>
              <a:xfrm>
                <a:off x="304800" y="1572768"/>
                <a:ext cx="4181856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Making graphs like this requires that we be able to …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Lay out a set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-values (which we’ll do with a function called </a:t>
                </a:r>
                <a:r>
                  <a:rPr lang="en-US" sz="2400" i="1" dirty="0" err="1"/>
                  <a:t>np.linspace</a:t>
                </a:r>
                <a:r>
                  <a:rPr lang="en-US" sz="24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Calculate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plot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Add a legend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C0BBEA-BD11-B9EE-8B97-8CF5666B7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572768"/>
                <a:ext cx="4181856" cy="3046988"/>
              </a:xfrm>
              <a:prstGeom prst="rect">
                <a:avLst/>
              </a:prstGeom>
              <a:blipFill>
                <a:blip r:embed="rId3"/>
                <a:stretch>
                  <a:fillRect l="-2424" t="-1245" r="-1818" b="-3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584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378156-39DA-9856-959A-91945368316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Also, how to take numerical derivatives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9FB5C4D-DEE7-2250-B586-CF986729E58B}"/>
              </a:ext>
            </a:extLst>
          </p:cNvPr>
          <p:cNvGrpSpPr/>
          <p:nvPr/>
        </p:nvGrpSpPr>
        <p:grpSpPr>
          <a:xfrm>
            <a:off x="2514261" y="836281"/>
            <a:ext cx="7163477" cy="4398788"/>
            <a:chOff x="4930987" y="458329"/>
            <a:chExt cx="7163477" cy="4398788"/>
          </a:xfrm>
        </p:grpSpPr>
        <p:pic>
          <p:nvPicPr>
            <p:cNvPr id="11" name="Picture 2" descr="Calculus 3.04a - Numerical Derivatives - YouTube">
              <a:extLst>
                <a:ext uri="{FF2B5EF4-FFF2-40B4-BE49-F238E27FC236}">
                  <a16:creationId xmlns:a16="http://schemas.microsoft.com/office/drawing/2014/main" id="{E96BAB44-F452-B43D-ECF6-1075BC03E8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0987" y="458329"/>
              <a:ext cx="7163477" cy="40294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9D6FE9-1302-F1B9-B0EC-83C4B243F469}"/>
                </a:ext>
              </a:extLst>
            </p:cNvPr>
            <p:cNvSpPr txBox="1"/>
            <p:nvPr/>
          </p:nvSpPr>
          <p:spPr>
            <a:xfrm>
              <a:off x="5596128" y="4580118"/>
              <a:ext cx="61447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https://</a:t>
              </a:r>
              <a:r>
                <a:rPr lang="en-US" sz="1200" dirty="0" err="1"/>
                <a:t>i.ytimg.com</a:t>
              </a:r>
              <a:r>
                <a:rPr lang="en-US" sz="1200" dirty="0"/>
                <a:t>/vi/oi2mrzVu0AE/</a:t>
              </a:r>
              <a:r>
                <a:rPr lang="en-US" sz="1200" dirty="0" err="1"/>
                <a:t>maxresdefault.jpg</a:t>
              </a:r>
              <a:endParaRPr lang="en-US" sz="12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3115E1-DA59-53BA-B7C2-BBDB73C43F4F}"/>
                  </a:ext>
                </a:extLst>
              </p:cNvPr>
              <p:cNvSpPr txBox="1"/>
              <p:nvPr/>
            </p:nvSpPr>
            <p:spPr>
              <a:xfrm>
                <a:off x="1548384" y="5652387"/>
                <a:ext cx="964387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 key idea here is that taking a numerical derivative in this way produces a new array that has one fewer value than the original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3115E1-DA59-53BA-B7C2-BBDB73C43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384" y="5652387"/>
                <a:ext cx="9643872" cy="830997"/>
              </a:xfrm>
              <a:prstGeom prst="rect">
                <a:avLst/>
              </a:prstGeom>
              <a:blipFill>
                <a:blip r:embed="rId3"/>
                <a:stretch>
                  <a:fillRect l="-920" t="-4478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80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378156-39DA-9856-959A-91945368316E}"/>
              </a:ext>
            </a:extLst>
          </p:cNvPr>
          <p:cNvSpPr txBox="1"/>
          <p:nvPr/>
        </p:nvSpPr>
        <p:spPr>
          <a:xfrm>
            <a:off x="0" y="0"/>
            <a:ext cx="525475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Also, how to take numerical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C0BBEA-BD11-B9EE-8B97-8CF5666B7194}"/>
                  </a:ext>
                </a:extLst>
              </p:cNvPr>
              <p:cNvSpPr txBox="1"/>
              <p:nvPr/>
            </p:nvSpPr>
            <p:spPr>
              <a:xfrm>
                <a:off x="304800" y="1572768"/>
                <a:ext cx="470611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Making graphs like this requires that we be able to …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Use </a:t>
                </a:r>
                <a:r>
                  <a:rPr lang="en-US" sz="2400" dirty="0" err="1"/>
                  <a:t>Numpy’s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np.diff</a:t>
                </a:r>
                <a:r>
                  <a:rPr lang="en-US" sz="2400" dirty="0"/>
                  <a:t> function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Shorten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-array by one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Add a legend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C0BBEA-BD11-B9EE-8B97-8CF5666B7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572768"/>
                <a:ext cx="4706112" cy="2308324"/>
              </a:xfrm>
              <a:prstGeom prst="rect">
                <a:avLst/>
              </a:prstGeom>
              <a:blipFill>
                <a:blip r:embed="rId2"/>
                <a:stretch>
                  <a:fillRect l="-2156" t="-1639" r="-2695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8" name="Picture 6">
            <a:extLst>
              <a:ext uri="{FF2B5EF4-FFF2-40B4-BE49-F238E27FC236}">
                <a16:creationId xmlns:a16="http://schemas.microsoft.com/office/drawing/2014/main" id="{B995C2DE-EAFC-0D2E-21E8-4B76ACF7B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613" y="0"/>
            <a:ext cx="5719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702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60E234-633B-63EA-EFE0-F33C9267D19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1B1904-19A3-BAF4-C960-35A8DA1BAE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170"/>
          <a:stretch/>
        </p:blipFill>
        <p:spPr>
          <a:xfrm>
            <a:off x="403917" y="1454146"/>
            <a:ext cx="11384165" cy="394970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667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2082</TotalTime>
  <Words>183</Words>
  <Application>Microsoft Macintosh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108</cp:revision>
  <dcterms:created xsi:type="dcterms:W3CDTF">2018-08-07T04:05:17Z</dcterms:created>
  <dcterms:modified xsi:type="dcterms:W3CDTF">2025-08-14T13:59:22Z</dcterms:modified>
</cp:coreProperties>
</file>