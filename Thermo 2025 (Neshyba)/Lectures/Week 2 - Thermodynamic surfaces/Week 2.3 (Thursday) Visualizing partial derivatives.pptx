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90" r:id="rId2"/>
    <p:sldId id="313" r:id="rId3"/>
    <p:sldId id="333" r:id="rId4"/>
    <p:sldId id="376" r:id="rId5"/>
    <p:sldId id="356" r:id="rId6"/>
    <p:sldId id="314" r:id="rId7"/>
    <p:sldId id="710" r:id="rId8"/>
    <p:sldId id="321" r:id="rId9"/>
    <p:sldId id="709" r:id="rId10"/>
    <p:sldId id="712" r:id="rId11"/>
    <p:sldId id="711" r:id="rId12"/>
    <p:sldId id="323" r:id="rId13"/>
    <p:sldId id="713" r:id="rId14"/>
    <p:sldId id="714" r:id="rId15"/>
    <p:sldId id="315" r:id="rId16"/>
    <p:sldId id="715" r:id="rId17"/>
    <p:sldId id="326" r:id="rId18"/>
    <p:sldId id="708" r:id="rId19"/>
    <p:sldId id="716" r:id="rId20"/>
    <p:sldId id="316" r:id="rId21"/>
    <p:sldId id="327" r:id="rId22"/>
    <p:sldId id="328" r:id="rId23"/>
    <p:sldId id="320" r:id="rId24"/>
    <p:sldId id="311" r:id="rId25"/>
    <p:sldId id="312" r:id="rId26"/>
    <p:sldId id="334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084"/>
    <p:restoredTop sz="92814"/>
  </p:normalViewPr>
  <p:slideViewPr>
    <p:cSldViewPr snapToGrid="0" snapToObjects="1">
      <p:cViewPr varScale="1">
        <p:scale>
          <a:sx n="100" d="100"/>
          <a:sy n="100" d="100"/>
        </p:scale>
        <p:origin x="19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75BF05-48E6-6C4E-A493-101DC34CBDA4}" type="datetimeFigureOut">
              <a:rPr lang="en-US" smtClean="0"/>
              <a:t>9/11/25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B2D13B-A0D4-D442-AE8A-0B6E36148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013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latin typeface="+mn-lt"/>
              </a:rPr>
              <a:t>Week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71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latin typeface="+mn-lt"/>
              </a:rPr>
              <a:t>Week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993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7EAC5-8408-0C43-AB39-DDB88E48C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C2FC6F-BB5C-0A48-A8A0-D6FD941183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639F2-B6FF-9E42-9A5B-4D6C301AA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0FD46-BC7C-2540-A352-8B235E7C8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06FCC-A17E-2F4B-9816-171EF87C1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29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28771-0FCB-1849-97C5-15DEF9166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7ACCB-6D65-444B-90BF-E52B5E1EA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A67CE-7845-124E-8006-FDE39738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CF6F0-F3EC-0740-8E59-8E07B86CA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C5EE6-B37C-A14F-9F8D-626A1A6B9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12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254AE-1DF0-0A45-A49E-054838A28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6473B-B4CD-F146-8D7B-136AC5CC4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FAE9E-3458-2249-A417-D16310E11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96904-C1CA-B845-9A35-0C669BD41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6D05C-2B9E-7540-B264-B6CA1BC18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1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07C57-90BD-3241-814F-BB89C538F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E7678-2512-5641-AAD6-87CA9EAC79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B9819-4193-9A4B-B2CA-1DC70FD8C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CD32BF-9CE8-E845-A024-E84DFEE43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5A64C-77F1-B348-921B-3C7672BD9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E322C7-413E-A747-B152-9B86ACA0A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232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3E9EC-4BEF-7943-B721-5A64C2F76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F98B3-8552-CB40-A76E-CF7B590B8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017982-ABA9-ED49-9BDE-FD5F3AD78B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A983A5-59AA-3D46-A493-E19EC5D8FC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3E1B4F-A726-1943-9A11-A6AB19F609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64D71D-9D68-0042-95F4-00A97F3BE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663355-33F6-4E49-BECA-36338EAE6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B71BAE-3E2E-7A41-B67B-8360766A3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326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BCA99-3127-D041-8B28-9BB8EAA9D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2A1FC8-A284-574E-8B44-F8FCBD439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5A7701-E120-C546-B253-E793ACE95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7C63F5-7D25-B14B-9F02-39518AB4B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2FA9B1-EF5E-744E-BA01-D757DF7B1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567D91-975F-7C4C-9155-B4ECCC6A0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1B2B3-E388-4644-9D61-330A5CEF1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356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FDCD4-5E72-E145-9D54-3E9A77B96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30BAA-5BAA-C744-A4B4-6AE5693CA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8FF3E-91C8-FC4A-9F2B-4DC79F6406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90D91-29EC-EF47-A7AF-62E4EE3B0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DEB4AA-A905-BA49-AD8A-4CA03B06A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AF4BAF-2D8E-2344-BA91-FCE41297D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38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8BA47-DE99-164D-B67E-8812CABF9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7B0BA5-9A7E-834F-92BD-D9376C9BF2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58FB2-5936-644B-A189-5D66795A5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C76BAB-FFAA-B14A-9889-2DAE14234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D1C1E7-38A2-1A4E-B910-287FF6291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B9FCC8-8F6E-3B4A-ADD7-73B94A355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069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F7B64-C7B8-5348-85F3-645861743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AB75B7-DB58-7844-86B3-23F0FBA140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4E74D-ABFD-9546-9FF5-9E87A8D2A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21D09-8997-0145-A869-084126E8B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EDBB6-BAEF-5246-B40E-D650F33D7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645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313836-E09C-8A45-B943-CED54C1248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5C2D9A-B163-3744-9195-6B9DA44D31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03F41-9424-2F44-9DA5-3494AA52B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4259C-07E5-104E-A20C-4F7767DBD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06BD5-2A9C-2A4B-8707-1A8D4AB1D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997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EA524F-5BC8-F049-914A-A2995F1DE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61C70-C5C8-5248-B978-45E99089D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4A288-F7FC-0840-AD58-2BD8253A80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0BB814-64FE-A046-86EF-08998BAE6296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0ADD0-8084-3D4D-B4F5-A2C2941F4D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ED72A-71AB-744A-AB70-74F9513FC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676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3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6.png"/><Relationship Id="rId7" Type="http://schemas.openxmlformats.org/officeDocument/2006/relationships/image" Target="../media/image2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6.png"/><Relationship Id="rId7" Type="http://schemas.openxmlformats.org/officeDocument/2006/relationships/image" Target="../media/image3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6.png"/><Relationship Id="rId7" Type="http://schemas.openxmlformats.org/officeDocument/2006/relationships/image" Target="../media/image3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png"/><Relationship Id="rId3" Type="http://schemas.openxmlformats.org/officeDocument/2006/relationships/image" Target="../media/image6.png"/><Relationship Id="rId7" Type="http://schemas.openxmlformats.org/officeDocument/2006/relationships/image" Target="../media/image3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0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6.png"/><Relationship Id="rId7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6.png"/><Relationship Id="rId7" Type="http://schemas.openxmlformats.org/officeDocument/2006/relationships/image" Target="../media/image7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0.png"/><Relationship Id="rId4" Type="http://schemas.openxmlformats.org/officeDocument/2006/relationships/image" Target="../media/image40.png"/><Relationship Id="rId9" Type="http://schemas.openxmlformats.org/officeDocument/2006/relationships/image" Target="../media/image9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7" Type="http://schemas.openxmlformats.org/officeDocument/2006/relationships/image" Target="../media/image1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5" Type="http://schemas.openxmlformats.org/officeDocument/2006/relationships/image" Target="../media/image110.png"/><Relationship Id="rId4" Type="http://schemas.openxmlformats.org/officeDocument/2006/relationships/image" Target="../media/image10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26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5" Type="http://schemas.openxmlformats.org/officeDocument/2006/relationships/image" Target="../media/image111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39.png"/><Relationship Id="rId7" Type="http://schemas.openxmlformats.org/officeDocument/2006/relationships/image" Target="../media/image4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1.png"/><Relationship Id="rId5" Type="http://schemas.openxmlformats.org/officeDocument/2006/relationships/image" Target="../media/image15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39.png"/><Relationship Id="rId7" Type="http://schemas.openxmlformats.org/officeDocument/2006/relationships/image" Target="../media/image4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1.png"/><Relationship Id="rId5" Type="http://schemas.openxmlformats.org/officeDocument/2006/relationships/image" Target="../media/image15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7" Type="http://schemas.openxmlformats.org/officeDocument/2006/relationships/image" Target="../media/image18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0.png"/><Relationship Id="rId5" Type="http://schemas.openxmlformats.org/officeDocument/2006/relationships/image" Target="../media/image150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2.png"/><Relationship Id="rId7" Type="http://schemas.openxmlformats.org/officeDocument/2006/relationships/image" Target="../media/image21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10" Type="http://schemas.openxmlformats.org/officeDocument/2006/relationships/image" Target="../media/image390.png"/><Relationship Id="rId9" Type="http://schemas.openxmlformats.org/officeDocument/2006/relationships/image" Target="../media/image20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CDBA09-35B1-0741-8647-31209C5FF939}"/>
                  </a:ext>
                </a:extLst>
              </p:cNvPr>
              <p:cNvSpPr txBox="1"/>
              <p:nvPr/>
            </p:nvSpPr>
            <p:spPr>
              <a:xfrm>
                <a:off x="0" y="-26382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Recap: Slices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 are isotherms and isochores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CDBA09-35B1-0741-8647-31209C5FF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6382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07CB1DA5-5655-5B4A-90E7-D56D95CF8D27}"/>
              </a:ext>
            </a:extLst>
          </p:cNvPr>
          <p:cNvGrpSpPr/>
          <p:nvPr/>
        </p:nvGrpSpPr>
        <p:grpSpPr>
          <a:xfrm>
            <a:off x="5242560" y="1919950"/>
            <a:ext cx="1680754" cy="3676178"/>
            <a:chOff x="5242560" y="1919950"/>
            <a:chExt cx="1680754" cy="3676178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31C0D51-F48E-5146-A64A-DE84E52E99BB}"/>
                </a:ext>
              </a:extLst>
            </p:cNvPr>
            <p:cNvCxnSpPr/>
            <p:nvPr/>
          </p:nvCxnSpPr>
          <p:spPr>
            <a:xfrm flipV="1">
              <a:off x="5242560" y="3060192"/>
              <a:ext cx="0" cy="2535936"/>
            </a:xfrm>
            <a:prstGeom prst="line">
              <a:avLst/>
            </a:prstGeom>
            <a:ln w="63500">
              <a:solidFill>
                <a:srgbClr val="FF0000">
                  <a:alpha val="43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2E68881-69E6-D043-8FA6-B3C4B64982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2561" y="4455886"/>
              <a:ext cx="1550125" cy="1140242"/>
            </a:xfrm>
            <a:prstGeom prst="line">
              <a:avLst/>
            </a:prstGeom>
            <a:ln w="63500">
              <a:solidFill>
                <a:srgbClr val="FF0000">
                  <a:alpha val="43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E22016C-8220-5A4D-8D86-262223A831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2562" y="1919950"/>
              <a:ext cx="1680752" cy="1140242"/>
            </a:xfrm>
            <a:prstGeom prst="line">
              <a:avLst/>
            </a:prstGeom>
            <a:ln w="63500">
              <a:solidFill>
                <a:srgbClr val="FF0000">
                  <a:alpha val="43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4131585-9D9D-0A4E-81E2-115DCC30D7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92686" y="1919950"/>
              <a:ext cx="130628" cy="2535936"/>
            </a:xfrm>
            <a:prstGeom prst="line">
              <a:avLst/>
            </a:prstGeom>
            <a:ln w="63500">
              <a:solidFill>
                <a:srgbClr val="FF0000">
                  <a:alpha val="43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1EB79B7-1282-4F43-8A90-93BE569C889F}"/>
              </a:ext>
            </a:extLst>
          </p:cNvPr>
          <p:cNvGrpSpPr/>
          <p:nvPr/>
        </p:nvGrpSpPr>
        <p:grpSpPr>
          <a:xfrm>
            <a:off x="2594112" y="1767840"/>
            <a:ext cx="1639263" cy="3258167"/>
            <a:chOff x="5153423" y="2337961"/>
            <a:chExt cx="1639263" cy="32581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7BC71F1-B0B1-7F4A-A2A3-4E0E5A862A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53423" y="3191401"/>
              <a:ext cx="89137" cy="2404727"/>
            </a:xfrm>
            <a:prstGeom prst="line">
              <a:avLst/>
            </a:prstGeom>
            <a:ln w="63500">
              <a:solidFill>
                <a:schemeClr val="accent1"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0747DA4-F96F-B14D-B846-3E269FB4B4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2562" y="5258031"/>
              <a:ext cx="484952" cy="338097"/>
            </a:xfrm>
            <a:prstGeom prst="line">
              <a:avLst/>
            </a:prstGeom>
            <a:ln w="63500">
              <a:solidFill>
                <a:schemeClr val="accent1"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9D700BF-DF56-384F-9E50-A58B732952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3423" y="2337961"/>
              <a:ext cx="1639263" cy="853440"/>
            </a:xfrm>
            <a:prstGeom prst="line">
              <a:avLst/>
            </a:prstGeom>
            <a:ln w="63500">
              <a:solidFill>
                <a:schemeClr val="accent1"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E6430E0-01D2-3142-974F-52D283126A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92685" y="2337962"/>
              <a:ext cx="1" cy="1941274"/>
            </a:xfrm>
            <a:prstGeom prst="line">
              <a:avLst/>
            </a:prstGeom>
            <a:ln w="63500">
              <a:solidFill>
                <a:schemeClr val="accent1"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FD8B9B2-9137-1D6A-D953-04A29DC24292}"/>
              </a:ext>
            </a:extLst>
          </p:cNvPr>
          <p:cNvGrpSpPr/>
          <p:nvPr/>
        </p:nvGrpSpPr>
        <p:grpSpPr>
          <a:xfrm>
            <a:off x="969023" y="1210523"/>
            <a:ext cx="10605088" cy="5419515"/>
            <a:chOff x="969023" y="842032"/>
            <a:chExt cx="10605088" cy="541951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98B5F07-4792-98C9-D0AC-8A3AD1B84DC4}"/>
                </a:ext>
              </a:extLst>
            </p:cNvPr>
            <p:cNvGrpSpPr/>
            <p:nvPr/>
          </p:nvGrpSpPr>
          <p:grpSpPr>
            <a:xfrm>
              <a:off x="969023" y="842032"/>
              <a:ext cx="10605088" cy="5419515"/>
              <a:chOff x="969023" y="1033101"/>
              <a:chExt cx="10605088" cy="5419515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2A5BF619-65B2-5249-9E4B-EA43D8326DC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69023" y="1088136"/>
                <a:ext cx="7147673" cy="53644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9FDD8008-6BC1-2542-AF9E-59DA3BD90F1B}"/>
                  </a:ext>
                </a:extLst>
              </p:cNvPr>
              <p:cNvGrpSpPr/>
              <p:nvPr/>
            </p:nvGrpSpPr>
            <p:grpSpPr>
              <a:xfrm>
                <a:off x="7759528" y="1646978"/>
                <a:ext cx="3814583" cy="3564044"/>
                <a:chOff x="1267328" y="891841"/>
                <a:chExt cx="6765756" cy="5074317"/>
              </a:xfrm>
            </p:grpSpPr>
            <p:pic>
              <p:nvPicPr>
                <p:cNvPr id="50" name="Picture 2">
                  <a:extLst>
                    <a:ext uri="{FF2B5EF4-FFF2-40B4-BE49-F238E27FC236}">
                      <a16:creationId xmlns:a16="http://schemas.microsoft.com/office/drawing/2014/main" id="{87DE8750-A14C-3E42-A59F-AF0119FD321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267328" y="891841"/>
                  <a:ext cx="6765756" cy="507431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8FA9F952-17E4-D148-A947-1EFD5873A712}"/>
                    </a:ext>
                  </a:extLst>
                </p:cNvPr>
                <p:cNvSpPr txBox="1"/>
                <p:nvPr/>
              </p:nvSpPr>
              <p:spPr>
                <a:xfrm>
                  <a:off x="3459078" y="2779175"/>
                  <a:ext cx="3404514" cy="6572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isotherms</a:t>
                  </a:r>
                </a:p>
              </p:txBody>
            </p:sp>
          </p:grpSp>
          <p:sp>
            <p:nvSpPr>
              <p:cNvPr id="63" name="Curved Left Arrow 62">
                <a:extLst>
                  <a:ext uri="{FF2B5EF4-FFF2-40B4-BE49-F238E27FC236}">
                    <a16:creationId xmlns:a16="http://schemas.microsoft.com/office/drawing/2014/main" id="{B06C39F6-5D2B-2045-9090-9D9B6BEB509D}"/>
                  </a:ext>
                </a:extLst>
              </p:cNvPr>
              <p:cNvSpPr/>
              <p:nvPr/>
            </p:nvSpPr>
            <p:spPr>
              <a:xfrm rot="16463792">
                <a:off x="6559721" y="-93285"/>
                <a:ext cx="1012941" cy="3265714"/>
              </a:xfrm>
              <a:prstGeom prst="curvedLef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EA0BED1-2458-C1F2-2694-BD97C2F0181C}"/>
                  </a:ext>
                </a:extLst>
              </p:cNvPr>
              <p:cNvSpPr txBox="1"/>
              <p:nvPr/>
            </p:nvSpPr>
            <p:spPr>
              <a:xfrm>
                <a:off x="8940825" y="5211022"/>
                <a:ext cx="19739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42 volumes</a:t>
                </a:r>
                <a:endParaRPr lang="en-US" sz="2400" b="1" dirty="0"/>
              </a:p>
            </p:txBody>
          </p: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A456FE6-9F2D-428E-8AF5-DC0E53F8112C}"/>
                </a:ext>
              </a:extLst>
            </p:cNvPr>
            <p:cNvSpPr txBox="1"/>
            <p:nvPr/>
          </p:nvSpPr>
          <p:spPr>
            <a:xfrm rot="18799331">
              <a:off x="6027498" y="5020310"/>
              <a:ext cx="19739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42 volumes</a:t>
              </a:r>
              <a:endParaRPr lang="en-US" sz="2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919812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85B6FF27-9AE9-0B41-8BEE-C1D4F183A8A2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Today: Visualizing Partial Derivatives (as surfaces)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FD8002D7-8753-0463-0E1E-9DB26E114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5102" y="461665"/>
            <a:ext cx="6430198" cy="48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F5759A7-0020-4A13-C199-3169CEF79CE2}"/>
                  </a:ext>
                </a:extLst>
              </p:cNvPr>
              <p:cNvSpPr txBox="1"/>
              <p:nvPr/>
            </p:nvSpPr>
            <p:spPr>
              <a:xfrm>
                <a:off x="266700" y="1570335"/>
                <a:ext cx="6134100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Next we’re going to examine some related quantities:</a:t>
                </a:r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state space variables themselves as thermodynamic surfaces (i.e.,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Slopes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en-US" sz="2400" dirty="0"/>
                  <a:t> in the temperature and volume directions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F5759A7-0020-4A13-C199-3169CEF79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" y="1570335"/>
                <a:ext cx="6134100" cy="3046988"/>
              </a:xfrm>
              <a:prstGeom prst="rect">
                <a:avLst/>
              </a:prstGeom>
              <a:blipFill>
                <a:blip r:embed="rId3"/>
                <a:stretch>
                  <a:fillRect l="-1653" t="-1660" b="-3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3963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85B6FF27-9AE9-0B41-8BEE-C1D4F183A8A2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State space variables as thermodynamic surfaces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A9D5B0-F303-0042-8A8A-55FDAD4D0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20" y="1119251"/>
            <a:ext cx="5070125" cy="39855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FDABBF-CD96-D94C-AD66-460F71C52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845" y="1044702"/>
            <a:ext cx="5538984" cy="41346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8CCF6DC-C8A9-B747-B535-3972883AF44E}"/>
                  </a:ext>
                </a:extLst>
              </p:cNvPr>
              <p:cNvSpPr/>
              <p:nvPr/>
            </p:nvSpPr>
            <p:spPr>
              <a:xfrm>
                <a:off x="2773906" y="1044702"/>
                <a:ext cx="95333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8CCF6DC-C8A9-B747-B535-3972883AF4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906" y="1044702"/>
                <a:ext cx="95333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F90FB6-9ED6-5940-B6EA-F5CD981482B9}"/>
                  </a:ext>
                </a:extLst>
              </p:cNvPr>
              <p:cNvSpPr/>
              <p:nvPr/>
            </p:nvSpPr>
            <p:spPr>
              <a:xfrm>
                <a:off x="7812829" y="934585"/>
                <a:ext cx="95814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𝑽</m:t>
                      </m:r>
                      <m:d>
                        <m:d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F90FB6-9ED6-5940-B6EA-F5CD981482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2829" y="934585"/>
                <a:ext cx="95814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E85448B0-0197-2CC2-A5E8-2B240DC2932E}"/>
              </a:ext>
            </a:extLst>
          </p:cNvPr>
          <p:cNvGrpSpPr/>
          <p:nvPr/>
        </p:nvGrpSpPr>
        <p:grpSpPr>
          <a:xfrm>
            <a:off x="1481386" y="3598756"/>
            <a:ext cx="3872511" cy="2332219"/>
            <a:chOff x="1481386" y="3598756"/>
            <a:chExt cx="3872511" cy="233221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E8445B7-06F0-4011-689D-BEE8C6BE49CF}"/>
                </a:ext>
              </a:extLst>
            </p:cNvPr>
            <p:cNvSpPr txBox="1"/>
            <p:nvPr/>
          </p:nvSpPr>
          <p:spPr>
            <a:xfrm rot="2794638">
              <a:off x="499942" y="4580200"/>
              <a:ext cx="23322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42 volumes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D921FC3-DB84-2464-3D91-6D9C7F4EFE54}"/>
                </a:ext>
              </a:extLst>
            </p:cNvPr>
            <p:cNvSpPr txBox="1"/>
            <p:nvPr/>
          </p:nvSpPr>
          <p:spPr>
            <a:xfrm rot="21238454">
              <a:off x="3021678" y="4911757"/>
              <a:ext cx="23322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51 temperatures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23A40FD-54F0-1AAB-FC0D-2D5303D8154A}"/>
              </a:ext>
            </a:extLst>
          </p:cNvPr>
          <p:cNvGrpSpPr/>
          <p:nvPr/>
        </p:nvGrpSpPr>
        <p:grpSpPr>
          <a:xfrm>
            <a:off x="6213455" y="4772427"/>
            <a:ext cx="5116990" cy="369332"/>
            <a:chOff x="685137" y="4580200"/>
            <a:chExt cx="5116990" cy="36933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ED0932-5B02-66F2-148E-CC1B24F924A7}"/>
                </a:ext>
              </a:extLst>
            </p:cNvPr>
            <p:cNvSpPr txBox="1"/>
            <p:nvPr/>
          </p:nvSpPr>
          <p:spPr>
            <a:xfrm rot="2096072">
              <a:off x="685137" y="4580200"/>
              <a:ext cx="23322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42 volumes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C5FFF86-167B-FC24-16F5-4852DB868795}"/>
                </a:ext>
              </a:extLst>
            </p:cNvPr>
            <p:cNvSpPr txBox="1"/>
            <p:nvPr/>
          </p:nvSpPr>
          <p:spPr>
            <a:xfrm rot="20324886">
              <a:off x="3469908" y="4580200"/>
              <a:ext cx="23322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51 temperatures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38109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0F17E805-F7CE-B7A3-E807-05F597930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4260" y="1593048"/>
            <a:ext cx="4366012" cy="34320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CDBA09-35B1-0741-8647-31209C5FF939}"/>
              </a:ext>
            </a:extLst>
          </p:cNvPr>
          <p:cNvSpPr txBox="1"/>
          <p:nvPr/>
        </p:nvSpPr>
        <p:spPr>
          <a:xfrm>
            <a:off x="0" y="-6023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Indices in the grids allow us to refer to specific elements (scalars)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CBF1854-7BE2-95BE-2FB4-F2356905CFE6}"/>
              </a:ext>
            </a:extLst>
          </p:cNvPr>
          <p:cNvCxnSpPr/>
          <p:nvPr/>
        </p:nvCxnSpPr>
        <p:spPr>
          <a:xfrm flipV="1">
            <a:off x="4864608" y="4511040"/>
            <a:ext cx="0" cy="1010150"/>
          </a:xfrm>
          <a:prstGeom prst="straightConnector1">
            <a:avLst/>
          </a:prstGeom>
          <a:ln w="635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A0F2AD8-6DDD-F1FA-E3D5-87E6C8B3AECF}"/>
              </a:ext>
            </a:extLst>
          </p:cNvPr>
          <p:cNvGrpSpPr/>
          <p:nvPr/>
        </p:nvGrpSpPr>
        <p:grpSpPr>
          <a:xfrm>
            <a:off x="123569" y="3526380"/>
            <a:ext cx="3948559" cy="461665"/>
            <a:chOff x="62609" y="4183117"/>
            <a:chExt cx="3948559" cy="46166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A923E9C-9489-E44F-475E-E7AE68A41FFE}"/>
                </a:ext>
              </a:extLst>
            </p:cNvPr>
            <p:cNvSpPr txBox="1"/>
            <p:nvPr/>
          </p:nvSpPr>
          <p:spPr>
            <a:xfrm>
              <a:off x="62609" y="4183117"/>
              <a:ext cx="321275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 err="1">
                  <a:solidFill>
                    <a:schemeClr val="accent6">
                      <a:lumMod val="50000"/>
                    </a:schemeClr>
                  </a:solidFill>
                </a:rPr>
                <a:t>Tgrid</a:t>
              </a:r>
              <a:r>
                <a:rPr lang="en-US" sz="2400" dirty="0">
                  <a:solidFill>
                    <a:schemeClr val="accent6">
                      <a:lumMod val="50000"/>
                    </a:schemeClr>
                  </a:solidFill>
                </a:rPr>
                <a:t>[0,41] = </a:t>
              </a:r>
              <a:r>
                <a:rPr lang="en-US" sz="2400" dirty="0" err="1">
                  <a:solidFill>
                    <a:schemeClr val="accent6">
                      <a:lumMod val="50000"/>
                    </a:schemeClr>
                  </a:solidFill>
                </a:rPr>
                <a:t>Tgrid</a:t>
              </a:r>
              <a:r>
                <a:rPr lang="en-US" sz="2400" dirty="0">
                  <a:solidFill>
                    <a:schemeClr val="accent6">
                      <a:lumMod val="50000"/>
                    </a:schemeClr>
                  </a:solidFill>
                </a:rPr>
                <a:t>[0,-1]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DD57B80-F808-2626-9E1E-AE26D9B65003}"/>
                </a:ext>
              </a:extLst>
            </p:cNvPr>
            <p:cNvCxnSpPr>
              <a:cxnSpLocks/>
            </p:cNvCxnSpPr>
            <p:nvPr/>
          </p:nvCxnSpPr>
          <p:spPr>
            <a:xfrm>
              <a:off x="3176510" y="4418352"/>
              <a:ext cx="834658" cy="0"/>
            </a:xfrm>
            <a:prstGeom prst="straightConnector1">
              <a:avLst/>
            </a:prstGeom>
            <a:ln w="63500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7438888-1BDC-BC26-74E7-C57AA06D3F31}"/>
              </a:ext>
            </a:extLst>
          </p:cNvPr>
          <p:cNvCxnSpPr>
            <a:cxnSpLocks/>
          </p:cNvCxnSpPr>
          <p:nvPr/>
        </p:nvCxnSpPr>
        <p:spPr>
          <a:xfrm flipH="1" flipV="1">
            <a:off x="6949440" y="2511552"/>
            <a:ext cx="1408176" cy="516743"/>
          </a:xfrm>
          <a:prstGeom prst="straightConnector1">
            <a:avLst/>
          </a:prstGeom>
          <a:ln w="635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2048DC2E-800C-D763-4633-7D48A8631B30}"/>
              </a:ext>
            </a:extLst>
          </p:cNvPr>
          <p:cNvGrpSpPr/>
          <p:nvPr/>
        </p:nvGrpSpPr>
        <p:grpSpPr>
          <a:xfrm>
            <a:off x="4650507" y="821724"/>
            <a:ext cx="3027405" cy="1081217"/>
            <a:chOff x="458271" y="4229864"/>
            <a:chExt cx="3027405" cy="108121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71B7C94-7DE4-2543-E926-4716E2D8769A}"/>
                </a:ext>
              </a:extLst>
            </p:cNvPr>
            <p:cNvSpPr txBox="1"/>
            <p:nvPr/>
          </p:nvSpPr>
          <p:spPr>
            <a:xfrm>
              <a:off x="458271" y="4229864"/>
              <a:ext cx="302740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 err="1">
                  <a:solidFill>
                    <a:schemeClr val="accent6">
                      <a:lumMod val="50000"/>
                    </a:schemeClr>
                  </a:solidFill>
                </a:rPr>
                <a:t>Tgrid</a:t>
              </a:r>
              <a:r>
                <a:rPr lang="en-US" sz="2400" dirty="0">
                  <a:solidFill>
                    <a:schemeClr val="accent6">
                      <a:lumMod val="50000"/>
                    </a:schemeClr>
                  </a:solidFill>
                </a:rPr>
                <a:t>[-1,-1]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B5B5075-F72D-476E-7B9D-9711B5EAD7B6}"/>
                </a:ext>
              </a:extLst>
            </p:cNvPr>
            <p:cNvCxnSpPr>
              <a:cxnSpLocks/>
            </p:cNvCxnSpPr>
            <p:nvPr/>
          </p:nvCxnSpPr>
          <p:spPr>
            <a:xfrm>
              <a:off x="1971974" y="4801412"/>
              <a:ext cx="0" cy="509669"/>
            </a:xfrm>
            <a:prstGeom prst="straightConnector1">
              <a:avLst/>
            </a:prstGeom>
            <a:ln w="63500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48A61BC-78A8-449B-C94B-CED1AED9A185}"/>
              </a:ext>
            </a:extLst>
          </p:cNvPr>
          <p:cNvSpPr txBox="1"/>
          <p:nvPr/>
        </p:nvSpPr>
        <p:spPr>
          <a:xfrm>
            <a:off x="3734706" y="5543623"/>
            <a:ext cx="23530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</a:rPr>
              <a:t>Tgrid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[0,0]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7CC922-7906-997C-2D10-FAB6EC2717E1}"/>
              </a:ext>
            </a:extLst>
          </p:cNvPr>
          <p:cNvSpPr txBox="1"/>
          <p:nvPr/>
        </p:nvSpPr>
        <p:spPr>
          <a:xfrm>
            <a:off x="8455151" y="2864267"/>
            <a:ext cx="34279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</a:rPr>
              <a:t>Tgrid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[50,0] = 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</a:rPr>
              <a:t>Tgrid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[-1,0]</a:t>
            </a:r>
          </a:p>
        </p:txBody>
      </p:sp>
    </p:spTree>
    <p:extLst>
      <p:ext uri="{BB962C8B-B14F-4D97-AF65-F5344CB8AC3E}">
        <p14:creationId xmlns:p14="http://schemas.microsoft.com/office/powerpoint/2010/main" val="3478663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CDBA09-35B1-0741-8647-31209C5FF939}"/>
              </a:ext>
            </a:extLst>
          </p:cNvPr>
          <p:cNvSpPr txBox="1"/>
          <p:nvPr/>
        </p:nvSpPr>
        <p:spPr>
          <a:xfrm>
            <a:off x="0" y="-6023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Indices in the grids allow us to refer to specific elements (scalars)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6501288-7EFF-87DF-A0D3-81E7D034C3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81" t="16315" r="12193" b="6316"/>
          <a:stretch/>
        </p:blipFill>
        <p:spPr bwMode="auto">
          <a:xfrm>
            <a:off x="3986786" y="1910704"/>
            <a:ext cx="3776465" cy="3344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BE6EECEE-F99B-5566-22DF-3927A7CE6373}"/>
              </a:ext>
            </a:extLst>
          </p:cNvPr>
          <p:cNvGrpSpPr/>
          <p:nvPr/>
        </p:nvGrpSpPr>
        <p:grpSpPr>
          <a:xfrm>
            <a:off x="3870960" y="4230624"/>
            <a:ext cx="2353056" cy="1606742"/>
            <a:chOff x="2450592" y="4632145"/>
            <a:chExt cx="2353056" cy="160674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1591B64-7118-0B7B-FFD7-F07256C00BBF}"/>
                </a:ext>
              </a:extLst>
            </p:cNvPr>
            <p:cNvSpPr txBox="1"/>
            <p:nvPr/>
          </p:nvSpPr>
          <p:spPr>
            <a:xfrm>
              <a:off x="2450592" y="5777222"/>
              <a:ext cx="235305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 err="1">
                  <a:solidFill>
                    <a:srgbClr val="7030A0"/>
                  </a:solidFill>
                </a:rPr>
                <a:t>Vgrid</a:t>
              </a:r>
              <a:r>
                <a:rPr lang="en-US" sz="2400" dirty="0">
                  <a:solidFill>
                    <a:srgbClr val="7030A0"/>
                  </a:solidFill>
                </a:rPr>
                <a:t>[0,0]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355796F-5526-FF39-4653-2FED872B2E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62656" y="4632145"/>
              <a:ext cx="91440" cy="1145077"/>
            </a:xfrm>
            <a:prstGeom prst="straightConnector1">
              <a:avLst/>
            </a:prstGeom>
            <a:ln w="635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B8CEC22-933F-8331-F003-7269BA02B355}"/>
              </a:ext>
            </a:extLst>
          </p:cNvPr>
          <p:cNvGrpSpPr/>
          <p:nvPr/>
        </p:nvGrpSpPr>
        <p:grpSpPr>
          <a:xfrm>
            <a:off x="5490970" y="897573"/>
            <a:ext cx="2933702" cy="1118310"/>
            <a:chOff x="2284474" y="5017656"/>
            <a:chExt cx="2933702" cy="111831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1F10BC0-B3F0-9BBC-B53D-FB95BF74614B}"/>
                </a:ext>
              </a:extLst>
            </p:cNvPr>
            <p:cNvSpPr txBox="1"/>
            <p:nvPr/>
          </p:nvSpPr>
          <p:spPr>
            <a:xfrm>
              <a:off x="2865120" y="5017656"/>
              <a:ext cx="235305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 err="1">
                  <a:solidFill>
                    <a:srgbClr val="7030A0"/>
                  </a:solidFill>
                </a:rPr>
                <a:t>Vgrid</a:t>
              </a:r>
              <a:r>
                <a:rPr lang="en-US" sz="2400" dirty="0">
                  <a:solidFill>
                    <a:srgbClr val="7030A0"/>
                  </a:solidFill>
                </a:rPr>
                <a:t>[0,-1]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9CFD8F0-6A02-EA2B-DBED-45DB3B7B20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84474" y="5479321"/>
              <a:ext cx="580646" cy="656645"/>
            </a:xfrm>
            <a:prstGeom prst="straightConnector1">
              <a:avLst/>
            </a:prstGeom>
            <a:ln w="635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EF4FB2A-8385-D407-6283-E3B234566784}"/>
              </a:ext>
            </a:extLst>
          </p:cNvPr>
          <p:cNvGrpSpPr/>
          <p:nvPr/>
        </p:nvGrpSpPr>
        <p:grpSpPr>
          <a:xfrm>
            <a:off x="5443726" y="4803162"/>
            <a:ext cx="2353056" cy="1606742"/>
            <a:chOff x="2450592" y="4632145"/>
            <a:chExt cx="2353056" cy="160674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E9FF763-DC91-2683-37CF-C740E5716CEF}"/>
                </a:ext>
              </a:extLst>
            </p:cNvPr>
            <p:cNvSpPr txBox="1"/>
            <p:nvPr/>
          </p:nvSpPr>
          <p:spPr>
            <a:xfrm>
              <a:off x="2450592" y="5777222"/>
              <a:ext cx="235305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 err="1">
                  <a:solidFill>
                    <a:srgbClr val="7030A0"/>
                  </a:solidFill>
                </a:rPr>
                <a:t>Vgrid</a:t>
              </a:r>
              <a:r>
                <a:rPr lang="en-US" sz="2400" dirty="0">
                  <a:solidFill>
                    <a:srgbClr val="7030A0"/>
                  </a:solidFill>
                </a:rPr>
                <a:t>[-1,0]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D9EA57FE-5815-16AF-2039-903F9B949C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62656" y="4632145"/>
              <a:ext cx="91440" cy="1145077"/>
            </a:xfrm>
            <a:prstGeom prst="straightConnector1">
              <a:avLst/>
            </a:prstGeom>
            <a:ln w="635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14FFF53-6087-0B33-74BA-1EB60B58485C}"/>
              </a:ext>
            </a:extLst>
          </p:cNvPr>
          <p:cNvGrpSpPr/>
          <p:nvPr/>
        </p:nvGrpSpPr>
        <p:grpSpPr>
          <a:xfrm>
            <a:off x="6957821" y="1359238"/>
            <a:ext cx="2933702" cy="1118310"/>
            <a:chOff x="2284474" y="5017656"/>
            <a:chExt cx="2933702" cy="111831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E895684-C4C2-095B-4573-516B78B1AF26}"/>
                </a:ext>
              </a:extLst>
            </p:cNvPr>
            <p:cNvSpPr txBox="1"/>
            <p:nvPr/>
          </p:nvSpPr>
          <p:spPr>
            <a:xfrm>
              <a:off x="2865120" y="5017656"/>
              <a:ext cx="235305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 err="1">
                  <a:solidFill>
                    <a:srgbClr val="7030A0"/>
                  </a:solidFill>
                </a:rPr>
                <a:t>Vgrid</a:t>
              </a:r>
              <a:r>
                <a:rPr lang="en-US" sz="2400" dirty="0">
                  <a:solidFill>
                    <a:srgbClr val="7030A0"/>
                  </a:solidFill>
                </a:rPr>
                <a:t>[-1,-1]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98633FE-7EEB-12B6-04D3-11198195A4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84474" y="5479321"/>
              <a:ext cx="580646" cy="656645"/>
            </a:xfrm>
            <a:prstGeom prst="straightConnector1">
              <a:avLst/>
            </a:prstGeom>
            <a:ln w="635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90362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85B6FF27-9AE9-0B41-8BEE-C1D4F183A8A2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“no-brainer” rules of partial derivatives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A9D5B0-F303-0042-8A8A-55FDAD4D0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20" y="1119251"/>
            <a:ext cx="5070125" cy="39855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FDABBF-CD96-D94C-AD66-460F71C52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845" y="1044702"/>
            <a:ext cx="5538984" cy="41346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8CCF6DC-C8A9-B747-B535-3972883AF44E}"/>
                  </a:ext>
                </a:extLst>
              </p:cNvPr>
              <p:cNvSpPr/>
              <p:nvPr/>
            </p:nvSpPr>
            <p:spPr>
              <a:xfrm>
                <a:off x="2773906" y="1044702"/>
                <a:ext cx="95333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8CCF6DC-C8A9-B747-B535-3972883AF4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906" y="1044702"/>
                <a:ext cx="95333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F90FB6-9ED6-5940-B6EA-F5CD981482B9}"/>
                  </a:ext>
                </a:extLst>
              </p:cNvPr>
              <p:cNvSpPr/>
              <p:nvPr/>
            </p:nvSpPr>
            <p:spPr>
              <a:xfrm>
                <a:off x="7812829" y="934585"/>
                <a:ext cx="95814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𝑽</m:t>
                      </m:r>
                      <m:d>
                        <m:d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F90FB6-9ED6-5940-B6EA-F5CD981482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2829" y="934585"/>
                <a:ext cx="95814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433D3C62-AB4C-6042-9966-428D7772EBC9}"/>
              </a:ext>
            </a:extLst>
          </p:cNvPr>
          <p:cNvGrpSpPr/>
          <p:nvPr/>
        </p:nvGrpSpPr>
        <p:grpSpPr>
          <a:xfrm>
            <a:off x="1143304" y="5179314"/>
            <a:ext cx="1441869" cy="1483975"/>
            <a:chOff x="1143304" y="5179314"/>
            <a:chExt cx="1441869" cy="14839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18420D14-0B3A-6948-8933-0D9EF998CBDC}"/>
                    </a:ext>
                  </a:extLst>
                </p:cNvPr>
                <p:cNvSpPr/>
                <p:nvPr/>
              </p:nvSpPr>
              <p:spPr>
                <a:xfrm>
                  <a:off x="1143305" y="5179314"/>
                  <a:ext cx="1257524" cy="6610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1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num>
                                  <m:den>
                                    <m:r>
                                      <a:rPr lang="en-US" b="1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 ?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18420D14-0B3A-6948-8933-0D9EF998CB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3305" y="5179314"/>
                  <a:ext cx="1257524" cy="661015"/>
                </a:xfrm>
                <a:prstGeom prst="rect">
                  <a:avLst/>
                </a:prstGeom>
                <a:blipFill>
                  <a:blip r:embed="rId6"/>
                  <a:stretch>
                    <a:fillRect b="-192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69989C4F-2B29-5848-B21D-DE139A7BE00A}"/>
                    </a:ext>
                  </a:extLst>
                </p:cNvPr>
                <p:cNvSpPr/>
                <p:nvPr/>
              </p:nvSpPr>
              <p:spPr>
                <a:xfrm>
                  <a:off x="1143304" y="6002274"/>
                  <a:ext cx="1441869" cy="6610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num>
                                  <m:den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= 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69989C4F-2B29-5848-B21D-DE139A7BE0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3304" y="6002274"/>
                  <a:ext cx="1441869" cy="661015"/>
                </a:xfrm>
                <a:prstGeom prst="rect">
                  <a:avLst/>
                </a:prstGeom>
                <a:blipFill>
                  <a:blip r:embed="rId7"/>
                  <a:stretch>
                    <a:fillRect b="-18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4838897-076E-1D4E-9BA6-8F9EF0E33D70}"/>
              </a:ext>
            </a:extLst>
          </p:cNvPr>
          <p:cNvGrpSpPr/>
          <p:nvPr/>
        </p:nvGrpSpPr>
        <p:grpSpPr>
          <a:xfrm>
            <a:off x="7570967" y="5179314"/>
            <a:ext cx="1441869" cy="1483975"/>
            <a:chOff x="1143304" y="5179314"/>
            <a:chExt cx="1441869" cy="14839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AE5900F4-E3C7-0743-A211-9E0D80B14458}"/>
                    </a:ext>
                  </a:extLst>
                </p:cNvPr>
                <p:cNvSpPr/>
                <p:nvPr/>
              </p:nvSpPr>
              <p:spPr>
                <a:xfrm>
                  <a:off x="1143305" y="5179314"/>
                  <a:ext cx="1396985" cy="6610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num>
                                  <m:den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= 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AE5900F4-E3C7-0743-A211-9E0D80B144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3305" y="5179314"/>
                  <a:ext cx="1396985" cy="661015"/>
                </a:xfrm>
                <a:prstGeom prst="rect">
                  <a:avLst/>
                </a:prstGeom>
                <a:blipFill>
                  <a:blip r:embed="rId8"/>
                  <a:stretch>
                    <a:fillRect b="-192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8A435682-62BF-3549-A63A-E80F9F99577D}"/>
                    </a:ext>
                  </a:extLst>
                </p:cNvPr>
                <p:cNvSpPr/>
                <p:nvPr/>
              </p:nvSpPr>
              <p:spPr>
                <a:xfrm>
                  <a:off x="1143304" y="6002274"/>
                  <a:ext cx="1441869" cy="6610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num>
                                  <m:den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= 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8A435682-62BF-3549-A63A-E80F9F9957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3304" y="6002274"/>
                  <a:ext cx="1441869" cy="661015"/>
                </a:xfrm>
                <a:prstGeom prst="rect">
                  <a:avLst/>
                </a:prstGeom>
                <a:blipFill>
                  <a:blip r:embed="rId9"/>
                  <a:stretch>
                    <a:fillRect b="-18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00916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85B6FF27-9AE9-0B41-8BEE-C1D4F183A8A2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“no-brainer” rules of partial derivatives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A9D5B0-F303-0042-8A8A-55FDAD4D0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20" y="1119251"/>
            <a:ext cx="5070125" cy="39855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FDABBF-CD96-D94C-AD66-460F71C52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845" y="1044702"/>
            <a:ext cx="5538984" cy="41346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8CCF6DC-C8A9-B747-B535-3972883AF44E}"/>
                  </a:ext>
                </a:extLst>
              </p:cNvPr>
              <p:cNvSpPr/>
              <p:nvPr/>
            </p:nvSpPr>
            <p:spPr>
              <a:xfrm>
                <a:off x="2773906" y="1044702"/>
                <a:ext cx="95333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8CCF6DC-C8A9-B747-B535-3972883AF4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906" y="1044702"/>
                <a:ext cx="95333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F90FB6-9ED6-5940-B6EA-F5CD981482B9}"/>
                  </a:ext>
                </a:extLst>
              </p:cNvPr>
              <p:cNvSpPr/>
              <p:nvPr/>
            </p:nvSpPr>
            <p:spPr>
              <a:xfrm>
                <a:off x="7812829" y="934585"/>
                <a:ext cx="95814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𝑽</m:t>
                      </m:r>
                      <m:d>
                        <m:d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F90FB6-9ED6-5940-B6EA-F5CD981482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2829" y="934585"/>
                <a:ext cx="95814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433D3C62-AB4C-6042-9966-428D7772EBC9}"/>
              </a:ext>
            </a:extLst>
          </p:cNvPr>
          <p:cNvGrpSpPr/>
          <p:nvPr/>
        </p:nvGrpSpPr>
        <p:grpSpPr>
          <a:xfrm>
            <a:off x="1143304" y="5179314"/>
            <a:ext cx="1441869" cy="1483975"/>
            <a:chOff x="1143304" y="5179314"/>
            <a:chExt cx="1441869" cy="14839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18420D14-0B3A-6948-8933-0D9EF998CBDC}"/>
                    </a:ext>
                  </a:extLst>
                </p:cNvPr>
                <p:cNvSpPr/>
                <p:nvPr/>
              </p:nvSpPr>
              <p:spPr>
                <a:xfrm>
                  <a:off x="1143305" y="5179314"/>
                  <a:ext cx="1257524" cy="6610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1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num>
                                  <m:den>
                                    <m:r>
                                      <a:rPr lang="en-US" b="1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 ?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18420D14-0B3A-6948-8933-0D9EF998CB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3305" y="5179314"/>
                  <a:ext cx="1257524" cy="661015"/>
                </a:xfrm>
                <a:prstGeom prst="rect">
                  <a:avLst/>
                </a:prstGeom>
                <a:blipFill>
                  <a:blip r:embed="rId6"/>
                  <a:stretch>
                    <a:fillRect b="-192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69989C4F-2B29-5848-B21D-DE139A7BE00A}"/>
                    </a:ext>
                  </a:extLst>
                </p:cNvPr>
                <p:cNvSpPr/>
                <p:nvPr/>
              </p:nvSpPr>
              <p:spPr>
                <a:xfrm>
                  <a:off x="1143304" y="6002274"/>
                  <a:ext cx="1441869" cy="6610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num>
                                  <m:den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= 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69989C4F-2B29-5848-B21D-DE139A7BE0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3304" y="6002274"/>
                  <a:ext cx="1441869" cy="661015"/>
                </a:xfrm>
                <a:prstGeom prst="rect">
                  <a:avLst/>
                </a:prstGeom>
                <a:blipFill>
                  <a:blip r:embed="rId7"/>
                  <a:stretch>
                    <a:fillRect b="-18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4838897-076E-1D4E-9BA6-8F9EF0E33D70}"/>
              </a:ext>
            </a:extLst>
          </p:cNvPr>
          <p:cNvGrpSpPr/>
          <p:nvPr/>
        </p:nvGrpSpPr>
        <p:grpSpPr>
          <a:xfrm>
            <a:off x="7570967" y="5179314"/>
            <a:ext cx="1441869" cy="1483975"/>
            <a:chOff x="1143304" y="5179314"/>
            <a:chExt cx="1441869" cy="14839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AE5900F4-E3C7-0743-A211-9E0D80B14458}"/>
                    </a:ext>
                  </a:extLst>
                </p:cNvPr>
                <p:cNvSpPr/>
                <p:nvPr/>
              </p:nvSpPr>
              <p:spPr>
                <a:xfrm>
                  <a:off x="1143305" y="5179314"/>
                  <a:ext cx="1396985" cy="6610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num>
                                  <m:den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= 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AE5900F4-E3C7-0743-A211-9E0D80B144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3305" y="5179314"/>
                  <a:ext cx="1396985" cy="661015"/>
                </a:xfrm>
                <a:prstGeom prst="rect">
                  <a:avLst/>
                </a:prstGeom>
                <a:blipFill>
                  <a:blip r:embed="rId8"/>
                  <a:stretch>
                    <a:fillRect b="-192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8A435682-62BF-3549-A63A-E80F9F99577D}"/>
                    </a:ext>
                  </a:extLst>
                </p:cNvPr>
                <p:cNvSpPr/>
                <p:nvPr/>
              </p:nvSpPr>
              <p:spPr>
                <a:xfrm>
                  <a:off x="1143304" y="6002274"/>
                  <a:ext cx="1441869" cy="6610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num>
                                  <m:den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= 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8A435682-62BF-3549-A63A-E80F9F9957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3304" y="6002274"/>
                  <a:ext cx="1441869" cy="661015"/>
                </a:xfrm>
                <a:prstGeom prst="rect">
                  <a:avLst/>
                </a:prstGeom>
                <a:blipFill>
                  <a:blip r:embed="rId9"/>
                  <a:stretch>
                    <a:fillRect b="-18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6B36462-1C8D-5B8B-296D-C939B57301F1}"/>
              </a:ext>
            </a:extLst>
          </p:cNvPr>
          <p:cNvCxnSpPr>
            <a:cxnSpLocks/>
          </p:cNvCxnSpPr>
          <p:nvPr/>
        </p:nvCxnSpPr>
        <p:spPr>
          <a:xfrm flipH="1" flipV="1">
            <a:off x="1791729" y="3632886"/>
            <a:ext cx="756373" cy="774014"/>
          </a:xfrm>
          <a:prstGeom prst="straightConnector1">
            <a:avLst/>
          </a:prstGeom>
          <a:ln w="101600">
            <a:solidFill>
              <a:srgbClr val="C00000">
                <a:alpha val="62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8306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A9D5B0-F303-0042-8A8A-55FDAD4D0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20" y="1119251"/>
            <a:ext cx="5070125" cy="39855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FDABBF-CD96-D94C-AD66-460F71C52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845" y="1044702"/>
            <a:ext cx="5538984" cy="41346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8CCF6DC-C8A9-B747-B535-3972883AF44E}"/>
                  </a:ext>
                </a:extLst>
              </p:cNvPr>
              <p:cNvSpPr/>
              <p:nvPr/>
            </p:nvSpPr>
            <p:spPr>
              <a:xfrm>
                <a:off x="2773906" y="1044702"/>
                <a:ext cx="95333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8CCF6DC-C8A9-B747-B535-3972883AF4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906" y="1044702"/>
                <a:ext cx="95333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F90FB6-9ED6-5940-B6EA-F5CD981482B9}"/>
                  </a:ext>
                </a:extLst>
              </p:cNvPr>
              <p:cNvSpPr/>
              <p:nvPr/>
            </p:nvSpPr>
            <p:spPr>
              <a:xfrm>
                <a:off x="7812829" y="934585"/>
                <a:ext cx="95814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𝑽</m:t>
                      </m:r>
                      <m:d>
                        <m:d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F90FB6-9ED6-5940-B6EA-F5CD981482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2829" y="934585"/>
                <a:ext cx="95814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9989C4F-2B29-5848-B21D-DE139A7BE00A}"/>
                  </a:ext>
                </a:extLst>
              </p:cNvPr>
              <p:cNvSpPr/>
              <p:nvPr/>
            </p:nvSpPr>
            <p:spPr>
              <a:xfrm>
                <a:off x="1143304" y="6002274"/>
                <a:ext cx="1441869" cy="6610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num>
                                <m:den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 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9989C4F-2B29-5848-B21D-DE139A7BE0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304" y="6002274"/>
                <a:ext cx="1441869" cy="661015"/>
              </a:xfrm>
              <a:prstGeom prst="rect">
                <a:avLst/>
              </a:prstGeom>
              <a:blipFill>
                <a:blip r:embed="rId6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34838897-076E-1D4E-9BA6-8F9EF0E33D70}"/>
              </a:ext>
            </a:extLst>
          </p:cNvPr>
          <p:cNvGrpSpPr/>
          <p:nvPr/>
        </p:nvGrpSpPr>
        <p:grpSpPr>
          <a:xfrm>
            <a:off x="7570967" y="5179314"/>
            <a:ext cx="1441869" cy="1483975"/>
            <a:chOff x="1143304" y="5179314"/>
            <a:chExt cx="1441869" cy="14839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AE5900F4-E3C7-0743-A211-9E0D80B14458}"/>
                    </a:ext>
                  </a:extLst>
                </p:cNvPr>
                <p:cNvSpPr/>
                <p:nvPr/>
              </p:nvSpPr>
              <p:spPr>
                <a:xfrm>
                  <a:off x="1143305" y="5179314"/>
                  <a:ext cx="1396985" cy="6610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num>
                                  <m:den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= 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AE5900F4-E3C7-0743-A211-9E0D80B144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3305" y="5179314"/>
                  <a:ext cx="1396985" cy="661015"/>
                </a:xfrm>
                <a:prstGeom prst="rect">
                  <a:avLst/>
                </a:prstGeom>
                <a:blipFill>
                  <a:blip r:embed="rId7"/>
                  <a:stretch>
                    <a:fillRect b="-192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8A435682-62BF-3549-A63A-E80F9F99577D}"/>
                    </a:ext>
                  </a:extLst>
                </p:cNvPr>
                <p:cNvSpPr/>
                <p:nvPr/>
              </p:nvSpPr>
              <p:spPr>
                <a:xfrm>
                  <a:off x="1143304" y="6002274"/>
                  <a:ext cx="1441869" cy="6610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num>
                                  <m:den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= 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8A435682-62BF-3549-A63A-E80F9F9957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3304" y="6002274"/>
                  <a:ext cx="1441869" cy="661015"/>
                </a:xfrm>
                <a:prstGeom prst="rect">
                  <a:avLst/>
                </a:prstGeom>
                <a:blipFill>
                  <a:blip r:embed="rId8"/>
                  <a:stretch>
                    <a:fillRect b="-18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4B951BE-35F5-4DA1-9DFC-075D110F9992}"/>
                  </a:ext>
                </a:extLst>
              </p:cNvPr>
              <p:cNvSpPr/>
              <p:nvPr/>
            </p:nvSpPr>
            <p:spPr>
              <a:xfrm>
                <a:off x="1143305" y="5179314"/>
                <a:ext cx="1310423" cy="6610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num>
                                <m:den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4B951BE-35F5-4DA1-9DFC-075D110F99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305" y="5179314"/>
                <a:ext cx="1310423" cy="661015"/>
              </a:xfrm>
              <a:prstGeom prst="rect">
                <a:avLst/>
              </a:prstGeom>
              <a:blipFill>
                <a:blip r:embed="rId9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B3A02583-82E1-636D-E58B-F51F59E71199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“no-brainer” rules of partial derivatives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8D89B7A-6881-3C88-1772-A6E54A717411}"/>
              </a:ext>
            </a:extLst>
          </p:cNvPr>
          <p:cNvCxnSpPr>
            <a:cxnSpLocks/>
          </p:cNvCxnSpPr>
          <p:nvPr/>
        </p:nvCxnSpPr>
        <p:spPr>
          <a:xfrm flipH="1" flipV="1">
            <a:off x="1791729" y="3632886"/>
            <a:ext cx="756373" cy="774014"/>
          </a:xfrm>
          <a:prstGeom prst="straightConnector1">
            <a:avLst/>
          </a:prstGeom>
          <a:ln w="101600">
            <a:solidFill>
              <a:srgbClr val="C00000">
                <a:alpha val="62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8464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A9D5B0-F303-0042-8A8A-55FDAD4D0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20" y="1119251"/>
            <a:ext cx="5070125" cy="39855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FDABBF-CD96-D94C-AD66-460F71C52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845" y="1044702"/>
            <a:ext cx="5538984" cy="41346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8CCF6DC-C8A9-B747-B535-3972883AF44E}"/>
                  </a:ext>
                </a:extLst>
              </p:cNvPr>
              <p:cNvSpPr/>
              <p:nvPr/>
            </p:nvSpPr>
            <p:spPr>
              <a:xfrm>
                <a:off x="2773906" y="1044702"/>
                <a:ext cx="95333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8CCF6DC-C8A9-B747-B535-3972883AF4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906" y="1044702"/>
                <a:ext cx="95333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F90FB6-9ED6-5940-B6EA-F5CD981482B9}"/>
                  </a:ext>
                </a:extLst>
              </p:cNvPr>
              <p:cNvSpPr/>
              <p:nvPr/>
            </p:nvSpPr>
            <p:spPr>
              <a:xfrm>
                <a:off x="7812829" y="934585"/>
                <a:ext cx="95814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𝑽</m:t>
                      </m:r>
                      <m:d>
                        <m:d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F90FB6-9ED6-5940-B6EA-F5CD981482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2829" y="934585"/>
                <a:ext cx="95814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9989C4F-2B29-5848-B21D-DE139A7BE00A}"/>
                  </a:ext>
                </a:extLst>
              </p:cNvPr>
              <p:cNvSpPr/>
              <p:nvPr/>
            </p:nvSpPr>
            <p:spPr>
              <a:xfrm>
                <a:off x="1143304" y="6002274"/>
                <a:ext cx="1255920" cy="6615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num>
                                <m:den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9989C4F-2B29-5848-B21D-DE139A7BE0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304" y="6002274"/>
                <a:ext cx="1255920" cy="661591"/>
              </a:xfrm>
              <a:prstGeom prst="rect">
                <a:avLst/>
              </a:prstGeom>
              <a:blipFill>
                <a:blip r:embed="rId6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34838897-076E-1D4E-9BA6-8F9EF0E33D70}"/>
              </a:ext>
            </a:extLst>
          </p:cNvPr>
          <p:cNvGrpSpPr/>
          <p:nvPr/>
        </p:nvGrpSpPr>
        <p:grpSpPr>
          <a:xfrm>
            <a:off x="7570967" y="5179314"/>
            <a:ext cx="1441869" cy="1483975"/>
            <a:chOff x="1143304" y="5179314"/>
            <a:chExt cx="1441869" cy="14839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AE5900F4-E3C7-0743-A211-9E0D80B14458}"/>
                    </a:ext>
                  </a:extLst>
                </p:cNvPr>
                <p:cNvSpPr/>
                <p:nvPr/>
              </p:nvSpPr>
              <p:spPr>
                <a:xfrm>
                  <a:off x="1143305" y="5179314"/>
                  <a:ext cx="1396985" cy="6610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num>
                                  <m:den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= 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AE5900F4-E3C7-0743-A211-9E0D80B144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3305" y="5179314"/>
                  <a:ext cx="1396985" cy="661015"/>
                </a:xfrm>
                <a:prstGeom prst="rect">
                  <a:avLst/>
                </a:prstGeom>
                <a:blipFill>
                  <a:blip r:embed="rId7"/>
                  <a:stretch>
                    <a:fillRect b="-192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8A435682-62BF-3549-A63A-E80F9F99577D}"/>
                    </a:ext>
                  </a:extLst>
                </p:cNvPr>
                <p:cNvSpPr/>
                <p:nvPr/>
              </p:nvSpPr>
              <p:spPr>
                <a:xfrm>
                  <a:off x="1143304" y="6002274"/>
                  <a:ext cx="1441869" cy="6610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num>
                                  <m:den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= 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8A435682-62BF-3549-A63A-E80F9F9957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3304" y="6002274"/>
                  <a:ext cx="1441869" cy="661015"/>
                </a:xfrm>
                <a:prstGeom prst="rect">
                  <a:avLst/>
                </a:prstGeom>
                <a:blipFill>
                  <a:blip r:embed="rId8"/>
                  <a:stretch>
                    <a:fillRect b="-18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4B951BE-35F5-4DA1-9DFC-075D110F9992}"/>
                  </a:ext>
                </a:extLst>
              </p:cNvPr>
              <p:cNvSpPr/>
              <p:nvPr/>
            </p:nvSpPr>
            <p:spPr>
              <a:xfrm>
                <a:off x="1143305" y="5179314"/>
                <a:ext cx="1310423" cy="6610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num>
                                <m:den>
                                  <m:r>
                                    <a:rPr lang="en-US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4B951BE-35F5-4DA1-9DFC-075D110F99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305" y="5179314"/>
                <a:ext cx="1310423" cy="661015"/>
              </a:xfrm>
              <a:prstGeom prst="rect">
                <a:avLst/>
              </a:prstGeom>
              <a:blipFill>
                <a:blip r:embed="rId9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B3A02583-82E1-636D-E58B-F51F59E71199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“no-brainer” rules of partial derivatives</a:t>
            </a:r>
          </a:p>
        </p:txBody>
      </p:sp>
    </p:spTree>
    <p:extLst>
      <p:ext uri="{BB962C8B-B14F-4D97-AF65-F5344CB8AC3E}">
        <p14:creationId xmlns:p14="http://schemas.microsoft.com/office/powerpoint/2010/main" val="4185253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A9D5B0-F303-0042-8A8A-55FDAD4D0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20" y="1119251"/>
            <a:ext cx="5070125" cy="39855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FDABBF-CD96-D94C-AD66-460F71C52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845" y="1044702"/>
            <a:ext cx="5538984" cy="41346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8CCF6DC-C8A9-B747-B535-3972883AF44E}"/>
                  </a:ext>
                </a:extLst>
              </p:cNvPr>
              <p:cNvSpPr/>
              <p:nvPr/>
            </p:nvSpPr>
            <p:spPr>
              <a:xfrm>
                <a:off x="2773906" y="1044702"/>
                <a:ext cx="95333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8CCF6DC-C8A9-B747-B535-3972883AF4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906" y="1044702"/>
                <a:ext cx="95333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F90FB6-9ED6-5940-B6EA-F5CD981482B9}"/>
                  </a:ext>
                </a:extLst>
              </p:cNvPr>
              <p:cNvSpPr/>
              <p:nvPr/>
            </p:nvSpPr>
            <p:spPr>
              <a:xfrm>
                <a:off x="7812829" y="934585"/>
                <a:ext cx="95814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𝑽</m:t>
                      </m:r>
                      <m:d>
                        <m:d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F90FB6-9ED6-5940-B6EA-F5CD981482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2829" y="934585"/>
                <a:ext cx="95814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9989C4F-2B29-5848-B21D-DE139A7BE00A}"/>
                  </a:ext>
                </a:extLst>
              </p:cNvPr>
              <p:cNvSpPr/>
              <p:nvPr/>
            </p:nvSpPr>
            <p:spPr>
              <a:xfrm>
                <a:off x="1143304" y="6002274"/>
                <a:ext cx="1255920" cy="6615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num>
                                <m:den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9989C4F-2B29-5848-B21D-DE139A7BE0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304" y="6002274"/>
                <a:ext cx="1255920" cy="661591"/>
              </a:xfrm>
              <a:prstGeom prst="rect">
                <a:avLst/>
              </a:prstGeom>
              <a:blipFill>
                <a:blip r:embed="rId6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34838897-076E-1D4E-9BA6-8F9EF0E33D70}"/>
              </a:ext>
            </a:extLst>
          </p:cNvPr>
          <p:cNvGrpSpPr/>
          <p:nvPr/>
        </p:nvGrpSpPr>
        <p:grpSpPr>
          <a:xfrm>
            <a:off x="7570967" y="5179314"/>
            <a:ext cx="1441869" cy="1483975"/>
            <a:chOff x="1143304" y="5179314"/>
            <a:chExt cx="1441869" cy="14839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AE5900F4-E3C7-0743-A211-9E0D80B14458}"/>
                    </a:ext>
                  </a:extLst>
                </p:cNvPr>
                <p:cNvSpPr/>
                <p:nvPr/>
              </p:nvSpPr>
              <p:spPr>
                <a:xfrm>
                  <a:off x="1143305" y="5179314"/>
                  <a:ext cx="1396985" cy="6610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num>
                                  <m:den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= 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AE5900F4-E3C7-0743-A211-9E0D80B144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3305" y="5179314"/>
                  <a:ext cx="1396985" cy="661015"/>
                </a:xfrm>
                <a:prstGeom prst="rect">
                  <a:avLst/>
                </a:prstGeom>
                <a:blipFill>
                  <a:blip r:embed="rId7"/>
                  <a:stretch>
                    <a:fillRect b="-192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8A435682-62BF-3549-A63A-E80F9F99577D}"/>
                    </a:ext>
                  </a:extLst>
                </p:cNvPr>
                <p:cNvSpPr/>
                <p:nvPr/>
              </p:nvSpPr>
              <p:spPr>
                <a:xfrm>
                  <a:off x="1143304" y="6002274"/>
                  <a:ext cx="1441869" cy="6610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num>
                                  <m:den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= 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8A435682-62BF-3549-A63A-E80F9F9957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3304" y="6002274"/>
                  <a:ext cx="1441869" cy="661015"/>
                </a:xfrm>
                <a:prstGeom prst="rect">
                  <a:avLst/>
                </a:prstGeom>
                <a:blipFill>
                  <a:blip r:embed="rId8"/>
                  <a:stretch>
                    <a:fillRect b="-18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4B951BE-35F5-4DA1-9DFC-075D110F9992}"/>
                  </a:ext>
                </a:extLst>
              </p:cNvPr>
              <p:cNvSpPr/>
              <p:nvPr/>
            </p:nvSpPr>
            <p:spPr>
              <a:xfrm>
                <a:off x="1143305" y="5179314"/>
                <a:ext cx="1310423" cy="6610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num>
                                <m:den>
                                  <m:r>
                                    <a:rPr lang="en-US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4B951BE-35F5-4DA1-9DFC-075D110F99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305" y="5179314"/>
                <a:ext cx="1310423" cy="661015"/>
              </a:xfrm>
              <a:prstGeom prst="rect">
                <a:avLst/>
              </a:prstGeom>
              <a:blipFill>
                <a:blip r:embed="rId9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B3A02583-82E1-636D-E58B-F51F59E71199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“no-brainer” rules of partial derivatives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822C0CD-AD32-FCA4-D857-B91CA11C8517}"/>
              </a:ext>
            </a:extLst>
          </p:cNvPr>
          <p:cNvCxnSpPr>
            <a:cxnSpLocks/>
          </p:cNvCxnSpPr>
          <p:nvPr/>
        </p:nvCxnSpPr>
        <p:spPr>
          <a:xfrm flipV="1">
            <a:off x="2548102" y="4114800"/>
            <a:ext cx="2604666" cy="292100"/>
          </a:xfrm>
          <a:prstGeom prst="straightConnector1">
            <a:avLst/>
          </a:prstGeom>
          <a:ln w="101600">
            <a:solidFill>
              <a:srgbClr val="C00000">
                <a:alpha val="62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3590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A9D5B0-F303-0042-8A8A-55FDAD4D0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20" y="1119251"/>
            <a:ext cx="5070125" cy="39855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FDABBF-CD96-D94C-AD66-460F71C52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845" y="1044702"/>
            <a:ext cx="5538984" cy="41346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8CCF6DC-C8A9-B747-B535-3972883AF44E}"/>
                  </a:ext>
                </a:extLst>
              </p:cNvPr>
              <p:cNvSpPr/>
              <p:nvPr/>
            </p:nvSpPr>
            <p:spPr>
              <a:xfrm>
                <a:off x="2773906" y="1044702"/>
                <a:ext cx="95333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8CCF6DC-C8A9-B747-B535-3972883AF4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906" y="1044702"/>
                <a:ext cx="95333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F90FB6-9ED6-5940-B6EA-F5CD981482B9}"/>
                  </a:ext>
                </a:extLst>
              </p:cNvPr>
              <p:cNvSpPr/>
              <p:nvPr/>
            </p:nvSpPr>
            <p:spPr>
              <a:xfrm>
                <a:off x="7812829" y="934585"/>
                <a:ext cx="95814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𝑽</m:t>
                      </m:r>
                      <m:d>
                        <m:d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F90FB6-9ED6-5940-B6EA-F5CD981482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2829" y="934585"/>
                <a:ext cx="95814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9989C4F-2B29-5848-B21D-DE139A7BE00A}"/>
                  </a:ext>
                </a:extLst>
              </p:cNvPr>
              <p:cNvSpPr/>
              <p:nvPr/>
            </p:nvSpPr>
            <p:spPr>
              <a:xfrm>
                <a:off x="1143304" y="6002274"/>
                <a:ext cx="1308820" cy="6615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num>
                                <m:den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9989C4F-2B29-5848-B21D-DE139A7BE0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304" y="6002274"/>
                <a:ext cx="1308820" cy="661591"/>
              </a:xfrm>
              <a:prstGeom prst="rect">
                <a:avLst/>
              </a:prstGeom>
              <a:blipFill>
                <a:blip r:embed="rId6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34838897-076E-1D4E-9BA6-8F9EF0E33D70}"/>
              </a:ext>
            </a:extLst>
          </p:cNvPr>
          <p:cNvGrpSpPr/>
          <p:nvPr/>
        </p:nvGrpSpPr>
        <p:grpSpPr>
          <a:xfrm>
            <a:off x="7570967" y="5179314"/>
            <a:ext cx="1441869" cy="1483975"/>
            <a:chOff x="1143304" y="5179314"/>
            <a:chExt cx="1441869" cy="14839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AE5900F4-E3C7-0743-A211-9E0D80B14458}"/>
                    </a:ext>
                  </a:extLst>
                </p:cNvPr>
                <p:cNvSpPr/>
                <p:nvPr/>
              </p:nvSpPr>
              <p:spPr>
                <a:xfrm>
                  <a:off x="1143305" y="5179314"/>
                  <a:ext cx="1396985" cy="6610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num>
                                  <m:den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= 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AE5900F4-E3C7-0743-A211-9E0D80B144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3305" y="5179314"/>
                  <a:ext cx="1396985" cy="661015"/>
                </a:xfrm>
                <a:prstGeom prst="rect">
                  <a:avLst/>
                </a:prstGeom>
                <a:blipFill>
                  <a:blip r:embed="rId7"/>
                  <a:stretch>
                    <a:fillRect b="-192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8A435682-62BF-3549-A63A-E80F9F99577D}"/>
                    </a:ext>
                  </a:extLst>
                </p:cNvPr>
                <p:cNvSpPr/>
                <p:nvPr/>
              </p:nvSpPr>
              <p:spPr>
                <a:xfrm>
                  <a:off x="1143304" y="6002274"/>
                  <a:ext cx="1441869" cy="6610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num>
                                  <m:den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= 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8A435682-62BF-3549-A63A-E80F9F9957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3304" y="6002274"/>
                  <a:ext cx="1441869" cy="661015"/>
                </a:xfrm>
                <a:prstGeom prst="rect">
                  <a:avLst/>
                </a:prstGeom>
                <a:blipFill>
                  <a:blip r:embed="rId8"/>
                  <a:stretch>
                    <a:fillRect b="-18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4B951BE-35F5-4DA1-9DFC-075D110F9992}"/>
                  </a:ext>
                </a:extLst>
              </p:cNvPr>
              <p:cNvSpPr/>
              <p:nvPr/>
            </p:nvSpPr>
            <p:spPr>
              <a:xfrm>
                <a:off x="1143305" y="5179314"/>
                <a:ext cx="1310423" cy="6610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num>
                                <m:den>
                                  <m:r>
                                    <a:rPr lang="en-US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4B951BE-35F5-4DA1-9DFC-075D110F99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305" y="5179314"/>
                <a:ext cx="1310423" cy="661015"/>
              </a:xfrm>
              <a:prstGeom prst="rect">
                <a:avLst/>
              </a:prstGeom>
              <a:blipFill>
                <a:blip r:embed="rId9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B3A02583-82E1-636D-E58B-F51F59E71199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“no-brainer” rules of partial derivatives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19FD156-5DF5-E43A-E74D-0803C71C6140}"/>
              </a:ext>
            </a:extLst>
          </p:cNvPr>
          <p:cNvCxnSpPr>
            <a:cxnSpLocks/>
          </p:cNvCxnSpPr>
          <p:nvPr/>
        </p:nvCxnSpPr>
        <p:spPr>
          <a:xfrm flipV="1">
            <a:off x="2548102" y="4114800"/>
            <a:ext cx="2604666" cy="292100"/>
          </a:xfrm>
          <a:prstGeom prst="straightConnector1">
            <a:avLst/>
          </a:prstGeom>
          <a:ln w="101600">
            <a:solidFill>
              <a:srgbClr val="C00000">
                <a:alpha val="62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436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A9D5B0-F303-0042-8A8A-55FDAD4D0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20" y="1119251"/>
            <a:ext cx="5070125" cy="39855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FDABBF-CD96-D94C-AD66-460F71C52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845" y="1044702"/>
            <a:ext cx="5538984" cy="41346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8CCF6DC-C8A9-B747-B535-3972883AF44E}"/>
                  </a:ext>
                </a:extLst>
              </p:cNvPr>
              <p:cNvSpPr/>
              <p:nvPr/>
            </p:nvSpPr>
            <p:spPr>
              <a:xfrm>
                <a:off x="2773906" y="1044702"/>
                <a:ext cx="95333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8CCF6DC-C8A9-B747-B535-3972883AF4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906" y="1044702"/>
                <a:ext cx="95333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F90FB6-9ED6-5940-B6EA-F5CD981482B9}"/>
                  </a:ext>
                </a:extLst>
              </p:cNvPr>
              <p:cNvSpPr/>
              <p:nvPr/>
            </p:nvSpPr>
            <p:spPr>
              <a:xfrm>
                <a:off x="7812829" y="934585"/>
                <a:ext cx="95814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𝑽</m:t>
                      </m:r>
                      <m:d>
                        <m:d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F90FB6-9ED6-5940-B6EA-F5CD981482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2829" y="934585"/>
                <a:ext cx="95814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34838897-076E-1D4E-9BA6-8F9EF0E33D70}"/>
              </a:ext>
            </a:extLst>
          </p:cNvPr>
          <p:cNvGrpSpPr/>
          <p:nvPr/>
        </p:nvGrpSpPr>
        <p:grpSpPr>
          <a:xfrm>
            <a:off x="7570967" y="5179314"/>
            <a:ext cx="1441869" cy="1483975"/>
            <a:chOff x="1143304" y="5179314"/>
            <a:chExt cx="1441869" cy="14839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AE5900F4-E3C7-0743-A211-9E0D80B14458}"/>
                    </a:ext>
                  </a:extLst>
                </p:cNvPr>
                <p:cNvSpPr/>
                <p:nvPr/>
              </p:nvSpPr>
              <p:spPr>
                <a:xfrm>
                  <a:off x="1143305" y="5179314"/>
                  <a:ext cx="1257524" cy="6610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num>
                                  <m:den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= ?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AE5900F4-E3C7-0743-A211-9E0D80B144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3305" y="5179314"/>
                  <a:ext cx="1257524" cy="661015"/>
                </a:xfrm>
                <a:prstGeom prst="rect">
                  <a:avLst/>
                </a:prstGeom>
                <a:blipFill>
                  <a:blip r:embed="rId6"/>
                  <a:stretch>
                    <a:fillRect b="-192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8A435682-62BF-3549-A63A-E80F9F99577D}"/>
                    </a:ext>
                  </a:extLst>
                </p:cNvPr>
                <p:cNvSpPr/>
                <p:nvPr/>
              </p:nvSpPr>
              <p:spPr>
                <a:xfrm>
                  <a:off x="1143304" y="6002274"/>
                  <a:ext cx="1441869" cy="6610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num>
                                  <m:den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= 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8A435682-62BF-3549-A63A-E80F9F9957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3304" y="6002274"/>
                  <a:ext cx="1441869" cy="661015"/>
                </a:xfrm>
                <a:prstGeom prst="rect">
                  <a:avLst/>
                </a:prstGeom>
                <a:blipFill>
                  <a:blip r:embed="rId7"/>
                  <a:stretch>
                    <a:fillRect b="-18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4B951BE-35F5-4DA1-9DFC-075D110F9992}"/>
                  </a:ext>
                </a:extLst>
              </p:cNvPr>
              <p:cNvSpPr/>
              <p:nvPr/>
            </p:nvSpPr>
            <p:spPr>
              <a:xfrm>
                <a:off x="1143305" y="5179314"/>
                <a:ext cx="1310423" cy="6610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num>
                                <m:den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4B951BE-35F5-4DA1-9DFC-075D110F99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305" y="5179314"/>
                <a:ext cx="1310423" cy="661015"/>
              </a:xfrm>
              <a:prstGeom prst="rect">
                <a:avLst/>
              </a:prstGeom>
              <a:blipFill>
                <a:blip r:embed="rId8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F1B33EE-F7B4-09B0-B8DF-564834ACFE31}"/>
                  </a:ext>
                </a:extLst>
              </p:cNvPr>
              <p:cNvSpPr/>
              <p:nvPr/>
            </p:nvSpPr>
            <p:spPr>
              <a:xfrm>
                <a:off x="1167368" y="6002274"/>
                <a:ext cx="1308820" cy="6615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num>
                                <m:den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F1B33EE-F7B4-09B0-B8DF-564834ACFE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368" y="6002274"/>
                <a:ext cx="1308820" cy="661591"/>
              </a:xfrm>
              <a:prstGeom prst="rect">
                <a:avLst/>
              </a:prstGeom>
              <a:blipFill>
                <a:blip r:embed="rId9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D34E754-60A2-C070-9B98-D2A45EDE4513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“no-brainer” rules of partial derivatives</a:t>
            </a:r>
          </a:p>
        </p:txBody>
      </p:sp>
    </p:spTree>
    <p:extLst>
      <p:ext uri="{BB962C8B-B14F-4D97-AF65-F5344CB8AC3E}">
        <p14:creationId xmlns:p14="http://schemas.microsoft.com/office/powerpoint/2010/main" val="2515863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A9D5B0-F303-0042-8A8A-55FDAD4D0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20" y="1119251"/>
            <a:ext cx="5070125" cy="39855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FDABBF-CD96-D94C-AD66-460F71C52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845" y="1044702"/>
            <a:ext cx="5538984" cy="41346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8CCF6DC-C8A9-B747-B535-3972883AF44E}"/>
                  </a:ext>
                </a:extLst>
              </p:cNvPr>
              <p:cNvSpPr/>
              <p:nvPr/>
            </p:nvSpPr>
            <p:spPr>
              <a:xfrm>
                <a:off x="2773906" y="1044702"/>
                <a:ext cx="95333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8CCF6DC-C8A9-B747-B535-3972883AF4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906" y="1044702"/>
                <a:ext cx="95333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F90FB6-9ED6-5940-B6EA-F5CD981482B9}"/>
                  </a:ext>
                </a:extLst>
              </p:cNvPr>
              <p:cNvSpPr/>
              <p:nvPr/>
            </p:nvSpPr>
            <p:spPr>
              <a:xfrm>
                <a:off x="7812829" y="934585"/>
                <a:ext cx="95814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𝑽</m:t>
                      </m:r>
                      <m:d>
                        <m:d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F90FB6-9ED6-5940-B6EA-F5CD981482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2829" y="934585"/>
                <a:ext cx="95814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34838897-076E-1D4E-9BA6-8F9EF0E33D70}"/>
              </a:ext>
            </a:extLst>
          </p:cNvPr>
          <p:cNvGrpSpPr/>
          <p:nvPr/>
        </p:nvGrpSpPr>
        <p:grpSpPr>
          <a:xfrm>
            <a:off x="7570967" y="5179314"/>
            <a:ext cx="1441869" cy="1483975"/>
            <a:chOff x="1143304" y="5179314"/>
            <a:chExt cx="1441869" cy="14839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AE5900F4-E3C7-0743-A211-9E0D80B14458}"/>
                    </a:ext>
                  </a:extLst>
                </p:cNvPr>
                <p:cNvSpPr/>
                <p:nvPr/>
              </p:nvSpPr>
              <p:spPr>
                <a:xfrm>
                  <a:off x="1143305" y="5179314"/>
                  <a:ext cx="1257524" cy="6610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num>
                                  <m:den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= ?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AE5900F4-E3C7-0743-A211-9E0D80B144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3305" y="5179314"/>
                  <a:ext cx="1257524" cy="661015"/>
                </a:xfrm>
                <a:prstGeom prst="rect">
                  <a:avLst/>
                </a:prstGeom>
                <a:blipFill>
                  <a:blip r:embed="rId6"/>
                  <a:stretch>
                    <a:fillRect b="-192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8A435682-62BF-3549-A63A-E80F9F99577D}"/>
                    </a:ext>
                  </a:extLst>
                </p:cNvPr>
                <p:cNvSpPr/>
                <p:nvPr/>
              </p:nvSpPr>
              <p:spPr>
                <a:xfrm>
                  <a:off x="1143304" y="6002274"/>
                  <a:ext cx="1441869" cy="6610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num>
                                  <m:den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= 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8A435682-62BF-3549-A63A-E80F9F9957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3304" y="6002274"/>
                  <a:ext cx="1441869" cy="661015"/>
                </a:xfrm>
                <a:prstGeom prst="rect">
                  <a:avLst/>
                </a:prstGeom>
                <a:blipFill>
                  <a:blip r:embed="rId7"/>
                  <a:stretch>
                    <a:fillRect b="-18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4B951BE-35F5-4DA1-9DFC-075D110F9992}"/>
                  </a:ext>
                </a:extLst>
              </p:cNvPr>
              <p:cNvSpPr/>
              <p:nvPr/>
            </p:nvSpPr>
            <p:spPr>
              <a:xfrm>
                <a:off x="1143305" y="5179314"/>
                <a:ext cx="1310423" cy="6610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num>
                                <m:den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4B951BE-35F5-4DA1-9DFC-075D110F99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305" y="5179314"/>
                <a:ext cx="1310423" cy="661015"/>
              </a:xfrm>
              <a:prstGeom prst="rect">
                <a:avLst/>
              </a:prstGeom>
              <a:blipFill>
                <a:blip r:embed="rId8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F1B33EE-F7B4-09B0-B8DF-564834ACFE31}"/>
                  </a:ext>
                </a:extLst>
              </p:cNvPr>
              <p:cNvSpPr/>
              <p:nvPr/>
            </p:nvSpPr>
            <p:spPr>
              <a:xfrm>
                <a:off x="1167368" y="6002274"/>
                <a:ext cx="1308820" cy="6615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num>
                                <m:den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F1B33EE-F7B4-09B0-B8DF-564834ACFE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368" y="6002274"/>
                <a:ext cx="1308820" cy="661591"/>
              </a:xfrm>
              <a:prstGeom prst="rect">
                <a:avLst/>
              </a:prstGeom>
              <a:blipFill>
                <a:blip r:embed="rId9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D34E754-60A2-C070-9B98-D2A45EDE4513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“no-brainer” rules of partial derivatives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97EADFE-B0AE-F11A-D40B-0F9973E9AA6E}"/>
              </a:ext>
            </a:extLst>
          </p:cNvPr>
          <p:cNvCxnSpPr>
            <a:cxnSpLocks/>
          </p:cNvCxnSpPr>
          <p:nvPr/>
        </p:nvCxnSpPr>
        <p:spPr>
          <a:xfrm flipH="1" flipV="1">
            <a:off x="7105135" y="3694670"/>
            <a:ext cx="1248033" cy="790833"/>
          </a:xfrm>
          <a:prstGeom prst="straightConnector1">
            <a:avLst/>
          </a:prstGeom>
          <a:ln w="101600">
            <a:solidFill>
              <a:srgbClr val="C00000">
                <a:alpha val="62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6583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A9D5B0-F303-0042-8A8A-55FDAD4D0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20" y="1119251"/>
            <a:ext cx="5070125" cy="39855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FDABBF-CD96-D94C-AD66-460F71C52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845" y="1044702"/>
            <a:ext cx="5538984" cy="41346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8CCF6DC-C8A9-B747-B535-3972883AF44E}"/>
                  </a:ext>
                </a:extLst>
              </p:cNvPr>
              <p:cNvSpPr/>
              <p:nvPr/>
            </p:nvSpPr>
            <p:spPr>
              <a:xfrm>
                <a:off x="2773906" y="1044702"/>
                <a:ext cx="95333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8CCF6DC-C8A9-B747-B535-3972883AF4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906" y="1044702"/>
                <a:ext cx="95333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F90FB6-9ED6-5940-B6EA-F5CD981482B9}"/>
                  </a:ext>
                </a:extLst>
              </p:cNvPr>
              <p:cNvSpPr/>
              <p:nvPr/>
            </p:nvSpPr>
            <p:spPr>
              <a:xfrm>
                <a:off x="7812829" y="934585"/>
                <a:ext cx="95814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𝑽</m:t>
                      </m:r>
                      <m:d>
                        <m:d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F90FB6-9ED6-5940-B6EA-F5CD981482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2829" y="934585"/>
                <a:ext cx="95814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34838897-076E-1D4E-9BA6-8F9EF0E33D70}"/>
              </a:ext>
            </a:extLst>
          </p:cNvPr>
          <p:cNvGrpSpPr/>
          <p:nvPr/>
        </p:nvGrpSpPr>
        <p:grpSpPr>
          <a:xfrm>
            <a:off x="7570967" y="5179314"/>
            <a:ext cx="1441869" cy="1483975"/>
            <a:chOff x="1143304" y="5179314"/>
            <a:chExt cx="1441869" cy="14839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AE5900F4-E3C7-0743-A211-9E0D80B14458}"/>
                    </a:ext>
                  </a:extLst>
                </p:cNvPr>
                <p:cNvSpPr/>
                <p:nvPr/>
              </p:nvSpPr>
              <p:spPr>
                <a:xfrm>
                  <a:off x="1143305" y="5179314"/>
                  <a:ext cx="1310423" cy="6610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num>
                                  <m:den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AE5900F4-E3C7-0743-A211-9E0D80B144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3305" y="5179314"/>
                  <a:ext cx="1310423" cy="661015"/>
                </a:xfrm>
                <a:prstGeom prst="rect">
                  <a:avLst/>
                </a:prstGeom>
                <a:blipFill>
                  <a:blip r:embed="rId6"/>
                  <a:stretch>
                    <a:fillRect b="-192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8A435682-62BF-3549-A63A-E80F9F99577D}"/>
                    </a:ext>
                  </a:extLst>
                </p:cNvPr>
                <p:cNvSpPr/>
                <p:nvPr/>
              </p:nvSpPr>
              <p:spPr>
                <a:xfrm>
                  <a:off x="1143304" y="6002274"/>
                  <a:ext cx="1441869" cy="6610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num>
                                  <m:den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= 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8A435682-62BF-3549-A63A-E80F9F9957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3304" y="6002274"/>
                  <a:ext cx="1441869" cy="661015"/>
                </a:xfrm>
                <a:prstGeom prst="rect">
                  <a:avLst/>
                </a:prstGeom>
                <a:blipFill>
                  <a:blip r:embed="rId7"/>
                  <a:stretch>
                    <a:fillRect b="-18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4B951BE-35F5-4DA1-9DFC-075D110F9992}"/>
                  </a:ext>
                </a:extLst>
              </p:cNvPr>
              <p:cNvSpPr/>
              <p:nvPr/>
            </p:nvSpPr>
            <p:spPr>
              <a:xfrm>
                <a:off x="1143305" y="5179314"/>
                <a:ext cx="1310423" cy="6610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num>
                                <m:den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4B951BE-35F5-4DA1-9DFC-075D110F99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305" y="5179314"/>
                <a:ext cx="1310423" cy="661015"/>
              </a:xfrm>
              <a:prstGeom prst="rect">
                <a:avLst/>
              </a:prstGeom>
              <a:blipFill>
                <a:blip r:embed="rId8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F1B33EE-F7B4-09B0-B8DF-564834ACFE31}"/>
                  </a:ext>
                </a:extLst>
              </p:cNvPr>
              <p:cNvSpPr/>
              <p:nvPr/>
            </p:nvSpPr>
            <p:spPr>
              <a:xfrm>
                <a:off x="1167368" y="6002274"/>
                <a:ext cx="1308820" cy="6615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num>
                                <m:den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F1B33EE-F7B4-09B0-B8DF-564834ACFE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368" y="6002274"/>
                <a:ext cx="1308820" cy="661591"/>
              </a:xfrm>
              <a:prstGeom prst="rect">
                <a:avLst/>
              </a:prstGeom>
              <a:blipFill>
                <a:blip r:embed="rId9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D34E754-60A2-C070-9B98-D2A45EDE4513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“no-brainer” rules of partial derivatives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97EADFE-B0AE-F11A-D40B-0F9973E9AA6E}"/>
              </a:ext>
            </a:extLst>
          </p:cNvPr>
          <p:cNvCxnSpPr>
            <a:cxnSpLocks/>
          </p:cNvCxnSpPr>
          <p:nvPr/>
        </p:nvCxnSpPr>
        <p:spPr>
          <a:xfrm flipH="1" flipV="1">
            <a:off x="7105135" y="3694670"/>
            <a:ext cx="1248033" cy="790833"/>
          </a:xfrm>
          <a:prstGeom prst="straightConnector1">
            <a:avLst/>
          </a:prstGeom>
          <a:ln w="101600">
            <a:solidFill>
              <a:srgbClr val="C00000">
                <a:alpha val="62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7692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A9D5B0-F303-0042-8A8A-55FDAD4D0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20" y="1119251"/>
            <a:ext cx="5070125" cy="39855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FDABBF-CD96-D94C-AD66-460F71C52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845" y="1044702"/>
            <a:ext cx="5538984" cy="41346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8CCF6DC-C8A9-B747-B535-3972883AF44E}"/>
                  </a:ext>
                </a:extLst>
              </p:cNvPr>
              <p:cNvSpPr/>
              <p:nvPr/>
            </p:nvSpPr>
            <p:spPr>
              <a:xfrm>
                <a:off x="2773906" y="1044702"/>
                <a:ext cx="95333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8CCF6DC-C8A9-B747-B535-3972883AF4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906" y="1044702"/>
                <a:ext cx="95333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F90FB6-9ED6-5940-B6EA-F5CD981482B9}"/>
                  </a:ext>
                </a:extLst>
              </p:cNvPr>
              <p:cNvSpPr/>
              <p:nvPr/>
            </p:nvSpPr>
            <p:spPr>
              <a:xfrm>
                <a:off x="7812829" y="934585"/>
                <a:ext cx="95814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𝑽</m:t>
                      </m:r>
                      <m:d>
                        <m:d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F90FB6-9ED6-5940-B6EA-F5CD981482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2829" y="934585"/>
                <a:ext cx="95814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433D3C62-AB4C-6042-9966-428D7772EBC9}"/>
              </a:ext>
            </a:extLst>
          </p:cNvPr>
          <p:cNvGrpSpPr/>
          <p:nvPr/>
        </p:nvGrpSpPr>
        <p:grpSpPr>
          <a:xfrm>
            <a:off x="1143305" y="5179314"/>
            <a:ext cx="1332883" cy="1484551"/>
            <a:chOff x="1143305" y="5179314"/>
            <a:chExt cx="1332883" cy="14845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18420D14-0B3A-6948-8933-0D9EF998CBDC}"/>
                    </a:ext>
                  </a:extLst>
                </p:cNvPr>
                <p:cNvSpPr/>
                <p:nvPr/>
              </p:nvSpPr>
              <p:spPr>
                <a:xfrm>
                  <a:off x="1143305" y="5179314"/>
                  <a:ext cx="1310423" cy="6610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num>
                                  <m:den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18420D14-0B3A-6948-8933-0D9EF998CB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3305" y="5179314"/>
                  <a:ext cx="1310423" cy="661015"/>
                </a:xfrm>
                <a:prstGeom prst="rect">
                  <a:avLst/>
                </a:prstGeom>
                <a:blipFill>
                  <a:blip r:embed="rId6"/>
                  <a:stretch>
                    <a:fillRect b="-192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69989C4F-2B29-5848-B21D-DE139A7BE00A}"/>
                    </a:ext>
                  </a:extLst>
                </p:cNvPr>
                <p:cNvSpPr/>
                <p:nvPr/>
              </p:nvSpPr>
              <p:spPr>
                <a:xfrm>
                  <a:off x="1167368" y="6002274"/>
                  <a:ext cx="1308820" cy="6615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num>
                                  <m:den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69989C4F-2B29-5848-B21D-DE139A7BE0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7368" y="6002274"/>
                  <a:ext cx="1308820" cy="661591"/>
                </a:xfrm>
                <a:prstGeom prst="rect">
                  <a:avLst/>
                </a:prstGeom>
                <a:blipFill>
                  <a:blip r:embed="rId7"/>
                  <a:stretch>
                    <a:fillRect b="-18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4838897-076E-1D4E-9BA6-8F9EF0E33D70}"/>
              </a:ext>
            </a:extLst>
          </p:cNvPr>
          <p:cNvGrpSpPr/>
          <p:nvPr/>
        </p:nvGrpSpPr>
        <p:grpSpPr>
          <a:xfrm>
            <a:off x="7570968" y="5179314"/>
            <a:ext cx="1310423" cy="1484551"/>
            <a:chOff x="1143305" y="5179314"/>
            <a:chExt cx="1310423" cy="14845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AE5900F4-E3C7-0743-A211-9E0D80B14458}"/>
                    </a:ext>
                  </a:extLst>
                </p:cNvPr>
                <p:cNvSpPr/>
                <p:nvPr/>
              </p:nvSpPr>
              <p:spPr>
                <a:xfrm>
                  <a:off x="1143305" y="5179314"/>
                  <a:ext cx="1310423" cy="6610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num>
                                  <m:den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AE5900F4-E3C7-0743-A211-9E0D80B144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3305" y="5179314"/>
                  <a:ext cx="1310423" cy="661015"/>
                </a:xfrm>
                <a:prstGeom prst="rect">
                  <a:avLst/>
                </a:prstGeom>
                <a:blipFill>
                  <a:blip r:embed="rId8"/>
                  <a:stretch>
                    <a:fillRect b="-192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8A435682-62BF-3549-A63A-E80F9F99577D}"/>
                    </a:ext>
                  </a:extLst>
                </p:cNvPr>
                <p:cNvSpPr/>
                <p:nvPr/>
              </p:nvSpPr>
              <p:spPr>
                <a:xfrm>
                  <a:off x="1167368" y="6002274"/>
                  <a:ext cx="1260730" cy="6615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num>
                                  <m:den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= ?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8A435682-62BF-3549-A63A-E80F9F9957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7368" y="6002274"/>
                  <a:ext cx="1260730" cy="661591"/>
                </a:xfrm>
                <a:prstGeom prst="rect">
                  <a:avLst/>
                </a:prstGeom>
                <a:blipFill>
                  <a:blip r:embed="rId9"/>
                  <a:stretch>
                    <a:fillRect b="-18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00D54FA-B261-186E-7C2E-0DD6ABE6DE2F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“no-brainer” rules of partial derivatives</a:t>
            </a:r>
          </a:p>
        </p:txBody>
      </p:sp>
    </p:spTree>
    <p:extLst>
      <p:ext uri="{BB962C8B-B14F-4D97-AF65-F5344CB8AC3E}">
        <p14:creationId xmlns:p14="http://schemas.microsoft.com/office/powerpoint/2010/main" val="25699747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A9D5B0-F303-0042-8A8A-55FDAD4D0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20" y="1119251"/>
            <a:ext cx="5070125" cy="39855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FDABBF-CD96-D94C-AD66-460F71C52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845" y="1044702"/>
            <a:ext cx="5538984" cy="41346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8CCF6DC-C8A9-B747-B535-3972883AF44E}"/>
                  </a:ext>
                </a:extLst>
              </p:cNvPr>
              <p:cNvSpPr/>
              <p:nvPr/>
            </p:nvSpPr>
            <p:spPr>
              <a:xfrm>
                <a:off x="2773906" y="1044702"/>
                <a:ext cx="95333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8CCF6DC-C8A9-B747-B535-3972883AF4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906" y="1044702"/>
                <a:ext cx="95333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F90FB6-9ED6-5940-B6EA-F5CD981482B9}"/>
                  </a:ext>
                </a:extLst>
              </p:cNvPr>
              <p:cNvSpPr/>
              <p:nvPr/>
            </p:nvSpPr>
            <p:spPr>
              <a:xfrm>
                <a:off x="7812829" y="934585"/>
                <a:ext cx="95814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𝑽</m:t>
                      </m:r>
                      <m:d>
                        <m:d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F90FB6-9ED6-5940-B6EA-F5CD981482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2829" y="934585"/>
                <a:ext cx="95814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433D3C62-AB4C-6042-9966-428D7772EBC9}"/>
              </a:ext>
            </a:extLst>
          </p:cNvPr>
          <p:cNvGrpSpPr/>
          <p:nvPr/>
        </p:nvGrpSpPr>
        <p:grpSpPr>
          <a:xfrm>
            <a:off x="1143305" y="5179314"/>
            <a:ext cx="1332883" cy="1484551"/>
            <a:chOff x="1143305" y="5179314"/>
            <a:chExt cx="1332883" cy="14845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18420D14-0B3A-6948-8933-0D9EF998CBDC}"/>
                    </a:ext>
                  </a:extLst>
                </p:cNvPr>
                <p:cNvSpPr/>
                <p:nvPr/>
              </p:nvSpPr>
              <p:spPr>
                <a:xfrm>
                  <a:off x="1143305" y="5179314"/>
                  <a:ext cx="1310423" cy="6610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num>
                                  <m:den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18420D14-0B3A-6948-8933-0D9EF998CB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3305" y="5179314"/>
                  <a:ext cx="1310423" cy="661015"/>
                </a:xfrm>
                <a:prstGeom prst="rect">
                  <a:avLst/>
                </a:prstGeom>
                <a:blipFill>
                  <a:blip r:embed="rId6"/>
                  <a:stretch>
                    <a:fillRect b="-192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69989C4F-2B29-5848-B21D-DE139A7BE00A}"/>
                    </a:ext>
                  </a:extLst>
                </p:cNvPr>
                <p:cNvSpPr/>
                <p:nvPr/>
              </p:nvSpPr>
              <p:spPr>
                <a:xfrm>
                  <a:off x="1167368" y="6002274"/>
                  <a:ext cx="1308820" cy="6615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num>
                                  <m:den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69989C4F-2B29-5848-B21D-DE139A7BE0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7368" y="6002274"/>
                  <a:ext cx="1308820" cy="661591"/>
                </a:xfrm>
                <a:prstGeom prst="rect">
                  <a:avLst/>
                </a:prstGeom>
                <a:blipFill>
                  <a:blip r:embed="rId7"/>
                  <a:stretch>
                    <a:fillRect b="-18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4838897-076E-1D4E-9BA6-8F9EF0E33D70}"/>
              </a:ext>
            </a:extLst>
          </p:cNvPr>
          <p:cNvGrpSpPr/>
          <p:nvPr/>
        </p:nvGrpSpPr>
        <p:grpSpPr>
          <a:xfrm>
            <a:off x="7570968" y="5179314"/>
            <a:ext cx="1310423" cy="1484551"/>
            <a:chOff x="1143305" y="5179314"/>
            <a:chExt cx="1310423" cy="14845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AE5900F4-E3C7-0743-A211-9E0D80B14458}"/>
                    </a:ext>
                  </a:extLst>
                </p:cNvPr>
                <p:cNvSpPr/>
                <p:nvPr/>
              </p:nvSpPr>
              <p:spPr>
                <a:xfrm>
                  <a:off x="1143305" y="5179314"/>
                  <a:ext cx="1310423" cy="6610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num>
                                  <m:den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AE5900F4-E3C7-0743-A211-9E0D80B144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3305" y="5179314"/>
                  <a:ext cx="1310423" cy="661015"/>
                </a:xfrm>
                <a:prstGeom prst="rect">
                  <a:avLst/>
                </a:prstGeom>
                <a:blipFill>
                  <a:blip r:embed="rId8"/>
                  <a:stretch>
                    <a:fillRect b="-192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8A435682-62BF-3549-A63A-E80F9F99577D}"/>
                    </a:ext>
                  </a:extLst>
                </p:cNvPr>
                <p:cNvSpPr/>
                <p:nvPr/>
              </p:nvSpPr>
              <p:spPr>
                <a:xfrm>
                  <a:off x="1167368" y="6002274"/>
                  <a:ext cx="1260730" cy="6615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num>
                                  <m:den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= ?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8A435682-62BF-3549-A63A-E80F9F9957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7368" y="6002274"/>
                  <a:ext cx="1260730" cy="661591"/>
                </a:xfrm>
                <a:prstGeom prst="rect">
                  <a:avLst/>
                </a:prstGeom>
                <a:blipFill>
                  <a:blip r:embed="rId9"/>
                  <a:stretch>
                    <a:fillRect b="-18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00D54FA-B261-186E-7C2E-0DD6ABE6DE2F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“no-brainer” rules of partial derivatives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D279111-5661-5FC1-848C-66B4435549CC}"/>
              </a:ext>
            </a:extLst>
          </p:cNvPr>
          <p:cNvCxnSpPr>
            <a:cxnSpLocks/>
          </p:cNvCxnSpPr>
          <p:nvPr/>
        </p:nvCxnSpPr>
        <p:spPr>
          <a:xfrm flipV="1">
            <a:off x="8526166" y="3991232"/>
            <a:ext cx="2014151" cy="506628"/>
          </a:xfrm>
          <a:prstGeom prst="straightConnector1">
            <a:avLst/>
          </a:prstGeom>
          <a:ln w="101600">
            <a:solidFill>
              <a:srgbClr val="C00000">
                <a:alpha val="62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5731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A9D5B0-F303-0042-8A8A-55FDAD4D0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20" y="1119251"/>
            <a:ext cx="5070125" cy="39855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FDABBF-CD96-D94C-AD66-460F71C52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845" y="1044702"/>
            <a:ext cx="5538984" cy="41346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8CCF6DC-C8A9-B747-B535-3972883AF44E}"/>
                  </a:ext>
                </a:extLst>
              </p:cNvPr>
              <p:cNvSpPr/>
              <p:nvPr/>
            </p:nvSpPr>
            <p:spPr>
              <a:xfrm>
                <a:off x="2773906" y="1044702"/>
                <a:ext cx="95333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8CCF6DC-C8A9-B747-B535-3972883AF4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906" y="1044702"/>
                <a:ext cx="95333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F90FB6-9ED6-5940-B6EA-F5CD981482B9}"/>
                  </a:ext>
                </a:extLst>
              </p:cNvPr>
              <p:cNvSpPr/>
              <p:nvPr/>
            </p:nvSpPr>
            <p:spPr>
              <a:xfrm>
                <a:off x="7812829" y="934585"/>
                <a:ext cx="95814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𝑽</m:t>
                      </m:r>
                      <m:d>
                        <m:d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F90FB6-9ED6-5940-B6EA-F5CD981482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2829" y="934585"/>
                <a:ext cx="95814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433D3C62-AB4C-6042-9966-428D7772EBC9}"/>
              </a:ext>
            </a:extLst>
          </p:cNvPr>
          <p:cNvGrpSpPr/>
          <p:nvPr/>
        </p:nvGrpSpPr>
        <p:grpSpPr>
          <a:xfrm>
            <a:off x="1143305" y="5179314"/>
            <a:ext cx="1332883" cy="1484551"/>
            <a:chOff x="1143305" y="5179314"/>
            <a:chExt cx="1332883" cy="14845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18420D14-0B3A-6948-8933-0D9EF998CBDC}"/>
                    </a:ext>
                  </a:extLst>
                </p:cNvPr>
                <p:cNvSpPr/>
                <p:nvPr/>
              </p:nvSpPr>
              <p:spPr>
                <a:xfrm>
                  <a:off x="1143305" y="5179314"/>
                  <a:ext cx="1310423" cy="6610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num>
                                  <m:den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18420D14-0B3A-6948-8933-0D9EF998CB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3305" y="5179314"/>
                  <a:ext cx="1310423" cy="661015"/>
                </a:xfrm>
                <a:prstGeom prst="rect">
                  <a:avLst/>
                </a:prstGeom>
                <a:blipFill>
                  <a:blip r:embed="rId6"/>
                  <a:stretch>
                    <a:fillRect b="-192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69989C4F-2B29-5848-B21D-DE139A7BE00A}"/>
                    </a:ext>
                  </a:extLst>
                </p:cNvPr>
                <p:cNvSpPr/>
                <p:nvPr/>
              </p:nvSpPr>
              <p:spPr>
                <a:xfrm>
                  <a:off x="1167368" y="6002274"/>
                  <a:ext cx="1308820" cy="6615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num>
                                  <m:den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69989C4F-2B29-5848-B21D-DE139A7BE0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7368" y="6002274"/>
                  <a:ext cx="1308820" cy="661591"/>
                </a:xfrm>
                <a:prstGeom prst="rect">
                  <a:avLst/>
                </a:prstGeom>
                <a:blipFill>
                  <a:blip r:embed="rId7"/>
                  <a:stretch>
                    <a:fillRect b="-18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4838897-076E-1D4E-9BA6-8F9EF0E33D70}"/>
              </a:ext>
            </a:extLst>
          </p:cNvPr>
          <p:cNvGrpSpPr/>
          <p:nvPr/>
        </p:nvGrpSpPr>
        <p:grpSpPr>
          <a:xfrm>
            <a:off x="7570968" y="5179314"/>
            <a:ext cx="1337691" cy="1484551"/>
            <a:chOff x="1143305" y="5179314"/>
            <a:chExt cx="1337691" cy="14845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AE5900F4-E3C7-0743-A211-9E0D80B14458}"/>
                    </a:ext>
                  </a:extLst>
                </p:cNvPr>
                <p:cNvSpPr/>
                <p:nvPr/>
              </p:nvSpPr>
              <p:spPr>
                <a:xfrm>
                  <a:off x="1143305" y="5179314"/>
                  <a:ext cx="1310423" cy="6610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num>
                                  <m:den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AE5900F4-E3C7-0743-A211-9E0D80B144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3305" y="5179314"/>
                  <a:ext cx="1310423" cy="661015"/>
                </a:xfrm>
                <a:prstGeom prst="rect">
                  <a:avLst/>
                </a:prstGeom>
                <a:blipFill>
                  <a:blip r:embed="rId8"/>
                  <a:stretch>
                    <a:fillRect b="-192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8A435682-62BF-3549-A63A-E80F9F99577D}"/>
                    </a:ext>
                  </a:extLst>
                </p:cNvPr>
                <p:cNvSpPr/>
                <p:nvPr/>
              </p:nvSpPr>
              <p:spPr>
                <a:xfrm>
                  <a:off x="1167368" y="6002274"/>
                  <a:ext cx="1313628" cy="6615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num>
                                  <m:den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8A435682-62BF-3549-A63A-E80F9F9957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7368" y="6002274"/>
                  <a:ext cx="1313628" cy="661591"/>
                </a:xfrm>
                <a:prstGeom prst="rect">
                  <a:avLst/>
                </a:prstGeom>
                <a:blipFill>
                  <a:blip r:embed="rId9"/>
                  <a:stretch>
                    <a:fillRect b="-18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CD584E6-4044-D4FC-71A9-75C9A51BF1E7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“no-brainer” rules of partial derivatives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9FC1A34-3436-58D9-4632-A905C2CA4D8A}"/>
              </a:ext>
            </a:extLst>
          </p:cNvPr>
          <p:cNvCxnSpPr>
            <a:cxnSpLocks/>
          </p:cNvCxnSpPr>
          <p:nvPr/>
        </p:nvCxnSpPr>
        <p:spPr>
          <a:xfrm flipV="1">
            <a:off x="8526166" y="3991232"/>
            <a:ext cx="2014151" cy="506628"/>
          </a:xfrm>
          <a:prstGeom prst="straightConnector1">
            <a:avLst/>
          </a:prstGeom>
          <a:ln w="101600">
            <a:solidFill>
              <a:srgbClr val="C00000">
                <a:alpha val="62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6121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F6706AA-EEB3-2E4F-B4FB-66429C2F46E2}"/>
              </a:ext>
            </a:extLst>
          </p:cNvPr>
          <p:cNvSpPr txBox="1"/>
          <p:nvPr/>
        </p:nvSpPr>
        <p:spPr>
          <a:xfrm>
            <a:off x="207297" y="702835"/>
            <a:ext cx="10037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Which thermodynamic surface could this be?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DF0C5D5-C022-924E-8657-AAD4B476518B}"/>
              </a:ext>
            </a:extLst>
          </p:cNvPr>
          <p:cNvGrpSpPr/>
          <p:nvPr/>
        </p:nvGrpSpPr>
        <p:grpSpPr>
          <a:xfrm>
            <a:off x="9459532" y="1899288"/>
            <a:ext cx="1327898" cy="3737613"/>
            <a:chOff x="10406573" y="1936855"/>
            <a:chExt cx="1327898" cy="37376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B8044095-921D-9640-A170-51AC75A4C7F5}"/>
                    </a:ext>
                  </a:extLst>
                </p:cNvPr>
                <p:cNvSpPr/>
                <p:nvPr/>
              </p:nvSpPr>
              <p:spPr>
                <a:xfrm>
                  <a:off x="10412985" y="1936855"/>
                  <a:ext cx="1317220" cy="6931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2400" dirty="0"/>
                    <a:t>1.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a14:m>
                  <a:r>
                    <a:rPr lang="en-US" sz="2400" b="1" dirty="0"/>
                    <a:t> </a:t>
                  </a:r>
                  <a:endParaRPr lang="en-US" sz="2400" dirty="0"/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B8044095-921D-9640-A170-51AC75A4C7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2985" y="1936855"/>
                  <a:ext cx="1317220" cy="693138"/>
                </a:xfrm>
                <a:prstGeom prst="rect">
                  <a:avLst/>
                </a:prstGeom>
                <a:blipFill>
                  <a:blip r:embed="rId4"/>
                  <a:stretch>
                    <a:fillRect l="-6667" b="-17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6C88C431-E495-1249-B77F-A21AA7A16139}"/>
                    </a:ext>
                  </a:extLst>
                </p:cNvPr>
                <p:cNvSpPr/>
                <p:nvPr/>
              </p:nvSpPr>
              <p:spPr>
                <a:xfrm>
                  <a:off x="10406573" y="2935085"/>
                  <a:ext cx="1302280" cy="69390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2. </m:t>
                      </m:r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6C88C431-E495-1249-B77F-A21AA7A1613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6573" y="2935085"/>
                  <a:ext cx="1302280" cy="693908"/>
                </a:xfrm>
                <a:prstGeom prst="rect">
                  <a:avLst/>
                </a:prstGeom>
                <a:blipFill>
                  <a:blip r:embed="rId5"/>
                  <a:stretch>
                    <a:fillRect l="-971" b="-18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27D90538-688F-854F-BF2E-F52D87F02414}"/>
                    </a:ext>
                  </a:extLst>
                </p:cNvPr>
                <p:cNvSpPr/>
                <p:nvPr/>
              </p:nvSpPr>
              <p:spPr>
                <a:xfrm>
                  <a:off x="10446618" y="3934085"/>
                  <a:ext cx="1287853" cy="6931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3. 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27D90538-688F-854F-BF2E-F52D87F0241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46618" y="3934085"/>
                  <a:ext cx="1287853" cy="693138"/>
                </a:xfrm>
                <a:prstGeom prst="rect">
                  <a:avLst/>
                </a:prstGeom>
                <a:blipFill>
                  <a:blip r:embed="rId6"/>
                  <a:stretch>
                    <a:fillRect l="-980" b="-17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07A988B0-C5AE-ED48-90D8-39C8DDD2764F}"/>
                    </a:ext>
                  </a:extLst>
                </p:cNvPr>
                <p:cNvSpPr/>
                <p:nvPr/>
              </p:nvSpPr>
              <p:spPr>
                <a:xfrm>
                  <a:off x="10446618" y="4980560"/>
                  <a:ext cx="1287853" cy="69390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4. 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07A988B0-C5AE-ED48-90D8-39C8DDD276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46618" y="4980560"/>
                  <a:ext cx="1287853" cy="693908"/>
                </a:xfrm>
                <a:prstGeom prst="rect">
                  <a:avLst/>
                </a:prstGeom>
                <a:blipFill>
                  <a:blip r:embed="rId7"/>
                  <a:stretch>
                    <a:fillRect l="-980" b="-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3" name="Picture 2">
            <a:extLst>
              <a:ext uri="{FF2B5EF4-FFF2-40B4-BE49-F238E27FC236}">
                <a16:creationId xmlns:a16="http://schemas.microsoft.com/office/drawing/2014/main" id="{AAB3795E-68E9-E04E-BD9E-4B70E50D14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136"/>
          <a:stretch/>
        </p:blipFill>
        <p:spPr bwMode="auto">
          <a:xfrm>
            <a:off x="1807443" y="1462350"/>
            <a:ext cx="5760419" cy="4861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E592541-14C9-AE57-D5C8-F085C4E4D92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Just checking …</a:t>
            </a:r>
          </a:p>
        </p:txBody>
      </p:sp>
    </p:spTree>
    <p:extLst>
      <p:ext uri="{BB962C8B-B14F-4D97-AF65-F5344CB8AC3E}">
        <p14:creationId xmlns:p14="http://schemas.microsoft.com/office/powerpoint/2010/main" val="1067894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F6706AA-EEB3-2E4F-B4FB-66429C2F46E2}"/>
              </a:ext>
            </a:extLst>
          </p:cNvPr>
          <p:cNvSpPr txBox="1"/>
          <p:nvPr/>
        </p:nvSpPr>
        <p:spPr>
          <a:xfrm>
            <a:off x="207297" y="702835"/>
            <a:ext cx="10037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Which thermodynamic surface could this be?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DF0C5D5-C022-924E-8657-AAD4B476518B}"/>
              </a:ext>
            </a:extLst>
          </p:cNvPr>
          <p:cNvGrpSpPr/>
          <p:nvPr/>
        </p:nvGrpSpPr>
        <p:grpSpPr>
          <a:xfrm>
            <a:off x="9459532" y="1899288"/>
            <a:ext cx="1327898" cy="3737613"/>
            <a:chOff x="10406573" y="1936855"/>
            <a:chExt cx="1327898" cy="37376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B8044095-921D-9640-A170-51AC75A4C7F5}"/>
                    </a:ext>
                  </a:extLst>
                </p:cNvPr>
                <p:cNvSpPr/>
                <p:nvPr/>
              </p:nvSpPr>
              <p:spPr>
                <a:xfrm>
                  <a:off x="10412985" y="1936855"/>
                  <a:ext cx="1317220" cy="6931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2400" dirty="0"/>
                    <a:t>1.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a14:m>
                  <a:r>
                    <a:rPr lang="en-US" sz="2400" b="1" dirty="0"/>
                    <a:t> </a:t>
                  </a:r>
                  <a:endParaRPr lang="en-US" sz="2400" dirty="0"/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B8044095-921D-9640-A170-51AC75A4C7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2985" y="1936855"/>
                  <a:ext cx="1317220" cy="693138"/>
                </a:xfrm>
                <a:prstGeom prst="rect">
                  <a:avLst/>
                </a:prstGeom>
                <a:blipFill>
                  <a:blip r:embed="rId3"/>
                  <a:stretch>
                    <a:fillRect l="-7619" b="-17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6C88C431-E495-1249-B77F-A21AA7A16139}"/>
                    </a:ext>
                  </a:extLst>
                </p:cNvPr>
                <p:cNvSpPr/>
                <p:nvPr/>
              </p:nvSpPr>
              <p:spPr>
                <a:xfrm>
                  <a:off x="10406573" y="2935085"/>
                  <a:ext cx="1302280" cy="69390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2. </m:t>
                      </m:r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6C88C431-E495-1249-B77F-A21AA7A1613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6573" y="2935085"/>
                  <a:ext cx="1302280" cy="693908"/>
                </a:xfrm>
                <a:prstGeom prst="rect">
                  <a:avLst/>
                </a:prstGeom>
                <a:blipFill>
                  <a:blip r:embed="rId4"/>
                  <a:stretch>
                    <a:fillRect b="-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27D90538-688F-854F-BF2E-F52D87F02414}"/>
                    </a:ext>
                  </a:extLst>
                </p:cNvPr>
                <p:cNvSpPr/>
                <p:nvPr/>
              </p:nvSpPr>
              <p:spPr>
                <a:xfrm>
                  <a:off x="10446618" y="3934085"/>
                  <a:ext cx="1287853" cy="6931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3. 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27D90538-688F-854F-BF2E-F52D87F0241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46618" y="3934085"/>
                  <a:ext cx="1287853" cy="693138"/>
                </a:xfrm>
                <a:prstGeom prst="rect">
                  <a:avLst/>
                </a:prstGeom>
                <a:blipFill>
                  <a:blip r:embed="rId5"/>
                  <a:stretch>
                    <a:fillRect l="-971" b="-17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07A988B0-C5AE-ED48-90D8-39C8DDD2764F}"/>
                    </a:ext>
                  </a:extLst>
                </p:cNvPr>
                <p:cNvSpPr/>
                <p:nvPr/>
              </p:nvSpPr>
              <p:spPr>
                <a:xfrm>
                  <a:off x="10446618" y="4980560"/>
                  <a:ext cx="1287853" cy="69390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. </m:t>
                          </m:r>
                          <m:d>
                            <m:dPr>
                              <m:ctrlPr>
                                <a:rPr lang="en-US" sz="24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400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num>
                                <m:den>
                                  <m:r>
                                    <a:rPr lang="en-US" sz="2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400" b="1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</m:oMath>
                  </a14:m>
                  <a:r>
                    <a:rPr lang="en-US" sz="2400" b="1" dirty="0"/>
                    <a:t> </a:t>
                  </a:r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07A988B0-C5AE-ED48-90D8-39C8DDD276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46618" y="4980560"/>
                  <a:ext cx="1287853" cy="693908"/>
                </a:xfrm>
                <a:prstGeom prst="rect">
                  <a:avLst/>
                </a:prstGeom>
                <a:blipFill>
                  <a:blip r:embed="rId6"/>
                  <a:stretch>
                    <a:fillRect l="-971" b="-17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3" name="Picture 2">
            <a:extLst>
              <a:ext uri="{FF2B5EF4-FFF2-40B4-BE49-F238E27FC236}">
                <a16:creationId xmlns:a16="http://schemas.microsoft.com/office/drawing/2014/main" id="{AAB3795E-68E9-E04E-BD9E-4B70E50D14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136"/>
          <a:stretch/>
        </p:blipFill>
        <p:spPr bwMode="auto">
          <a:xfrm>
            <a:off x="1807443" y="1462350"/>
            <a:ext cx="5760419" cy="4861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E592541-14C9-AE57-D5C8-F085C4E4D92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Just checking …</a:t>
            </a:r>
          </a:p>
        </p:txBody>
      </p:sp>
    </p:spTree>
    <p:extLst>
      <p:ext uri="{BB962C8B-B14F-4D97-AF65-F5344CB8AC3E}">
        <p14:creationId xmlns:p14="http://schemas.microsoft.com/office/powerpoint/2010/main" val="673215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CDBA09-35B1-0741-8647-31209C5FF939}"/>
                  </a:ext>
                </a:extLst>
              </p:cNvPr>
              <p:cNvSpPr txBox="1"/>
              <p:nvPr/>
            </p:nvSpPr>
            <p:spPr>
              <a:xfrm>
                <a:off x="0" y="-2567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Slopes (with respect to volume) of the entire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</m:d>
                  </m:oMath>
                </a14:m>
                <a:r>
                  <a:rPr lang="en-US" sz="2400" b="1" dirty="0"/>
                  <a:t> surface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CDBA09-35B1-0741-8647-31209C5FF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567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333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2A5BF619-65B2-5249-9E4B-EA43D8326D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83"/>
          <a:stretch/>
        </p:blipFill>
        <p:spPr bwMode="auto">
          <a:xfrm>
            <a:off x="0" y="1109472"/>
            <a:ext cx="6448355" cy="536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F02FA2D7-0C46-ED4D-A2D6-56ED806BE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3156" y="1426464"/>
            <a:ext cx="6757414" cy="5071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Curved Left Arrow 34">
            <a:extLst>
              <a:ext uri="{FF2B5EF4-FFF2-40B4-BE49-F238E27FC236}">
                <a16:creationId xmlns:a16="http://schemas.microsoft.com/office/drawing/2014/main" id="{C7CA8443-5A35-4642-9477-FE99FE0994A0}"/>
              </a:ext>
            </a:extLst>
          </p:cNvPr>
          <p:cNvSpPr/>
          <p:nvPr/>
        </p:nvSpPr>
        <p:spPr>
          <a:xfrm rot="16200000">
            <a:off x="5351699" y="1608351"/>
            <a:ext cx="973325" cy="2560851"/>
          </a:xfrm>
          <a:prstGeom prst="curvedLeft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DEEF3C7-C720-BB4C-9DCC-528E06720EA0}"/>
                  </a:ext>
                </a:extLst>
              </p:cNvPr>
              <p:cNvSpPr/>
              <p:nvPr/>
            </p:nvSpPr>
            <p:spPr>
              <a:xfrm>
                <a:off x="1780617" y="2690860"/>
                <a:ext cx="122719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sz="24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DEEF3C7-C720-BB4C-9DCC-528E06720E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0617" y="2690860"/>
                <a:ext cx="122719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BC22EF4-E5E4-1B49-B306-C2FF0A0158C0}"/>
                  </a:ext>
                </a:extLst>
              </p:cNvPr>
              <p:cNvSpPr/>
              <p:nvPr/>
            </p:nvSpPr>
            <p:spPr>
              <a:xfrm>
                <a:off x="9325707" y="1956391"/>
                <a:ext cx="997709" cy="6931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1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𝑷</m:t>
                                </m:r>
                              </m:num>
                              <m:den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en-US" sz="2400" b="1" dirty="0"/>
                  <a:t> 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BC22EF4-E5E4-1B49-B306-C2FF0A0158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5707" y="1956391"/>
                <a:ext cx="997709" cy="693138"/>
              </a:xfrm>
              <a:prstGeom prst="rect">
                <a:avLst/>
              </a:prstGeom>
              <a:blipFill>
                <a:blip r:embed="rId6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DBD065D9-CC87-E7CF-3544-334BAFBABA77}"/>
              </a:ext>
            </a:extLst>
          </p:cNvPr>
          <p:cNvGrpSpPr/>
          <p:nvPr/>
        </p:nvGrpSpPr>
        <p:grpSpPr>
          <a:xfrm>
            <a:off x="9336538" y="1998790"/>
            <a:ext cx="1680754" cy="3676178"/>
            <a:chOff x="5242560" y="1919950"/>
            <a:chExt cx="1680754" cy="3676178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B1D5BF4-4F07-7B72-05F2-F9520CEFE735}"/>
                </a:ext>
              </a:extLst>
            </p:cNvPr>
            <p:cNvCxnSpPr/>
            <p:nvPr/>
          </p:nvCxnSpPr>
          <p:spPr>
            <a:xfrm flipV="1">
              <a:off x="5242560" y="3060192"/>
              <a:ext cx="0" cy="2535936"/>
            </a:xfrm>
            <a:prstGeom prst="line">
              <a:avLst/>
            </a:prstGeom>
            <a:ln w="63500">
              <a:solidFill>
                <a:srgbClr val="FF0000">
                  <a:alpha val="43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15FB4F0-BFEF-129D-7873-63059EB124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2561" y="4455886"/>
              <a:ext cx="1550125" cy="1140242"/>
            </a:xfrm>
            <a:prstGeom prst="line">
              <a:avLst/>
            </a:prstGeom>
            <a:ln w="63500">
              <a:solidFill>
                <a:srgbClr val="FF0000">
                  <a:alpha val="43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EE7E097-A429-74A4-4C6F-81517EC5EC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2562" y="1919950"/>
              <a:ext cx="1680752" cy="1140242"/>
            </a:xfrm>
            <a:prstGeom prst="line">
              <a:avLst/>
            </a:prstGeom>
            <a:ln w="63500">
              <a:solidFill>
                <a:srgbClr val="FF0000">
                  <a:alpha val="43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5649466-94A0-6716-F1F9-0D1E9CE48B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92686" y="1919950"/>
              <a:ext cx="130628" cy="2535936"/>
            </a:xfrm>
            <a:prstGeom prst="line">
              <a:avLst/>
            </a:prstGeom>
            <a:ln w="63500">
              <a:solidFill>
                <a:srgbClr val="FF0000">
                  <a:alpha val="43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5845DF2-94F9-3124-15C4-64F010879A09}"/>
              </a:ext>
            </a:extLst>
          </p:cNvPr>
          <p:cNvGrpSpPr/>
          <p:nvPr/>
        </p:nvGrpSpPr>
        <p:grpSpPr>
          <a:xfrm>
            <a:off x="3561670" y="1956601"/>
            <a:ext cx="1680754" cy="3676178"/>
            <a:chOff x="5242560" y="1919950"/>
            <a:chExt cx="1680754" cy="3676178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28DC01A9-91FD-DE6D-DB5E-382BA59B4DE8}"/>
                </a:ext>
              </a:extLst>
            </p:cNvPr>
            <p:cNvCxnSpPr/>
            <p:nvPr/>
          </p:nvCxnSpPr>
          <p:spPr>
            <a:xfrm flipV="1">
              <a:off x="5242560" y="3060192"/>
              <a:ext cx="0" cy="2535936"/>
            </a:xfrm>
            <a:prstGeom prst="line">
              <a:avLst/>
            </a:prstGeom>
            <a:ln w="63500">
              <a:solidFill>
                <a:srgbClr val="FF0000">
                  <a:alpha val="43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78FB807-4343-3107-CEB2-42183E5974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2561" y="4455886"/>
              <a:ext cx="1550125" cy="1140242"/>
            </a:xfrm>
            <a:prstGeom prst="line">
              <a:avLst/>
            </a:prstGeom>
            <a:ln w="63500">
              <a:solidFill>
                <a:srgbClr val="FF0000">
                  <a:alpha val="43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B63003A7-7F3F-329E-0BA3-27BAABF5C8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2562" y="1919950"/>
              <a:ext cx="1680752" cy="1140242"/>
            </a:xfrm>
            <a:prstGeom prst="line">
              <a:avLst/>
            </a:prstGeom>
            <a:ln w="63500">
              <a:solidFill>
                <a:srgbClr val="FF0000">
                  <a:alpha val="43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DC054B4-1779-A793-58CE-799672FD73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92686" y="1919950"/>
              <a:ext cx="130628" cy="2535936"/>
            </a:xfrm>
            <a:prstGeom prst="line">
              <a:avLst/>
            </a:prstGeom>
            <a:ln w="63500">
              <a:solidFill>
                <a:srgbClr val="FF0000">
                  <a:alpha val="43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31AB276-D2EC-74EC-D317-1C6E55CBBFAC}"/>
              </a:ext>
            </a:extLst>
          </p:cNvPr>
          <p:cNvGrpSpPr/>
          <p:nvPr/>
        </p:nvGrpSpPr>
        <p:grpSpPr>
          <a:xfrm>
            <a:off x="847853" y="1683616"/>
            <a:ext cx="1639263" cy="3258167"/>
            <a:chOff x="5153423" y="2337961"/>
            <a:chExt cx="1639263" cy="3258167"/>
          </a:xfrm>
        </p:grpSpPr>
        <p:cxnSp>
          <p:nvCxnSpPr>
            <p:cNvPr id="4096" name="Straight Connector 4095">
              <a:extLst>
                <a:ext uri="{FF2B5EF4-FFF2-40B4-BE49-F238E27FC236}">
                  <a16:creationId xmlns:a16="http://schemas.microsoft.com/office/drawing/2014/main" id="{DCF3A506-74A7-D63D-6C1C-D9B9BA9D5D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53423" y="3191401"/>
              <a:ext cx="89137" cy="2404727"/>
            </a:xfrm>
            <a:prstGeom prst="line">
              <a:avLst/>
            </a:prstGeom>
            <a:ln w="63500">
              <a:solidFill>
                <a:schemeClr val="accent1"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7" name="Straight Connector 4096">
              <a:extLst>
                <a:ext uri="{FF2B5EF4-FFF2-40B4-BE49-F238E27FC236}">
                  <a16:creationId xmlns:a16="http://schemas.microsoft.com/office/drawing/2014/main" id="{A0ED2E58-2202-41B1-69AD-778D4C4E00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2562" y="5258031"/>
              <a:ext cx="484952" cy="338097"/>
            </a:xfrm>
            <a:prstGeom prst="line">
              <a:avLst/>
            </a:prstGeom>
            <a:ln w="63500">
              <a:solidFill>
                <a:schemeClr val="accent1"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9" name="Straight Connector 4098">
              <a:extLst>
                <a:ext uri="{FF2B5EF4-FFF2-40B4-BE49-F238E27FC236}">
                  <a16:creationId xmlns:a16="http://schemas.microsoft.com/office/drawing/2014/main" id="{A8CA3B35-6AB2-5917-7458-0B890E39C5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3423" y="2337961"/>
              <a:ext cx="1639263" cy="853440"/>
            </a:xfrm>
            <a:prstGeom prst="line">
              <a:avLst/>
            </a:prstGeom>
            <a:ln w="63500">
              <a:solidFill>
                <a:schemeClr val="accent1"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0" name="Straight Connector 4099">
              <a:extLst>
                <a:ext uri="{FF2B5EF4-FFF2-40B4-BE49-F238E27FC236}">
                  <a16:creationId xmlns:a16="http://schemas.microsoft.com/office/drawing/2014/main" id="{546A5740-3FBD-6718-EEA4-D920A203BC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92685" y="2337962"/>
              <a:ext cx="1" cy="1941274"/>
            </a:xfrm>
            <a:prstGeom prst="line">
              <a:avLst/>
            </a:prstGeom>
            <a:ln w="63500">
              <a:solidFill>
                <a:schemeClr val="accent1"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01" name="Group 4100">
            <a:extLst>
              <a:ext uri="{FF2B5EF4-FFF2-40B4-BE49-F238E27FC236}">
                <a16:creationId xmlns:a16="http://schemas.microsoft.com/office/drawing/2014/main" id="{AD6ECFB2-5453-CB08-0FA9-D9221E6AABBC}"/>
              </a:ext>
            </a:extLst>
          </p:cNvPr>
          <p:cNvGrpSpPr/>
          <p:nvPr/>
        </p:nvGrpSpPr>
        <p:grpSpPr>
          <a:xfrm>
            <a:off x="6801625" y="1799916"/>
            <a:ext cx="1639263" cy="3258167"/>
            <a:chOff x="5153423" y="2337961"/>
            <a:chExt cx="1639263" cy="3258167"/>
          </a:xfrm>
        </p:grpSpPr>
        <p:cxnSp>
          <p:nvCxnSpPr>
            <p:cNvPr id="4102" name="Straight Connector 4101">
              <a:extLst>
                <a:ext uri="{FF2B5EF4-FFF2-40B4-BE49-F238E27FC236}">
                  <a16:creationId xmlns:a16="http://schemas.microsoft.com/office/drawing/2014/main" id="{F51D5985-20C5-8180-49CE-96F6516A8D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53423" y="3191401"/>
              <a:ext cx="89137" cy="2404727"/>
            </a:xfrm>
            <a:prstGeom prst="line">
              <a:avLst/>
            </a:prstGeom>
            <a:ln w="63500">
              <a:solidFill>
                <a:schemeClr val="accent1"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3" name="Straight Connector 4102">
              <a:extLst>
                <a:ext uri="{FF2B5EF4-FFF2-40B4-BE49-F238E27FC236}">
                  <a16:creationId xmlns:a16="http://schemas.microsoft.com/office/drawing/2014/main" id="{0030717A-BD59-9464-27DA-6A28279EE7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2562" y="5038046"/>
              <a:ext cx="865547" cy="558082"/>
            </a:xfrm>
            <a:prstGeom prst="line">
              <a:avLst/>
            </a:prstGeom>
            <a:ln w="63500">
              <a:solidFill>
                <a:schemeClr val="accent1"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4" name="Straight Connector 4103">
              <a:extLst>
                <a:ext uri="{FF2B5EF4-FFF2-40B4-BE49-F238E27FC236}">
                  <a16:creationId xmlns:a16="http://schemas.microsoft.com/office/drawing/2014/main" id="{401D9946-DE9F-19A9-88B6-8BBA7245F1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3423" y="2337961"/>
              <a:ext cx="1639263" cy="853440"/>
            </a:xfrm>
            <a:prstGeom prst="line">
              <a:avLst/>
            </a:prstGeom>
            <a:ln w="63500">
              <a:solidFill>
                <a:schemeClr val="accent1"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5" name="Straight Connector 4104">
              <a:extLst>
                <a:ext uri="{FF2B5EF4-FFF2-40B4-BE49-F238E27FC236}">
                  <a16:creationId xmlns:a16="http://schemas.microsoft.com/office/drawing/2014/main" id="{07CF7548-632C-5966-34BA-8802222805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92686" y="2337962"/>
              <a:ext cx="0" cy="602196"/>
            </a:xfrm>
            <a:prstGeom prst="line">
              <a:avLst/>
            </a:prstGeom>
            <a:ln w="63500">
              <a:solidFill>
                <a:schemeClr val="accent1"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36194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A5BF619-65B2-5249-9E4B-EA43D8326D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83"/>
          <a:stretch/>
        </p:blipFill>
        <p:spPr bwMode="auto">
          <a:xfrm>
            <a:off x="0" y="1109472"/>
            <a:ext cx="6448355" cy="536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F02FA2D7-0C46-ED4D-A2D6-56ED806BE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3156" y="1426464"/>
            <a:ext cx="6757414" cy="5071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Curved Left Arrow 34">
            <a:extLst>
              <a:ext uri="{FF2B5EF4-FFF2-40B4-BE49-F238E27FC236}">
                <a16:creationId xmlns:a16="http://schemas.microsoft.com/office/drawing/2014/main" id="{C7CA8443-5A35-4642-9477-FE99FE0994A0}"/>
              </a:ext>
            </a:extLst>
          </p:cNvPr>
          <p:cNvSpPr/>
          <p:nvPr/>
        </p:nvSpPr>
        <p:spPr>
          <a:xfrm rot="16200000">
            <a:off x="5351699" y="1608351"/>
            <a:ext cx="973325" cy="2560851"/>
          </a:xfrm>
          <a:prstGeom prst="curvedLeft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DEEF3C7-C720-BB4C-9DCC-528E06720EA0}"/>
                  </a:ext>
                </a:extLst>
              </p:cNvPr>
              <p:cNvSpPr/>
              <p:nvPr/>
            </p:nvSpPr>
            <p:spPr>
              <a:xfrm>
                <a:off x="1780617" y="2690860"/>
                <a:ext cx="122719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sz="24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DEEF3C7-C720-BB4C-9DCC-528E06720E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0617" y="2690860"/>
                <a:ext cx="122719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BC22EF4-E5E4-1B49-B306-C2FF0A0158C0}"/>
                  </a:ext>
                </a:extLst>
              </p:cNvPr>
              <p:cNvSpPr/>
              <p:nvPr/>
            </p:nvSpPr>
            <p:spPr>
              <a:xfrm>
                <a:off x="9325707" y="1956391"/>
                <a:ext cx="997709" cy="6931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1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𝑷</m:t>
                                </m:r>
                              </m:num>
                              <m:den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en-US" sz="2400" b="1" dirty="0"/>
                  <a:t> 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BC22EF4-E5E4-1B49-B306-C2FF0A0158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5707" y="1956391"/>
                <a:ext cx="997709" cy="693138"/>
              </a:xfrm>
              <a:prstGeom prst="rect">
                <a:avLst/>
              </a:prstGeom>
              <a:blipFill>
                <a:blip r:embed="rId6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DBD065D9-CC87-E7CF-3544-334BAFBABA77}"/>
              </a:ext>
            </a:extLst>
          </p:cNvPr>
          <p:cNvGrpSpPr/>
          <p:nvPr/>
        </p:nvGrpSpPr>
        <p:grpSpPr>
          <a:xfrm>
            <a:off x="9336538" y="1998790"/>
            <a:ext cx="1680754" cy="3676178"/>
            <a:chOff x="5242560" y="1919950"/>
            <a:chExt cx="1680754" cy="3676178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B1D5BF4-4F07-7B72-05F2-F9520CEFE735}"/>
                </a:ext>
              </a:extLst>
            </p:cNvPr>
            <p:cNvCxnSpPr/>
            <p:nvPr/>
          </p:nvCxnSpPr>
          <p:spPr>
            <a:xfrm flipV="1">
              <a:off x="5242560" y="3060192"/>
              <a:ext cx="0" cy="2535936"/>
            </a:xfrm>
            <a:prstGeom prst="line">
              <a:avLst/>
            </a:prstGeom>
            <a:ln w="63500">
              <a:solidFill>
                <a:srgbClr val="FF0000">
                  <a:alpha val="43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15FB4F0-BFEF-129D-7873-63059EB124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2561" y="4455886"/>
              <a:ext cx="1550125" cy="1140242"/>
            </a:xfrm>
            <a:prstGeom prst="line">
              <a:avLst/>
            </a:prstGeom>
            <a:ln w="63500">
              <a:solidFill>
                <a:srgbClr val="FF0000">
                  <a:alpha val="43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EE7E097-A429-74A4-4C6F-81517EC5EC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2562" y="1919950"/>
              <a:ext cx="1680752" cy="1140242"/>
            </a:xfrm>
            <a:prstGeom prst="line">
              <a:avLst/>
            </a:prstGeom>
            <a:ln w="63500">
              <a:solidFill>
                <a:srgbClr val="FF0000">
                  <a:alpha val="43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5649466-94A0-6716-F1F9-0D1E9CE48B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92686" y="1919950"/>
              <a:ext cx="130628" cy="2535936"/>
            </a:xfrm>
            <a:prstGeom prst="line">
              <a:avLst/>
            </a:prstGeom>
            <a:ln w="63500">
              <a:solidFill>
                <a:srgbClr val="FF0000">
                  <a:alpha val="43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5845DF2-94F9-3124-15C4-64F010879A09}"/>
              </a:ext>
            </a:extLst>
          </p:cNvPr>
          <p:cNvGrpSpPr/>
          <p:nvPr/>
        </p:nvGrpSpPr>
        <p:grpSpPr>
          <a:xfrm>
            <a:off x="3561670" y="1956601"/>
            <a:ext cx="1680754" cy="3676178"/>
            <a:chOff x="5242560" y="1919950"/>
            <a:chExt cx="1680754" cy="3676178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28DC01A9-91FD-DE6D-DB5E-382BA59B4DE8}"/>
                </a:ext>
              </a:extLst>
            </p:cNvPr>
            <p:cNvCxnSpPr/>
            <p:nvPr/>
          </p:nvCxnSpPr>
          <p:spPr>
            <a:xfrm flipV="1">
              <a:off x="5242560" y="3060192"/>
              <a:ext cx="0" cy="2535936"/>
            </a:xfrm>
            <a:prstGeom prst="line">
              <a:avLst/>
            </a:prstGeom>
            <a:ln w="63500">
              <a:solidFill>
                <a:srgbClr val="FF0000">
                  <a:alpha val="43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78FB807-4343-3107-CEB2-42183E5974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2561" y="4455886"/>
              <a:ext cx="1550125" cy="1140242"/>
            </a:xfrm>
            <a:prstGeom prst="line">
              <a:avLst/>
            </a:prstGeom>
            <a:ln w="63500">
              <a:solidFill>
                <a:srgbClr val="FF0000">
                  <a:alpha val="43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B63003A7-7F3F-329E-0BA3-27BAABF5C8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2562" y="1919950"/>
              <a:ext cx="1680752" cy="1140242"/>
            </a:xfrm>
            <a:prstGeom prst="line">
              <a:avLst/>
            </a:prstGeom>
            <a:ln w="63500">
              <a:solidFill>
                <a:srgbClr val="FF0000">
                  <a:alpha val="43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DC054B4-1779-A793-58CE-799672FD73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92686" y="1919950"/>
              <a:ext cx="130628" cy="2535936"/>
            </a:xfrm>
            <a:prstGeom prst="line">
              <a:avLst/>
            </a:prstGeom>
            <a:ln w="63500">
              <a:solidFill>
                <a:srgbClr val="FF0000">
                  <a:alpha val="43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31AB276-D2EC-74EC-D317-1C6E55CBBFAC}"/>
              </a:ext>
            </a:extLst>
          </p:cNvPr>
          <p:cNvGrpSpPr/>
          <p:nvPr/>
        </p:nvGrpSpPr>
        <p:grpSpPr>
          <a:xfrm>
            <a:off x="847853" y="1683616"/>
            <a:ext cx="1639263" cy="3258167"/>
            <a:chOff x="5153423" y="2337961"/>
            <a:chExt cx="1639263" cy="3258167"/>
          </a:xfrm>
        </p:grpSpPr>
        <p:cxnSp>
          <p:nvCxnSpPr>
            <p:cNvPr id="4096" name="Straight Connector 4095">
              <a:extLst>
                <a:ext uri="{FF2B5EF4-FFF2-40B4-BE49-F238E27FC236}">
                  <a16:creationId xmlns:a16="http://schemas.microsoft.com/office/drawing/2014/main" id="{DCF3A506-74A7-D63D-6C1C-D9B9BA9D5D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53423" y="3191401"/>
              <a:ext cx="89137" cy="2404727"/>
            </a:xfrm>
            <a:prstGeom prst="line">
              <a:avLst/>
            </a:prstGeom>
            <a:ln w="63500">
              <a:solidFill>
                <a:schemeClr val="accent1"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7" name="Straight Connector 4096">
              <a:extLst>
                <a:ext uri="{FF2B5EF4-FFF2-40B4-BE49-F238E27FC236}">
                  <a16:creationId xmlns:a16="http://schemas.microsoft.com/office/drawing/2014/main" id="{A0ED2E58-2202-41B1-69AD-778D4C4E00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2562" y="5258031"/>
              <a:ext cx="484952" cy="338097"/>
            </a:xfrm>
            <a:prstGeom prst="line">
              <a:avLst/>
            </a:prstGeom>
            <a:ln w="63500">
              <a:solidFill>
                <a:schemeClr val="accent1"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9" name="Straight Connector 4098">
              <a:extLst>
                <a:ext uri="{FF2B5EF4-FFF2-40B4-BE49-F238E27FC236}">
                  <a16:creationId xmlns:a16="http://schemas.microsoft.com/office/drawing/2014/main" id="{A8CA3B35-6AB2-5917-7458-0B890E39C5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3423" y="2337961"/>
              <a:ext cx="1639263" cy="853440"/>
            </a:xfrm>
            <a:prstGeom prst="line">
              <a:avLst/>
            </a:prstGeom>
            <a:ln w="63500">
              <a:solidFill>
                <a:schemeClr val="accent1"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0" name="Straight Connector 4099">
              <a:extLst>
                <a:ext uri="{FF2B5EF4-FFF2-40B4-BE49-F238E27FC236}">
                  <a16:creationId xmlns:a16="http://schemas.microsoft.com/office/drawing/2014/main" id="{546A5740-3FBD-6718-EEA4-D920A203BC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92685" y="2337962"/>
              <a:ext cx="1" cy="1941274"/>
            </a:xfrm>
            <a:prstGeom prst="line">
              <a:avLst/>
            </a:prstGeom>
            <a:ln w="63500">
              <a:solidFill>
                <a:schemeClr val="accent1"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01" name="Group 4100">
            <a:extLst>
              <a:ext uri="{FF2B5EF4-FFF2-40B4-BE49-F238E27FC236}">
                <a16:creationId xmlns:a16="http://schemas.microsoft.com/office/drawing/2014/main" id="{AD6ECFB2-5453-CB08-0FA9-D9221E6AABBC}"/>
              </a:ext>
            </a:extLst>
          </p:cNvPr>
          <p:cNvGrpSpPr/>
          <p:nvPr/>
        </p:nvGrpSpPr>
        <p:grpSpPr>
          <a:xfrm>
            <a:off x="6801625" y="1799916"/>
            <a:ext cx="1639263" cy="3258167"/>
            <a:chOff x="5153423" y="2337961"/>
            <a:chExt cx="1639263" cy="3258167"/>
          </a:xfrm>
        </p:grpSpPr>
        <p:cxnSp>
          <p:nvCxnSpPr>
            <p:cNvPr id="4102" name="Straight Connector 4101">
              <a:extLst>
                <a:ext uri="{FF2B5EF4-FFF2-40B4-BE49-F238E27FC236}">
                  <a16:creationId xmlns:a16="http://schemas.microsoft.com/office/drawing/2014/main" id="{F51D5985-20C5-8180-49CE-96F6516A8D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53423" y="3191401"/>
              <a:ext cx="89137" cy="2404727"/>
            </a:xfrm>
            <a:prstGeom prst="line">
              <a:avLst/>
            </a:prstGeom>
            <a:ln w="63500">
              <a:solidFill>
                <a:schemeClr val="accent1"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3" name="Straight Connector 4102">
              <a:extLst>
                <a:ext uri="{FF2B5EF4-FFF2-40B4-BE49-F238E27FC236}">
                  <a16:creationId xmlns:a16="http://schemas.microsoft.com/office/drawing/2014/main" id="{0030717A-BD59-9464-27DA-6A28279EE7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2562" y="5038046"/>
              <a:ext cx="865547" cy="558082"/>
            </a:xfrm>
            <a:prstGeom prst="line">
              <a:avLst/>
            </a:prstGeom>
            <a:ln w="63500">
              <a:solidFill>
                <a:schemeClr val="accent1"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4" name="Straight Connector 4103">
              <a:extLst>
                <a:ext uri="{FF2B5EF4-FFF2-40B4-BE49-F238E27FC236}">
                  <a16:creationId xmlns:a16="http://schemas.microsoft.com/office/drawing/2014/main" id="{401D9946-DE9F-19A9-88B6-8BBA7245F1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3423" y="2337961"/>
              <a:ext cx="1639263" cy="853440"/>
            </a:xfrm>
            <a:prstGeom prst="line">
              <a:avLst/>
            </a:prstGeom>
            <a:ln w="63500">
              <a:solidFill>
                <a:schemeClr val="accent1"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5" name="Straight Connector 4104">
              <a:extLst>
                <a:ext uri="{FF2B5EF4-FFF2-40B4-BE49-F238E27FC236}">
                  <a16:creationId xmlns:a16="http://schemas.microsoft.com/office/drawing/2014/main" id="{07CF7548-632C-5966-34BA-8802222805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92686" y="2337962"/>
              <a:ext cx="0" cy="602196"/>
            </a:xfrm>
            <a:prstGeom prst="line">
              <a:avLst/>
            </a:prstGeom>
            <a:ln w="63500">
              <a:solidFill>
                <a:schemeClr val="accent1"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B18A178-4EB6-A24E-D846-B92107E027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0798" y="772698"/>
            <a:ext cx="8096996" cy="6177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6C52613-2DF4-07CC-9EE6-506779566ACA}"/>
                  </a:ext>
                </a:extLst>
              </p:cNvPr>
              <p:cNvSpPr txBox="1"/>
              <p:nvPr/>
            </p:nvSpPr>
            <p:spPr>
              <a:xfrm>
                <a:off x="0" y="-2567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Slopes (with respect to volume) of the entire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</m:d>
                  </m:oMath>
                </a14:m>
                <a:r>
                  <a:rPr lang="en-US" sz="2400" b="1" dirty="0"/>
                  <a:t> surface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6C52613-2DF4-07CC-9EE6-506779566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567"/>
                <a:ext cx="12192000" cy="461665"/>
              </a:xfrm>
              <a:prstGeom prst="rect">
                <a:avLst/>
              </a:prstGeom>
              <a:blipFill>
                <a:blip r:embed="rId8"/>
                <a:stretch>
                  <a:fillRect l="-832" t="-8333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9692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A5BF619-65B2-5249-9E4B-EA43D8326D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83"/>
          <a:stretch/>
        </p:blipFill>
        <p:spPr bwMode="auto">
          <a:xfrm>
            <a:off x="0" y="1109472"/>
            <a:ext cx="6448355" cy="536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F02FA2D7-0C46-ED4D-A2D6-56ED806BE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3156" y="1426464"/>
            <a:ext cx="6757414" cy="5071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Curved Left Arrow 34">
            <a:extLst>
              <a:ext uri="{FF2B5EF4-FFF2-40B4-BE49-F238E27FC236}">
                <a16:creationId xmlns:a16="http://schemas.microsoft.com/office/drawing/2014/main" id="{C7CA8443-5A35-4642-9477-FE99FE0994A0}"/>
              </a:ext>
            </a:extLst>
          </p:cNvPr>
          <p:cNvSpPr/>
          <p:nvPr/>
        </p:nvSpPr>
        <p:spPr>
          <a:xfrm rot="16200000">
            <a:off x="5351699" y="1608351"/>
            <a:ext cx="973325" cy="2560851"/>
          </a:xfrm>
          <a:prstGeom prst="curvedLeft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DEEF3C7-C720-BB4C-9DCC-528E06720EA0}"/>
                  </a:ext>
                </a:extLst>
              </p:cNvPr>
              <p:cNvSpPr/>
              <p:nvPr/>
            </p:nvSpPr>
            <p:spPr>
              <a:xfrm>
                <a:off x="1780617" y="2690860"/>
                <a:ext cx="122719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sz="24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DEEF3C7-C720-BB4C-9DCC-528E06720E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0617" y="2690860"/>
                <a:ext cx="122719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BC22EF4-E5E4-1B49-B306-C2FF0A0158C0}"/>
                  </a:ext>
                </a:extLst>
              </p:cNvPr>
              <p:cNvSpPr/>
              <p:nvPr/>
            </p:nvSpPr>
            <p:spPr>
              <a:xfrm>
                <a:off x="9325707" y="1956391"/>
                <a:ext cx="997709" cy="6931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1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𝑷</m:t>
                                </m:r>
                              </m:num>
                              <m:den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en-US" sz="2400" b="1" dirty="0"/>
                  <a:t> 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BC22EF4-E5E4-1B49-B306-C2FF0A0158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5707" y="1956391"/>
                <a:ext cx="997709" cy="693138"/>
              </a:xfrm>
              <a:prstGeom prst="rect">
                <a:avLst/>
              </a:prstGeom>
              <a:blipFill>
                <a:blip r:embed="rId6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DBD065D9-CC87-E7CF-3544-334BAFBABA77}"/>
              </a:ext>
            </a:extLst>
          </p:cNvPr>
          <p:cNvGrpSpPr/>
          <p:nvPr/>
        </p:nvGrpSpPr>
        <p:grpSpPr>
          <a:xfrm>
            <a:off x="9336538" y="1998790"/>
            <a:ext cx="1680754" cy="3676178"/>
            <a:chOff x="5242560" y="1919950"/>
            <a:chExt cx="1680754" cy="3676178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B1D5BF4-4F07-7B72-05F2-F9520CEFE735}"/>
                </a:ext>
              </a:extLst>
            </p:cNvPr>
            <p:cNvCxnSpPr/>
            <p:nvPr/>
          </p:nvCxnSpPr>
          <p:spPr>
            <a:xfrm flipV="1">
              <a:off x="5242560" y="3060192"/>
              <a:ext cx="0" cy="2535936"/>
            </a:xfrm>
            <a:prstGeom prst="line">
              <a:avLst/>
            </a:prstGeom>
            <a:ln w="63500">
              <a:solidFill>
                <a:srgbClr val="FF0000">
                  <a:alpha val="43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15FB4F0-BFEF-129D-7873-63059EB124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2561" y="4455886"/>
              <a:ext cx="1550125" cy="1140242"/>
            </a:xfrm>
            <a:prstGeom prst="line">
              <a:avLst/>
            </a:prstGeom>
            <a:ln w="63500">
              <a:solidFill>
                <a:srgbClr val="FF0000">
                  <a:alpha val="43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EE7E097-A429-74A4-4C6F-81517EC5EC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2562" y="1919950"/>
              <a:ext cx="1680752" cy="1140242"/>
            </a:xfrm>
            <a:prstGeom prst="line">
              <a:avLst/>
            </a:prstGeom>
            <a:ln w="63500">
              <a:solidFill>
                <a:srgbClr val="FF0000">
                  <a:alpha val="43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5649466-94A0-6716-F1F9-0D1E9CE48B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92686" y="1919950"/>
              <a:ext cx="130628" cy="2535936"/>
            </a:xfrm>
            <a:prstGeom prst="line">
              <a:avLst/>
            </a:prstGeom>
            <a:ln w="63500">
              <a:solidFill>
                <a:srgbClr val="FF0000">
                  <a:alpha val="43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5845DF2-94F9-3124-15C4-64F010879A09}"/>
              </a:ext>
            </a:extLst>
          </p:cNvPr>
          <p:cNvGrpSpPr/>
          <p:nvPr/>
        </p:nvGrpSpPr>
        <p:grpSpPr>
          <a:xfrm>
            <a:off x="3561670" y="1956601"/>
            <a:ext cx="1680754" cy="3676178"/>
            <a:chOff x="5242560" y="1919950"/>
            <a:chExt cx="1680754" cy="3676178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28DC01A9-91FD-DE6D-DB5E-382BA59B4DE8}"/>
                </a:ext>
              </a:extLst>
            </p:cNvPr>
            <p:cNvCxnSpPr/>
            <p:nvPr/>
          </p:nvCxnSpPr>
          <p:spPr>
            <a:xfrm flipV="1">
              <a:off x="5242560" y="3060192"/>
              <a:ext cx="0" cy="2535936"/>
            </a:xfrm>
            <a:prstGeom prst="line">
              <a:avLst/>
            </a:prstGeom>
            <a:ln w="63500">
              <a:solidFill>
                <a:srgbClr val="FF0000">
                  <a:alpha val="43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78FB807-4343-3107-CEB2-42183E5974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2561" y="4455886"/>
              <a:ext cx="1550125" cy="1140242"/>
            </a:xfrm>
            <a:prstGeom prst="line">
              <a:avLst/>
            </a:prstGeom>
            <a:ln w="63500">
              <a:solidFill>
                <a:srgbClr val="FF0000">
                  <a:alpha val="43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B63003A7-7F3F-329E-0BA3-27BAABF5C8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2562" y="1919950"/>
              <a:ext cx="1680752" cy="1140242"/>
            </a:xfrm>
            <a:prstGeom prst="line">
              <a:avLst/>
            </a:prstGeom>
            <a:ln w="63500">
              <a:solidFill>
                <a:srgbClr val="FF0000">
                  <a:alpha val="43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DC054B4-1779-A793-58CE-799672FD73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92686" y="1919950"/>
              <a:ext cx="130628" cy="2535936"/>
            </a:xfrm>
            <a:prstGeom prst="line">
              <a:avLst/>
            </a:prstGeom>
            <a:ln w="63500">
              <a:solidFill>
                <a:srgbClr val="FF0000">
                  <a:alpha val="43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31AB276-D2EC-74EC-D317-1C6E55CBBFAC}"/>
              </a:ext>
            </a:extLst>
          </p:cNvPr>
          <p:cNvGrpSpPr/>
          <p:nvPr/>
        </p:nvGrpSpPr>
        <p:grpSpPr>
          <a:xfrm>
            <a:off x="847853" y="1683616"/>
            <a:ext cx="1639263" cy="3258167"/>
            <a:chOff x="5153423" y="2337961"/>
            <a:chExt cx="1639263" cy="3258167"/>
          </a:xfrm>
        </p:grpSpPr>
        <p:cxnSp>
          <p:nvCxnSpPr>
            <p:cNvPr id="4096" name="Straight Connector 4095">
              <a:extLst>
                <a:ext uri="{FF2B5EF4-FFF2-40B4-BE49-F238E27FC236}">
                  <a16:creationId xmlns:a16="http://schemas.microsoft.com/office/drawing/2014/main" id="{DCF3A506-74A7-D63D-6C1C-D9B9BA9D5D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53423" y="3191401"/>
              <a:ext cx="89137" cy="2404727"/>
            </a:xfrm>
            <a:prstGeom prst="line">
              <a:avLst/>
            </a:prstGeom>
            <a:ln w="63500">
              <a:solidFill>
                <a:schemeClr val="accent1"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7" name="Straight Connector 4096">
              <a:extLst>
                <a:ext uri="{FF2B5EF4-FFF2-40B4-BE49-F238E27FC236}">
                  <a16:creationId xmlns:a16="http://schemas.microsoft.com/office/drawing/2014/main" id="{A0ED2E58-2202-41B1-69AD-778D4C4E00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2562" y="5258031"/>
              <a:ext cx="484952" cy="338097"/>
            </a:xfrm>
            <a:prstGeom prst="line">
              <a:avLst/>
            </a:prstGeom>
            <a:ln w="63500">
              <a:solidFill>
                <a:schemeClr val="accent1"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9" name="Straight Connector 4098">
              <a:extLst>
                <a:ext uri="{FF2B5EF4-FFF2-40B4-BE49-F238E27FC236}">
                  <a16:creationId xmlns:a16="http://schemas.microsoft.com/office/drawing/2014/main" id="{A8CA3B35-6AB2-5917-7458-0B890E39C5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3423" y="2337961"/>
              <a:ext cx="1639263" cy="853440"/>
            </a:xfrm>
            <a:prstGeom prst="line">
              <a:avLst/>
            </a:prstGeom>
            <a:ln w="63500">
              <a:solidFill>
                <a:schemeClr val="accent1"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0" name="Straight Connector 4099">
              <a:extLst>
                <a:ext uri="{FF2B5EF4-FFF2-40B4-BE49-F238E27FC236}">
                  <a16:creationId xmlns:a16="http://schemas.microsoft.com/office/drawing/2014/main" id="{546A5740-3FBD-6718-EEA4-D920A203BC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92685" y="2337962"/>
              <a:ext cx="1" cy="1941274"/>
            </a:xfrm>
            <a:prstGeom prst="line">
              <a:avLst/>
            </a:prstGeom>
            <a:ln w="63500">
              <a:solidFill>
                <a:schemeClr val="accent1"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01" name="Group 4100">
            <a:extLst>
              <a:ext uri="{FF2B5EF4-FFF2-40B4-BE49-F238E27FC236}">
                <a16:creationId xmlns:a16="http://schemas.microsoft.com/office/drawing/2014/main" id="{AD6ECFB2-5453-CB08-0FA9-D9221E6AABBC}"/>
              </a:ext>
            </a:extLst>
          </p:cNvPr>
          <p:cNvGrpSpPr/>
          <p:nvPr/>
        </p:nvGrpSpPr>
        <p:grpSpPr>
          <a:xfrm>
            <a:off x="6801625" y="1799916"/>
            <a:ext cx="1639263" cy="3258167"/>
            <a:chOff x="5153423" y="2337961"/>
            <a:chExt cx="1639263" cy="3258167"/>
          </a:xfrm>
        </p:grpSpPr>
        <p:cxnSp>
          <p:nvCxnSpPr>
            <p:cNvPr id="4102" name="Straight Connector 4101">
              <a:extLst>
                <a:ext uri="{FF2B5EF4-FFF2-40B4-BE49-F238E27FC236}">
                  <a16:creationId xmlns:a16="http://schemas.microsoft.com/office/drawing/2014/main" id="{F51D5985-20C5-8180-49CE-96F6516A8D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53423" y="3191401"/>
              <a:ext cx="89137" cy="2404727"/>
            </a:xfrm>
            <a:prstGeom prst="line">
              <a:avLst/>
            </a:prstGeom>
            <a:ln w="63500">
              <a:solidFill>
                <a:schemeClr val="accent1"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3" name="Straight Connector 4102">
              <a:extLst>
                <a:ext uri="{FF2B5EF4-FFF2-40B4-BE49-F238E27FC236}">
                  <a16:creationId xmlns:a16="http://schemas.microsoft.com/office/drawing/2014/main" id="{0030717A-BD59-9464-27DA-6A28279EE7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2562" y="5038046"/>
              <a:ext cx="865547" cy="558082"/>
            </a:xfrm>
            <a:prstGeom prst="line">
              <a:avLst/>
            </a:prstGeom>
            <a:ln w="63500">
              <a:solidFill>
                <a:schemeClr val="accent1"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4" name="Straight Connector 4103">
              <a:extLst>
                <a:ext uri="{FF2B5EF4-FFF2-40B4-BE49-F238E27FC236}">
                  <a16:creationId xmlns:a16="http://schemas.microsoft.com/office/drawing/2014/main" id="{401D9946-DE9F-19A9-88B6-8BBA7245F1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3423" y="2337961"/>
              <a:ext cx="1639263" cy="853440"/>
            </a:xfrm>
            <a:prstGeom prst="line">
              <a:avLst/>
            </a:prstGeom>
            <a:ln w="63500">
              <a:solidFill>
                <a:schemeClr val="accent1"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5" name="Straight Connector 4104">
              <a:extLst>
                <a:ext uri="{FF2B5EF4-FFF2-40B4-BE49-F238E27FC236}">
                  <a16:creationId xmlns:a16="http://schemas.microsoft.com/office/drawing/2014/main" id="{07CF7548-632C-5966-34BA-8802222805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92686" y="2337962"/>
              <a:ext cx="0" cy="602196"/>
            </a:xfrm>
            <a:prstGeom prst="line">
              <a:avLst/>
            </a:prstGeom>
            <a:ln w="63500">
              <a:solidFill>
                <a:schemeClr val="accent1">
                  <a:alpha val="4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46ADA1F-5588-A90B-FFB4-3329625099D6}"/>
              </a:ext>
            </a:extLst>
          </p:cNvPr>
          <p:cNvGrpSpPr/>
          <p:nvPr/>
        </p:nvGrpSpPr>
        <p:grpSpPr>
          <a:xfrm>
            <a:off x="6806600" y="5135628"/>
            <a:ext cx="5614517" cy="1168298"/>
            <a:chOff x="6806600" y="5135628"/>
            <a:chExt cx="5614517" cy="116829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F673F61-5CBE-0BA1-BC72-5F5FEE91922E}"/>
                </a:ext>
              </a:extLst>
            </p:cNvPr>
            <p:cNvSpPr txBox="1"/>
            <p:nvPr/>
          </p:nvSpPr>
          <p:spPr>
            <a:xfrm rot="19015918">
              <a:off x="10088898" y="5135628"/>
              <a:ext cx="23322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41 volumes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9B89ED3-6983-7FC1-F370-CCC86E15FA39}"/>
                </a:ext>
              </a:extLst>
            </p:cNvPr>
            <p:cNvSpPr txBox="1"/>
            <p:nvPr/>
          </p:nvSpPr>
          <p:spPr>
            <a:xfrm rot="977598">
              <a:off x="6806600" y="5934594"/>
              <a:ext cx="23322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51 temperatures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B6469787-F8E7-F709-CBD7-53B53152FF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0798" y="772698"/>
            <a:ext cx="8096996" cy="617709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28B2358D-1AC6-E1B7-5457-781AB8ACF456}"/>
              </a:ext>
            </a:extLst>
          </p:cNvPr>
          <p:cNvGrpSpPr/>
          <p:nvPr/>
        </p:nvGrpSpPr>
        <p:grpSpPr>
          <a:xfrm>
            <a:off x="1096427" y="5199912"/>
            <a:ext cx="5614517" cy="1168298"/>
            <a:chOff x="6806600" y="5135628"/>
            <a:chExt cx="5614517" cy="1168298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25E639A-A20F-D0CA-0D84-250715B85FA1}"/>
                </a:ext>
              </a:extLst>
            </p:cNvPr>
            <p:cNvSpPr txBox="1"/>
            <p:nvPr/>
          </p:nvSpPr>
          <p:spPr>
            <a:xfrm rot="19015918">
              <a:off x="10088898" y="5135628"/>
              <a:ext cx="23322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42 volumes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9BD8073-AB1B-C3B1-126F-C3C180603654}"/>
                </a:ext>
              </a:extLst>
            </p:cNvPr>
            <p:cNvSpPr txBox="1"/>
            <p:nvPr/>
          </p:nvSpPr>
          <p:spPr>
            <a:xfrm rot="977598">
              <a:off x="6806600" y="5934594"/>
              <a:ext cx="23322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51 temperatures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99FC3D2-5A07-9041-ACCC-0AD8A9A0493A}"/>
                  </a:ext>
                </a:extLst>
              </p:cNvPr>
              <p:cNvSpPr txBox="1"/>
              <p:nvPr/>
            </p:nvSpPr>
            <p:spPr>
              <a:xfrm>
                <a:off x="0" y="-2567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Slopes (with respect to volume) of the entire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</m:d>
                  </m:oMath>
                </a14:m>
                <a:r>
                  <a:rPr lang="en-US" sz="2400" b="1" dirty="0"/>
                  <a:t> surface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99FC3D2-5A07-9041-ACCC-0AD8A9A04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567"/>
                <a:ext cx="12192000" cy="461665"/>
              </a:xfrm>
              <a:prstGeom prst="rect">
                <a:avLst/>
              </a:prstGeom>
              <a:blipFill>
                <a:blip r:embed="rId8"/>
                <a:stretch>
                  <a:fillRect l="-832" t="-8333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07322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618DE3D2-EA52-7745-9213-69E3132FE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0489" y="1567091"/>
            <a:ext cx="6380752" cy="478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CDBA09-35B1-0741-8647-31209C5FF939}"/>
                  </a:ext>
                </a:extLst>
              </p:cNvPr>
              <p:cNvSpPr txBox="1"/>
              <p:nvPr/>
            </p:nvSpPr>
            <p:spPr>
              <a:xfrm>
                <a:off x="0" y="-592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Slopes (with respect to temperature) of the entire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</m:d>
                  </m:oMath>
                </a14:m>
                <a:r>
                  <a:rPr lang="en-US" sz="2400" b="1" dirty="0"/>
                  <a:t> surface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CDBA09-35B1-0741-8647-31209C5FF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592"/>
                <a:ext cx="12192000" cy="461665"/>
              </a:xfrm>
              <a:prstGeom prst="rect">
                <a:avLst/>
              </a:prstGeom>
              <a:blipFill>
                <a:blip r:embed="rId3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2A5BF619-65B2-5249-9E4B-EA43D8326D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11"/>
          <a:stretch/>
        </p:blipFill>
        <p:spPr bwMode="auto">
          <a:xfrm>
            <a:off x="0" y="1088136"/>
            <a:ext cx="6446392" cy="536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Curved Left Arrow 26">
            <a:extLst>
              <a:ext uri="{FF2B5EF4-FFF2-40B4-BE49-F238E27FC236}">
                <a16:creationId xmlns:a16="http://schemas.microsoft.com/office/drawing/2014/main" id="{168DB7D2-6DEA-D144-9636-966A979DDA22}"/>
              </a:ext>
            </a:extLst>
          </p:cNvPr>
          <p:cNvSpPr/>
          <p:nvPr/>
        </p:nvSpPr>
        <p:spPr>
          <a:xfrm rot="16463792">
            <a:off x="6058359" y="1028022"/>
            <a:ext cx="1263299" cy="2531805"/>
          </a:xfrm>
          <a:prstGeom prst="curved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502FA29-7BEE-7049-8776-C81E3AEE97D6}"/>
              </a:ext>
            </a:extLst>
          </p:cNvPr>
          <p:cNvGrpSpPr/>
          <p:nvPr/>
        </p:nvGrpSpPr>
        <p:grpSpPr>
          <a:xfrm>
            <a:off x="2456661" y="1990593"/>
            <a:ext cx="2717223" cy="2593872"/>
            <a:chOff x="2621361" y="3024030"/>
            <a:chExt cx="2717223" cy="259387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7E1DCA67-3C3E-C09E-6A74-52E52113D325}"/>
                </a:ext>
              </a:extLst>
            </p:cNvPr>
            <p:cNvGrpSpPr/>
            <p:nvPr/>
          </p:nvGrpSpPr>
          <p:grpSpPr>
            <a:xfrm>
              <a:off x="2621361" y="3024030"/>
              <a:ext cx="2691116" cy="2593872"/>
              <a:chOff x="5242562" y="3594151"/>
              <a:chExt cx="2691116" cy="2593872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42B55484-CB56-3A79-E534-902E2FE559C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242562" y="3630313"/>
                <a:ext cx="12877" cy="1628262"/>
              </a:xfrm>
              <a:prstGeom prst="line">
                <a:avLst/>
              </a:prstGeom>
              <a:ln w="63500">
                <a:solidFill>
                  <a:srgbClr val="C00000">
                    <a:alpha val="44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BEA42867-7D83-3A67-C985-4161458526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375764" y="5869617"/>
                <a:ext cx="1437197" cy="318406"/>
              </a:xfrm>
              <a:prstGeom prst="line">
                <a:avLst/>
              </a:prstGeom>
              <a:ln w="63500">
                <a:solidFill>
                  <a:srgbClr val="C00000">
                    <a:alpha val="44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0ED8B0C4-F26A-7C63-4815-239719763C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290238" y="3594151"/>
                <a:ext cx="2643440" cy="518331"/>
              </a:xfrm>
              <a:prstGeom prst="line">
                <a:avLst/>
              </a:prstGeom>
              <a:ln w="63500">
                <a:solidFill>
                  <a:srgbClr val="C00000">
                    <a:alpha val="44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4483178-DB1B-C568-3762-6E22D3E3AC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91762" y="3483176"/>
              <a:ext cx="146822" cy="2134726"/>
            </a:xfrm>
            <a:prstGeom prst="line">
              <a:avLst/>
            </a:prstGeom>
            <a:ln w="63500">
              <a:solidFill>
                <a:srgbClr val="C00000">
                  <a:alpha val="4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E0274B5-77FF-BD74-8C32-372BA48C0EC2}"/>
              </a:ext>
            </a:extLst>
          </p:cNvPr>
          <p:cNvGrpSpPr/>
          <p:nvPr/>
        </p:nvGrpSpPr>
        <p:grpSpPr>
          <a:xfrm>
            <a:off x="1107243" y="2741603"/>
            <a:ext cx="2621201" cy="2861613"/>
            <a:chOff x="2621359" y="2756289"/>
            <a:chExt cx="2621201" cy="2861613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A2479F5A-36BD-3DBE-B25A-50A03593F859}"/>
                </a:ext>
              </a:extLst>
            </p:cNvPr>
            <p:cNvGrpSpPr/>
            <p:nvPr/>
          </p:nvGrpSpPr>
          <p:grpSpPr>
            <a:xfrm>
              <a:off x="2621359" y="2756289"/>
              <a:ext cx="2621201" cy="2861613"/>
              <a:chOff x="5242560" y="3326410"/>
              <a:chExt cx="2621201" cy="2861613"/>
            </a:xfrm>
          </p:grpSpPr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A3E859AF-DA45-6EE2-8760-86C3542006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42560" y="3341381"/>
                <a:ext cx="0" cy="2254747"/>
              </a:xfrm>
              <a:prstGeom prst="line">
                <a:avLst/>
              </a:prstGeom>
              <a:ln w="63500">
                <a:solidFill>
                  <a:srgbClr val="00B050">
                    <a:alpha val="44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E3A51258-794B-0FEC-785F-26C97BC9A7E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242563" y="5552587"/>
                <a:ext cx="2621198" cy="635436"/>
              </a:xfrm>
              <a:prstGeom prst="line">
                <a:avLst/>
              </a:prstGeom>
              <a:ln w="63500">
                <a:solidFill>
                  <a:srgbClr val="00B050">
                    <a:alpha val="44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D3F2014E-E0FF-3151-00F5-DEBB0494FF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242562" y="3326410"/>
                <a:ext cx="2621199" cy="570121"/>
              </a:xfrm>
              <a:prstGeom prst="line">
                <a:avLst/>
              </a:prstGeom>
              <a:ln w="63500">
                <a:solidFill>
                  <a:srgbClr val="00B050">
                    <a:alpha val="44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A18FCDE-2DCF-C6ED-A1A6-810FCC214E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91762" y="3326410"/>
              <a:ext cx="50798" cy="2291492"/>
            </a:xfrm>
            <a:prstGeom prst="line">
              <a:avLst/>
            </a:prstGeom>
            <a:ln w="63500">
              <a:solidFill>
                <a:srgbClr val="00B050">
                  <a:alpha val="4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9C6DAB1D-D443-DF4B-B011-9570A60FD569}"/>
              </a:ext>
            </a:extLst>
          </p:cNvPr>
          <p:cNvGrpSpPr/>
          <p:nvPr/>
        </p:nvGrpSpPr>
        <p:grpSpPr>
          <a:xfrm>
            <a:off x="7063059" y="2716414"/>
            <a:ext cx="2621201" cy="2861613"/>
            <a:chOff x="2621359" y="2756289"/>
            <a:chExt cx="2621201" cy="2861613"/>
          </a:xfrm>
        </p:grpSpPr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C3B869E1-A19E-BE28-B06A-CC18D0D8A9C4}"/>
                </a:ext>
              </a:extLst>
            </p:cNvPr>
            <p:cNvGrpSpPr/>
            <p:nvPr/>
          </p:nvGrpSpPr>
          <p:grpSpPr>
            <a:xfrm>
              <a:off x="2621359" y="2756289"/>
              <a:ext cx="2621201" cy="2861613"/>
              <a:chOff x="5242560" y="3326410"/>
              <a:chExt cx="2621201" cy="2861613"/>
            </a:xfrm>
          </p:grpSpPr>
          <p:cxnSp>
            <p:nvCxnSpPr>
              <p:cNvPr id="1029" name="Straight Connector 1028">
                <a:extLst>
                  <a:ext uri="{FF2B5EF4-FFF2-40B4-BE49-F238E27FC236}">
                    <a16:creationId xmlns:a16="http://schemas.microsoft.com/office/drawing/2014/main" id="{3CCD7385-378B-34F1-D14A-6AEBFAB0AE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42560" y="3341381"/>
                <a:ext cx="0" cy="2254747"/>
              </a:xfrm>
              <a:prstGeom prst="line">
                <a:avLst/>
              </a:prstGeom>
              <a:ln w="63500">
                <a:solidFill>
                  <a:srgbClr val="00B050">
                    <a:alpha val="44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0" name="Straight Connector 1029">
                <a:extLst>
                  <a:ext uri="{FF2B5EF4-FFF2-40B4-BE49-F238E27FC236}">
                    <a16:creationId xmlns:a16="http://schemas.microsoft.com/office/drawing/2014/main" id="{B6D52737-08CA-F72D-2A35-E871193B3E4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242563" y="5552587"/>
                <a:ext cx="2621198" cy="635436"/>
              </a:xfrm>
              <a:prstGeom prst="line">
                <a:avLst/>
              </a:prstGeom>
              <a:ln w="63500">
                <a:solidFill>
                  <a:srgbClr val="00B050">
                    <a:alpha val="44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1" name="Straight Connector 1030">
                <a:extLst>
                  <a:ext uri="{FF2B5EF4-FFF2-40B4-BE49-F238E27FC236}">
                    <a16:creationId xmlns:a16="http://schemas.microsoft.com/office/drawing/2014/main" id="{7CB712E7-CB3E-FC91-9E6D-0FA37408B0B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242562" y="3326410"/>
                <a:ext cx="2621199" cy="570121"/>
              </a:xfrm>
              <a:prstGeom prst="line">
                <a:avLst/>
              </a:prstGeom>
              <a:ln w="63500">
                <a:solidFill>
                  <a:srgbClr val="00B050">
                    <a:alpha val="44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27" name="Straight Connector 1026">
              <a:extLst>
                <a:ext uri="{FF2B5EF4-FFF2-40B4-BE49-F238E27FC236}">
                  <a16:creationId xmlns:a16="http://schemas.microsoft.com/office/drawing/2014/main" id="{4C60E746-E38E-FBA3-404F-399E7E111F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91762" y="3326410"/>
              <a:ext cx="50798" cy="2291492"/>
            </a:xfrm>
            <a:prstGeom prst="line">
              <a:avLst/>
            </a:prstGeom>
            <a:ln w="63500">
              <a:solidFill>
                <a:srgbClr val="00B050">
                  <a:alpha val="4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2" name="Group 1031">
            <a:extLst>
              <a:ext uri="{FF2B5EF4-FFF2-40B4-BE49-F238E27FC236}">
                <a16:creationId xmlns:a16="http://schemas.microsoft.com/office/drawing/2014/main" id="{FA0E19DE-501A-FDB7-362C-5F97AE63BF11}"/>
              </a:ext>
            </a:extLst>
          </p:cNvPr>
          <p:cNvGrpSpPr/>
          <p:nvPr/>
        </p:nvGrpSpPr>
        <p:grpSpPr>
          <a:xfrm>
            <a:off x="8501484" y="2383955"/>
            <a:ext cx="2390234" cy="2236672"/>
            <a:chOff x="2923682" y="3381230"/>
            <a:chExt cx="2390234" cy="2236672"/>
          </a:xfrm>
        </p:grpSpPr>
        <p:grpSp>
          <p:nvGrpSpPr>
            <p:cNvPr id="1033" name="Group 1032">
              <a:extLst>
                <a:ext uri="{FF2B5EF4-FFF2-40B4-BE49-F238E27FC236}">
                  <a16:creationId xmlns:a16="http://schemas.microsoft.com/office/drawing/2014/main" id="{75D07E62-B7EF-4D93-A9BA-8DF42FF85B69}"/>
                </a:ext>
              </a:extLst>
            </p:cNvPr>
            <p:cNvGrpSpPr/>
            <p:nvPr/>
          </p:nvGrpSpPr>
          <p:grpSpPr>
            <a:xfrm>
              <a:off x="2923682" y="3381230"/>
              <a:ext cx="2341491" cy="2236672"/>
              <a:chOff x="5544883" y="3951351"/>
              <a:chExt cx="2341491" cy="2236672"/>
            </a:xfrm>
          </p:grpSpPr>
          <p:cxnSp>
            <p:nvCxnSpPr>
              <p:cNvPr id="1035" name="Straight Connector 1034">
                <a:extLst>
                  <a:ext uri="{FF2B5EF4-FFF2-40B4-BE49-F238E27FC236}">
                    <a16:creationId xmlns:a16="http://schemas.microsoft.com/office/drawing/2014/main" id="{515DF421-E55D-21D4-92F0-96B1B040292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44883" y="3951351"/>
                <a:ext cx="0" cy="1064058"/>
              </a:xfrm>
              <a:prstGeom prst="line">
                <a:avLst/>
              </a:prstGeom>
              <a:ln w="63500">
                <a:solidFill>
                  <a:srgbClr val="C00000">
                    <a:alpha val="44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6" name="Straight Connector 1035">
                <a:extLst>
                  <a:ext uri="{FF2B5EF4-FFF2-40B4-BE49-F238E27FC236}">
                    <a16:creationId xmlns:a16="http://schemas.microsoft.com/office/drawing/2014/main" id="{8544727E-9808-03DC-704F-92B36D08B7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375764" y="5869617"/>
                <a:ext cx="1437197" cy="318406"/>
              </a:xfrm>
              <a:prstGeom prst="line">
                <a:avLst/>
              </a:prstGeom>
              <a:ln w="63500">
                <a:solidFill>
                  <a:srgbClr val="C00000">
                    <a:alpha val="44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7" name="Straight Connector 1036">
                <a:extLst>
                  <a:ext uri="{FF2B5EF4-FFF2-40B4-BE49-F238E27FC236}">
                    <a16:creationId xmlns:a16="http://schemas.microsoft.com/office/drawing/2014/main" id="{8E80FF13-4BF3-5C23-0E47-42F29AEA88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593627" y="3951351"/>
                <a:ext cx="2292747" cy="396763"/>
              </a:xfrm>
              <a:prstGeom prst="line">
                <a:avLst/>
              </a:prstGeom>
              <a:ln w="63500">
                <a:solidFill>
                  <a:srgbClr val="C00000">
                    <a:alpha val="44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34" name="Straight Connector 1033">
              <a:extLst>
                <a:ext uri="{FF2B5EF4-FFF2-40B4-BE49-F238E27FC236}">
                  <a16:creationId xmlns:a16="http://schemas.microsoft.com/office/drawing/2014/main" id="{4584D5C3-4233-E442-19B0-8FE70A88D0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91762" y="3753849"/>
              <a:ext cx="122154" cy="1864053"/>
            </a:xfrm>
            <a:prstGeom prst="line">
              <a:avLst/>
            </a:prstGeom>
            <a:ln w="63500">
              <a:solidFill>
                <a:srgbClr val="C00000">
                  <a:alpha val="44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3" name="Group 1042">
            <a:extLst>
              <a:ext uri="{FF2B5EF4-FFF2-40B4-BE49-F238E27FC236}">
                <a16:creationId xmlns:a16="http://schemas.microsoft.com/office/drawing/2014/main" id="{4410CC6F-1779-89BA-D82E-4B48A4E20429}"/>
              </a:ext>
            </a:extLst>
          </p:cNvPr>
          <p:cNvGrpSpPr/>
          <p:nvPr/>
        </p:nvGrpSpPr>
        <p:grpSpPr>
          <a:xfrm>
            <a:off x="6806600" y="5135628"/>
            <a:ext cx="5614517" cy="1168298"/>
            <a:chOff x="6806600" y="5135628"/>
            <a:chExt cx="5614517" cy="1168298"/>
          </a:xfrm>
        </p:grpSpPr>
        <p:sp>
          <p:nvSpPr>
            <p:cNvPr id="1044" name="TextBox 1043">
              <a:extLst>
                <a:ext uri="{FF2B5EF4-FFF2-40B4-BE49-F238E27FC236}">
                  <a16:creationId xmlns:a16="http://schemas.microsoft.com/office/drawing/2014/main" id="{F9CE742C-9FFB-A199-3A09-733BE2B87656}"/>
                </a:ext>
              </a:extLst>
            </p:cNvPr>
            <p:cNvSpPr txBox="1"/>
            <p:nvPr/>
          </p:nvSpPr>
          <p:spPr>
            <a:xfrm rot="19015918">
              <a:off x="10088898" y="5135628"/>
              <a:ext cx="23322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42 volumes</a:t>
              </a:r>
            </a:p>
          </p:txBody>
        </p:sp>
        <p:sp>
          <p:nvSpPr>
            <p:cNvPr id="1045" name="TextBox 1044">
              <a:extLst>
                <a:ext uri="{FF2B5EF4-FFF2-40B4-BE49-F238E27FC236}">
                  <a16:creationId xmlns:a16="http://schemas.microsoft.com/office/drawing/2014/main" id="{22AF883F-7F6A-5A57-2A79-89534C7C72B9}"/>
                </a:ext>
              </a:extLst>
            </p:cNvPr>
            <p:cNvSpPr txBox="1"/>
            <p:nvPr/>
          </p:nvSpPr>
          <p:spPr>
            <a:xfrm rot="977598">
              <a:off x="6806600" y="5934594"/>
              <a:ext cx="23322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50 temperatures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085D8AC-DBFF-66D1-0865-C20CDE8A7716}"/>
              </a:ext>
            </a:extLst>
          </p:cNvPr>
          <p:cNvGrpSpPr/>
          <p:nvPr/>
        </p:nvGrpSpPr>
        <p:grpSpPr>
          <a:xfrm>
            <a:off x="1096427" y="5199912"/>
            <a:ext cx="5614517" cy="1168298"/>
            <a:chOff x="6806600" y="5135628"/>
            <a:chExt cx="5614517" cy="116829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07E82B8-CAF4-4D56-B84F-609E1D5D02BA}"/>
                </a:ext>
              </a:extLst>
            </p:cNvPr>
            <p:cNvSpPr txBox="1"/>
            <p:nvPr/>
          </p:nvSpPr>
          <p:spPr>
            <a:xfrm rot="19015918">
              <a:off x="10088898" y="5135628"/>
              <a:ext cx="23322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42 volumes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56753F9-A897-DE04-7068-852F41A9D3B4}"/>
                </a:ext>
              </a:extLst>
            </p:cNvPr>
            <p:cNvSpPr txBox="1"/>
            <p:nvPr/>
          </p:nvSpPr>
          <p:spPr>
            <a:xfrm rot="977598">
              <a:off x="6806600" y="5934594"/>
              <a:ext cx="23322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51 temperatures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965472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B1ED411E-25D7-5ADF-AD63-1E62D00602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4745" y="2868496"/>
            <a:ext cx="4040545" cy="351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5B6FF27-9AE9-0B41-8BEE-C1D4F183A8A2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693138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1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𝑷</m:t>
                                </m:r>
                              </m:num>
                              <m:den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en-US" sz="2400" b="1" dirty="0"/>
                  <a:t> of the entire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</m:d>
                  </m:oMath>
                </a14:m>
                <a:r>
                  <a:rPr lang="en-US" sz="2400" b="1" dirty="0"/>
                  <a:t> surface when you have an </a:t>
                </a:r>
                <a:r>
                  <a:rPr lang="en-US" sz="2400" b="1" i="1" dirty="0"/>
                  <a:t>analytical</a:t>
                </a:r>
                <a:r>
                  <a:rPr lang="en-US" sz="2400" b="1" dirty="0"/>
                  <a:t> representation of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</m:d>
                  </m:oMath>
                </a14:m>
                <a:r>
                  <a:rPr lang="en-US" sz="2400" b="1" dirty="0"/>
                  <a:t> 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5B6FF27-9AE9-0B41-8BEE-C1D4F183A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693138"/>
              </a:xfrm>
              <a:prstGeom prst="rect">
                <a:avLst/>
              </a:prstGeom>
              <a:blipFill>
                <a:blip r:embed="rId3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818A9549-E639-1842-909A-51C9EDAFB1C7}"/>
              </a:ext>
            </a:extLst>
          </p:cNvPr>
          <p:cNvGrpSpPr/>
          <p:nvPr/>
        </p:nvGrpSpPr>
        <p:grpSpPr>
          <a:xfrm>
            <a:off x="280416" y="2503853"/>
            <a:ext cx="6764467" cy="3852666"/>
            <a:chOff x="280416" y="2503853"/>
            <a:chExt cx="6764467" cy="385266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8D4585F-C0D0-FD48-B220-DE17314C9EF7}"/>
                </a:ext>
              </a:extLst>
            </p:cNvPr>
            <p:cNvGrpSpPr/>
            <p:nvPr/>
          </p:nvGrpSpPr>
          <p:grpSpPr>
            <a:xfrm>
              <a:off x="280416" y="2503853"/>
              <a:ext cx="4906351" cy="3852666"/>
              <a:chOff x="-701281" y="901022"/>
              <a:chExt cx="8205389" cy="5551594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2A5BF619-65B2-5249-9E4B-EA43D8326DC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701281" y="1088136"/>
                <a:ext cx="7147673" cy="53644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5" name="Curved Left Arrow 34">
                <a:extLst>
                  <a:ext uri="{FF2B5EF4-FFF2-40B4-BE49-F238E27FC236}">
                    <a16:creationId xmlns:a16="http://schemas.microsoft.com/office/drawing/2014/main" id="{C7CA8443-5A35-4642-9477-FE99FE0994A0}"/>
                  </a:ext>
                </a:extLst>
              </p:cNvPr>
              <p:cNvSpPr/>
              <p:nvPr/>
            </p:nvSpPr>
            <p:spPr>
              <a:xfrm rot="16200000">
                <a:off x="5737020" y="107259"/>
                <a:ext cx="973325" cy="2560851"/>
              </a:xfrm>
              <a:prstGeom prst="curvedLeftArrow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055494CC-7D07-B649-82DF-6691E99D6867}"/>
                    </a:ext>
                  </a:extLst>
                </p:cNvPr>
                <p:cNvSpPr/>
                <p:nvPr/>
              </p:nvSpPr>
              <p:spPr>
                <a:xfrm>
                  <a:off x="1522515" y="3600100"/>
                  <a:ext cx="1227195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sz="24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dirty="0">
                                <a:latin typeface="Cambria Math" panose="02040503050406030204" pitchFamily="18" charset="0"/>
                              </a:rPr>
                              <m:t>𝑻</m:t>
                            </m:r>
                            <m:r>
                              <a:rPr lang="en-US" sz="2400" b="1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1" i="1" dirty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</m:d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055494CC-7D07-B649-82DF-6691E99D686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2515" y="3600100"/>
                  <a:ext cx="1227195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F7E93DBF-E228-4740-9BBE-629345FC2715}"/>
                    </a:ext>
                  </a:extLst>
                </p:cNvPr>
                <p:cNvSpPr/>
                <p:nvPr/>
              </p:nvSpPr>
              <p:spPr>
                <a:xfrm>
                  <a:off x="6047174" y="2841585"/>
                  <a:ext cx="997709" cy="6931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𝑷</m:t>
                                  </m:r>
                                </m:num>
                                <m:den>
                                  <m:r>
                                    <a:rPr lang="en-US" sz="2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2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</m:oMath>
                  </a14:m>
                  <a:r>
                    <a:rPr lang="en-US" sz="2400" b="1" dirty="0"/>
                    <a:t> </a:t>
                  </a:r>
                  <a:endParaRPr lang="en-US" sz="2400" dirty="0"/>
                </a:p>
              </p:txBody>
            </p:sp>
          </mc:Choice>
          <mc:Fallback xmlns=""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F7E93DBF-E228-4740-9BBE-629345FC27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7174" y="2841585"/>
                  <a:ext cx="997709" cy="693138"/>
                </a:xfrm>
                <a:prstGeom prst="rect">
                  <a:avLst/>
                </a:prstGeom>
                <a:blipFill>
                  <a:blip r:embed="rId6"/>
                  <a:stretch>
                    <a:fillRect b="-17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FB28B6-664C-DC43-B7AE-4A1F8AD59EA5}"/>
                  </a:ext>
                </a:extLst>
              </p:cNvPr>
              <p:cNvSpPr txBox="1"/>
              <p:nvPr/>
            </p:nvSpPr>
            <p:spPr>
              <a:xfrm>
                <a:off x="877824" y="853440"/>
                <a:ext cx="5352288" cy="69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</m:d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𝒏𝑹𝑻</m:t>
                        </m:r>
                      </m:num>
                      <m:den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𝑽</m:t>
                        </m:r>
                      </m:den>
                    </m:f>
                  </m:oMath>
                </a14:m>
                <a:r>
                  <a:rPr lang="en-US" sz="2400" dirty="0">
                    <a:sym typeface="Wingdings" pitchFamily="2" charset="2"/>
                  </a:rPr>
                  <a:t>   means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1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𝑷</m:t>
                                </m:r>
                              </m:num>
                              <m:den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= …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FB28B6-664C-DC43-B7AE-4A1F8AD59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824" y="853440"/>
                <a:ext cx="5352288" cy="693138"/>
              </a:xfrm>
              <a:prstGeom prst="rect">
                <a:avLst/>
              </a:prstGeom>
              <a:blipFill>
                <a:blip r:embed="rId7"/>
                <a:stretch>
                  <a:fillRect l="-237"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07386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8D4585F-C0D0-FD48-B220-DE17314C9EF7}"/>
              </a:ext>
            </a:extLst>
          </p:cNvPr>
          <p:cNvGrpSpPr/>
          <p:nvPr/>
        </p:nvGrpSpPr>
        <p:grpSpPr>
          <a:xfrm>
            <a:off x="280416" y="2503853"/>
            <a:ext cx="7624874" cy="3884193"/>
            <a:chOff x="-701281" y="901022"/>
            <a:chExt cx="12751851" cy="5597024"/>
          </a:xfrm>
        </p:grpSpPr>
        <p:pic>
          <p:nvPicPr>
            <p:cNvPr id="4098" name="Picture 2">
              <a:extLst>
                <a:ext uri="{FF2B5EF4-FFF2-40B4-BE49-F238E27FC236}">
                  <a16:creationId xmlns:a16="http://schemas.microsoft.com/office/drawing/2014/main" id="{F02FA2D7-0C46-ED4D-A2D6-56ED806BEC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93156" y="1426464"/>
              <a:ext cx="6757414" cy="50715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2A5BF619-65B2-5249-9E4B-EA43D8326D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701281" y="1088136"/>
              <a:ext cx="7147673" cy="53644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" name="Curved Left Arrow 34">
              <a:extLst>
                <a:ext uri="{FF2B5EF4-FFF2-40B4-BE49-F238E27FC236}">
                  <a16:creationId xmlns:a16="http://schemas.microsoft.com/office/drawing/2014/main" id="{C7CA8443-5A35-4642-9477-FE99FE0994A0}"/>
                </a:ext>
              </a:extLst>
            </p:cNvPr>
            <p:cNvSpPr/>
            <p:nvPr/>
          </p:nvSpPr>
          <p:spPr>
            <a:xfrm rot="16200000">
              <a:off x="5737020" y="107259"/>
              <a:ext cx="973325" cy="2560851"/>
            </a:xfrm>
            <a:prstGeom prst="curvedLeftArrow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FB28B6-664C-DC43-B7AE-4A1F8AD59EA5}"/>
                  </a:ext>
                </a:extLst>
              </p:cNvPr>
              <p:cNvSpPr txBox="1"/>
              <p:nvPr/>
            </p:nvSpPr>
            <p:spPr>
              <a:xfrm>
                <a:off x="877824" y="853440"/>
                <a:ext cx="5352288" cy="69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</m:d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𝒏𝑹𝑻</m:t>
                        </m:r>
                      </m:num>
                      <m:den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𝑽</m:t>
                        </m:r>
                      </m:den>
                    </m:f>
                  </m:oMath>
                </a14:m>
                <a:r>
                  <a:rPr lang="en-US" sz="2400" dirty="0">
                    <a:sym typeface="Wingdings" pitchFamily="2" charset="2"/>
                  </a:rPr>
                  <a:t>   means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1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𝑷</m:t>
                                </m:r>
                              </m:num>
                              <m:den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𝒏𝑹𝑻</m:t>
                        </m:r>
                      </m:num>
                      <m:den>
                        <m:sSup>
                          <m:sSupPr>
                            <m:ctrlP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dirty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p>
                            <m: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FB28B6-664C-DC43-B7AE-4A1F8AD59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824" y="853440"/>
                <a:ext cx="5352288" cy="693138"/>
              </a:xfrm>
              <a:prstGeom prst="rect">
                <a:avLst/>
              </a:prstGeom>
              <a:blipFill>
                <a:blip r:embed="rId7"/>
                <a:stretch>
                  <a:fillRect l="-237"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09AC0DA-430F-D74A-8A99-BD35D39BD5BD}"/>
                  </a:ext>
                </a:extLst>
              </p:cNvPr>
              <p:cNvSpPr/>
              <p:nvPr/>
            </p:nvSpPr>
            <p:spPr>
              <a:xfrm>
                <a:off x="1522515" y="3600100"/>
                <a:ext cx="122719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sz="24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09AC0DA-430F-D74A-8A99-BD35D39BD5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2515" y="3600100"/>
                <a:ext cx="1227195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C62A981-5730-0D4D-9EC1-8F50A29565E3}"/>
                  </a:ext>
                </a:extLst>
              </p:cNvPr>
              <p:cNvSpPr/>
              <p:nvPr/>
            </p:nvSpPr>
            <p:spPr>
              <a:xfrm>
                <a:off x="6047174" y="2841585"/>
                <a:ext cx="997709" cy="6931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1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𝑷</m:t>
                                </m:r>
                              </m:num>
                              <m:den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en-US" sz="2400" b="1" dirty="0"/>
                  <a:t> </a:t>
                </a:r>
                <a:endParaRPr lang="en-US" sz="2400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C62A981-5730-0D4D-9EC1-8F50A29565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7174" y="2841585"/>
                <a:ext cx="997709" cy="693138"/>
              </a:xfrm>
              <a:prstGeom prst="rect">
                <a:avLst/>
              </a:prstGeom>
              <a:blipFill>
                <a:blip r:embed="rId9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B8E71B7-5531-FCBF-76A2-FACCFC6D146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693138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1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𝑷</m:t>
                                </m:r>
                              </m:num>
                              <m:den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en-US" sz="2400" b="1" dirty="0"/>
                  <a:t> of the entire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</m:d>
                  </m:oMath>
                </a14:m>
                <a:r>
                  <a:rPr lang="en-US" sz="2400" b="1" dirty="0"/>
                  <a:t> surface when you have an </a:t>
                </a:r>
                <a:r>
                  <a:rPr lang="en-US" sz="2400" b="1" i="1" dirty="0"/>
                  <a:t>analytical</a:t>
                </a:r>
                <a:r>
                  <a:rPr lang="en-US" sz="2400" b="1" dirty="0"/>
                  <a:t> representation of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</m:d>
                  </m:oMath>
                </a14:m>
                <a:r>
                  <a:rPr lang="en-US" sz="2400" b="1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B8E71B7-5531-FCBF-76A2-FACCFC6D1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693138"/>
              </a:xfrm>
              <a:prstGeom prst="rect">
                <a:avLst/>
              </a:prstGeom>
              <a:blipFill>
                <a:blip r:embed="rId10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78239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8E71B7-5531-FCBF-76A2-FACCFC6D146F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OK, let’s get started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A0DC16-7E2C-8D61-7A26-D65C917AA5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185"/>
          <a:stretch/>
        </p:blipFill>
        <p:spPr>
          <a:xfrm>
            <a:off x="168689" y="927099"/>
            <a:ext cx="9261909" cy="36084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2CFF87-BF23-4735-77B4-1F6C7C66A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6635" y="4954138"/>
            <a:ext cx="8901726" cy="164054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938398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1452</TotalTime>
  <Words>636</Words>
  <Application>Microsoft Macintosh PowerPoint</Application>
  <PresentationFormat>Widescreen</PresentationFormat>
  <Paragraphs>153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Steven</cp:lastModifiedBy>
  <cp:revision>110</cp:revision>
  <dcterms:created xsi:type="dcterms:W3CDTF">2018-08-07T04:05:17Z</dcterms:created>
  <dcterms:modified xsi:type="dcterms:W3CDTF">2025-09-11T16:56:52Z</dcterms:modified>
</cp:coreProperties>
</file>