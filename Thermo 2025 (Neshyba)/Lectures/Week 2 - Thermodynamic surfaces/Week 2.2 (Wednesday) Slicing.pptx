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378" r:id="rId2"/>
    <p:sldId id="379" r:id="rId3"/>
    <p:sldId id="377" r:id="rId4"/>
    <p:sldId id="327" r:id="rId5"/>
    <p:sldId id="315" r:id="rId6"/>
    <p:sldId id="316" r:id="rId7"/>
    <p:sldId id="337" r:id="rId8"/>
    <p:sldId id="375" r:id="rId9"/>
    <p:sldId id="304" r:id="rId10"/>
    <p:sldId id="30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37"/>
    <p:restoredTop sz="94686"/>
  </p:normalViewPr>
  <p:slideViewPr>
    <p:cSldViewPr snapToGrid="0" snapToObjects="1">
      <p:cViewPr varScale="1">
        <p:scale>
          <a:sx n="105" d="100"/>
          <a:sy n="105" d="100"/>
        </p:scale>
        <p:origin x="76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D209A4-A4D3-9148-A9AD-2CB10B89C2EE}" type="datetimeFigureOut">
              <a:rPr lang="en-US" smtClean="0"/>
              <a:t>9/10/25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DC1FC1-AA9D-5040-86FA-C96A5D177B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9887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7EAC5-8408-0C43-AB39-DDB88E48C1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C2FC6F-BB5C-0A48-A8A0-D6FD941183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7639F2-B6FF-9E42-9A5B-4D6C301AA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BB814-64FE-A046-86EF-08998BAE6296}" type="datetimeFigureOut">
              <a:rPr lang="en-US" smtClean="0"/>
              <a:t>9/10/25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60FD46-BC7C-2540-A352-8B235E7C8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C06FCC-A17E-2F4B-9816-171EF87C1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9767F-F7F8-0444-8FF0-8E88AC8DA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293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28771-0FCB-1849-97C5-15DEF9166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47ACCB-6D65-444B-90BF-E52B5E1EA3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3A67CE-7845-124E-8006-FDE39738D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BB814-64FE-A046-86EF-08998BAE6296}" type="datetimeFigureOut">
              <a:rPr lang="en-US" smtClean="0"/>
              <a:t>9/10/25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BCF6F0-F3EC-0740-8E59-8E07B86CA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5C5EE6-B37C-A14F-9F8D-626A1A6B9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9767F-F7F8-0444-8FF0-8E88AC8DA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2129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254AE-1DF0-0A45-A49E-054838A288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D6473B-B4CD-F146-8D7B-136AC5CC43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4FAE9E-3458-2249-A417-D16310E11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BB814-64FE-A046-86EF-08998BAE6296}" type="datetimeFigureOut">
              <a:rPr lang="en-US" smtClean="0"/>
              <a:t>9/10/25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896904-C1CA-B845-9A35-0C669BD41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56D05C-2B9E-7540-B264-B6CA1BC18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9767F-F7F8-0444-8FF0-8E88AC8DA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019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07C57-90BD-3241-814F-BB89C538F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FE7678-2512-5641-AAD6-87CA9EAC79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DB9819-4193-9A4B-B2CA-1DC70FD8C7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CD32BF-9CE8-E845-A024-E84DFEE43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BB814-64FE-A046-86EF-08998BAE6296}" type="datetimeFigureOut">
              <a:rPr lang="en-US" smtClean="0"/>
              <a:t>9/10/25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F5A64C-77F1-B348-921B-3C7672BD9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E322C7-413E-A747-B152-9B86ACA0A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9767F-F7F8-0444-8FF0-8E88AC8DA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232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3E9EC-4BEF-7943-B721-5A64C2F76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EF98B3-8552-CB40-A76E-CF7B590B87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017982-ABA9-ED49-9BDE-FD5F3AD78B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A983A5-59AA-3D46-A493-E19EC5D8FC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3E1B4F-A726-1943-9A11-A6AB19F609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E64D71D-9D68-0042-95F4-00A97F3BE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BB814-64FE-A046-86EF-08998BAE6296}" type="datetimeFigureOut">
              <a:rPr lang="en-US" smtClean="0"/>
              <a:t>9/10/25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663355-33F6-4E49-BECA-36338EAE6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B71BAE-3E2E-7A41-B67B-8360766A3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9767F-F7F8-0444-8FF0-8E88AC8DA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3268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BCA99-3127-D041-8B28-9BB8EAA9D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2A1FC8-A284-574E-8B44-F8FCBD439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BB814-64FE-A046-86EF-08998BAE6296}" type="datetimeFigureOut">
              <a:rPr lang="en-US" smtClean="0"/>
              <a:t>9/10/25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5A7701-E120-C546-B253-E793ACE95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7C63F5-7D25-B14B-9F02-39518AB4B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9767F-F7F8-0444-8FF0-8E88AC8DA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7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2FA9B1-EF5E-744E-BA01-D757DF7B1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BB814-64FE-A046-86EF-08998BAE6296}" type="datetimeFigureOut">
              <a:rPr lang="en-US" smtClean="0"/>
              <a:t>9/10/25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567D91-975F-7C4C-9155-B4ECCC6A0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61B2B3-E388-4644-9D61-330A5CEF1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9767F-F7F8-0444-8FF0-8E88AC8DA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356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FDCD4-5E72-E145-9D54-3E9A77B96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730BAA-5BAA-C744-A4B4-6AE5693CA6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68FF3E-91C8-FC4A-9F2B-4DC79F6406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C90D91-29EC-EF47-A7AF-62E4EE3B0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BB814-64FE-A046-86EF-08998BAE6296}" type="datetimeFigureOut">
              <a:rPr lang="en-US" smtClean="0"/>
              <a:t>9/10/25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DEB4AA-A905-BA49-AD8A-4CA03B06A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AF4BAF-2D8E-2344-BA91-FCE41297D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9767F-F7F8-0444-8FF0-8E88AC8DA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7384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8BA47-DE99-164D-B67E-8812CABF9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47B0BA5-9A7E-834F-92BD-D9376C9BF2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D58FB2-5936-644B-A189-5D66795A5A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C76BAB-FFAA-B14A-9889-2DAE14234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BB814-64FE-A046-86EF-08998BAE6296}" type="datetimeFigureOut">
              <a:rPr lang="en-US" smtClean="0"/>
              <a:t>9/10/25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D1C1E7-38A2-1A4E-B910-287FF6291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B9FCC8-8F6E-3B4A-ADD7-73B94A355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9767F-F7F8-0444-8FF0-8E88AC8DA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0699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F7B64-C7B8-5348-85F3-645861743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AB75B7-DB58-7844-86B3-23F0FBA140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44E74D-ABFD-9546-9FF5-9E87A8D2A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BB814-64FE-A046-86EF-08998BAE6296}" type="datetimeFigureOut">
              <a:rPr lang="en-US" smtClean="0"/>
              <a:t>9/10/25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021D09-8997-0145-A869-084126E8B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AEDBB6-BAEF-5246-B40E-D650F33D7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9767F-F7F8-0444-8FF0-8E88AC8DA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6450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E313836-E09C-8A45-B943-CED54C1248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5C2D9A-B163-3744-9195-6B9DA44D31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803F41-9424-2F44-9DA5-3494AA52B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BB814-64FE-A046-86EF-08998BAE6296}" type="datetimeFigureOut">
              <a:rPr lang="en-US" smtClean="0"/>
              <a:t>9/10/25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44259C-07E5-104E-A20C-4F7767DBD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F06BD5-2A9C-2A4B-8707-1A8D4AB1D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9767F-F7F8-0444-8FF0-8E88AC8DA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9973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EA524F-5BC8-F049-914A-A2995F1DE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961C70-C5C8-5248-B978-45E99089D2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04A288-F7FC-0840-AD58-2BD8253A80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0BB814-64FE-A046-86EF-08998BAE6296}" type="datetimeFigureOut">
              <a:rPr lang="en-US" smtClean="0"/>
              <a:t>9/10/25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80ADD0-8084-3D4D-B4F5-A2C2941F4D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5ED72A-71AB-744A-AB70-74F9513FCD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89767F-F7F8-0444-8FF0-8E88AC8DA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6762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210.png"/><Relationship Id="rId4" Type="http://schemas.openxmlformats.org/officeDocument/2006/relationships/image" Target="../media/image20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7EF451B-E41F-CAF2-5636-A6288368DED2}"/>
              </a:ext>
            </a:extLst>
          </p:cNvPr>
          <p:cNvSpPr txBox="1"/>
          <p:nvPr/>
        </p:nvSpPr>
        <p:spPr>
          <a:xfrm>
            <a:off x="0" y="815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Today we’re going to talk about slices of thermodynamic functions, and their slopes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639E4E-B7D8-A5AC-110F-64ADAABEA52C}"/>
              </a:ext>
            </a:extLst>
          </p:cNvPr>
          <p:cNvSpPr txBox="1"/>
          <p:nvPr/>
        </p:nvSpPr>
        <p:spPr>
          <a:xfrm>
            <a:off x="755903" y="1364842"/>
            <a:ext cx="39989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You may notice that there are some extra files in your folder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DDD11E7-37CA-D12B-BFAF-20DE7B7680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903" y="2516886"/>
            <a:ext cx="2882591" cy="233553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4499BDA-167B-B7BD-B1BE-0F5CF84E6891}"/>
              </a:ext>
            </a:extLst>
          </p:cNvPr>
          <p:cNvSpPr txBox="1"/>
          <p:nvPr/>
        </p:nvSpPr>
        <p:spPr>
          <a:xfrm>
            <a:off x="5983308" y="1318013"/>
            <a:ext cx="59038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These commands load in the </a:t>
            </a:r>
            <a:r>
              <a:rPr lang="en-US" sz="2400" b="1" dirty="0"/>
              <a:t>state space</a:t>
            </a:r>
            <a:r>
              <a:rPr lang="en-US" sz="2400" dirty="0"/>
              <a:t>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8CE8B62-AF63-18A2-3DFC-BACA3A959A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3308" y="2176211"/>
            <a:ext cx="5688076" cy="3016880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C0D3B58D-73CC-923D-D4EA-6E8EAA2E7996}"/>
              </a:ext>
            </a:extLst>
          </p:cNvPr>
          <p:cNvGrpSpPr/>
          <p:nvPr/>
        </p:nvGrpSpPr>
        <p:grpSpPr>
          <a:xfrm>
            <a:off x="4470400" y="5193091"/>
            <a:ext cx="2423886" cy="813031"/>
            <a:chOff x="4470400" y="5193091"/>
            <a:chExt cx="2423886" cy="813031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CA4FD0A1-E8C8-70A3-687F-1EC65900AE11}"/>
                </a:ext>
              </a:extLst>
            </p:cNvPr>
            <p:cNvCxnSpPr/>
            <p:nvPr/>
          </p:nvCxnSpPr>
          <p:spPr>
            <a:xfrm flipV="1">
              <a:off x="5547360" y="5193091"/>
              <a:ext cx="658368" cy="463997"/>
            </a:xfrm>
            <a:prstGeom prst="straightConnector1">
              <a:avLst/>
            </a:prstGeom>
            <a:ln w="635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80D8421-5232-6434-D056-6400C1C51E78}"/>
                </a:ext>
              </a:extLst>
            </p:cNvPr>
            <p:cNvSpPr txBox="1"/>
            <p:nvPr/>
          </p:nvSpPr>
          <p:spPr>
            <a:xfrm>
              <a:off x="4470400" y="5544457"/>
              <a:ext cx="242388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51 temperatures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38412E4-E5DE-EC37-B3E1-EFEBF0BC38A6}"/>
              </a:ext>
            </a:extLst>
          </p:cNvPr>
          <p:cNvGrpSpPr/>
          <p:nvPr/>
        </p:nvGrpSpPr>
        <p:grpSpPr>
          <a:xfrm>
            <a:off x="7047702" y="5165516"/>
            <a:ext cx="3235670" cy="898087"/>
            <a:chOff x="3658616" y="5108035"/>
            <a:chExt cx="3235670" cy="898087"/>
          </a:xfrm>
        </p:grpSpPr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E4D16236-AE64-1A2D-8A39-9B90EFBCEDC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658616" y="5108035"/>
              <a:ext cx="811784" cy="475495"/>
            </a:xfrm>
            <a:prstGeom prst="straightConnector1">
              <a:avLst/>
            </a:prstGeom>
            <a:ln w="635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EFA8F35-F8F2-E13B-A0DE-7DBB165D9384}"/>
                </a:ext>
              </a:extLst>
            </p:cNvPr>
            <p:cNvSpPr txBox="1"/>
            <p:nvPr/>
          </p:nvSpPr>
          <p:spPr>
            <a:xfrm>
              <a:off x="4470400" y="5544457"/>
              <a:ext cx="242388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42 volumes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87561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7EF451B-E41F-CAF2-5636-A6288368DED2}"/>
              </a:ext>
            </a:extLst>
          </p:cNvPr>
          <p:cNvSpPr txBox="1"/>
          <p:nvPr/>
        </p:nvSpPr>
        <p:spPr>
          <a:xfrm>
            <a:off x="0" y="815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Today we’re going to talk about slices of thermodynamic functions, and their slopes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639E4E-B7D8-A5AC-110F-64ADAABEA52C}"/>
              </a:ext>
            </a:extLst>
          </p:cNvPr>
          <p:cNvSpPr txBox="1"/>
          <p:nvPr/>
        </p:nvSpPr>
        <p:spPr>
          <a:xfrm>
            <a:off x="755903" y="1364842"/>
            <a:ext cx="39989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You may notice that there are some extra files in your folder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DDD11E7-37CA-D12B-BFAF-20DE7B7680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903" y="2516886"/>
            <a:ext cx="2882591" cy="233553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4499BDA-167B-B7BD-B1BE-0F5CF84E6891}"/>
              </a:ext>
            </a:extLst>
          </p:cNvPr>
          <p:cNvSpPr txBox="1"/>
          <p:nvPr/>
        </p:nvSpPr>
        <p:spPr>
          <a:xfrm>
            <a:off x="5983308" y="1318013"/>
            <a:ext cx="59038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This command loads the </a:t>
            </a:r>
            <a:r>
              <a:rPr lang="en-US" sz="2400" b="1" dirty="0"/>
              <a:t>state function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C3F2935-BE6C-A4D0-7B32-7567356AF4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1" y="2349474"/>
            <a:ext cx="4602224" cy="1295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3163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2A5BF619-65B2-5249-9E4B-EA43D8326D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023" y="1088136"/>
            <a:ext cx="7147673" cy="5364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F1EB79B7-1282-4F43-8A90-93BE569C889F}"/>
              </a:ext>
            </a:extLst>
          </p:cNvPr>
          <p:cNvGrpSpPr/>
          <p:nvPr/>
        </p:nvGrpSpPr>
        <p:grpSpPr>
          <a:xfrm>
            <a:off x="2594112" y="1767840"/>
            <a:ext cx="1639263" cy="3258167"/>
            <a:chOff x="5153423" y="2337961"/>
            <a:chExt cx="1639263" cy="3258167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C7BC71F1-B0B1-7F4A-A2A3-4E0E5A862A6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153423" y="3191401"/>
              <a:ext cx="89137" cy="2404727"/>
            </a:xfrm>
            <a:prstGeom prst="line">
              <a:avLst/>
            </a:prstGeom>
            <a:ln w="63500">
              <a:solidFill>
                <a:schemeClr val="accent4">
                  <a:lumMod val="75000"/>
                  <a:alpha val="43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0747DA4-F96F-B14D-B846-3E269FB4B4A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42562" y="5258031"/>
              <a:ext cx="484952" cy="338097"/>
            </a:xfrm>
            <a:prstGeom prst="line">
              <a:avLst/>
            </a:prstGeom>
            <a:ln w="63500">
              <a:solidFill>
                <a:schemeClr val="accent4">
                  <a:lumMod val="75000"/>
                  <a:alpha val="43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A9D700BF-DF56-384F-9E50-A58B7329523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53423" y="2337961"/>
              <a:ext cx="1639263" cy="853440"/>
            </a:xfrm>
            <a:prstGeom prst="line">
              <a:avLst/>
            </a:prstGeom>
            <a:ln w="63500">
              <a:solidFill>
                <a:schemeClr val="accent4">
                  <a:lumMod val="75000"/>
                  <a:alpha val="43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BE6430E0-01D2-3142-974F-52D283126A8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92685" y="2337962"/>
              <a:ext cx="1" cy="1941274"/>
            </a:xfrm>
            <a:prstGeom prst="line">
              <a:avLst/>
            </a:prstGeom>
            <a:ln w="63500">
              <a:solidFill>
                <a:schemeClr val="accent4">
                  <a:lumMod val="75000"/>
                  <a:alpha val="43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05541463-4894-79EB-ADBB-BA6741D885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2501" y="2354792"/>
            <a:ext cx="3751259" cy="1203234"/>
          </a:xfrm>
          <a:prstGeom prst="rect">
            <a:avLst/>
          </a:prstGeom>
        </p:spPr>
      </p:pic>
      <p:sp>
        <p:nvSpPr>
          <p:cNvPr id="3" name="Curved Left Arrow 2">
            <a:extLst>
              <a:ext uri="{FF2B5EF4-FFF2-40B4-BE49-F238E27FC236}">
                <a16:creationId xmlns:a16="http://schemas.microsoft.com/office/drawing/2014/main" id="{17623CB1-8A3D-CA59-EC2B-B4FBE845D019}"/>
              </a:ext>
            </a:extLst>
          </p:cNvPr>
          <p:cNvSpPr/>
          <p:nvPr/>
        </p:nvSpPr>
        <p:spPr>
          <a:xfrm rot="16463792">
            <a:off x="5566192" y="-810760"/>
            <a:ext cx="1368037" cy="4332769"/>
          </a:xfrm>
          <a:prstGeom prst="curvedLeftArrow">
            <a:avLst/>
          </a:prstGeom>
          <a:solidFill>
            <a:schemeClr val="tx1">
              <a:alpha val="37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7EF451B-E41F-CAF2-5636-A6288368DED2}"/>
                  </a:ext>
                </a:extLst>
              </p:cNvPr>
              <p:cNvSpPr txBox="1"/>
              <p:nvPr/>
            </p:nvSpPr>
            <p:spPr>
              <a:xfrm>
                <a:off x="0" y="815"/>
                <a:ext cx="12192000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Slicing out the first isotherm of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𝑽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7EF451B-E41F-CAF2-5636-A6288368DE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815"/>
                <a:ext cx="12192000" cy="461665"/>
              </a:xfrm>
              <a:prstGeom prst="rect">
                <a:avLst/>
              </a:prstGeom>
              <a:blipFill>
                <a:blip r:embed="rId4"/>
                <a:stretch>
                  <a:fillRect l="-832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83528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2A5BF619-65B2-5249-9E4B-EA43D8326D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023" y="1088136"/>
            <a:ext cx="7147673" cy="5364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4" name="Group 33">
            <a:extLst>
              <a:ext uri="{FF2B5EF4-FFF2-40B4-BE49-F238E27FC236}">
                <a16:creationId xmlns:a16="http://schemas.microsoft.com/office/drawing/2014/main" id="{07CB1DA5-5655-5B4A-90E7-D56D95CF8D27}"/>
              </a:ext>
            </a:extLst>
          </p:cNvPr>
          <p:cNvGrpSpPr/>
          <p:nvPr/>
        </p:nvGrpSpPr>
        <p:grpSpPr>
          <a:xfrm>
            <a:off x="5242560" y="1919950"/>
            <a:ext cx="1680754" cy="3676178"/>
            <a:chOff x="5242560" y="1919950"/>
            <a:chExt cx="1680754" cy="3676178"/>
          </a:xfrm>
        </p:grpSpPr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D31C0D51-F48E-5146-A64A-DE84E52E99BB}"/>
                </a:ext>
              </a:extLst>
            </p:cNvPr>
            <p:cNvCxnSpPr/>
            <p:nvPr/>
          </p:nvCxnSpPr>
          <p:spPr>
            <a:xfrm flipV="1">
              <a:off x="5242560" y="3060192"/>
              <a:ext cx="0" cy="2535936"/>
            </a:xfrm>
            <a:prstGeom prst="line">
              <a:avLst/>
            </a:prstGeom>
            <a:ln w="63500">
              <a:solidFill>
                <a:schemeClr val="accent4">
                  <a:lumMod val="75000"/>
                  <a:alpha val="43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42E68881-69E6-D043-8FA6-B3C4B64982C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42561" y="4455886"/>
              <a:ext cx="1550125" cy="1140242"/>
            </a:xfrm>
            <a:prstGeom prst="line">
              <a:avLst/>
            </a:prstGeom>
            <a:ln w="63500">
              <a:solidFill>
                <a:schemeClr val="accent4">
                  <a:lumMod val="75000"/>
                  <a:alpha val="43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AE22016C-8220-5A4D-8D86-262223A831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42562" y="1919950"/>
              <a:ext cx="1680752" cy="1140242"/>
            </a:xfrm>
            <a:prstGeom prst="line">
              <a:avLst/>
            </a:prstGeom>
            <a:ln w="63500">
              <a:solidFill>
                <a:schemeClr val="accent4">
                  <a:lumMod val="75000"/>
                  <a:alpha val="43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04131585-9D9D-0A4E-81E2-115DCC30D7D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92686" y="1919950"/>
              <a:ext cx="130628" cy="2535936"/>
            </a:xfrm>
            <a:prstGeom prst="line">
              <a:avLst/>
            </a:prstGeom>
            <a:ln w="63500">
              <a:solidFill>
                <a:schemeClr val="accent4">
                  <a:lumMod val="75000"/>
                  <a:alpha val="43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Curved Left Arrow 2">
            <a:extLst>
              <a:ext uri="{FF2B5EF4-FFF2-40B4-BE49-F238E27FC236}">
                <a16:creationId xmlns:a16="http://schemas.microsoft.com/office/drawing/2014/main" id="{17623CB1-8A3D-CA59-EC2B-B4FBE845D019}"/>
              </a:ext>
            </a:extLst>
          </p:cNvPr>
          <p:cNvSpPr/>
          <p:nvPr/>
        </p:nvSpPr>
        <p:spPr>
          <a:xfrm rot="16463792">
            <a:off x="6945204" y="433713"/>
            <a:ext cx="1141490" cy="1811240"/>
          </a:xfrm>
          <a:prstGeom prst="curvedLeftArrow">
            <a:avLst/>
          </a:prstGeom>
          <a:solidFill>
            <a:schemeClr val="tx1">
              <a:alpha val="3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06EF93-BD5E-DDFC-B3C7-4352628C1A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2501" y="2026312"/>
            <a:ext cx="4195793" cy="127698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E63EAB5-1307-1855-64C3-4A3707ED80C2}"/>
                  </a:ext>
                </a:extLst>
              </p:cNvPr>
              <p:cNvSpPr txBox="1"/>
              <p:nvPr/>
            </p:nvSpPr>
            <p:spPr>
              <a:xfrm>
                <a:off x="0" y="815"/>
                <a:ext cx="12192000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Slicing out the last isotherm of </a:t>
                </a:r>
                <a14:m>
                  <m:oMath xmlns:m="http://schemas.openxmlformats.org/officeDocument/2006/math">
                    <m:r>
                      <a:rPr lang="en-US" sz="2400" b="1" i="1" dirty="0"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sz="2400" b="1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 dirty="0"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sz="2400" b="1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1" i="1" dirty="0">
                        <a:latin typeface="Cambria Math" panose="02040503050406030204" pitchFamily="18" charset="0"/>
                      </a:rPr>
                      <m:t>𝑽</m:t>
                    </m:r>
                    <m:r>
                      <a:rPr lang="en-US" sz="2400" b="1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E63EAB5-1307-1855-64C3-4A3707ED80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815"/>
                <a:ext cx="12192000" cy="461665"/>
              </a:xfrm>
              <a:prstGeom prst="rect">
                <a:avLst/>
              </a:prstGeom>
              <a:blipFill>
                <a:blip r:embed="rId4"/>
                <a:stretch>
                  <a:fillRect l="-832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956207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2A5BF619-65B2-5249-9E4B-EA43D8326D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023" y="1088136"/>
            <a:ext cx="7147673" cy="5364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4" name="Group 33">
            <a:extLst>
              <a:ext uri="{FF2B5EF4-FFF2-40B4-BE49-F238E27FC236}">
                <a16:creationId xmlns:a16="http://schemas.microsoft.com/office/drawing/2014/main" id="{07CB1DA5-5655-5B4A-90E7-D56D95CF8D27}"/>
              </a:ext>
            </a:extLst>
          </p:cNvPr>
          <p:cNvGrpSpPr/>
          <p:nvPr/>
        </p:nvGrpSpPr>
        <p:grpSpPr>
          <a:xfrm>
            <a:off x="5242560" y="1919950"/>
            <a:ext cx="1680754" cy="3676178"/>
            <a:chOff x="5242560" y="1919950"/>
            <a:chExt cx="1680754" cy="3676178"/>
          </a:xfrm>
        </p:grpSpPr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D31C0D51-F48E-5146-A64A-DE84E52E99BB}"/>
                </a:ext>
              </a:extLst>
            </p:cNvPr>
            <p:cNvCxnSpPr/>
            <p:nvPr/>
          </p:nvCxnSpPr>
          <p:spPr>
            <a:xfrm flipV="1">
              <a:off x="5242560" y="3060192"/>
              <a:ext cx="0" cy="2535936"/>
            </a:xfrm>
            <a:prstGeom prst="line">
              <a:avLst/>
            </a:prstGeom>
            <a:ln w="63500">
              <a:solidFill>
                <a:schemeClr val="accent4">
                  <a:lumMod val="75000"/>
                  <a:alpha val="43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42E68881-69E6-D043-8FA6-B3C4B64982C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42561" y="4455886"/>
              <a:ext cx="1550125" cy="1140242"/>
            </a:xfrm>
            <a:prstGeom prst="line">
              <a:avLst/>
            </a:prstGeom>
            <a:ln w="63500">
              <a:solidFill>
                <a:schemeClr val="accent4">
                  <a:lumMod val="75000"/>
                  <a:alpha val="43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AE22016C-8220-5A4D-8D86-262223A831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42562" y="1919950"/>
              <a:ext cx="1680752" cy="1140242"/>
            </a:xfrm>
            <a:prstGeom prst="line">
              <a:avLst/>
            </a:prstGeom>
            <a:ln w="63500">
              <a:solidFill>
                <a:schemeClr val="accent4">
                  <a:lumMod val="75000"/>
                  <a:alpha val="43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04131585-9D9D-0A4E-81E2-115DCC30D7D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92686" y="1919950"/>
              <a:ext cx="130628" cy="2535936"/>
            </a:xfrm>
            <a:prstGeom prst="line">
              <a:avLst/>
            </a:prstGeom>
            <a:ln w="63500">
              <a:solidFill>
                <a:schemeClr val="accent4">
                  <a:lumMod val="75000"/>
                  <a:alpha val="43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9FDD8008-6BC1-2542-AF9E-59DA3BD90F1B}"/>
              </a:ext>
            </a:extLst>
          </p:cNvPr>
          <p:cNvGrpSpPr/>
          <p:nvPr/>
        </p:nvGrpSpPr>
        <p:grpSpPr>
          <a:xfrm>
            <a:off x="7759528" y="1646978"/>
            <a:ext cx="3814583" cy="3564044"/>
            <a:chOff x="1267328" y="891841"/>
            <a:chExt cx="6765756" cy="5074317"/>
          </a:xfrm>
        </p:grpSpPr>
        <p:pic>
          <p:nvPicPr>
            <p:cNvPr id="50" name="Picture 2">
              <a:extLst>
                <a:ext uri="{FF2B5EF4-FFF2-40B4-BE49-F238E27FC236}">
                  <a16:creationId xmlns:a16="http://schemas.microsoft.com/office/drawing/2014/main" id="{87DE8750-A14C-3E42-A59F-AF0119FD321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67328" y="891841"/>
              <a:ext cx="6765756" cy="50743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FA9F952-17E4-D148-A947-1EFD5873A712}"/>
                </a:ext>
              </a:extLst>
            </p:cNvPr>
            <p:cNvSpPr txBox="1"/>
            <p:nvPr/>
          </p:nvSpPr>
          <p:spPr>
            <a:xfrm>
              <a:off x="3325653" y="1902624"/>
              <a:ext cx="3404514" cy="11831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“Boyle Isotherms”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1EB79B7-1282-4F43-8A90-93BE569C889F}"/>
              </a:ext>
            </a:extLst>
          </p:cNvPr>
          <p:cNvGrpSpPr/>
          <p:nvPr/>
        </p:nvGrpSpPr>
        <p:grpSpPr>
          <a:xfrm>
            <a:off x="2594112" y="1767840"/>
            <a:ext cx="1639263" cy="3258167"/>
            <a:chOff x="5153423" y="2337961"/>
            <a:chExt cx="1639263" cy="3258167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C7BC71F1-B0B1-7F4A-A2A3-4E0E5A862A6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153423" y="3191401"/>
              <a:ext cx="89137" cy="2404727"/>
            </a:xfrm>
            <a:prstGeom prst="line">
              <a:avLst/>
            </a:prstGeom>
            <a:ln w="63500">
              <a:solidFill>
                <a:schemeClr val="accent4">
                  <a:lumMod val="75000"/>
                  <a:alpha val="43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0747DA4-F96F-B14D-B846-3E269FB4B4A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42562" y="5258031"/>
              <a:ext cx="484952" cy="338097"/>
            </a:xfrm>
            <a:prstGeom prst="line">
              <a:avLst/>
            </a:prstGeom>
            <a:ln w="63500">
              <a:solidFill>
                <a:schemeClr val="accent4">
                  <a:lumMod val="75000"/>
                  <a:alpha val="43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A9D700BF-DF56-384F-9E50-A58B7329523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53423" y="2337961"/>
              <a:ext cx="1639263" cy="853440"/>
            </a:xfrm>
            <a:prstGeom prst="line">
              <a:avLst/>
            </a:prstGeom>
            <a:ln w="63500">
              <a:solidFill>
                <a:schemeClr val="accent4">
                  <a:lumMod val="75000"/>
                  <a:alpha val="43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BE6430E0-01D2-3142-974F-52D283126A8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92685" y="2337962"/>
              <a:ext cx="1" cy="1941274"/>
            </a:xfrm>
            <a:prstGeom prst="line">
              <a:avLst/>
            </a:prstGeom>
            <a:ln w="63500">
              <a:solidFill>
                <a:schemeClr val="accent4">
                  <a:lumMod val="75000"/>
                  <a:alpha val="43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6E3B53F-7D05-FB6E-1DBD-10CF5A9A907C}"/>
                  </a:ext>
                </a:extLst>
              </p:cNvPr>
              <p:cNvSpPr txBox="1"/>
              <p:nvPr/>
            </p:nvSpPr>
            <p:spPr>
              <a:xfrm>
                <a:off x="0" y="815"/>
                <a:ext cx="12192000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Plotting two isotherms of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𝑽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b="1" dirty="0"/>
                  <a:t> together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6E3B53F-7D05-FB6E-1DBD-10CF5A9A90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815"/>
                <a:ext cx="12192000" cy="461665"/>
              </a:xfrm>
              <a:prstGeom prst="rect">
                <a:avLst/>
              </a:prstGeom>
              <a:blipFill>
                <a:blip r:embed="rId4"/>
                <a:stretch>
                  <a:fillRect l="-832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026702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16C46211-A5DD-F7A2-F522-7FDFD896B05C}"/>
              </a:ext>
            </a:extLst>
          </p:cNvPr>
          <p:cNvGrpSpPr/>
          <p:nvPr/>
        </p:nvGrpSpPr>
        <p:grpSpPr>
          <a:xfrm>
            <a:off x="0" y="1303002"/>
            <a:ext cx="10963726" cy="5364480"/>
            <a:chOff x="969023" y="1088136"/>
            <a:chExt cx="10963726" cy="5364480"/>
          </a:xfrm>
        </p:grpSpPr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2A5BF619-65B2-5249-9E4B-EA43D8326DC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9023" y="1088136"/>
              <a:ext cx="7147673" cy="53644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E281219E-12B5-2D43-9990-A6BE7B970BC7}"/>
                </a:ext>
              </a:extLst>
            </p:cNvPr>
            <p:cNvGrpSpPr/>
            <p:nvPr/>
          </p:nvGrpSpPr>
          <p:grpSpPr>
            <a:xfrm>
              <a:off x="2853515" y="2302782"/>
              <a:ext cx="2621201" cy="3127831"/>
              <a:chOff x="2621359" y="2490071"/>
              <a:chExt cx="2621201" cy="3127831"/>
            </a:xfrm>
          </p:grpSpPr>
          <p:grpSp>
            <p:nvGrpSpPr>
              <p:cNvPr id="56" name="Group 55">
                <a:extLst>
                  <a:ext uri="{FF2B5EF4-FFF2-40B4-BE49-F238E27FC236}">
                    <a16:creationId xmlns:a16="http://schemas.microsoft.com/office/drawing/2014/main" id="{03254AEE-C976-E74F-AE58-3ED6BF5FF275}"/>
                  </a:ext>
                </a:extLst>
              </p:cNvPr>
              <p:cNvGrpSpPr/>
              <p:nvPr/>
            </p:nvGrpSpPr>
            <p:grpSpPr>
              <a:xfrm>
                <a:off x="2621359" y="2490071"/>
                <a:ext cx="2621201" cy="3127831"/>
                <a:chOff x="5242560" y="3060192"/>
                <a:chExt cx="2621201" cy="3127831"/>
              </a:xfrm>
            </p:grpSpPr>
            <p:cxnSp>
              <p:nvCxnSpPr>
                <p:cNvPr id="57" name="Straight Connector 56">
                  <a:extLst>
                    <a:ext uri="{FF2B5EF4-FFF2-40B4-BE49-F238E27FC236}">
                      <a16:creationId xmlns:a16="http://schemas.microsoft.com/office/drawing/2014/main" id="{D69D0DC2-773B-864B-86EB-BFE4B6C47846}"/>
                    </a:ext>
                  </a:extLst>
                </p:cNvPr>
                <p:cNvCxnSpPr/>
                <p:nvPr/>
              </p:nvCxnSpPr>
              <p:spPr>
                <a:xfrm flipV="1">
                  <a:off x="5242560" y="3060192"/>
                  <a:ext cx="0" cy="2535936"/>
                </a:xfrm>
                <a:prstGeom prst="line">
                  <a:avLst/>
                </a:prstGeom>
                <a:ln w="63500">
                  <a:solidFill>
                    <a:schemeClr val="tx1">
                      <a:alpha val="44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>
                  <a:extLst>
                    <a:ext uri="{FF2B5EF4-FFF2-40B4-BE49-F238E27FC236}">
                      <a16:creationId xmlns:a16="http://schemas.microsoft.com/office/drawing/2014/main" id="{E87FE0CD-BDF7-5645-8838-F51BF546A09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5242563" y="5552587"/>
                  <a:ext cx="2621198" cy="635436"/>
                </a:xfrm>
                <a:prstGeom prst="line">
                  <a:avLst/>
                </a:prstGeom>
                <a:ln w="63500">
                  <a:solidFill>
                    <a:schemeClr val="tx1">
                      <a:alpha val="44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Straight Connector 58">
                  <a:extLst>
                    <a:ext uri="{FF2B5EF4-FFF2-40B4-BE49-F238E27FC236}">
                      <a16:creationId xmlns:a16="http://schemas.microsoft.com/office/drawing/2014/main" id="{F338F8EC-F345-0C41-843B-69E795C1992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5242562" y="3060192"/>
                  <a:ext cx="2621199" cy="570121"/>
                </a:xfrm>
                <a:prstGeom prst="line">
                  <a:avLst/>
                </a:prstGeom>
                <a:ln w="63500">
                  <a:solidFill>
                    <a:schemeClr val="tx1">
                      <a:alpha val="44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F67DC9B7-8F30-C84D-9DF8-F6DF128A5202}"/>
                  </a:ext>
                </a:extLst>
              </p:cNvPr>
              <p:cNvCxnSpPr/>
              <p:nvPr/>
            </p:nvCxnSpPr>
            <p:spPr>
              <a:xfrm flipV="1">
                <a:off x="5191762" y="3081966"/>
                <a:ext cx="0" cy="2535936"/>
              </a:xfrm>
              <a:prstGeom prst="line">
                <a:avLst/>
              </a:prstGeom>
              <a:ln w="63500">
                <a:solidFill>
                  <a:schemeClr val="tx1">
                    <a:alpha val="44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8" name="Picture 2">
              <a:extLst>
                <a:ext uri="{FF2B5EF4-FFF2-40B4-BE49-F238E27FC236}">
                  <a16:creationId xmlns:a16="http://schemas.microsoft.com/office/drawing/2014/main" id="{90173151-010B-1E41-BFAC-8C8CAB5BCE2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84902" y="1609292"/>
              <a:ext cx="4247847" cy="318588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FA9F952-17E4-D148-A947-1EFD5873A712}"/>
                </a:ext>
              </a:extLst>
            </p:cNvPr>
            <p:cNvSpPr txBox="1"/>
            <p:nvPr/>
          </p:nvSpPr>
          <p:spPr>
            <a:xfrm>
              <a:off x="8995253" y="2972583"/>
              <a:ext cx="191949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isochores</a:t>
              </a:r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9F6D7A52-A1BC-494B-9355-B13B06B5B0AD}"/>
                </a:ext>
              </a:extLst>
            </p:cNvPr>
            <p:cNvGrpSpPr/>
            <p:nvPr/>
          </p:nvGrpSpPr>
          <p:grpSpPr>
            <a:xfrm>
              <a:off x="4159158" y="1427387"/>
              <a:ext cx="2621199" cy="3127831"/>
              <a:chOff x="2621361" y="2490071"/>
              <a:chExt cx="2621199" cy="3127831"/>
            </a:xfrm>
          </p:grpSpPr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DF86DDC7-5458-5143-8C25-CD2E78AF8111}"/>
                  </a:ext>
                </a:extLst>
              </p:cNvPr>
              <p:cNvGrpSpPr/>
              <p:nvPr/>
            </p:nvGrpSpPr>
            <p:grpSpPr>
              <a:xfrm>
                <a:off x="2621361" y="2490071"/>
                <a:ext cx="2621199" cy="3127831"/>
                <a:chOff x="5242562" y="3060192"/>
                <a:chExt cx="2621199" cy="3127831"/>
              </a:xfrm>
            </p:grpSpPr>
            <p:cxnSp>
              <p:nvCxnSpPr>
                <p:cNvPr id="16" name="Straight Connector 15">
                  <a:extLst>
                    <a:ext uri="{FF2B5EF4-FFF2-40B4-BE49-F238E27FC236}">
                      <a16:creationId xmlns:a16="http://schemas.microsoft.com/office/drawing/2014/main" id="{99B6AF54-0D3C-6C4A-9F49-C62228EAB24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255439" y="3098831"/>
                  <a:ext cx="0" cy="2159744"/>
                </a:xfrm>
                <a:prstGeom prst="line">
                  <a:avLst/>
                </a:prstGeom>
                <a:ln w="63500">
                  <a:solidFill>
                    <a:schemeClr val="tx1">
                      <a:alpha val="44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Straight Connector 16">
                  <a:extLst>
                    <a:ext uri="{FF2B5EF4-FFF2-40B4-BE49-F238E27FC236}">
                      <a16:creationId xmlns:a16="http://schemas.microsoft.com/office/drawing/2014/main" id="{8EB137DA-BD04-9346-ACA9-693C32EDEC2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6352614" y="5881192"/>
                  <a:ext cx="1511147" cy="306831"/>
                </a:xfrm>
                <a:prstGeom prst="line">
                  <a:avLst/>
                </a:prstGeom>
                <a:ln w="63500">
                  <a:solidFill>
                    <a:schemeClr val="tx1">
                      <a:alpha val="44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Straight Connector 19">
                  <a:extLst>
                    <a:ext uri="{FF2B5EF4-FFF2-40B4-BE49-F238E27FC236}">
                      <a16:creationId xmlns:a16="http://schemas.microsoft.com/office/drawing/2014/main" id="{F1CB2E26-1A08-424E-8423-99898753E1F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5242562" y="3060192"/>
                  <a:ext cx="2621199" cy="570121"/>
                </a:xfrm>
                <a:prstGeom prst="line">
                  <a:avLst/>
                </a:prstGeom>
                <a:ln w="63500">
                  <a:solidFill>
                    <a:schemeClr val="tx1">
                      <a:alpha val="44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C7188966-EE61-A647-A01D-B9D351BC279D}"/>
                  </a:ext>
                </a:extLst>
              </p:cNvPr>
              <p:cNvCxnSpPr/>
              <p:nvPr/>
            </p:nvCxnSpPr>
            <p:spPr>
              <a:xfrm flipV="1">
                <a:off x="5191762" y="3081966"/>
                <a:ext cx="0" cy="2535936"/>
              </a:xfrm>
              <a:prstGeom prst="line">
                <a:avLst/>
              </a:prstGeom>
              <a:ln w="63500">
                <a:solidFill>
                  <a:schemeClr val="tx1">
                    <a:alpha val="44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9CDBA09-35B1-0741-8647-31209C5FF939}"/>
                  </a:ext>
                </a:extLst>
              </p:cNvPr>
              <p:cNvSpPr txBox="1"/>
              <p:nvPr/>
            </p:nvSpPr>
            <p:spPr>
              <a:xfrm>
                <a:off x="0" y="-5485"/>
                <a:ext cx="12192000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Plotting two isochores of </a:t>
                </a:r>
                <a14:m>
                  <m:oMath xmlns:m="http://schemas.openxmlformats.org/officeDocument/2006/math">
                    <m:r>
                      <a:rPr lang="en-US" sz="2400" b="1" i="1" dirty="0"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sz="2400" b="1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 dirty="0"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sz="2400" b="1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1" i="1" dirty="0">
                        <a:latin typeface="Cambria Math" panose="02040503050406030204" pitchFamily="18" charset="0"/>
                      </a:rPr>
                      <m:t>𝑽</m:t>
                    </m:r>
                    <m:r>
                      <a:rPr lang="en-US" sz="2400" b="1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b="1" dirty="0"/>
                  <a:t> together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9CDBA09-35B1-0741-8647-31209C5FF9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-5485"/>
                <a:ext cx="12192000" cy="461665"/>
              </a:xfrm>
              <a:prstGeom prst="rect">
                <a:avLst/>
              </a:prstGeom>
              <a:blipFill>
                <a:blip r:embed="rId4"/>
                <a:stretch>
                  <a:fillRect l="-832" t="-8108" b="-324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058321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9CDBA09-35B1-0741-8647-31209C5FF939}"/>
              </a:ext>
            </a:extLst>
          </p:cNvPr>
          <p:cNvSpPr txBox="1"/>
          <p:nvPr/>
        </p:nvSpPr>
        <p:spPr>
          <a:xfrm>
            <a:off x="0" y="-3336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Taking derivatives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2F3D092-BC26-D44F-8C3C-B58045C6D33E}"/>
                  </a:ext>
                </a:extLst>
              </p:cNvPr>
              <p:cNvSpPr txBox="1"/>
              <p:nvPr/>
            </p:nvSpPr>
            <p:spPr>
              <a:xfrm>
                <a:off x="97536" y="1767840"/>
                <a:ext cx="11899392" cy="256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i="1" dirty="0">
                    <a:sym typeface="Wingdings" pitchFamily="2" charset="2"/>
                  </a:rPr>
                  <a:t>Analytically</a:t>
                </a:r>
                <a:r>
                  <a:rPr lang="en-US" sz="2400" dirty="0">
                    <a:sym typeface="Wingdings" pitchFamily="2" charset="2"/>
                  </a:rPr>
                  <a:t>, we know that</a:t>
                </a:r>
                <a:r>
                  <a:rPr lang="en-US" sz="2400" b="1" i="1" dirty="0">
                    <a:latin typeface="Cambria Math" panose="02040503050406030204" pitchFamily="18" charset="0"/>
                    <a:sym typeface="Wingdings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sz="2400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 dirty="0">
                            <a:latin typeface="Cambria Math" panose="02040503050406030204" pitchFamily="18" charset="0"/>
                          </a:rPr>
                          <m:t>𝑻</m:t>
                        </m:r>
                        <m:r>
                          <a:rPr lang="en-US" sz="2400" b="1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1" i="1" dirty="0"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</m:d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1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1" i="1" dirty="0" smtClean="0">
                            <a:latin typeface="Cambria Math" panose="02040503050406030204" pitchFamily="18" charset="0"/>
                          </a:rPr>
                          <m:t>𝒏𝑹𝑻</m:t>
                        </m:r>
                      </m:num>
                      <m:den>
                        <m:r>
                          <a:rPr lang="en-US" sz="2400" b="1" i="1" dirty="0" smtClean="0">
                            <a:latin typeface="Cambria Math" panose="02040503050406030204" pitchFamily="18" charset="0"/>
                          </a:rPr>
                          <m:t>𝑽</m:t>
                        </m:r>
                      </m:den>
                    </m:f>
                  </m:oMath>
                </a14:m>
                <a:r>
                  <a:rPr lang="en-US" sz="2400" dirty="0">
                    <a:sym typeface="Wingdings" pitchFamily="2" charset="2"/>
                  </a:rPr>
                  <a:t>   </a:t>
                </a:r>
                <a:r>
                  <a:rPr lang="en-US" sz="2400" dirty="0"/>
                  <a:t>(if it’s an ideal gas)</a:t>
                </a:r>
              </a:p>
              <a:p>
                <a:endParaRPr lang="en-US" sz="2400" dirty="0">
                  <a:sym typeface="Wingdings" pitchFamily="2" charset="2"/>
                </a:endParaRPr>
              </a:p>
              <a:p>
                <a:r>
                  <a:rPr lang="en-US" sz="2400" dirty="0">
                    <a:sym typeface="Wingdings" pitchFamily="2" charset="2"/>
                  </a:rPr>
                  <a:t>=&gt;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sz="2400" b="1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b="1" i="1" dirty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b="1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𝝏</m:t>
                                </m:r>
                                <m:r>
                                  <a:rPr lang="en-US" sz="2400" b="1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𝑷</m:t>
                                </m:r>
                              </m:num>
                              <m:den>
                                <m:r>
                                  <a:rPr lang="en-US" sz="2400" b="1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𝝏</m:t>
                                </m:r>
                                <m:r>
                                  <a:rPr lang="en-US" sz="2400" b="1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𝑽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US" sz="2400" b="1" i="1" dirty="0">
                            <a:latin typeface="Cambria Math" panose="02040503050406030204" pitchFamily="18" charset="0"/>
                          </a:rPr>
                          <m:t>𝑻</m:t>
                        </m:r>
                      </m:sub>
                    </m:sSub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sz="2400" b="1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1" i="1" dirty="0">
                            <a:latin typeface="Cambria Math" panose="02040503050406030204" pitchFamily="18" charset="0"/>
                          </a:rPr>
                          <m:t>𝒏𝑹𝑻</m:t>
                        </m:r>
                      </m:num>
                      <m:den>
                        <m:sSup>
                          <m:sSupPr>
                            <m:ctrlPr>
                              <a:rPr lang="en-US" sz="2400" b="1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1" i="1" dirty="0">
                                <a:latin typeface="Cambria Math" panose="02040503050406030204" pitchFamily="18" charset="0"/>
                              </a:rPr>
                              <m:t>𝑽</m:t>
                            </m:r>
                          </m:e>
                          <m:sup>
                            <m:r>
                              <a:rPr lang="en-US" sz="2400" b="1" i="1" dirty="0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den>
                    </m:f>
                  </m:oMath>
                </a14:m>
                <a:endParaRPr lang="en-US" sz="2400" dirty="0"/>
              </a:p>
              <a:p>
                <a:endParaRPr lang="en-US" sz="2400" dirty="0"/>
              </a:p>
              <a:p>
                <a:r>
                  <a:rPr lang="en-US" sz="2400" dirty="0"/>
                  <a:t>But in this case, since we have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sz="2400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 dirty="0">
                            <a:latin typeface="Cambria Math" panose="02040503050406030204" pitchFamily="18" charset="0"/>
                          </a:rPr>
                          <m:t>𝑻</m:t>
                        </m:r>
                        <m:r>
                          <a:rPr lang="en-US" sz="2400" b="1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1" i="1" dirty="0"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</m:d>
                  </m:oMath>
                </a14:m>
                <a:r>
                  <a:rPr lang="en-US" sz="2400" dirty="0"/>
                  <a:t> from measurements, we have to get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sz="2400" b="1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b="1" i="1" dirty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b="1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𝝏</m:t>
                                </m:r>
                                <m:r>
                                  <a:rPr lang="en-US" sz="2400" b="1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𝑷</m:t>
                                </m:r>
                              </m:num>
                              <m:den>
                                <m:r>
                                  <a:rPr lang="en-US" sz="2400" b="1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𝝏</m:t>
                                </m:r>
                                <m:r>
                                  <a:rPr lang="en-US" sz="2400" b="1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𝑽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US" sz="2400" b="1" i="1" dirty="0">
                            <a:latin typeface="Cambria Math" panose="02040503050406030204" pitchFamily="18" charset="0"/>
                          </a:rPr>
                          <m:t>𝑻</m:t>
                        </m:r>
                      </m:sub>
                    </m:sSub>
                  </m:oMath>
                </a14:m>
                <a:r>
                  <a:rPr lang="en-US" sz="2400" dirty="0"/>
                  <a:t> </a:t>
                </a:r>
                <a:r>
                  <a:rPr lang="en-US" sz="2400" i="1" dirty="0"/>
                  <a:t>numerically</a:t>
                </a:r>
                <a:r>
                  <a:rPr lang="en-US" sz="2400" dirty="0"/>
                  <a:t>.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2F3D092-BC26-D44F-8C3C-B58045C6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536" y="1767840"/>
                <a:ext cx="11899392" cy="2563330"/>
              </a:xfrm>
              <a:prstGeom prst="rect">
                <a:avLst/>
              </a:prstGeom>
              <a:blipFill>
                <a:blip r:embed="rId2"/>
                <a:stretch>
                  <a:fillRect l="-746" r="-533" b="-4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806573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ADCE9097-5319-F2E7-0570-ED096AA5BBA4}"/>
              </a:ext>
            </a:extLst>
          </p:cNvPr>
          <p:cNvGrpSpPr/>
          <p:nvPr/>
        </p:nvGrpSpPr>
        <p:grpSpPr>
          <a:xfrm>
            <a:off x="73751" y="1242705"/>
            <a:ext cx="4761940" cy="3690242"/>
            <a:chOff x="969023" y="1088136"/>
            <a:chExt cx="7147673" cy="5364480"/>
          </a:xfrm>
        </p:grpSpPr>
        <p:pic>
          <p:nvPicPr>
            <p:cNvPr id="9" name="Picture 2">
              <a:extLst>
                <a:ext uri="{FF2B5EF4-FFF2-40B4-BE49-F238E27FC236}">
                  <a16:creationId xmlns:a16="http://schemas.microsoft.com/office/drawing/2014/main" id="{A0DA1576-4D1E-377D-705A-ED43EAEBC6E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9023" y="1088136"/>
              <a:ext cx="7147673" cy="53644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1AB5C9AC-593B-3178-C045-65C979A11A0F}"/>
                </a:ext>
              </a:extLst>
            </p:cNvPr>
            <p:cNvGrpSpPr/>
            <p:nvPr/>
          </p:nvGrpSpPr>
          <p:grpSpPr>
            <a:xfrm>
              <a:off x="5242560" y="1919950"/>
              <a:ext cx="1680754" cy="3676178"/>
              <a:chOff x="5242560" y="1919950"/>
              <a:chExt cx="1680754" cy="3676178"/>
            </a:xfrm>
          </p:grpSpPr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C6E750D0-4D9D-A3F1-E29E-DFF061602E21}"/>
                  </a:ext>
                </a:extLst>
              </p:cNvPr>
              <p:cNvCxnSpPr/>
              <p:nvPr/>
            </p:nvCxnSpPr>
            <p:spPr>
              <a:xfrm flipV="1">
                <a:off x="5242560" y="3060192"/>
                <a:ext cx="0" cy="2535936"/>
              </a:xfrm>
              <a:prstGeom prst="line">
                <a:avLst/>
              </a:prstGeom>
              <a:ln w="63500">
                <a:solidFill>
                  <a:schemeClr val="accent4">
                    <a:lumMod val="75000"/>
                    <a:alpha val="43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F67ACBA9-9133-9727-872B-65BDED4F30A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242561" y="4455886"/>
                <a:ext cx="1550125" cy="1140242"/>
              </a:xfrm>
              <a:prstGeom prst="line">
                <a:avLst/>
              </a:prstGeom>
              <a:ln w="63500">
                <a:solidFill>
                  <a:schemeClr val="accent4">
                    <a:lumMod val="75000"/>
                    <a:alpha val="43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D1D12EFA-D211-1630-A774-8C26457E143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242562" y="1919950"/>
                <a:ext cx="1680752" cy="1140242"/>
              </a:xfrm>
              <a:prstGeom prst="line">
                <a:avLst/>
              </a:prstGeom>
              <a:ln w="63500">
                <a:solidFill>
                  <a:schemeClr val="accent4">
                    <a:lumMod val="75000"/>
                    <a:alpha val="43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D3ABAA8A-E8B9-A7F4-640A-C81C7170EFD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792686" y="1919950"/>
                <a:ext cx="130628" cy="2535936"/>
              </a:xfrm>
              <a:prstGeom prst="line">
                <a:avLst/>
              </a:prstGeom>
              <a:ln w="63500">
                <a:solidFill>
                  <a:schemeClr val="accent4">
                    <a:lumMod val="75000"/>
                    <a:alpha val="43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17DE572D-3010-4583-371E-A54CC835C513}"/>
                </a:ext>
              </a:extLst>
            </p:cNvPr>
            <p:cNvGrpSpPr/>
            <p:nvPr/>
          </p:nvGrpSpPr>
          <p:grpSpPr>
            <a:xfrm>
              <a:off x="2594112" y="1767840"/>
              <a:ext cx="1639263" cy="3258167"/>
              <a:chOff x="5153423" y="2337961"/>
              <a:chExt cx="1639263" cy="3258167"/>
            </a:xfrm>
          </p:grpSpPr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C9942737-5E8E-C0EF-3A61-E45E5F7B816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153423" y="3191401"/>
                <a:ext cx="89137" cy="2404727"/>
              </a:xfrm>
              <a:prstGeom prst="line">
                <a:avLst/>
              </a:prstGeom>
              <a:ln w="63500">
                <a:solidFill>
                  <a:schemeClr val="accent4">
                    <a:lumMod val="75000"/>
                    <a:alpha val="43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F97A3EC1-4EF5-AB01-7124-A93101BB13C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242562" y="5258031"/>
                <a:ext cx="484952" cy="338097"/>
              </a:xfrm>
              <a:prstGeom prst="line">
                <a:avLst/>
              </a:prstGeom>
              <a:ln w="63500">
                <a:solidFill>
                  <a:schemeClr val="accent4">
                    <a:lumMod val="75000"/>
                    <a:alpha val="43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013B566D-476C-50C8-5366-210E69BF516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153423" y="2337961"/>
                <a:ext cx="1639263" cy="853440"/>
              </a:xfrm>
              <a:prstGeom prst="line">
                <a:avLst/>
              </a:prstGeom>
              <a:ln w="63500">
                <a:solidFill>
                  <a:schemeClr val="accent4">
                    <a:lumMod val="75000"/>
                    <a:alpha val="43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6147F8F6-A511-B5D4-1E1D-CFBA1B1C93F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792685" y="2337962"/>
                <a:ext cx="1" cy="1941274"/>
              </a:xfrm>
              <a:prstGeom prst="line">
                <a:avLst/>
              </a:prstGeom>
              <a:ln w="63500">
                <a:solidFill>
                  <a:schemeClr val="accent4">
                    <a:lumMod val="75000"/>
                    <a:alpha val="43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7" name="Picture 2">
            <a:extLst>
              <a:ext uri="{FF2B5EF4-FFF2-40B4-BE49-F238E27FC236}">
                <a16:creationId xmlns:a16="http://schemas.microsoft.com/office/drawing/2014/main" id="{E854AEF6-BAF0-3940-81EA-7A6B7C94F8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9141" y="83835"/>
            <a:ext cx="5665749" cy="3345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4D8919EA-FCE8-0FC7-1422-0C5E95454454}"/>
              </a:ext>
            </a:extLst>
          </p:cNvPr>
          <p:cNvGrpSpPr/>
          <p:nvPr/>
        </p:nvGrpSpPr>
        <p:grpSpPr>
          <a:xfrm>
            <a:off x="4609540" y="3561343"/>
            <a:ext cx="5635350" cy="3304678"/>
            <a:chOff x="3683109" y="3561343"/>
            <a:chExt cx="5635350" cy="3304678"/>
          </a:xfrm>
        </p:grpSpPr>
        <p:sp>
          <p:nvSpPr>
            <p:cNvPr id="2" name="Frame 1">
              <a:extLst>
                <a:ext uri="{FF2B5EF4-FFF2-40B4-BE49-F238E27FC236}">
                  <a16:creationId xmlns:a16="http://schemas.microsoft.com/office/drawing/2014/main" id="{3FCD87BC-4B27-2D4D-9019-FA6704BCECB9}"/>
                </a:ext>
              </a:extLst>
            </p:cNvPr>
            <p:cNvSpPr/>
            <p:nvPr/>
          </p:nvSpPr>
          <p:spPr>
            <a:xfrm>
              <a:off x="4331369" y="3561343"/>
              <a:ext cx="4451684" cy="2899610"/>
            </a:xfrm>
            <a:prstGeom prst="frame">
              <a:avLst>
                <a:gd name="adj1" fmla="val 882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pic>
          <p:nvPicPr>
            <p:cNvPr id="12" name="Picture 2">
              <a:extLst>
                <a:ext uri="{FF2B5EF4-FFF2-40B4-BE49-F238E27FC236}">
                  <a16:creationId xmlns:a16="http://schemas.microsoft.com/office/drawing/2014/main" id="{8841051F-918F-F248-AB97-E98495310F2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90049"/>
            <a:stretch/>
          </p:blipFill>
          <p:spPr bwMode="auto">
            <a:xfrm>
              <a:off x="3683109" y="6533147"/>
              <a:ext cx="5635350" cy="33287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E4DA7F5-C988-3DCF-DA3D-43E76400A03B}"/>
                  </a:ext>
                </a:extLst>
              </p:cNvPr>
              <p:cNvSpPr txBox="1"/>
              <p:nvPr/>
            </p:nvSpPr>
            <p:spPr>
              <a:xfrm>
                <a:off x="9770645" y="4078705"/>
                <a:ext cx="2171700" cy="13739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Sketch what you think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num>
                              <m:den>
                                <m:r>
                                  <a:rPr lang="en-US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en-US" dirty="0"/>
                  <a:t> would look like for the cold and hot isotherms.  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E4DA7F5-C988-3DCF-DA3D-43E76400A0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70645" y="4078705"/>
                <a:ext cx="2171700" cy="1373966"/>
              </a:xfrm>
              <a:prstGeom prst="rect">
                <a:avLst/>
              </a:prstGeom>
              <a:blipFill>
                <a:blip r:embed="rId4"/>
                <a:stretch>
                  <a:fillRect l="-2326" t="-1835" b="-55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09CDBA09-35B1-0741-8647-31209C5FF939}"/>
              </a:ext>
            </a:extLst>
          </p:cNvPr>
          <p:cNvSpPr txBox="1"/>
          <p:nvPr/>
        </p:nvSpPr>
        <p:spPr>
          <a:xfrm>
            <a:off x="0" y="-3336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Numerical derivatives of Boyle isotherms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8125E35-77BB-B028-B2C7-9DCF5D647195}"/>
                  </a:ext>
                </a:extLst>
              </p:cNvPr>
              <p:cNvSpPr txBox="1"/>
              <p:nvPr/>
            </p:nvSpPr>
            <p:spPr>
              <a:xfrm>
                <a:off x="2901855" y="868726"/>
                <a:ext cx="327403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8125E35-77BB-B028-B2C7-9DCF5D6471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1855" y="868726"/>
                <a:ext cx="3274035" cy="369332"/>
              </a:xfrm>
              <a:prstGeom prst="rect">
                <a:avLst/>
              </a:prstGeom>
              <a:blipFill>
                <a:blip r:embed="rId5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AA1FAA4-64D5-69E5-330A-388E88CB20AA}"/>
                  </a:ext>
                </a:extLst>
              </p:cNvPr>
              <p:cNvSpPr txBox="1"/>
              <p:nvPr/>
            </p:nvSpPr>
            <p:spPr>
              <a:xfrm>
                <a:off x="2700745" y="4628203"/>
                <a:ext cx="3274035" cy="6610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num>
                                <m:den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𝑉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AA1FAA4-64D5-69E5-330A-388E88CB20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0745" y="4628203"/>
                <a:ext cx="3274035" cy="661015"/>
              </a:xfrm>
              <a:prstGeom prst="rect">
                <a:avLst/>
              </a:prstGeom>
              <a:blipFill>
                <a:blip r:embed="rId6"/>
                <a:stretch>
                  <a:fillRect b="-18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302344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ADCE9097-5319-F2E7-0570-ED096AA5BBA4}"/>
              </a:ext>
            </a:extLst>
          </p:cNvPr>
          <p:cNvGrpSpPr/>
          <p:nvPr/>
        </p:nvGrpSpPr>
        <p:grpSpPr>
          <a:xfrm>
            <a:off x="73751" y="1242705"/>
            <a:ext cx="4761940" cy="3690242"/>
            <a:chOff x="969023" y="1088136"/>
            <a:chExt cx="7147673" cy="5364480"/>
          </a:xfrm>
        </p:grpSpPr>
        <p:pic>
          <p:nvPicPr>
            <p:cNvPr id="9" name="Picture 2">
              <a:extLst>
                <a:ext uri="{FF2B5EF4-FFF2-40B4-BE49-F238E27FC236}">
                  <a16:creationId xmlns:a16="http://schemas.microsoft.com/office/drawing/2014/main" id="{A0DA1576-4D1E-377D-705A-ED43EAEBC6E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9023" y="1088136"/>
              <a:ext cx="7147673" cy="53644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1AB5C9AC-593B-3178-C045-65C979A11A0F}"/>
                </a:ext>
              </a:extLst>
            </p:cNvPr>
            <p:cNvGrpSpPr/>
            <p:nvPr/>
          </p:nvGrpSpPr>
          <p:grpSpPr>
            <a:xfrm>
              <a:off x="5242560" y="1919950"/>
              <a:ext cx="1680754" cy="3676178"/>
              <a:chOff x="5242560" y="1919950"/>
              <a:chExt cx="1680754" cy="3676178"/>
            </a:xfrm>
          </p:grpSpPr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C6E750D0-4D9D-A3F1-E29E-DFF061602E21}"/>
                  </a:ext>
                </a:extLst>
              </p:cNvPr>
              <p:cNvCxnSpPr/>
              <p:nvPr/>
            </p:nvCxnSpPr>
            <p:spPr>
              <a:xfrm flipV="1">
                <a:off x="5242560" y="3060192"/>
                <a:ext cx="0" cy="2535936"/>
              </a:xfrm>
              <a:prstGeom prst="line">
                <a:avLst/>
              </a:prstGeom>
              <a:ln w="63500">
                <a:solidFill>
                  <a:schemeClr val="accent4">
                    <a:lumMod val="75000"/>
                    <a:alpha val="43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F67ACBA9-9133-9727-872B-65BDED4F30A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242561" y="4455886"/>
                <a:ext cx="1550125" cy="1140242"/>
              </a:xfrm>
              <a:prstGeom prst="line">
                <a:avLst/>
              </a:prstGeom>
              <a:ln w="63500">
                <a:solidFill>
                  <a:schemeClr val="accent4">
                    <a:lumMod val="75000"/>
                    <a:alpha val="43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D1D12EFA-D211-1630-A774-8C26457E143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242562" y="1919950"/>
                <a:ext cx="1680752" cy="1140242"/>
              </a:xfrm>
              <a:prstGeom prst="line">
                <a:avLst/>
              </a:prstGeom>
              <a:ln w="63500">
                <a:solidFill>
                  <a:schemeClr val="accent4">
                    <a:lumMod val="75000"/>
                    <a:alpha val="43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D3ABAA8A-E8B9-A7F4-640A-C81C7170EFD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792686" y="1919950"/>
                <a:ext cx="130628" cy="2535936"/>
              </a:xfrm>
              <a:prstGeom prst="line">
                <a:avLst/>
              </a:prstGeom>
              <a:ln w="63500">
                <a:solidFill>
                  <a:schemeClr val="accent4">
                    <a:lumMod val="75000"/>
                    <a:alpha val="43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17DE572D-3010-4583-371E-A54CC835C513}"/>
                </a:ext>
              </a:extLst>
            </p:cNvPr>
            <p:cNvGrpSpPr/>
            <p:nvPr/>
          </p:nvGrpSpPr>
          <p:grpSpPr>
            <a:xfrm>
              <a:off x="2594112" y="1767840"/>
              <a:ext cx="1639263" cy="3258167"/>
              <a:chOff x="5153423" y="2337961"/>
              <a:chExt cx="1639263" cy="3258167"/>
            </a:xfrm>
          </p:grpSpPr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C9942737-5E8E-C0EF-3A61-E45E5F7B816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153423" y="3191401"/>
                <a:ext cx="89137" cy="2404727"/>
              </a:xfrm>
              <a:prstGeom prst="line">
                <a:avLst/>
              </a:prstGeom>
              <a:ln w="63500">
                <a:solidFill>
                  <a:schemeClr val="accent4">
                    <a:lumMod val="75000"/>
                    <a:alpha val="43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F97A3EC1-4EF5-AB01-7124-A93101BB13C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242562" y="5258031"/>
                <a:ext cx="484952" cy="338097"/>
              </a:xfrm>
              <a:prstGeom prst="line">
                <a:avLst/>
              </a:prstGeom>
              <a:ln w="63500">
                <a:solidFill>
                  <a:schemeClr val="accent4">
                    <a:lumMod val="75000"/>
                    <a:alpha val="43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013B566D-476C-50C8-5366-210E69BF516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153423" y="2337961"/>
                <a:ext cx="1639263" cy="853440"/>
              </a:xfrm>
              <a:prstGeom prst="line">
                <a:avLst/>
              </a:prstGeom>
              <a:ln w="63500">
                <a:solidFill>
                  <a:schemeClr val="accent4">
                    <a:lumMod val="75000"/>
                    <a:alpha val="43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6147F8F6-A511-B5D4-1E1D-CFBA1B1C93F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792685" y="2337962"/>
                <a:ext cx="1" cy="1941274"/>
              </a:xfrm>
              <a:prstGeom prst="line">
                <a:avLst/>
              </a:prstGeom>
              <a:ln w="63500">
                <a:solidFill>
                  <a:schemeClr val="accent4">
                    <a:lumMod val="75000"/>
                    <a:alpha val="43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7" name="Picture 2">
            <a:extLst>
              <a:ext uri="{FF2B5EF4-FFF2-40B4-BE49-F238E27FC236}">
                <a16:creationId xmlns:a16="http://schemas.microsoft.com/office/drawing/2014/main" id="{E854AEF6-BAF0-3940-81EA-7A6B7C94F8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9141" y="83835"/>
            <a:ext cx="5665749" cy="3345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C6ED873-6119-C64B-9F55-ABF4FC9B4179}"/>
                  </a:ext>
                </a:extLst>
              </p:cNvPr>
              <p:cNvSpPr txBox="1"/>
              <p:nvPr/>
            </p:nvSpPr>
            <p:spPr>
              <a:xfrm>
                <a:off x="2901855" y="868726"/>
                <a:ext cx="327403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C6ED873-6119-C64B-9F55-ABF4FC9B41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1855" y="868726"/>
                <a:ext cx="3274035" cy="369332"/>
              </a:xfrm>
              <a:prstGeom prst="rect">
                <a:avLst/>
              </a:prstGeom>
              <a:blipFill>
                <a:blip r:embed="rId4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9239B02-2D16-3842-B367-B281BF1DEA30}"/>
                  </a:ext>
                </a:extLst>
              </p:cNvPr>
              <p:cNvSpPr txBox="1"/>
              <p:nvPr/>
            </p:nvSpPr>
            <p:spPr>
              <a:xfrm>
                <a:off x="2700745" y="4628203"/>
                <a:ext cx="3274035" cy="6610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num>
                                <m:den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𝑉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9239B02-2D16-3842-B367-B281BF1DEA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0745" y="4628203"/>
                <a:ext cx="3274035" cy="661015"/>
              </a:xfrm>
              <a:prstGeom prst="rect">
                <a:avLst/>
              </a:prstGeom>
              <a:blipFill>
                <a:blip r:embed="rId5"/>
                <a:stretch>
                  <a:fillRect b="-18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>
            <a:extLst>
              <a:ext uri="{FF2B5EF4-FFF2-40B4-BE49-F238E27FC236}">
                <a16:creationId xmlns:a16="http://schemas.microsoft.com/office/drawing/2014/main" id="{201E6560-CC53-5691-ECF0-E9A5E7F065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2980" y="3327530"/>
            <a:ext cx="5528009" cy="3210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42E0304-B3FA-6970-FA7A-2094E4D1B726}"/>
              </a:ext>
            </a:extLst>
          </p:cNvPr>
          <p:cNvSpPr txBox="1"/>
          <p:nvPr/>
        </p:nvSpPr>
        <p:spPr>
          <a:xfrm>
            <a:off x="0" y="-3336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Numerical derivatives of Boyle isotherms</a:t>
            </a:r>
          </a:p>
        </p:txBody>
      </p:sp>
    </p:spTree>
    <p:extLst>
      <p:ext uri="{BB962C8B-B14F-4D97-AF65-F5344CB8AC3E}">
        <p14:creationId xmlns:p14="http://schemas.microsoft.com/office/powerpoint/2010/main" val="26916380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EFCCA82-DDBA-BEE5-0136-BFD560FE448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8286"/>
          <a:stretch/>
        </p:blipFill>
        <p:spPr>
          <a:xfrm>
            <a:off x="236870" y="1287377"/>
            <a:ext cx="9671190" cy="215222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F98A01D-FAD4-3DCA-CB4A-A517E75C7B32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OK, let’s get started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0F3DE19-4E74-793D-CCC4-01FC8A4CA4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3798" y="4174976"/>
            <a:ext cx="8173651" cy="1684773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4064087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2167</TotalTime>
  <Words>204</Words>
  <Application>Microsoft Macintosh PowerPoint</Application>
  <PresentationFormat>Widescreen</PresentationFormat>
  <Paragraphs>28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Steven</cp:lastModifiedBy>
  <cp:revision>108</cp:revision>
  <dcterms:created xsi:type="dcterms:W3CDTF">2018-08-07T04:05:17Z</dcterms:created>
  <dcterms:modified xsi:type="dcterms:W3CDTF">2025-09-10T15:38:48Z</dcterms:modified>
</cp:coreProperties>
</file>