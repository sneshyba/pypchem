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59" r:id="rId2"/>
    <p:sldId id="361" r:id="rId3"/>
    <p:sldId id="3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8"/>
    <p:restoredTop sz="94611"/>
  </p:normalViewPr>
  <p:slideViewPr>
    <p:cSldViewPr snapToGrid="0" snapToObjects="1">
      <p:cViewPr varScale="1">
        <p:scale>
          <a:sx n="90" d="100"/>
          <a:sy n="90" d="100"/>
        </p:scale>
        <p:origin x="24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0B69E-D9B9-0444-BCC8-1C1CD9965834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F870A-492B-184A-B701-AD81EED75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57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F870A-492B-184A-B701-AD81EED752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0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F870A-492B-184A-B701-AD81EED752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82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F870A-492B-184A-B701-AD81EED752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5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romobenzen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en.wikipedia.org/wiki/Benzene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Argon" TargetMode="External"/><Relationship Id="rId11" Type="http://schemas.openxmlformats.org/officeDocument/2006/relationships/image" Target="../media/image3.png"/><Relationship Id="rId5" Type="http://schemas.openxmlformats.org/officeDocument/2006/relationships/image" Target="../media/image17.png"/><Relationship Id="rId10" Type="http://schemas.openxmlformats.org/officeDocument/2006/relationships/hyperlink" Target="https://en.wikipedia.org/wiki/Carbon_dioxide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en.wikipedia.org/wiki/Butane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romobenzene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en.wikipedia.org/wiki/Benzene" TargetMode="Externa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Argon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hyperlink" Target="https://en.wikipedia.org/wiki/Carbon_dioxide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en.wikipedia.org/wiki/Butan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-1" y="-2656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Some comments on the Boyle temperature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/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said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</m:oMath>
                </a14:m>
                <a:r>
                  <a:rPr lang="en-US" sz="2400" dirty="0"/>
                  <a:t> is the “crossover temperature”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𝑣𝑑𝑤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𝑖𝑑𝑒𝑎𝑙</m:t>
                        </m:r>
                      </m:sub>
                    </m:sSub>
                  </m:oMath>
                </a14:m>
                <a:r>
                  <a:rPr lang="en-US" sz="2400" dirty="0"/>
                  <a:t>. You can see from the graph on the left that this temperature depends on the volume; so a more precise definition is that it’s the asymptotic (high V) value.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  <a:blipFill>
                <a:blip r:embed="rId3"/>
                <a:stretch>
                  <a:fillRect l="-839" t="-303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568977F-E472-CE54-3DDC-101D06DFFCB4}"/>
              </a:ext>
            </a:extLst>
          </p:cNvPr>
          <p:cNvGrpSpPr/>
          <p:nvPr/>
        </p:nvGrpSpPr>
        <p:grpSpPr>
          <a:xfrm>
            <a:off x="209103" y="1809844"/>
            <a:ext cx="5271319" cy="4287408"/>
            <a:chOff x="209103" y="2248756"/>
            <a:chExt cx="5271319" cy="42874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58463E-7A0C-82D8-07D6-5708EF20FD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9103" y="2248756"/>
              <a:ext cx="5271319" cy="4287408"/>
              <a:chOff x="7124403" y="2131685"/>
              <a:chExt cx="4746444" cy="386050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AC9867C-DA52-3F68-7F20-1B4124FA35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752" t="21942" r="18560" b="11235"/>
              <a:stretch/>
            </p:blipFill>
            <p:spPr bwMode="auto">
              <a:xfrm>
                <a:off x="7124403" y="2314861"/>
                <a:ext cx="4746444" cy="36773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/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(Argon)</a:t>
                    </a: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2" t="-7317"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7F774B2-9284-9EDF-8FBA-FEC55D3683DE}"/>
                </a:ext>
              </a:extLst>
            </p:cNvPr>
            <p:cNvGrpSpPr/>
            <p:nvPr/>
          </p:nvGrpSpPr>
          <p:grpSpPr>
            <a:xfrm>
              <a:off x="3825667" y="3346932"/>
              <a:ext cx="355010" cy="2118316"/>
              <a:chOff x="3482767" y="3423132"/>
              <a:chExt cx="355010" cy="2118316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3760FF5-81ED-45A7-0FA6-6FAD85DF5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7237" y="3870122"/>
                <a:ext cx="40540" cy="1572047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59770DA-19C3-06B8-23B0-CC9E2CA97466}"/>
                  </a:ext>
                </a:extLst>
              </p:cNvPr>
              <p:cNvSpPr/>
              <p:nvPr/>
            </p:nvSpPr>
            <p:spPr>
              <a:xfrm>
                <a:off x="3510667" y="3423132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F396307-5003-CE85-DD51-0419056D85F8}"/>
                  </a:ext>
                </a:extLst>
              </p:cNvPr>
              <p:cNvSpPr/>
              <p:nvPr/>
            </p:nvSpPr>
            <p:spPr>
              <a:xfrm>
                <a:off x="3482767" y="5106683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D7361E9-D497-BE49-0BA0-91DD5C1282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82767" y="4178699"/>
                <a:ext cx="14908" cy="864484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0D0689-0F19-4DAB-0B9C-62342047B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13129"/>
              </p:ext>
            </p:extLst>
          </p:nvPr>
        </p:nvGraphicFramePr>
        <p:xfrm>
          <a:off x="5396755" y="2941123"/>
          <a:ext cx="5367528" cy="146304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87037191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2213224764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326543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6" tooltip="Arg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Argon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1.355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0.03201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17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7" tooltip="Benze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Benzene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18.24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0.1193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45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8" tooltip="Bromobenze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Bromobenzene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28.94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0.1539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20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9" tooltip="Buta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Butane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14.66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82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DA64FF-2FC2-8E22-D7B0-E3E30D8752CB}"/>
              </a:ext>
            </a:extLst>
          </p:cNvPr>
          <p:cNvSpPr txBox="1"/>
          <p:nvPr/>
        </p:nvSpPr>
        <p:spPr>
          <a:xfrm>
            <a:off x="6844959" y="2281974"/>
            <a:ext cx="132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 </a:t>
            </a:r>
          </a:p>
          <a:p>
            <a:pPr algn="ctr"/>
            <a:r>
              <a:rPr lang="en-US" b="1" dirty="0"/>
              <a:t>L</a:t>
            </a:r>
            <a:r>
              <a:rPr lang="en-US" b="1" baseline="30000" dirty="0"/>
              <a:t>2</a:t>
            </a:r>
            <a:r>
              <a:rPr lang="en-US" b="1" dirty="0"/>
              <a:t>bar/mol</a:t>
            </a:r>
            <a:r>
              <a:rPr lang="en-US" b="1" baseline="30000" dirty="0"/>
              <a:t>2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D6BE4-8A54-5483-4759-9C35F6FE6055}"/>
              </a:ext>
            </a:extLst>
          </p:cNvPr>
          <p:cNvSpPr txBox="1"/>
          <p:nvPr/>
        </p:nvSpPr>
        <p:spPr>
          <a:xfrm>
            <a:off x="8691688" y="2298385"/>
            <a:ext cx="132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 </a:t>
            </a:r>
          </a:p>
          <a:p>
            <a:pPr algn="ctr"/>
            <a:r>
              <a:rPr lang="en-US" b="1" dirty="0"/>
              <a:t>L/mol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AA1089-71AE-3B0A-4C5A-C15FF06DF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802197"/>
              </p:ext>
            </p:extLst>
          </p:nvPr>
        </p:nvGraphicFramePr>
        <p:xfrm>
          <a:off x="5396755" y="4436976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10" tooltip="Carbon dioxid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Carbon dioxide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0.0427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0EA4D-4BF0-06A4-7A0E-B4262BA95A39}"/>
                  </a:ext>
                </a:extLst>
              </p:cNvPr>
              <p:cNvSpPr txBox="1"/>
              <p:nvPr/>
            </p:nvSpPr>
            <p:spPr>
              <a:xfrm>
                <a:off x="10223866" y="2298841"/>
                <a:ext cx="1329690" cy="671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𝑩𝒐𝒚𝒍𝒆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pPr algn="ctr"/>
                <a:r>
                  <a:rPr lang="en-US" b="1" dirty="0"/>
                  <a:t>K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0EA4D-4BF0-06A4-7A0E-B4262BA95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866" y="2298841"/>
                <a:ext cx="1329690" cy="671787"/>
              </a:xfrm>
              <a:prstGeom prst="rect">
                <a:avLst/>
              </a:prstGeom>
              <a:blipFill>
                <a:blip r:embed="rId11"/>
                <a:stretch>
                  <a:fillRect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9E26E7C-3261-5F57-688C-2FA1F9FC72BE}"/>
              </a:ext>
            </a:extLst>
          </p:cNvPr>
          <p:cNvSpPr txBox="1"/>
          <p:nvPr/>
        </p:nvSpPr>
        <p:spPr>
          <a:xfrm>
            <a:off x="10353475" y="2941123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509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76C88-1F52-D640-412A-043EDC85AFDB}"/>
              </a:ext>
            </a:extLst>
          </p:cNvPr>
          <p:cNvSpPr txBox="1"/>
          <p:nvPr/>
        </p:nvSpPr>
        <p:spPr>
          <a:xfrm>
            <a:off x="10366922" y="4417610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425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E664DB-B8FC-3EA9-8196-D2995C081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060047"/>
              </p:ext>
            </p:extLst>
          </p:nvPr>
        </p:nvGraphicFramePr>
        <p:xfrm>
          <a:off x="5414685" y="4817975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u="sng" dirty="0"/>
                        <a:t>Nitrogen (N</a:t>
                      </a:r>
                      <a:r>
                        <a:rPr lang="en-US" u="sng" baseline="-25000" dirty="0"/>
                        <a:t>2</a:t>
                      </a:r>
                      <a:r>
                        <a:rPr lang="en-US" u="sng" baseline="0" dirty="0"/>
                        <a:t>)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0.0387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9B034F2-F173-5068-C739-4F5328F98ABA}"/>
              </a:ext>
            </a:extLst>
          </p:cNvPr>
          <p:cNvSpPr txBox="1"/>
          <p:nvPr/>
        </p:nvSpPr>
        <p:spPr>
          <a:xfrm>
            <a:off x="10384852" y="4798609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&gt;1000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1247B8-1A58-86D7-C139-02FF8F40C1F4}"/>
                  </a:ext>
                </a:extLst>
              </p:cNvPr>
              <p:cNvSpPr txBox="1"/>
              <p:nvPr/>
            </p:nvSpPr>
            <p:spPr>
              <a:xfrm>
                <a:off x="115080" y="5818353"/>
                <a:ext cx="11438476" cy="690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One take-home is this: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</m:oMath>
                </a14:m>
                <a:r>
                  <a:rPr lang="en-US" dirty="0"/>
                  <a:t>, there are lots of intermolecular attractions, and the pressure of the gas is less than ideal. As you can see,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𝑟𝑜𝑜𝑚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most common gases.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1247B8-1A58-86D7-C139-02FF8F40C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" y="5818353"/>
                <a:ext cx="11438476" cy="690189"/>
              </a:xfrm>
              <a:prstGeom prst="rect">
                <a:avLst/>
              </a:prstGeom>
              <a:blipFill>
                <a:blip r:embed="rId12"/>
                <a:stretch>
                  <a:fillRect l="-555" t="-1786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2524BB9-4427-D2BD-2979-8E55D3B91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19557"/>
              </p:ext>
            </p:extLst>
          </p:nvPr>
        </p:nvGraphicFramePr>
        <p:xfrm>
          <a:off x="5438589" y="5220813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u="sng" dirty="0"/>
                        <a:t>Oxygen (O</a:t>
                      </a:r>
                      <a:r>
                        <a:rPr lang="en-US" u="sng" baseline="-25000" dirty="0"/>
                        <a:t>2</a:t>
                      </a:r>
                      <a:r>
                        <a:rPr lang="en-US" u="sng" baseline="0" dirty="0"/>
                        <a:t>)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1.38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0.0319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596912F-338B-BF04-024C-637FF6E2C4AB}"/>
              </a:ext>
            </a:extLst>
          </p:cNvPr>
          <p:cNvSpPr txBox="1"/>
          <p:nvPr/>
        </p:nvSpPr>
        <p:spPr>
          <a:xfrm>
            <a:off x="10419950" y="5210247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&gt;1000</a:t>
            </a:r>
          </a:p>
        </p:txBody>
      </p:sp>
    </p:spTree>
    <p:extLst>
      <p:ext uri="{BB962C8B-B14F-4D97-AF65-F5344CB8AC3E}">
        <p14:creationId xmlns:p14="http://schemas.microsoft.com/office/powerpoint/2010/main" val="203442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-1" y="-2656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Think-pair-share about your estimation of n in the unknown gases lab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/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said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</m:oMath>
                </a14:m>
                <a:r>
                  <a:rPr lang="en-US" sz="2400" dirty="0"/>
                  <a:t> is the “crossover temperature”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𝑣𝑑𝑤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𝑖𝑑𝑒𝑎𝑙</m:t>
                        </m:r>
                      </m:sub>
                    </m:sSub>
                  </m:oMath>
                </a14:m>
                <a:r>
                  <a:rPr lang="en-US" sz="2400" dirty="0"/>
                  <a:t>. You can see from the graph on the left that this temperature depends on the volume; so a more precise definition is that it’s the asymptotic (high V) value.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  <a:blipFill>
                <a:blip r:embed="rId3"/>
                <a:stretch>
                  <a:fillRect l="-839" t="-303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568977F-E472-CE54-3DDC-101D06DFFCB4}"/>
              </a:ext>
            </a:extLst>
          </p:cNvPr>
          <p:cNvGrpSpPr/>
          <p:nvPr/>
        </p:nvGrpSpPr>
        <p:grpSpPr>
          <a:xfrm>
            <a:off x="209103" y="1809844"/>
            <a:ext cx="5271319" cy="4287408"/>
            <a:chOff x="209103" y="2248756"/>
            <a:chExt cx="5271319" cy="42874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58463E-7A0C-82D8-07D6-5708EF20FD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9103" y="2248756"/>
              <a:ext cx="5271319" cy="4287408"/>
              <a:chOff x="7124403" y="2131685"/>
              <a:chExt cx="4746444" cy="386050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AC9867C-DA52-3F68-7F20-1B4124FA35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752" t="21942" r="18560" b="11235"/>
              <a:stretch/>
            </p:blipFill>
            <p:spPr bwMode="auto">
              <a:xfrm>
                <a:off x="7124403" y="2314861"/>
                <a:ext cx="4746444" cy="36773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/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(Argon)</a:t>
                    </a: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2" t="-7317" b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7F774B2-9284-9EDF-8FBA-FEC55D3683DE}"/>
                </a:ext>
              </a:extLst>
            </p:cNvPr>
            <p:cNvGrpSpPr/>
            <p:nvPr/>
          </p:nvGrpSpPr>
          <p:grpSpPr>
            <a:xfrm>
              <a:off x="3825667" y="3346932"/>
              <a:ext cx="355010" cy="2118316"/>
              <a:chOff x="3482767" y="3423132"/>
              <a:chExt cx="355010" cy="2118316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3760FF5-81ED-45A7-0FA6-6FAD85DF5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7237" y="3870122"/>
                <a:ext cx="40540" cy="1572047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59770DA-19C3-06B8-23B0-CC9E2CA97466}"/>
                  </a:ext>
                </a:extLst>
              </p:cNvPr>
              <p:cNvSpPr/>
              <p:nvPr/>
            </p:nvSpPr>
            <p:spPr>
              <a:xfrm>
                <a:off x="3510667" y="3423132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F396307-5003-CE85-DD51-0419056D85F8}"/>
                  </a:ext>
                </a:extLst>
              </p:cNvPr>
              <p:cNvSpPr/>
              <p:nvPr/>
            </p:nvSpPr>
            <p:spPr>
              <a:xfrm>
                <a:off x="3482767" y="5106683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D7361E9-D497-BE49-0BA0-91DD5C1282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82767" y="4178699"/>
                <a:ext cx="14908" cy="864484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0D0689-0F19-4DAB-0B9C-62342047BE00}"/>
              </a:ext>
            </a:extLst>
          </p:cNvPr>
          <p:cNvGraphicFramePr>
            <a:graphicFrameLocks noGrp="1"/>
          </p:cNvGraphicFramePr>
          <p:nvPr/>
        </p:nvGraphicFramePr>
        <p:xfrm>
          <a:off x="5396755" y="2941123"/>
          <a:ext cx="5367528" cy="146304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87037191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2213224764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326543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6" tooltip="Arg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Argon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1.355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0.03201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17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7" tooltip="Benze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Benzene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18.24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0.1193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45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8" tooltip="Bromobenze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Bromobenzene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28.94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0.1539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20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9" tooltip="Buta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Butane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14.66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82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DA64FF-2FC2-8E22-D7B0-E3E30D8752CB}"/>
              </a:ext>
            </a:extLst>
          </p:cNvPr>
          <p:cNvSpPr txBox="1"/>
          <p:nvPr/>
        </p:nvSpPr>
        <p:spPr>
          <a:xfrm>
            <a:off x="6844959" y="2281974"/>
            <a:ext cx="132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 </a:t>
            </a:r>
          </a:p>
          <a:p>
            <a:pPr algn="ctr"/>
            <a:r>
              <a:rPr lang="en-US" b="1" dirty="0"/>
              <a:t>L</a:t>
            </a:r>
            <a:r>
              <a:rPr lang="en-US" b="1" baseline="30000" dirty="0"/>
              <a:t>2</a:t>
            </a:r>
            <a:r>
              <a:rPr lang="en-US" b="1" dirty="0"/>
              <a:t>bar/mol</a:t>
            </a:r>
            <a:r>
              <a:rPr lang="en-US" b="1" baseline="30000" dirty="0"/>
              <a:t>2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D6BE4-8A54-5483-4759-9C35F6FE6055}"/>
              </a:ext>
            </a:extLst>
          </p:cNvPr>
          <p:cNvSpPr txBox="1"/>
          <p:nvPr/>
        </p:nvSpPr>
        <p:spPr>
          <a:xfrm>
            <a:off x="8691688" y="2298385"/>
            <a:ext cx="132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 </a:t>
            </a:r>
          </a:p>
          <a:p>
            <a:pPr algn="ctr"/>
            <a:r>
              <a:rPr lang="en-US" b="1" dirty="0"/>
              <a:t>L/mol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AA1089-71AE-3B0A-4C5A-C15FF06DFB78}"/>
              </a:ext>
            </a:extLst>
          </p:cNvPr>
          <p:cNvGraphicFramePr>
            <a:graphicFrameLocks noGrp="1"/>
          </p:cNvGraphicFramePr>
          <p:nvPr/>
        </p:nvGraphicFramePr>
        <p:xfrm>
          <a:off x="5396755" y="4436976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10" tooltip="Carbon dioxid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Carbon dioxide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0.0427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0EA4D-4BF0-06A4-7A0E-B4262BA95A39}"/>
                  </a:ext>
                </a:extLst>
              </p:cNvPr>
              <p:cNvSpPr txBox="1"/>
              <p:nvPr/>
            </p:nvSpPr>
            <p:spPr>
              <a:xfrm>
                <a:off x="10223866" y="2298841"/>
                <a:ext cx="1329690" cy="671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𝑩𝒐𝒚𝒍𝒆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pPr algn="ctr"/>
                <a:r>
                  <a:rPr lang="en-US" b="1" dirty="0"/>
                  <a:t>K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0EA4D-4BF0-06A4-7A0E-B4262BA95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866" y="2298841"/>
                <a:ext cx="1329690" cy="671787"/>
              </a:xfrm>
              <a:prstGeom prst="rect">
                <a:avLst/>
              </a:prstGeom>
              <a:blipFill>
                <a:blip r:embed="rId11"/>
                <a:stretch>
                  <a:fillRect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9E26E7C-3261-5F57-688C-2FA1F9FC72BE}"/>
              </a:ext>
            </a:extLst>
          </p:cNvPr>
          <p:cNvSpPr txBox="1"/>
          <p:nvPr/>
        </p:nvSpPr>
        <p:spPr>
          <a:xfrm>
            <a:off x="10353475" y="2941123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509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76C88-1F52-D640-412A-043EDC85AFDB}"/>
              </a:ext>
            </a:extLst>
          </p:cNvPr>
          <p:cNvSpPr txBox="1"/>
          <p:nvPr/>
        </p:nvSpPr>
        <p:spPr>
          <a:xfrm>
            <a:off x="10366922" y="4417610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425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E664DB-B8FC-3EA9-8196-D2995C08106D}"/>
              </a:ext>
            </a:extLst>
          </p:cNvPr>
          <p:cNvGraphicFramePr>
            <a:graphicFrameLocks noGrp="1"/>
          </p:cNvGraphicFramePr>
          <p:nvPr/>
        </p:nvGraphicFramePr>
        <p:xfrm>
          <a:off x="5414685" y="4817975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u="sng" dirty="0"/>
                        <a:t>Nitrogen (N</a:t>
                      </a:r>
                      <a:r>
                        <a:rPr lang="en-US" u="sng" baseline="-25000" dirty="0"/>
                        <a:t>2</a:t>
                      </a:r>
                      <a:r>
                        <a:rPr lang="en-US" u="sng" baseline="0" dirty="0"/>
                        <a:t>)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0.0387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9B034F2-F173-5068-C739-4F5328F98ABA}"/>
              </a:ext>
            </a:extLst>
          </p:cNvPr>
          <p:cNvSpPr txBox="1"/>
          <p:nvPr/>
        </p:nvSpPr>
        <p:spPr>
          <a:xfrm>
            <a:off x="10384852" y="4798609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&gt;1000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1247B8-1A58-86D7-C139-02FF8F40C1F4}"/>
                  </a:ext>
                </a:extLst>
              </p:cNvPr>
              <p:cNvSpPr txBox="1"/>
              <p:nvPr/>
            </p:nvSpPr>
            <p:spPr>
              <a:xfrm>
                <a:off x="115080" y="5818353"/>
                <a:ext cx="114384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your unknown gases lab, when you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(and therefore the mass of your unknown gas), were you were </a:t>
                </a:r>
                <a:r>
                  <a:rPr lang="en-US" b="1" dirty="0"/>
                  <a:t>under-estimating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or </a:t>
                </a:r>
                <a:r>
                  <a:rPr lang="en-US" b="1" dirty="0"/>
                  <a:t>over-estimating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1247B8-1A58-86D7-C139-02FF8F40C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" y="5818353"/>
                <a:ext cx="11438476" cy="646331"/>
              </a:xfrm>
              <a:prstGeom prst="rect">
                <a:avLst/>
              </a:prstGeom>
              <a:blipFill>
                <a:blip r:embed="rId12"/>
                <a:stretch>
                  <a:fillRect l="-555"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2524BB9-4427-D2BD-2979-8E55D3B9129D}"/>
              </a:ext>
            </a:extLst>
          </p:cNvPr>
          <p:cNvGraphicFramePr>
            <a:graphicFrameLocks noGrp="1"/>
          </p:cNvGraphicFramePr>
          <p:nvPr/>
        </p:nvGraphicFramePr>
        <p:xfrm>
          <a:off x="5438589" y="5220813"/>
          <a:ext cx="5367528" cy="365760"/>
        </p:xfrm>
        <a:graphic>
          <a:graphicData uri="http://schemas.openxmlformats.org/drawingml/2006/table">
            <a:tbl>
              <a:tblPr/>
              <a:tblGrid>
                <a:gridCol w="1789176">
                  <a:extLst>
                    <a:ext uri="{9D8B030D-6E8A-4147-A177-3AD203B41FA5}">
                      <a16:colId xmlns:a16="http://schemas.microsoft.com/office/drawing/2014/main" val="2605162280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1093851682"/>
                    </a:ext>
                  </a:extLst>
                </a:gridCol>
                <a:gridCol w="1789176">
                  <a:extLst>
                    <a:ext uri="{9D8B030D-6E8A-4147-A177-3AD203B41FA5}">
                      <a16:colId xmlns:a16="http://schemas.microsoft.com/office/drawing/2014/main" val="546236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u="sng" dirty="0"/>
                        <a:t>Oxygen (O</a:t>
                      </a:r>
                      <a:r>
                        <a:rPr lang="en-US" u="sng" baseline="-25000" dirty="0"/>
                        <a:t>2</a:t>
                      </a:r>
                      <a:r>
                        <a:rPr lang="en-US" u="sng" baseline="0" dirty="0"/>
                        <a:t>)</a:t>
                      </a:r>
                      <a:endParaRPr lang="en-US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1.38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0.0319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65617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596912F-338B-BF04-024C-637FF6E2C4AB}"/>
              </a:ext>
            </a:extLst>
          </p:cNvPr>
          <p:cNvSpPr txBox="1"/>
          <p:nvPr/>
        </p:nvSpPr>
        <p:spPr>
          <a:xfrm>
            <a:off x="10419950" y="5210247"/>
            <a:ext cx="9278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&gt;1000</a:t>
            </a:r>
          </a:p>
        </p:txBody>
      </p:sp>
    </p:spTree>
    <p:extLst>
      <p:ext uri="{BB962C8B-B14F-4D97-AF65-F5344CB8AC3E}">
        <p14:creationId xmlns:p14="http://schemas.microsoft.com/office/powerpoint/2010/main" val="423266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-1" y="-2656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Blackboard challenge: Analytical derivation of the Boyle temperature of a vdw gas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/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“crossover temperature” is the temperature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𝑣𝑑𝑤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𝑖𝑑𝑒𝑎𝑙</m:t>
                        </m:r>
                      </m:sub>
                    </m:sSub>
                  </m:oMath>
                </a14:m>
                <a:r>
                  <a:rPr lang="en-US" sz="2400" dirty="0"/>
                  <a:t>. You can see from the graph on the left that this temperature gets a little higher at higher volumes, flattening out asymptotically. </a:t>
                </a:r>
                <a:r>
                  <a:rPr lang="en-US" sz="2400" b="1" dirty="0"/>
                  <a:t>That asymptotic value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2F3AC64-583D-A5FF-EB8D-8853614DF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124"/>
                <a:ext cx="12100336" cy="1234184"/>
              </a:xfrm>
              <a:prstGeom prst="rect">
                <a:avLst/>
              </a:prstGeom>
              <a:blipFill>
                <a:blip r:embed="rId3"/>
                <a:stretch>
                  <a:fillRect l="-839" t="-3030" b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568977F-E472-CE54-3DDC-101D06DFFCB4}"/>
              </a:ext>
            </a:extLst>
          </p:cNvPr>
          <p:cNvGrpSpPr/>
          <p:nvPr/>
        </p:nvGrpSpPr>
        <p:grpSpPr>
          <a:xfrm>
            <a:off x="209103" y="1809844"/>
            <a:ext cx="5271319" cy="4287408"/>
            <a:chOff x="209103" y="2248756"/>
            <a:chExt cx="5271319" cy="42874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58463E-7A0C-82D8-07D6-5708EF20FD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9103" y="2248756"/>
              <a:ext cx="5271319" cy="4287408"/>
              <a:chOff x="7124403" y="2131685"/>
              <a:chExt cx="4746444" cy="386050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AC9867C-DA52-3F68-7F20-1B4124FA35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752" t="21942" r="18560" b="11235"/>
              <a:stretch/>
            </p:blipFill>
            <p:spPr bwMode="auto">
              <a:xfrm>
                <a:off x="7124403" y="2314861"/>
                <a:ext cx="4746444" cy="36773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/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(Argon)</a:t>
                    </a: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4FAB91-1A40-EC89-9273-1C1788BBD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9639" y="2131685"/>
                    <a:ext cx="365519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2" t="-7317" b="-19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7F774B2-9284-9EDF-8FBA-FEC55D3683DE}"/>
                </a:ext>
              </a:extLst>
            </p:cNvPr>
            <p:cNvGrpSpPr/>
            <p:nvPr/>
          </p:nvGrpSpPr>
          <p:grpSpPr>
            <a:xfrm>
              <a:off x="3825667" y="3346932"/>
              <a:ext cx="355010" cy="2118316"/>
              <a:chOff x="3482767" y="3423132"/>
              <a:chExt cx="355010" cy="2118316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3760FF5-81ED-45A7-0FA6-6FAD85DF5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7237" y="3870122"/>
                <a:ext cx="40540" cy="1572047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59770DA-19C3-06B8-23B0-CC9E2CA97466}"/>
                  </a:ext>
                </a:extLst>
              </p:cNvPr>
              <p:cNvSpPr/>
              <p:nvPr/>
            </p:nvSpPr>
            <p:spPr>
              <a:xfrm>
                <a:off x="3510667" y="3423132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F396307-5003-CE85-DD51-0419056D85F8}"/>
                  </a:ext>
                </a:extLst>
              </p:cNvPr>
              <p:cNvSpPr/>
              <p:nvPr/>
            </p:nvSpPr>
            <p:spPr>
              <a:xfrm>
                <a:off x="3482767" y="5106683"/>
                <a:ext cx="321104" cy="434765"/>
              </a:xfrm>
              <a:custGeom>
                <a:avLst/>
                <a:gdLst>
                  <a:gd name="connsiteX0" fmla="*/ 321104 w 321104"/>
                  <a:gd name="connsiteY0" fmla="*/ 434765 h 434765"/>
                  <a:gd name="connsiteX1" fmla="*/ 308042 w 321104"/>
                  <a:gd name="connsiteY1" fmla="*/ 317199 h 434765"/>
                  <a:gd name="connsiteX2" fmla="*/ 277562 w 321104"/>
                  <a:gd name="connsiteY2" fmla="*/ 256239 h 434765"/>
                  <a:gd name="connsiteX3" fmla="*/ 234019 w 321104"/>
                  <a:gd name="connsiteY3" fmla="*/ 190925 h 434765"/>
                  <a:gd name="connsiteX4" fmla="*/ 125162 w 321104"/>
                  <a:gd name="connsiteY4" fmla="*/ 95131 h 434765"/>
                  <a:gd name="connsiteX5" fmla="*/ 33722 w 321104"/>
                  <a:gd name="connsiteY5" fmla="*/ 25462 h 434765"/>
                  <a:gd name="connsiteX6" fmla="*/ 3242 w 321104"/>
                  <a:gd name="connsiteY6" fmla="*/ 3691 h 43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104" h="434765">
                    <a:moveTo>
                      <a:pt x="321104" y="434765"/>
                    </a:moveTo>
                    <a:cubicBezTo>
                      <a:pt x="318201" y="390859"/>
                      <a:pt x="315299" y="346953"/>
                      <a:pt x="308042" y="317199"/>
                    </a:cubicBezTo>
                    <a:cubicBezTo>
                      <a:pt x="300785" y="287445"/>
                      <a:pt x="289899" y="277285"/>
                      <a:pt x="277562" y="256239"/>
                    </a:cubicBezTo>
                    <a:cubicBezTo>
                      <a:pt x="265225" y="235193"/>
                      <a:pt x="259419" y="217776"/>
                      <a:pt x="234019" y="190925"/>
                    </a:cubicBezTo>
                    <a:cubicBezTo>
                      <a:pt x="208619" y="164074"/>
                      <a:pt x="158545" y="122708"/>
                      <a:pt x="125162" y="95131"/>
                    </a:cubicBezTo>
                    <a:cubicBezTo>
                      <a:pt x="91779" y="67554"/>
                      <a:pt x="54042" y="40702"/>
                      <a:pt x="33722" y="25462"/>
                    </a:cubicBezTo>
                    <a:cubicBezTo>
                      <a:pt x="13402" y="10222"/>
                      <a:pt x="-8369" y="-7920"/>
                      <a:pt x="3242" y="3691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D7361E9-D497-BE49-0BA0-91DD5C1282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82767" y="4178699"/>
                <a:ext cx="14908" cy="864484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7CCB28-ABA9-2BD2-20BA-07F756B91470}"/>
              </a:ext>
            </a:extLst>
          </p:cNvPr>
          <p:cNvGrpSpPr/>
          <p:nvPr/>
        </p:nvGrpSpPr>
        <p:grpSpPr>
          <a:xfrm>
            <a:off x="5991027" y="1881828"/>
            <a:ext cx="6251485" cy="3962561"/>
            <a:chOff x="5698927" y="2320740"/>
            <a:chExt cx="6251485" cy="3962561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8C4545B-66A8-830B-2BC7-F3276C9CD4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8927" y="2320740"/>
              <a:ext cx="5274242" cy="3962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F335FFE-BD0E-2114-F86E-7695167F79A1}"/>
                    </a:ext>
                  </a:extLst>
                </p:cNvPr>
                <p:cNvSpPr txBox="1"/>
                <p:nvPr/>
              </p:nvSpPr>
              <p:spPr>
                <a:xfrm>
                  <a:off x="9995926" y="2658664"/>
                  <a:ext cx="1954486" cy="4575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𝐵𝑜𝑦𝑙𝑒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F335FFE-BD0E-2114-F86E-7695167F7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5926" y="2658664"/>
                  <a:ext cx="1954486" cy="457561"/>
                </a:xfrm>
                <a:prstGeom prst="rect">
                  <a:avLst/>
                </a:prstGeom>
                <a:blipFill>
                  <a:blip r:embed="rId7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272CB9-82E9-A54E-8249-B2596F207B03}"/>
                  </a:ext>
                </a:extLst>
              </p:cNvPr>
              <p:cNvSpPr txBox="1"/>
              <p:nvPr/>
            </p:nvSpPr>
            <p:spPr>
              <a:xfrm>
                <a:off x="157168" y="5972950"/>
                <a:ext cx="11943167" cy="495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Derive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</m:oMath>
                </a14:m>
                <a:r>
                  <a:rPr lang="en-US" sz="2400" dirty="0"/>
                  <a:t>, the asymptotic (large V) limit of the crossover temperature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272CB9-82E9-A54E-8249-B2596F207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8" y="5972950"/>
                <a:ext cx="11943167" cy="495520"/>
              </a:xfrm>
              <a:prstGeom prst="rect">
                <a:avLst/>
              </a:prstGeom>
              <a:blipFill>
                <a:blip r:embed="rId8"/>
                <a:stretch>
                  <a:fillRect l="-850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73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364</Words>
  <Application>Microsoft Macintosh PowerPoint</Application>
  <PresentationFormat>Widescreen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82</cp:revision>
  <dcterms:created xsi:type="dcterms:W3CDTF">2018-08-07T04:05:17Z</dcterms:created>
  <dcterms:modified xsi:type="dcterms:W3CDTF">2025-09-14T17:06:35Z</dcterms:modified>
</cp:coreProperties>
</file>