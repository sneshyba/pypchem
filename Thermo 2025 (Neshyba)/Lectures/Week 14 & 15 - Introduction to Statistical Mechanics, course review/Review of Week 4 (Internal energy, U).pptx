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9" r:id="rId2"/>
    <p:sldId id="355" r:id="rId3"/>
    <p:sldId id="385" r:id="rId4"/>
    <p:sldId id="763" r:id="rId5"/>
    <p:sldId id="512" r:id="rId6"/>
    <p:sldId id="348" r:id="rId7"/>
    <p:sldId id="764" r:id="rId8"/>
    <p:sldId id="372" r:id="rId9"/>
    <p:sldId id="762" r:id="rId10"/>
    <p:sldId id="72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418"/>
    <p:restoredTop sz="96405"/>
  </p:normalViewPr>
  <p:slideViewPr>
    <p:cSldViewPr snapToGrid="0" snapToObjects="1">
      <p:cViewPr varScale="1">
        <p:scale>
          <a:sx n="97" d="100"/>
          <a:sy n="97" d="100"/>
        </p:scale>
        <p:origin x="21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2C55F-A764-FC44-BEEE-D7C4EE71CF9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BFE5B-39E0-E946-A2B0-503E8D947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6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4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26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DAEAE-9380-E944-B8FB-BA1C7F70F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B660F-C7FA-FD4B-9125-440DD77CA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70AC7-35E0-804C-83C2-2FCF68B7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12328-6AE1-D649-A994-8ED4E1F7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DA7EC-971F-1841-B9BC-E9CB596E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83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7BB4-0641-4A4B-8296-DDF56F85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D00AF-0F67-A34C-BB2B-FDA93BE8D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1FB90-97B5-7941-906A-983BDD568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1C833-215A-EB41-84A4-79332BC0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E93B9-C539-8E4D-AD7E-E7C690EA8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2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2408-1BC0-654A-A582-CEAF56CD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11575-C03F-D941-AC7A-1BBA414FD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1C42C-4E2B-134F-902C-08560B4A5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76FD7-258A-EB45-BBC8-CCB4BDE3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C9ECD-5699-7D45-8A20-2E0A5F63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2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3DD3-1F11-0243-A23B-38A2A947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FEF30-3D4D-544E-9C49-027C76B5F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BA7E-B629-D548-9174-30E9EF4B8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DC3EA-551B-EF47-B5CE-45B806E1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3BE34-6A7D-9243-824B-85C4DBF1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08E7B-A7CF-E647-9BDA-7CE7791D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2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7695F-F03B-184F-A2DC-89AE1548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26B73-B2BA-9347-AD61-E1DD60724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A2C09-C6FC-7B47-9E19-AAF4FE677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F706F-D53E-7D4A-9F46-6F41A0EF7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8DF7E-3979-B544-BAB5-3D07852D9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D21FC-F29A-DA4E-9CC4-4E2616B9B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BB0028-C7C7-0241-8508-51BB50763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BC0A7-4482-C14D-AB22-D8F7920B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6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37ED-3847-6A45-BF4D-1D1D0518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75824-36F6-8849-B482-4C934324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B2867-D5B3-D846-9A26-B1F13048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C2380-C1A3-0C46-9694-6B58E315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C3485-4BBD-094F-9138-E7A0B14C8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84B16-F00E-9C48-9288-EFC0740B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47089-8451-3C44-BC05-933A41B8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7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9D60-9420-5645-85FC-6E94DDC6F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D5CF-CDFD-504C-BB58-BA1F0B75F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595C8-268C-7148-A4C2-D29D40834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D1EA6-F10C-D34F-9734-31F1E103E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6D20A-EB3F-DA46-946B-5ED5FF96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AC6E4-B8F4-3A40-B997-EFCD1D54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6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A9F5-254E-BF49-BCAC-C7180E87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3CCD3-7E1A-D84B-87A8-018BD576A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240E1-FD7E-1E4D-A4E9-F520F8C1B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F3B33-5ED4-1242-8F8D-2BDA6B1E2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BA30C-2A0A-CE47-BF09-5EFAB0BF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7664F-57C9-2B44-A85A-52F1F4CA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5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46E2D-2C6E-5B4B-AEE1-7BDAB3DD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3D927-F1E1-1945-8A7D-548A36ADD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2AAA9-DA94-7045-B335-79DBA0ED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22B07-893F-D24F-A5D9-C55A33EA6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3E4E8-2A3C-1D4D-BFC0-F4F7ACAF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0F7E4D-E1FB-814B-911A-C870A3B29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6E505-7FEA-D54A-9D27-64BA67D71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6782D-1E97-7544-B9FB-BFB3EDF4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12A7C-1E52-0E49-B263-DA729878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475FE-CF97-B941-BE85-FF5708E14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E024D-FD5F-5C4F-BEB6-1FFA516A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EE4D0-7211-A941-B8DD-35E7D2F1D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6B5B1-3B7C-E946-9A6C-B4E8E5DE3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8FD4A-6E0D-1944-BA5F-1755D1A7DD7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1E672-1AA3-1342-9A1E-E5B7461BC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60A30-CACC-824C-8AB1-51BF6E363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2522F-1145-5147-8D77-B46264708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image" Target="../media/image2.png"/><Relationship Id="rId7" Type="http://schemas.openxmlformats.org/officeDocument/2006/relationships/hyperlink" Target="https://www.huntresearchgroup.org.uk/movies/water_rotation_animation.gi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gif"/><Relationship Id="rId5" Type="http://schemas.openxmlformats.org/officeDocument/2006/relationships/hyperlink" Target="https://bestanimations.com/Science/Chemistry/molecules/3-molecules-vibrating.GIF" TargetMode="External"/><Relationship Id="rId4" Type="http://schemas.openxmlformats.org/officeDocument/2006/relationships/image" Target="../media/image210.png"/><Relationship Id="rId9" Type="http://schemas.openxmlformats.org/officeDocument/2006/relationships/image" Target="../media/image5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00.png"/><Relationship Id="rId3" Type="http://schemas.openxmlformats.org/officeDocument/2006/relationships/image" Target="../media/image3.gif"/><Relationship Id="rId7" Type="http://schemas.openxmlformats.org/officeDocument/2006/relationships/image" Target="../media/image40.png"/><Relationship Id="rId12" Type="http://schemas.openxmlformats.org/officeDocument/2006/relationships/image" Target="../media/image11.gif"/><Relationship Id="rId2" Type="http://schemas.openxmlformats.org/officeDocument/2006/relationships/hyperlink" Target="https://bestanimations.com/Science/Chemistry/molecules/3-molecules-vibrating.GIF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gif"/><Relationship Id="rId11" Type="http://schemas.openxmlformats.org/officeDocument/2006/relationships/image" Target="../media/image10.png"/><Relationship Id="rId5" Type="http://schemas.openxmlformats.org/officeDocument/2006/relationships/hyperlink" Target="https://huntresearchgroup.org.uk/teaching/teaching_comp_chem_203_qm/N2_vibration.gif" TargetMode="External"/><Relationship Id="rId10" Type="http://schemas.openxmlformats.org/officeDocument/2006/relationships/image" Target="../media/image70.png"/><Relationship Id="rId4" Type="http://schemas.openxmlformats.org/officeDocument/2006/relationships/image" Target="../media/image20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7.png"/><Relationship Id="rId3" Type="http://schemas.openxmlformats.org/officeDocument/2006/relationships/image" Target="../media/image3.gif"/><Relationship Id="rId7" Type="http://schemas.openxmlformats.org/officeDocument/2006/relationships/image" Target="../media/image14.png"/><Relationship Id="rId12" Type="http://schemas.openxmlformats.org/officeDocument/2006/relationships/image" Target="../media/image11.gif"/><Relationship Id="rId2" Type="http://schemas.openxmlformats.org/officeDocument/2006/relationships/hyperlink" Target="https://bestanimations.com/Science/Chemistry/molecules/3-molecules-vibrating.GIF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gif"/><Relationship Id="rId11" Type="http://schemas.openxmlformats.org/officeDocument/2006/relationships/image" Target="../media/image10.png"/><Relationship Id="rId5" Type="http://schemas.openxmlformats.org/officeDocument/2006/relationships/hyperlink" Target="https://huntresearchgroup.org.uk/teaching/teaching_comp_chem_203_qm/N2_vibration.gif" TargetMode="Externa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A59CE-56E1-C6F6-17F4-BC62101D096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Week 4 – Introduced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as a measure of a system’s energy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A59CE-56E1-C6F6-17F4-BC62101D0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572E7F1-79B0-A977-8DB5-5CEF5A19980B}"/>
              </a:ext>
            </a:extLst>
          </p:cNvPr>
          <p:cNvGrpSpPr>
            <a:grpSpLocks noChangeAspect="1"/>
          </p:cNvGrpSpPr>
          <p:nvPr/>
        </p:nvGrpSpPr>
        <p:grpSpPr>
          <a:xfrm>
            <a:off x="82806" y="1474103"/>
            <a:ext cx="5073942" cy="4007678"/>
            <a:chOff x="2327565" y="1135833"/>
            <a:chExt cx="6096000" cy="48149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EAF88D4-CB57-8CA3-0373-83B87A0E0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7565" y="1135833"/>
              <a:ext cx="6096000" cy="48149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6B4B20-736C-2498-98FA-7F20A89EC7BA}"/>
                    </a:ext>
                  </a:extLst>
                </p:cNvPr>
                <p:cNvSpPr txBox="1"/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365CC7-20A1-9014-65C6-51A2C2D6F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099" r="-6593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743CB0-16BE-A9C8-E328-E97BB8EDC221}"/>
              </a:ext>
            </a:extLst>
          </p:cNvPr>
          <p:cNvGrpSpPr/>
          <p:nvPr/>
        </p:nvGrpSpPr>
        <p:grpSpPr>
          <a:xfrm>
            <a:off x="4849092" y="3992799"/>
            <a:ext cx="7190508" cy="2483373"/>
            <a:chOff x="4849092" y="3992799"/>
            <a:chExt cx="7190508" cy="2483373"/>
          </a:xfrm>
        </p:grpSpPr>
        <p:pic>
          <p:nvPicPr>
            <p:cNvPr id="1026" name="Picture 2" descr="Chemical Bonding Gif">
              <a:hlinkClick r:id="rId5"/>
              <a:extLst>
                <a:ext uri="{FF2B5EF4-FFF2-40B4-BE49-F238E27FC236}">
                  <a16:creationId xmlns:a16="http://schemas.microsoft.com/office/drawing/2014/main" id="{DC8552EE-F9E4-25CF-D52D-4C2C8ECA89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1864" y="5014518"/>
              <a:ext cx="4384963" cy="1461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4C5D97-9512-92C2-6B10-D9DB8AA3D667}"/>
                </a:ext>
              </a:extLst>
            </p:cNvPr>
            <p:cNvSpPr txBox="1"/>
            <p:nvPr/>
          </p:nvSpPr>
          <p:spPr>
            <a:xfrm>
              <a:off x="4849092" y="3992799"/>
              <a:ext cx="71905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There’s also </a:t>
              </a:r>
              <a:r>
                <a:rPr lang="en-US" sz="2400" b="1" dirty="0"/>
                <a:t>vibrational </a:t>
              </a:r>
              <a:r>
                <a:rPr lang="en-US" sz="2400" dirty="0"/>
                <a:t>motion, in which </a:t>
              </a:r>
              <a:r>
                <a:rPr lang="en-US" sz="2400" b="1" dirty="0"/>
                <a:t>kinetic energy</a:t>
              </a:r>
              <a:r>
                <a:rPr lang="en-US" sz="2400" dirty="0"/>
                <a:t> and </a:t>
              </a:r>
              <a:r>
                <a:rPr lang="en-US" sz="2400" b="1" dirty="0"/>
                <a:t>potential energy </a:t>
              </a:r>
              <a:r>
                <a:rPr lang="en-US" sz="2400" dirty="0"/>
                <a:t>are constantly trading off. 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0791999-50DD-D277-23FC-A2CBA7A71E1B}"/>
              </a:ext>
            </a:extLst>
          </p:cNvPr>
          <p:cNvSpPr txBox="1"/>
          <p:nvPr/>
        </p:nvSpPr>
        <p:spPr>
          <a:xfrm>
            <a:off x="4849092" y="1612879"/>
            <a:ext cx="7190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There’s </a:t>
            </a:r>
            <a:r>
              <a:rPr lang="en-US" sz="2400" b="1" dirty="0"/>
              <a:t>translational and</a:t>
            </a:r>
            <a:r>
              <a:rPr lang="en-US" sz="2400" dirty="0"/>
              <a:t> </a:t>
            </a:r>
            <a:r>
              <a:rPr lang="en-US" sz="2400" b="1" dirty="0"/>
              <a:t>rotational</a:t>
            </a:r>
            <a:r>
              <a:rPr lang="en-US" sz="2400" dirty="0"/>
              <a:t> motion, which is all </a:t>
            </a:r>
            <a:r>
              <a:rPr lang="en-US" sz="2400" b="1" dirty="0"/>
              <a:t>kinetic energy</a:t>
            </a:r>
            <a:r>
              <a:rPr lang="en-US" sz="2400" dirty="0"/>
              <a:t>: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5BAE7-0E30-D919-7817-A6FD1678BE9F}"/>
              </a:ext>
            </a:extLst>
          </p:cNvPr>
          <p:cNvSpPr txBox="1"/>
          <p:nvPr/>
        </p:nvSpPr>
        <p:spPr>
          <a:xfrm>
            <a:off x="4849092" y="709565"/>
            <a:ext cx="7190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energy in a sample (say, a mole of gas) can take various forms:</a:t>
            </a:r>
          </a:p>
        </p:txBody>
      </p:sp>
      <p:pic>
        <p:nvPicPr>
          <p:cNvPr id="1028" name="Picture 4" descr="Liquid Molecules Gif">
            <a:hlinkClick r:id="rId7"/>
            <a:extLst>
              <a:ext uri="{FF2B5EF4-FFF2-40B4-BE49-F238E27FC236}">
                <a16:creationId xmlns:a16="http://schemas.microsoft.com/office/drawing/2014/main" id="{D3F4F318-696B-2AAF-B786-7C0877CDB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2443876"/>
            <a:ext cx="1219200" cy="113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A9A3F7EE-E206-5D89-7730-6FA11C2A6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702" y="2431212"/>
            <a:ext cx="1166781" cy="114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519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268233" y="753762"/>
                <a:ext cx="11655533" cy="2792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Equipartition Theorem </a:t>
                </a:r>
                <a:r>
                  <a:rPr lang="en-US" sz="2400" dirty="0">
                    <a:solidFill>
                      <a:schemeClr val="tx1"/>
                    </a:solidFill>
                  </a:rPr>
                  <a:t>says, for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each degree of freedom</a:t>
                </a:r>
                <a:r>
                  <a:rPr lang="en-US" sz="2400" dirty="0">
                    <a:solidFill>
                      <a:schemeClr val="tx1"/>
                    </a:solidFill>
                  </a:rPr>
                  <a:t>, a molecule’s average energy is 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Boltzmann’s constant, 1.38 x 10</a:t>
                </a:r>
                <a:r>
                  <a:rPr lang="en-US" sz="2400" baseline="30000" dirty="0">
                    <a:solidFill>
                      <a:schemeClr val="tx1"/>
                    </a:solidFill>
                  </a:rPr>
                  <a:t>-23</a:t>
                </a:r>
                <a:r>
                  <a:rPr lang="en-US" sz="2400" dirty="0">
                    <a:solidFill>
                      <a:schemeClr val="tx1"/>
                    </a:solidFill>
                  </a:rPr>
                  <a:t> J/K.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moles, energy is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𝒏𝑹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sz="2400" b="1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33" y="753762"/>
                <a:ext cx="11655533" cy="2792880"/>
              </a:xfrm>
              <a:prstGeom prst="rect">
                <a:avLst/>
              </a:prstGeom>
              <a:blipFill>
                <a:blip r:embed="rId2"/>
                <a:stretch>
                  <a:fillRect l="-871" t="-1810" r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EBBF6D4-ABF8-FA24-84DC-8921C0152884}"/>
              </a:ext>
            </a:extLst>
          </p:cNvPr>
          <p:cNvGrpSpPr/>
          <p:nvPr/>
        </p:nvGrpSpPr>
        <p:grpSpPr>
          <a:xfrm>
            <a:off x="612920" y="3380507"/>
            <a:ext cx="1468555" cy="1310640"/>
            <a:chOff x="2414016" y="3810000"/>
            <a:chExt cx="1468555" cy="131064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74F6A80-D544-CB47-B997-022B5668BC53}"/>
                </a:ext>
              </a:extLst>
            </p:cNvPr>
            <p:cNvSpPr/>
            <p:nvPr/>
          </p:nvSpPr>
          <p:spPr>
            <a:xfrm>
              <a:off x="3370507" y="3974883"/>
              <a:ext cx="512064" cy="499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FD6799E-3984-B541-825C-648DF4BF6822}"/>
                </a:ext>
              </a:extLst>
            </p:cNvPr>
            <p:cNvCxnSpPr/>
            <p:nvPr/>
          </p:nvCxnSpPr>
          <p:spPr>
            <a:xfrm flipH="1">
              <a:off x="2414016" y="4669536"/>
              <a:ext cx="585216" cy="451104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8029B3B-01FC-374E-960B-0790B1B4E5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1264" y="3810000"/>
              <a:ext cx="0" cy="859536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01F3B4C-AA10-844C-B601-5A9A68D4444B}"/>
                </a:ext>
              </a:extLst>
            </p:cNvPr>
            <p:cNvCxnSpPr>
              <a:cxnSpLocks/>
            </p:cNvCxnSpPr>
            <p:nvPr/>
          </p:nvCxnSpPr>
          <p:spPr>
            <a:xfrm>
              <a:off x="2999232" y="4672729"/>
              <a:ext cx="883339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B1F9039-DE3D-8C80-7093-5E19B272A431}"/>
                  </a:ext>
                </a:extLst>
              </p:cNvPr>
              <p:cNvSpPr/>
              <p:nvPr/>
            </p:nvSpPr>
            <p:spPr>
              <a:xfrm>
                <a:off x="2450717" y="3333682"/>
                <a:ext cx="9276522" cy="3002489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Since atoms and molecules can usually move in any of </a:t>
                </a:r>
                <a:r>
                  <a:rPr lang="en-US" sz="2400" b="1" dirty="0"/>
                  <a:t>three</a:t>
                </a:r>
                <a:r>
                  <a:rPr lang="en-US" sz="2400" dirty="0"/>
                  <a:t> directions, E</a:t>
                </a:r>
                <a:r>
                  <a:rPr lang="en-US" sz="2400" dirty="0">
                    <a:solidFill>
                      <a:schemeClr val="tx1"/>
                    </a:solidFill>
                  </a:rPr>
                  <a:t>quipartition says they will have </a:t>
                </a:r>
                <a:r>
                  <a:rPr lang="en-US" sz="2400" dirty="0"/>
                  <a:t>a</a:t>
                </a:r>
                <a:r>
                  <a:rPr lang="en-US" sz="2400" dirty="0">
                    <a:solidFill>
                      <a:schemeClr val="tx1"/>
                    </a:solidFill>
                  </a:rPr>
                  <a:t>n average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translational</a:t>
                </a:r>
                <a:r>
                  <a:rPr lang="en-US" sz="2400" dirty="0">
                    <a:solidFill>
                      <a:schemeClr val="tx1"/>
                    </a:solidFill>
                  </a:rPr>
                  <a:t> energy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𝑹𝑻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Rotational degrees of freedom each get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𝒏𝑹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Vibrational degrees of freedom each get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𝒏𝑹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B1F9039-DE3D-8C80-7093-5E19B272A4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717" y="3333682"/>
                <a:ext cx="9276522" cy="3002489"/>
              </a:xfrm>
              <a:prstGeom prst="rect">
                <a:avLst/>
              </a:prstGeom>
              <a:blipFill>
                <a:blip r:embed="rId3"/>
                <a:stretch>
                  <a:fillRect l="-819" t="-1681" b="-336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D04220-B984-31AB-0330-99DF9D1A300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Week 4 – Predicted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from the Equipartition Theorem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D04220-B984-31AB-0330-99DF9D1A3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200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Heat capacities for vibrational motion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61D192-5FB1-6E27-4935-E13877FADA0C}"/>
              </a:ext>
            </a:extLst>
          </p:cNvPr>
          <p:cNvGrpSpPr/>
          <p:nvPr/>
        </p:nvGrpSpPr>
        <p:grpSpPr>
          <a:xfrm>
            <a:off x="393413" y="3235800"/>
            <a:ext cx="6841777" cy="1667676"/>
            <a:chOff x="393413" y="3064344"/>
            <a:chExt cx="6841777" cy="16676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1DD300-C52A-6D7D-C95E-C2998DD36BBA}"/>
                </a:ext>
              </a:extLst>
            </p:cNvPr>
            <p:cNvGrpSpPr/>
            <p:nvPr/>
          </p:nvGrpSpPr>
          <p:grpSpPr>
            <a:xfrm>
              <a:off x="393413" y="3064344"/>
              <a:ext cx="6710854" cy="1624503"/>
              <a:chOff x="0" y="3154667"/>
              <a:chExt cx="6710854" cy="1624503"/>
            </a:xfrm>
          </p:grpSpPr>
          <p:pic>
            <p:nvPicPr>
              <p:cNvPr id="14" name="Picture 2" descr="Chemical Bonding Gif">
                <a:hlinkClick r:id="rId2"/>
                <a:extLst>
                  <a:ext uri="{FF2B5EF4-FFF2-40B4-BE49-F238E27FC236}">
                    <a16:creationId xmlns:a16="http://schemas.microsoft.com/office/drawing/2014/main" id="{A4E10D2B-D320-28BD-9781-8DB5ED8D06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3154667"/>
                <a:ext cx="4834890" cy="16116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E126F4-CA61-8B5B-2003-1A62A5C96532}"/>
                  </a:ext>
                </a:extLst>
              </p:cNvPr>
              <p:cNvSpPr txBox="1"/>
              <p:nvPr/>
            </p:nvSpPr>
            <p:spPr>
              <a:xfrm>
                <a:off x="967279" y="4317505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High-temperature limit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7690A1F-3397-E1D3-C33D-BBDC4B18DD8B}"/>
                      </a:ext>
                    </a:extLst>
                  </p:cNvPr>
                  <p:cNvSpPr txBox="1"/>
                  <p:nvPr/>
                </p:nvSpPr>
                <p:spPr>
                  <a:xfrm>
                    <a:off x="4893484" y="3569798"/>
                    <a:ext cx="181737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7690A1F-3397-E1D3-C33D-BBDC4B18DD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3484" y="3569798"/>
                    <a:ext cx="181737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694"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131A5523-C759-BC30-8277-9EE83149A805}"/>
                </a:ext>
              </a:extLst>
            </p:cNvPr>
            <p:cNvSpPr/>
            <p:nvPr/>
          </p:nvSpPr>
          <p:spPr>
            <a:xfrm>
              <a:off x="393413" y="3223260"/>
              <a:ext cx="6841777" cy="1508760"/>
            </a:xfrm>
            <a:prstGeom prst="frame">
              <a:avLst>
                <a:gd name="adj1" fmla="val 340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1FAFD4-2D13-6910-B540-BDC8168E8D7D}"/>
              </a:ext>
            </a:extLst>
          </p:cNvPr>
          <p:cNvGrpSpPr/>
          <p:nvPr/>
        </p:nvGrpSpPr>
        <p:grpSpPr>
          <a:xfrm>
            <a:off x="5635053" y="1200250"/>
            <a:ext cx="4480498" cy="1955711"/>
            <a:chOff x="262491" y="549557"/>
            <a:chExt cx="4480498" cy="19557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FF180F-EC99-5FD8-CAF6-5082B6CFD01A}"/>
                </a:ext>
              </a:extLst>
            </p:cNvPr>
            <p:cNvGrpSpPr/>
            <p:nvPr/>
          </p:nvGrpSpPr>
          <p:grpSpPr>
            <a:xfrm>
              <a:off x="393413" y="754510"/>
              <a:ext cx="4349576" cy="1750758"/>
              <a:chOff x="987773" y="708790"/>
              <a:chExt cx="4349576" cy="1750758"/>
            </a:xfrm>
          </p:grpSpPr>
          <p:pic>
            <p:nvPicPr>
              <p:cNvPr id="3" name="Picture 2">
                <a:hlinkClick r:id="rId5"/>
                <a:extLst>
                  <a:ext uri="{FF2B5EF4-FFF2-40B4-BE49-F238E27FC236}">
                    <a16:creationId xmlns:a16="http://schemas.microsoft.com/office/drawing/2014/main" id="{991BBCF0-A5CE-E188-1FB2-A6C1A965F3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96720" y="708790"/>
                <a:ext cx="1727548" cy="12956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7FEC5D5-C11E-ABD6-DCEE-EE34169DAC6C}"/>
                      </a:ext>
                    </a:extLst>
                  </p:cNvPr>
                  <p:cNvSpPr txBox="1"/>
                  <p:nvPr/>
                </p:nvSpPr>
                <p:spPr>
                  <a:xfrm>
                    <a:off x="3519979" y="965936"/>
                    <a:ext cx="181737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7FEC5D5-C11E-ABD6-DCEE-EE34169DAC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9979" y="965936"/>
                    <a:ext cx="1817370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94" b="-2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438352-65E6-8AFA-4DA8-FBAFE6CBAFA3}"/>
                  </a:ext>
                </a:extLst>
              </p:cNvPr>
              <p:cNvSpPr txBox="1"/>
              <p:nvPr/>
            </p:nvSpPr>
            <p:spPr>
              <a:xfrm>
                <a:off x="987773" y="1997883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High-temperature limit</a:t>
                </a:r>
              </a:p>
            </p:txBody>
          </p:sp>
        </p:grpSp>
        <p:sp>
          <p:nvSpPr>
            <p:cNvPr id="22" name="Frame 21">
              <a:extLst>
                <a:ext uri="{FF2B5EF4-FFF2-40B4-BE49-F238E27FC236}">
                  <a16:creationId xmlns:a16="http://schemas.microsoft.com/office/drawing/2014/main" id="{EC67EB1F-E0BD-B067-8E36-E8F41885E605}"/>
                </a:ext>
              </a:extLst>
            </p:cNvPr>
            <p:cNvSpPr/>
            <p:nvPr/>
          </p:nvSpPr>
          <p:spPr>
            <a:xfrm>
              <a:off x="262491" y="549557"/>
              <a:ext cx="4092340" cy="1955711"/>
            </a:xfrm>
            <a:prstGeom prst="frame">
              <a:avLst>
                <a:gd name="adj1" fmla="val 284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C392D19-BC7D-1DB8-E82C-F8DFBEBD1716}"/>
              </a:ext>
            </a:extLst>
          </p:cNvPr>
          <p:cNvGrpSpPr/>
          <p:nvPr/>
        </p:nvGrpSpPr>
        <p:grpSpPr>
          <a:xfrm>
            <a:off x="384839" y="1228824"/>
            <a:ext cx="4624357" cy="1980507"/>
            <a:chOff x="413415" y="643026"/>
            <a:chExt cx="4624357" cy="19805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4E1A5C7-6D30-4D9A-BFB1-15EDE8459BA4}"/>
                </a:ext>
              </a:extLst>
            </p:cNvPr>
            <p:cNvSpPr txBox="1"/>
            <p:nvPr/>
          </p:nvSpPr>
          <p:spPr>
            <a:xfrm>
              <a:off x="831504" y="2161868"/>
              <a:ext cx="3775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Low-temperature limit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1F80411-3423-0CA0-A79D-E90C0CE6DE90}"/>
                </a:ext>
              </a:extLst>
            </p:cNvPr>
            <p:cNvGrpSpPr/>
            <p:nvPr/>
          </p:nvGrpSpPr>
          <p:grpSpPr>
            <a:xfrm>
              <a:off x="413415" y="643026"/>
              <a:ext cx="4624357" cy="1964048"/>
              <a:chOff x="5940773" y="620581"/>
              <a:chExt cx="4624357" cy="196404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789B6F3-BE38-7903-2EBA-51AD8F1CE186}"/>
                      </a:ext>
                    </a:extLst>
                  </p:cNvPr>
                  <p:cNvSpPr txBox="1"/>
                  <p:nvPr/>
                </p:nvSpPr>
                <p:spPr>
                  <a:xfrm>
                    <a:off x="8747760" y="1132463"/>
                    <a:ext cx="181737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789B6F3-BE38-7903-2EBA-51AD8F1CE1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47760" y="1132463"/>
                    <a:ext cx="1817370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94" b="-2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5CA96C1-57A3-4432-5E68-726AEB72550A}"/>
                  </a:ext>
                </a:extLst>
              </p:cNvPr>
              <p:cNvGrpSpPr/>
              <p:nvPr/>
            </p:nvGrpSpPr>
            <p:grpSpPr>
              <a:xfrm>
                <a:off x="5940773" y="620581"/>
                <a:ext cx="4323367" cy="1964048"/>
                <a:chOff x="5940773" y="620581"/>
                <a:chExt cx="4323367" cy="1964048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09605802-81F2-7183-3DF5-D92034A9AE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56070" y="830997"/>
                  <a:ext cx="1828800" cy="1384300"/>
                </a:xfrm>
                <a:prstGeom prst="rect">
                  <a:avLst/>
                </a:prstGeom>
              </p:spPr>
            </p:pic>
            <p:sp>
              <p:nvSpPr>
                <p:cNvPr id="24" name="Frame 23">
                  <a:extLst>
                    <a:ext uri="{FF2B5EF4-FFF2-40B4-BE49-F238E27FC236}">
                      <a16:creationId xmlns:a16="http://schemas.microsoft.com/office/drawing/2014/main" id="{D4B6A33E-0A15-8C6A-4C78-1BF44588F77F}"/>
                    </a:ext>
                  </a:extLst>
                </p:cNvPr>
                <p:cNvSpPr/>
                <p:nvPr/>
              </p:nvSpPr>
              <p:spPr>
                <a:xfrm>
                  <a:off x="5940773" y="620581"/>
                  <a:ext cx="4323367" cy="1964048"/>
                </a:xfrm>
                <a:prstGeom prst="frame">
                  <a:avLst>
                    <a:gd name="adj1" fmla="val 2827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1D47FB-A958-CE4A-0315-CC012D24ED59}"/>
              </a:ext>
            </a:extLst>
          </p:cNvPr>
          <p:cNvGrpSpPr/>
          <p:nvPr/>
        </p:nvGrpSpPr>
        <p:grpSpPr>
          <a:xfrm>
            <a:off x="435813" y="5132564"/>
            <a:ext cx="3792018" cy="1415970"/>
            <a:chOff x="1560073" y="5132564"/>
            <a:chExt cx="3792018" cy="141597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046AAE9-CB1B-07D9-2F9C-0C4701BB7434}"/>
                </a:ext>
              </a:extLst>
            </p:cNvPr>
            <p:cNvGrpSpPr/>
            <p:nvPr/>
          </p:nvGrpSpPr>
          <p:grpSpPr>
            <a:xfrm>
              <a:off x="1560073" y="5339162"/>
              <a:ext cx="3792018" cy="1209372"/>
              <a:chOff x="967279" y="3569798"/>
              <a:chExt cx="3792018" cy="1209372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7D3B00D-0583-F81D-53FD-11C34A567269}"/>
                  </a:ext>
                </a:extLst>
              </p:cNvPr>
              <p:cNvSpPr txBox="1"/>
              <p:nvPr/>
            </p:nvSpPr>
            <p:spPr>
              <a:xfrm>
                <a:off x="967279" y="4317505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Low-temperature limit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2C29B7D-7DE5-83C6-2E7A-014E009567EC}"/>
                      </a:ext>
                    </a:extLst>
                  </p:cNvPr>
                  <p:cNvSpPr txBox="1"/>
                  <p:nvPr/>
                </p:nvSpPr>
                <p:spPr>
                  <a:xfrm>
                    <a:off x="2941927" y="3569798"/>
                    <a:ext cx="181737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2C29B7D-7DE5-83C6-2E7A-014E009567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1927" y="3569798"/>
                    <a:ext cx="1817370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90"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09BB378-06A1-E98D-9AA9-37ADAD6547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68796"/>
            <a:stretch/>
          </p:blipFill>
          <p:spPr>
            <a:xfrm>
              <a:off x="1778547" y="5132564"/>
              <a:ext cx="1593102" cy="10668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6B9759-F3AB-D0FC-95E8-ABF06B6B9F30}"/>
              </a:ext>
            </a:extLst>
          </p:cNvPr>
          <p:cNvGrpSpPr/>
          <p:nvPr/>
        </p:nvGrpSpPr>
        <p:grpSpPr>
          <a:xfrm>
            <a:off x="6073570" y="5082947"/>
            <a:ext cx="4287726" cy="1508760"/>
            <a:chOff x="4919140" y="5082947"/>
            <a:chExt cx="4287726" cy="1508760"/>
          </a:xfrm>
        </p:grpSpPr>
        <p:pic>
          <p:nvPicPr>
            <p:cNvPr id="36" name="Picture 2" descr="Vibration of a CO2 molecule on Make a GIF">
              <a:extLst>
                <a:ext uri="{FF2B5EF4-FFF2-40B4-BE49-F238E27FC236}">
                  <a16:creationId xmlns:a16="http://schemas.microsoft.com/office/drawing/2014/main" id="{64BAB450-0E01-0A25-46CC-FD58DF3DAA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37" b="25032"/>
            <a:stretch/>
          </p:blipFill>
          <p:spPr bwMode="auto">
            <a:xfrm>
              <a:off x="5402976" y="5448485"/>
              <a:ext cx="2278247" cy="6744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D77D889-22EC-4F58-2C67-06D26D3A96AA}"/>
                </a:ext>
              </a:extLst>
            </p:cNvPr>
            <p:cNvSpPr txBox="1"/>
            <p:nvPr/>
          </p:nvSpPr>
          <p:spPr>
            <a:xfrm>
              <a:off x="5037772" y="5984141"/>
              <a:ext cx="3775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High-temperature limit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37787-7986-6D23-EC56-203DA42B1D10}"/>
                    </a:ext>
                  </a:extLst>
                </p:cNvPr>
                <p:cNvSpPr txBox="1"/>
                <p:nvPr/>
              </p:nvSpPr>
              <p:spPr>
                <a:xfrm>
                  <a:off x="7389496" y="5342254"/>
                  <a:ext cx="181737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37787-7986-6D23-EC56-203DA42B1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9496" y="5342254"/>
                  <a:ext cx="1817370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690"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993735EE-FF05-4D61-8BAE-849D3AD38C57}"/>
                </a:ext>
              </a:extLst>
            </p:cNvPr>
            <p:cNvSpPr/>
            <p:nvPr/>
          </p:nvSpPr>
          <p:spPr>
            <a:xfrm>
              <a:off x="4919140" y="5082947"/>
              <a:ext cx="3996260" cy="1508760"/>
            </a:xfrm>
            <a:prstGeom prst="frame">
              <a:avLst>
                <a:gd name="adj1" fmla="val 340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Frame 3">
            <a:extLst>
              <a:ext uri="{FF2B5EF4-FFF2-40B4-BE49-F238E27FC236}">
                <a16:creationId xmlns:a16="http://schemas.microsoft.com/office/drawing/2014/main" id="{450F72B7-6704-47C5-1EB5-6071CC027E13}"/>
              </a:ext>
            </a:extLst>
          </p:cNvPr>
          <p:cNvSpPr/>
          <p:nvPr/>
        </p:nvSpPr>
        <p:spPr>
          <a:xfrm>
            <a:off x="415811" y="5082947"/>
            <a:ext cx="3677080" cy="1508760"/>
          </a:xfrm>
          <a:prstGeom prst="frame">
            <a:avLst>
              <a:gd name="adj1" fmla="val 3409"/>
            </a:avLst>
          </a:prstGeom>
          <a:solidFill>
            <a:schemeClr val="tx1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935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Heat capacities for vibrational motion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61D192-5FB1-6E27-4935-E13877FADA0C}"/>
              </a:ext>
            </a:extLst>
          </p:cNvPr>
          <p:cNvGrpSpPr/>
          <p:nvPr/>
        </p:nvGrpSpPr>
        <p:grpSpPr>
          <a:xfrm>
            <a:off x="393413" y="3235800"/>
            <a:ext cx="6841777" cy="1667676"/>
            <a:chOff x="393413" y="3064344"/>
            <a:chExt cx="6841777" cy="16676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1DD300-C52A-6D7D-C95E-C2998DD36BBA}"/>
                </a:ext>
              </a:extLst>
            </p:cNvPr>
            <p:cNvGrpSpPr/>
            <p:nvPr/>
          </p:nvGrpSpPr>
          <p:grpSpPr>
            <a:xfrm>
              <a:off x="393413" y="3064344"/>
              <a:ext cx="6710854" cy="1624503"/>
              <a:chOff x="0" y="3154667"/>
              <a:chExt cx="6710854" cy="1624503"/>
            </a:xfrm>
          </p:grpSpPr>
          <p:pic>
            <p:nvPicPr>
              <p:cNvPr id="14" name="Picture 2" descr="Chemical Bonding Gif">
                <a:hlinkClick r:id="rId2"/>
                <a:extLst>
                  <a:ext uri="{FF2B5EF4-FFF2-40B4-BE49-F238E27FC236}">
                    <a16:creationId xmlns:a16="http://schemas.microsoft.com/office/drawing/2014/main" id="{A4E10D2B-D320-28BD-9781-8DB5ED8D06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3154667"/>
                <a:ext cx="4834890" cy="16116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E126F4-CA61-8B5B-2003-1A62A5C96532}"/>
                  </a:ext>
                </a:extLst>
              </p:cNvPr>
              <p:cNvSpPr txBox="1"/>
              <p:nvPr/>
            </p:nvSpPr>
            <p:spPr>
              <a:xfrm>
                <a:off x="967279" y="4317505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High-temperature limit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7690A1F-3397-E1D3-C33D-BBDC4B18DD8B}"/>
                      </a:ext>
                    </a:extLst>
                  </p:cNvPr>
                  <p:cNvSpPr txBox="1"/>
                  <p:nvPr/>
                </p:nvSpPr>
                <p:spPr>
                  <a:xfrm>
                    <a:off x="4893484" y="3569798"/>
                    <a:ext cx="181737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7690A1F-3397-E1D3-C33D-BBDC4B18DD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3484" y="3569798"/>
                    <a:ext cx="181737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694"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131A5523-C759-BC30-8277-9EE83149A805}"/>
                </a:ext>
              </a:extLst>
            </p:cNvPr>
            <p:cNvSpPr/>
            <p:nvPr/>
          </p:nvSpPr>
          <p:spPr>
            <a:xfrm>
              <a:off x="393413" y="3223260"/>
              <a:ext cx="6841777" cy="1508760"/>
            </a:xfrm>
            <a:prstGeom prst="frame">
              <a:avLst>
                <a:gd name="adj1" fmla="val 340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1FAFD4-2D13-6910-B540-BDC8168E8D7D}"/>
              </a:ext>
            </a:extLst>
          </p:cNvPr>
          <p:cNvGrpSpPr/>
          <p:nvPr/>
        </p:nvGrpSpPr>
        <p:grpSpPr>
          <a:xfrm>
            <a:off x="5635053" y="1200250"/>
            <a:ext cx="4915410" cy="1955711"/>
            <a:chOff x="262491" y="549557"/>
            <a:chExt cx="4915410" cy="19557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FF180F-EC99-5FD8-CAF6-5082B6CFD01A}"/>
                </a:ext>
              </a:extLst>
            </p:cNvPr>
            <p:cNvGrpSpPr/>
            <p:nvPr/>
          </p:nvGrpSpPr>
          <p:grpSpPr>
            <a:xfrm>
              <a:off x="393413" y="754510"/>
              <a:ext cx="4784488" cy="1750758"/>
              <a:chOff x="987773" y="708790"/>
              <a:chExt cx="4784488" cy="1750758"/>
            </a:xfrm>
          </p:grpSpPr>
          <p:pic>
            <p:nvPicPr>
              <p:cNvPr id="3" name="Picture 2">
                <a:hlinkClick r:id="rId5"/>
                <a:extLst>
                  <a:ext uri="{FF2B5EF4-FFF2-40B4-BE49-F238E27FC236}">
                    <a16:creationId xmlns:a16="http://schemas.microsoft.com/office/drawing/2014/main" id="{991BBCF0-A5CE-E188-1FB2-A6C1A965F3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96720" y="708790"/>
                <a:ext cx="1727548" cy="12956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7FEC5D5-C11E-ABD6-DCEE-EE34169DAC6C}"/>
                      </a:ext>
                    </a:extLst>
                  </p:cNvPr>
                  <p:cNvSpPr txBox="1"/>
                  <p:nvPr/>
                </p:nvSpPr>
                <p:spPr>
                  <a:xfrm>
                    <a:off x="3503180" y="765918"/>
                    <a:ext cx="2269081" cy="781368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7FEC5D5-C11E-ABD6-DCEE-EE34169DAC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3180" y="765918"/>
                    <a:ext cx="2269081" cy="78136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56" b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438352-65E6-8AFA-4DA8-FBAFE6CBAFA3}"/>
                  </a:ext>
                </a:extLst>
              </p:cNvPr>
              <p:cNvSpPr txBox="1"/>
              <p:nvPr/>
            </p:nvSpPr>
            <p:spPr>
              <a:xfrm>
                <a:off x="987773" y="1997883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High-temperature limit</a:t>
                </a:r>
              </a:p>
            </p:txBody>
          </p:sp>
        </p:grpSp>
        <p:sp>
          <p:nvSpPr>
            <p:cNvPr id="22" name="Frame 21">
              <a:extLst>
                <a:ext uri="{FF2B5EF4-FFF2-40B4-BE49-F238E27FC236}">
                  <a16:creationId xmlns:a16="http://schemas.microsoft.com/office/drawing/2014/main" id="{EC67EB1F-E0BD-B067-8E36-E8F41885E605}"/>
                </a:ext>
              </a:extLst>
            </p:cNvPr>
            <p:cNvSpPr/>
            <p:nvPr/>
          </p:nvSpPr>
          <p:spPr>
            <a:xfrm>
              <a:off x="262491" y="549557"/>
              <a:ext cx="4092340" cy="1955711"/>
            </a:xfrm>
            <a:prstGeom prst="frame">
              <a:avLst>
                <a:gd name="adj1" fmla="val 284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C392D19-BC7D-1DB8-E82C-F8DFBEBD1716}"/>
              </a:ext>
            </a:extLst>
          </p:cNvPr>
          <p:cNvGrpSpPr/>
          <p:nvPr/>
        </p:nvGrpSpPr>
        <p:grpSpPr>
          <a:xfrm>
            <a:off x="384839" y="1228824"/>
            <a:ext cx="4624357" cy="1980507"/>
            <a:chOff x="413415" y="643026"/>
            <a:chExt cx="4624357" cy="19805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4E1A5C7-6D30-4D9A-BFB1-15EDE8459BA4}"/>
                </a:ext>
              </a:extLst>
            </p:cNvPr>
            <p:cNvSpPr txBox="1"/>
            <p:nvPr/>
          </p:nvSpPr>
          <p:spPr>
            <a:xfrm>
              <a:off x="831504" y="2161868"/>
              <a:ext cx="3775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Low-temperature limit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1F80411-3423-0CA0-A79D-E90C0CE6DE90}"/>
                </a:ext>
              </a:extLst>
            </p:cNvPr>
            <p:cNvGrpSpPr/>
            <p:nvPr/>
          </p:nvGrpSpPr>
          <p:grpSpPr>
            <a:xfrm>
              <a:off x="413415" y="643026"/>
              <a:ext cx="4624357" cy="1964048"/>
              <a:chOff x="5940773" y="620581"/>
              <a:chExt cx="4624357" cy="196404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789B6F3-BE38-7903-2EBA-51AD8F1CE186}"/>
                      </a:ext>
                    </a:extLst>
                  </p:cNvPr>
                  <p:cNvSpPr txBox="1"/>
                  <p:nvPr/>
                </p:nvSpPr>
                <p:spPr>
                  <a:xfrm>
                    <a:off x="8747760" y="1132463"/>
                    <a:ext cx="181737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789B6F3-BE38-7903-2EBA-51AD8F1CE1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47760" y="1132463"/>
                    <a:ext cx="1817370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94"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5CA96C1-57A3-4432-5E68-726AEB72550A}"/>
                  </a:ext>
                </a:extLst>
              </p:cNvPr>
              <p:cNvGrpSpPr/>
              <p:nvPr/>
            </p:nvGrpSpPr>
            <p:grpSpPr>
              <a:xfrm>
                <a:off x="5940773" y="620581"/>
                <a:ext cx="4323367" cy="1964048"/>
                <a:chOff x="5940773" y="620581"/>
                <a:chExt cx="4323367" cy="1964048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09605802-81F2-7183-3DF5-D92034A9AE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56070" y="830997"/>
                  <a:ext cx="1828800" cy="1384300"/>
                </a:xfrm>
                <a:prstGeom prst="rect">
                  <a:avLst/>
                </a:prstGeom>
              </p:spPr>
            </p:pic>
            <p:sp>
              <p:nvSpPr>
                <p:cNvPr id="24" name="Frame 23">
                  <a:extLst>
                    <a:ext uri="{FF2B5EF4-FFF2-40B4-BE49-F238E27FC236}">
                      <a16:creationId xmlns:a16="http://schemas.microsoft.com/office/drawing/2014/main" id="{D4B6A33E-0A15-8C6A-4C78-1BF44588F77F}"/>
                    </a:ext>
                  </a:extLst>
                </p:cNvPr>
                <p:cNvSpPr/>
                <p:nvPr/>
              </p:nvSpPr>
              <p:spPr>
                <a:xfrm>
                  <a:off x="5940773" y="620581"/>
                  <a:ext cx="4323367" cy="1964048"/>
                </a:xfrm>
                <a:prstGeom prst="frame">
                  <a:avLst>
                    <a:gd name="adj1" fmla="val 2827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1D47FB-A958-CE4A-0315-CC012D24ED59}"/>
              </a:ext>
            </a:extLst>
          </p:cNvPr>
          <p:cNvGrpSpPr/>
          <p:nvPr/>
        </p:nvGrpSpPr>
        <p:grpSpPr>
          <a:xfrm>
            <a:off x="435813" y="5132564"/>
            <a:ext cx="3792018" cy="1415970"/>
            <a:chOff x="1560073" y="5132564"/>
            <a:chExt cx="3792018" cy="141597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046AAE9-CB1B-07D9-2F9C-0C4701BB7434}"/>
                </a:ext>
              </a:extLst>
            </p:cNvPr>
            <p:cNvGrpSpPr/>
            <p:nvPr/>
          </p:nvGrpSpPr>
          <p:grpSpPr>
            <a:xfrm>
              <a:off x="1560073" y="5339162"/>
              <a:ext cx="3792018" cy="1209372"/>
              <a:chOff x="967279" y="3569798"/>
              <a:chExt cx="3792018" cy="1209372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7D3B00D-0583-F81D-53FD-11C34A567269}"/>
                  </a:ext>
                </a:extLst>
              </p:cNvPr>
              <p:cNvSpPr txBox="1"/>
              <p:nvPr/>
            </p:nvSpPr>
            <p:spPr>
              <a:xfrm>
                <a:off x="967279" y="4317505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Low-temperature limit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2C29B7D-7DE5-83C6-2E7A-014E009567EC}"/>
                      </a:ext>
                    </a:extLst>
                  </p:cNvPr>
                  <p:cNvSpPr txBox="1"/>
                  <p:nvPr/>
                </p:nvSpPr>
                <p:spPr>
                  <a:xfrm>
                    <a:off x="2941927" y="3569798"/>
                    <a:ext cx="181737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2C29B7D-7DE5-83C6-2E7A-014E009567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1927" y="3569798"/>
                    <a:ext cx="1817370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90"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09BB378-06A1-E98D-9AA9-37ADAD6547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68796"/>
            <a:stretch/>
          </p:blipFill>
          <p:spPr>
            <a:xfrm>
              <a:off x="1778547" y="5132564"/>
              <a:ext cx="1593102" cy="10668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6B9759-F3AB-D0FC-95E8-ABF06B6B9F30}"/>
              </a:ext>
            </a:extLst>
          </p:cNvPr>
          <p:cNvGrpSpPr/>
          <p:nvPr/>
        </p:nvGrpSpPr>
        <p:grpSpPr>
          <a:xfrm>
            <a:off x="6073570" y="5082947"/>
            <a:ext cx="4287726" cy="1508760"/>
            <a:chOff x="4919140" y="5082947"/>
            <a:chExt cx="4287726" cy="1508760"/>
          </a:xfrm>
        </p:grpSpPr>
        <p:pic>
          <p:nvPicPr>
            <p:cNvPr id="36" name="Picture 2" descr="Vibration of a CO2 molecule on Make a GIF">
              <a:extLst>
                <a:ext uri="{FF2B5EF4-FFF2-40B4-BE49-F238E27FC236}">
                  <a16:creationId xmlns:a16="http://schemas.microsoft.com/office/drawing/2014/main" id="{64BAB450-0E01-0A25-46CC-FD58DF3DAA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37" b="25032"/>
            <a:stretch/>
          </p:blipFill>
          <p:spPr bwMode="auto">
            <a:xfrm>
              <a:off x="5402976" y="5448485"/>
              <a:ext cx="2278247" cy="6744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D77D889-22EC-4F58-2C67-06D26D3A96AA}"/>
                </a:ext>
              </a:extLst>
            </p:cNvPr>
            <p:cNvSpPr txBox="1"/>
            <p:nvPr/>
          </p:nvSpPr>
          <p:spPr>
            <a:xfrm>
              <a:off x="5037772" y="5984141"/>
              <a:ext cx="3775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High-temperature limit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37787-7986-6D23-EC56-203DA42B1D10}"/>
                    </a:ext>
                  </a:extLst>
                </p:cNvPr>
                <p:cNvSpPr txBox="1"/>
                <p:nvPr/>
              </p:nvSpPr>
              <p:spPr>
                <a:xfrm>
                  <a:off x="7389496" y="5342254"/>
                  <a:ext cx="181737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37787-7986-6D23-EC56-203DA42B1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9496" y="5342254"/>
                  <a:ext cx="1817370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690"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993735EE-FF05-4D61-8BAE-849D3AD38C57}"/>
                </a:ext>
              </a:extLst>
            </p:cNvPr>
            <p:cNvSpPr/>
            <p:nvPr/>
          </p:nvSpPr>
          <p:spPr>
            <a:xfrm>
              <a:off x="4919140" y="5082947"/>
              <a:ext cx="3996260" cy="1508760"/>
            </a:xfrm>
            <a:prstGeom prst="frame">
              <a:avLst>
                <a:gd name="adj1" fmla="val 340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Frame 3">
            <a:extLst>
              <a:ext uri="{FF2B5EF4-FFF2-40B4-BE49-F238E27FC236}">
                <a16:creationId xmlns:a16="http://schemas.microsoft.com/office/drawing/2014/main" id="{450F72B7-6704-47C5-1EB5-6071CC027E13}"/>
              </a:ext>
            </a:extLst>
          </p:cNvPr>
          <p:cNvSpPr/>
          <p:nvPr/>
        </p:nvSpPr>
        <p:spPr>
          <a:xfrm>
            <a:off x="415811" y="5082947"/>
            <a:ext cx="3677080" cy="1508760"/>
          </a:xfrm>
          <a:prstGeom prst="frame">
            <a:avLst>
              <a:gd name="adj1" fmla="val 3409"/>
            </a:avLst>
          </a:prstGeom>
          <a:solidFill>
            <a:schemeClr val="tx1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417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B10F68-F78B-F0D2-BA7B-9E917E7E1A75}"/>
              </a:ext>
            </a:extLst>
          </p:cNvPr>
          <p:cNvSpPr txBox="1"/>
          <p:nvPr/>
        </p:nvSpPr>
        <p:spPr>
          <a:xfrm>
            <a:off x="0" y="0"/>
            <a:ext cx="1218552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4 – Intermolecular attractions and potential energy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6280D7-AA62-FD2D-4A71-F2E237FA1A5B}"/>
              </a:ext>
            </a:extLst>
          </p:cNvPr>
          <p:cNvGrpSpPr>
            <a:grpSpLocks noChangeAspect="1"/>
          </p:cNvGrpSpPr>
          <p:nvPr/>
        </p:nvGrpSpPr>
        <p:grpSpPr>
          <a:xfrm>
            <a:off x="673714" y="2167877"/>
            <a:ext cx="5499344" cy="3468206"/>
            <a:chOff x="3551049" y="1533046"/>
            <a:chExt cx="6812333" cy="42962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1B5CF8A-F0F5-3EC2-DA81-86741F73B765}"/>
                </a:ext>
              </a:extLst>
            </p:cNvPr>
            <p:cNvGrpSpPr/>
            <p:nvPr/>
          </p:nvGrpSpPr>
          <p:grpSpPr>
            <a:xfrm>
              <a:off x="3551049" y="1533046"/>
              <a:ext cx="6812333" cy="4296254"/>
              <a:chOff x="801045" y="1575076"/>
              <a:chExt cx="5166447" cy="355375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22F63AA8-A63C-D298-6DC7-2E87C9C614EB}"/>
                  </a:ext>
                </a:extLst>
              </p:cNvPr>
              <p:cNvGrpSpPr/>
              <p:nvPr/>
            </p:nvGrpSpPr>
            <p:grpSpPr>
              <a:xfrm>
                <a:off x="801045" y="1575076"/>
                <a:ext cx="3718056" cy="3553750"/>
                <a:chOff x="5651292" y="1334126"/>
                <a:chExt cx="6041036" cy="4961744"/>
              </a:xfrm>
            </p:grpSpPr>
            <p:sp>
              <p:nvSpPr>
                <p:cNvPr id="23" name="Frame 22">
                  <a:extLst>
                    <a:ext uri="{FF2B5EF4-FFF2-40B4-BE49-F238E27FC236}">
                      <a16:creationId xmlns:a16="http://schemas.microsoft.com/office/drawing/2014/main" id="{9F22756D-E712-3860-77C4-87E85B73E37E}"/>
                    </a:ext>
                  </a:extLst>
                </p:cNvPr>
                <p:cNvSpPr/>
                <p:nvPr/>
              </p:nvSpPr>
              <p:spPr>
                <a:xfrm>
                  <a:off x="5651292" y="1334126"/>
                  <a:ext cx="6041036" cy="4961744"/>
                </a:xfrm>
                <a:prstGeom prst="frame">
                  <a:avLst>
                    <a:gd name="adj1" fmla="val 192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FDD8AF11-8E3B-D878-C0C0-E1696371B7C8}"/>
                    </a:ext>
                  </a:extLst>
                </p:cNvPr>
                <p:cNvGrpSpPr/>
                <p:nvPr/>
              </p:nvGrpSpPr>
              <p:grpSpPr>
                <a:xfrm>
                  <a:off x="6016053" y="2263514"/>
                  <a:ext cx="4994223" cy="3487711"/>
                  <a:chOff x="6016053" y="2263514"/>
                  <a:chExt cx="4994223" cy="3487711"/>
                </a:xfrm>
                <a:solidFill>
                  <a:srgbClr val="7030A0"/>
                </a:solidFill>
              </p:grpSpPr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B25D0C6F-4C13-964C-BE42-8FD233DED42F}"/>
                      </a:ext>
                    </a:extLst>
                  </p:cNvPr>
                  <p:cNvSpPr/>
                  <p:nvPr/>
                </p:nvSpPr>
                <p:spPr>
                  <a:xfrm>
                    <a:off x="6625653" y="226351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FF514988-640F-916B-36E6-EB6A7C9F454B}"/>
                      </a:ext>
                    </a:extLst>
                  </p:cNvPr>
                  <p:cNvSpPr/>
                  <p:nvPr/>
                </p:nvSpPr>
                <p:spPr>
                  <a:xfrm>
                    <a:off x="7182787" y="51441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0CD8CA15-F39E-B85C-4213-1CD21E986278}"/>
                      </a:ext>
                    </a:extLst>
                  </p:cNvPr>
                  <p:cNvSpPr/>
                  <p:nvPr/>
                </p:nvSpPr>
                <p:spPr>
                  <a:xfrm>
                    <a:off x="8276781" y="3259298"/>
                    <a:ext cx="149903" cy="149902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904729E0-D9AD-3EC6-57DB-0C9B6D178E2F}"/>
                      </a:ext>
                    </a:extLst>
                  </p:cNvPr>
                  <p:cNvSpPr/>
                  <p:nvPr/>
                </p:nvSpPr>
                <p:spPr>
                  <a:xfrm>
                    <a:off x="7490085" y="362948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76C902EC-042A-D53C-BFF2-DF5C8C33F83B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D20CBDD7-3312-68DB-4323-2640735348AC}"/>
                      </a:ext>
                    </a:extLst>
                  </p:cNvPr>
                  <p:cNvSpPr/>
                  <p:nvPr/>
                </p:nvSpPr>
                <p:spPr>
                  <a:xfrm>
                    <a:off x="8446957" y="4774366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321F1DD6-D6DA-2A65-8CFC-5A8F0CFE5304}"/>
                      </a:ext>
                    </a:extLst>
                  </p:cNvPr>
                  <p:cNvSpPr/>
                  <p:nvPr/>
                </p:nvSpPr>
                <p:spPr>
                  <a:xfrm>
                    <a:off x="6016053" y="381499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99409F5F-DF63-E4D8-EA5C-F7826A8CF6AF}"/>
                      </a:ext>
                    </a:extLst>
                  </p:cNvPr>
                  <p:cNvSpPr/>
                  <p:nvPr/>
                </p:nvSpPr>
                <p:spPr>
                  <a:xfrm>
                    <a:off x="10860374" y="462446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5F2173BC-50E9-82D6-B6B4-56D1C09D8046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7A9CF139-B5B4-98FF-229B-B4336BFF3B83}"/>
                    </a:ext>
                  </a:extLst>
                </p:cNvPr>
                <p:cNvGrpSpPr/>
                <p:nvPr/>
              </p:nvGrpSpPr>
              <p:grpSpPr>
                <a:xfrm>
                  <a:off x="6212174" y="1656413"/>
                  <a:ext cx="4910528" cy="4094812"/>
                  <a:chOff x="6016053" y="2263514"/>
                  <a:chExt cx="4087318" cy="3487711"/>
                </a:xfrm>
                <a:solidFill>
                  <a:srgbClr val="FF0000"/>
                </a:solidFill>
              </p:grpSpPr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C808CEBF-51E8-0B34-5D7E-9E67B1589311}"/>
                      </a:ext>
                    </a:extLst>
                  </p:cNvPr>
                  <p:cNvSpPr/>
                  <p:nvPr/>
                </p:nvSpPr>
                <p:spPr>
                  <a:xfrm>
                    <a:off x="6625653" y="226351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A1491B78-A756-10C4-81C9-8D67ED908A20}"/>
                      </a:ext>
                    </a:extLst>
                  </p:cNvPr>
                  <p:cNvSpPr/>
                  <p:nvPr/>
                </p:nvSpPr>
                <p:spPr>
                  <a:xfrm>
                    <a:off x="7182787" y="51441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5F266377-FEE1-7971-7A4F-FFE0A671640B}"/>
                      </a:ext>
                    </a:extLst>
                  </p:cNvPr>
                  <p:cNvSpPr/>
                  <p:nvPr/>
                </p:nvSpPr>
                <p:spPr>
                  <a:xfrm>
                    <a:off x="8104543" y="303542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91D72E61-A725-BAF2-767A-6D8CF4E3EF8A}"/>
                      </a:ext>
                    </a:extLst>
                  </p:cNvPr>
                  <p:cNvSpPr/>
                  <p:nvPr/>
                </p:nvSpPr>
                <p:spPr>
                  <a:xfrm>
                    <a:off x="6864246" y="3244729"/>
                    <a:ext cx="149902" cy="14990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702CFDC1-9F5A-C8A5-43CD-56780131A0D1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AEA3C44E-DB17-71B4-F6B2-85D8D24C9C61}"/>
                      </a:ext>
                    </a:extLst>
                  </p:cNvPr>
                  <p:cNvSpPr/>
                  <p:nvPr/>
                </p:nvSpPr>
                <p:spPr>
                  <a:xfrm>
                    <a:off x="8446957" y="410294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589776E8-871A-D2E9-19D3-6CC1A32EF770}"/>
                      </a:ext>
                    </a:extLst>
                  </p:cNvPr>
                  <p:cNvSpPr/>
                  <p:nvPr/>
                </p:nvSpPr>
                <p:spPr>
                  <a:xfrm>
                    <a:off x="6016053" y="381499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F607673B-C4C6-71AB-1B59-794B1616785B}"/>
                      </a:ext>
                    </a:extLst>
                  </p:cNvPr>
                  <p:cNvSpPr/>
                  <p:nvPr/>
                </p:nvSpPr>
                <p:spPr>
                  <a:xfrm>
                    <a:off x="9953469" y="442310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A7118F63-3F37-B855-E577-618D081B18AE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ED910455-0655-CB38-9597-EE20257CAB3B}"/>
                  </a:ext>
                </a:extLst>
              </p:cNvPr>
              <p:cNvCxnSpPr/>
              <p:nvPr/>
            </p:nvCxnSpPr>
            <p:spPr>
              <a:xfrm flipV="1">
                <a:off x="1962710" y="2544966"/>
                <a:ext cx="697363" cy="125716"/>
              </a:xfrm>
              <a:prstGeom prst="straightConnector1">
                <a:avLst/>
              </a:prstGeom>
              <a:ln w="38100"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7666A6F-4C18-6284-FA0D-885DB018E75C}"/>
                  </a:ext>
                </a:extLst>
              </p:cNvPr>
              <p:cNvSpPr txBox="1"/>
              <p:nvPr/>
            </p:nvSpPr>
            <p:spPr>
              <a:xfrm>
                <a:off x="2919109" y="1868934"/>
                <a:ext cx="3048383" cy="16083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Intermolecular attractions must be overcome when increasing the volume</a:t>
                </a: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59C8DED-0192-9C45-3C94-7E19E8EB31C2}"/>
                </a:ext>
              </a:extLst>
            </p:cNvPr>
            <p:cNvCxnSpPr>
              <a:cxnSpLocks/>
              <a:stCxn id="40" idx="5"/>
            </p:cNvCxnSpPr>
            <p:nvPr/>
          </p:nvCxnSpPr>
          <p:spPr>
            <a:xfrm>
              <a:off x="4445615" y="2448568"/>
              <a:ext cx="347424" cy="333003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7AFE32B-A8E8-DE78-FA03-FCA75210F8DD}"/>
                </a:ext>
              </a:extLst>
            </p:cNvPr>
            <p:cNvCxnSpPr>
              <a:cxnSpLocks/>
            </p:cNvCxnSpPr>
            <p:nvPr/>
          </p:nvCxnSpPr>
          <p:spPr>
            <a:xfrm>
              <a:off x="4915565" y="2994143"/>
              <a:ext cx="127733" cy="434857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80EBBDE-F49F-F3D8-17F8-0623543AE0C5}"/>
              </a:ext>
            </a:extLst>
          </p:cNvPr>
          <p:cNvSpPr txBox="1"/>
          <p:nvPr/>
        </p:nvSpPr>
        <p:spPr>
          <a:xfrm>
            <a:off x="6345215" y="714733"/>
            <a:ext cx="5379523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Here’s what a typical potential energy curve looks like between two real atoms; we called this “stickiness” before. Notice that the energy is negative over most of the distances.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B65E65C7-AF44-926D-1692-44DA24A30A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85" b="15934"/>
          <a:stretch/>
        </p:blipFill>
        <p:spPr>
          <a:xfrm>
            <a:off x="6663267" y="2692405"/>
            <a:ext cx="5255360" cy="301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10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2E9A30-6526-C641-A80E-2D0980AA8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7852"/>
            <a:ext cx="5538260" cy="41622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F5580A-5F05-1543-9B99-E227D98FB026}"/>
              </a:ext>
            </a:extLst>
          </p:cNvPr>
          <p:cNvSpPr txBox="1"/>
          <p:nvPr/>
        </p:nvSpPr>
        <p:spPr>
          <a:xfrm>
            <a:off x="5296395" y="2125634"/>
            <a:ext cx="6733309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is responsible for the </a:t>
            </a:r>
            <a:r>
              <a:rPr lang="en-US" sz="2400" b="1" dirty="0"/>
              <a:t>curvature</a:t>
            </a:r>
            <a:r>
              <a:rPr lang="en-US" sz="2400" dirty="0"/>
              <a:t> of the red and green gases in the temperature direction?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Which gas(es) could be </a:t>
            </a:r>
            <a:r>
              <a:rPr lang="en-US" sz="2400" b="1" dirty="0"/>
              <a:t>ideal</a:t>
            </a:r>
            <a:r>
              <a:rPr lang="en-US" sz="2400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Which is/are probably </a:t>
            </a:r>
            <a:r>
              <a:rPr lang="en-US" sz="2400" b="1" dirty="0"/>
              <a:t>monatomic</a:t>
            </a:r>
            <a:r>
              <a:rPr lang="en-US" sz="2400" dirty="0"/>
              <a:t>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458E22-1F02-F14C-91DD-90366C0DA99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Interpreting U(T,V)</a:t>
            </a:r>
          </a:p>
        </p:txBody>
      </p:sp>
    </p:spTree>
    <p:extLst>
      <p:ext uri="{BB962C8B-B14F-4D97-AF65-F5344CB8AC3E}">
        <p14:creationId xmlns:p14="http://schemas.microsoft.com/office/powerpoint/2010/main" val="1043690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981"/>
                <a:ext cx="11527184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 4 – Differential equation of state for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81"/>
                <a:ext cx="11527184" cy="461665"/>
              </a:xfrm>
              <a:prstGeom prst="rect">
                <a:avLst/>
              </a:prstGeom>
              <a:blipFill>
                <a:blip r:embed="rId2"/>
                <a:stretch>
                  <a:fillRect l="-881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/>
              <p:nvPr/>
            </p:nvSpPr>
            <p:spPr>
              <a:xfrm>
                <a:off x="7659395" y="1935265"/>
                <a:ext cx="3634349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395" y="1935265"/>
                <a:ext cx="3634349" cy="461665"/>
              </a:xfrm>
              <a:prstGeom prst="rect">
                <a:avLst/>
              </a:prstGeom>
              <a:blipFill>
                <a:blip r:embed="rId3"/>
                <a:stretch>
                  <a:fillRect b="-256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2EABC16F-61C6-A545-B7B7-16F21FDB0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169" y="508366"/>
            <a:ext cx="4931226" cy="4164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/>
              <p:nvPr/>
            </p:nvSpPr>
            <p:spPr>
              <a:xfrm>
                <a:off x="132835" y="2459475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35" y="2459475"/>
                <a:ext cx="6147486" cy="661015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A2CC0B-185B-2341-8BA7-87BD1A7AB4DF}"/>
                  </a:ext>
                </a:extLst>
              </p:cNvPr>
              <p:cNvSpPr txBox="1"/>
              <p:nvPr/>
            </p:nvSpPr>
            <p:spPr>
              <a:xfrm>
                <a:off x="2120039" y="1290897"/>
                <a:ext cx="6147486" cy="662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A2CC0B-185B-2341-8BA7-87BD1A7AB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039" y="1290897"/>
                <a:ext cx="6147486" cy="662617"/>
              </a:xfrm>
              <a:prstGeom prst="rect">
                <a:avLst/>
              </a:prstGeom>
              <a:blipFill>
                <a:blip r:embed="rId6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35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449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97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2EABC16F-61C6-A545-B7B7-16F21FDB0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169" y="508366"/>
            <a:ext cx="4931226" cy="4164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D6788E-D07F-FD42-9440-3DEF471C9319}"/>
                  </a:ext>
                </a:extLst>
              </p:cNvPr>
              <p:cNvSpPr txBox="1"/>
              <p:nvPr/>
            </p:nvSpPr>
            <p:spPr>
              <a:xfrm>
                <a:off x="2278036" y="5101297"/>
                <a:ext cx="8443304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How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/>
                  <a:t> related to what we’re seeing here?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What’s the sign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/>
                  <a:t>? (most pronounced at low volumes)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D6788E-D07F-FD42-9440-3DEF471C9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036" y="5101297"/>
                <a:ext cx="8443304" cy="830997"/>
              </a:xfrm>
              <a:prstGeom prst="rect">
                <a:avLst/>
              </a:prstGeom>
              <a:blipFill>
                <a:blip r:embed="rId4"/>
                <a:stretch>
                  <a:fillRect l="-1201" t="-5970" b="-149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AEFA27-C4DF-3B52-C278-17B7BA0CA19D}"/>
                  </a:ext>
                </a:extLst>
              </p:cNvPr>
              <p:cNvSpPr txBox="1"/>
              <p:nvPr/>
            </p:nvSpPr>
            <p:spPr>
              <a:xfrm>
                <a:off x="7659395" y="1935265"/>
                <a:ext cx="3634349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AEFA27-C4DF-3B52-C278-17B7BA0CA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395" y="1935265"/>
                <a:ext cx="3634349" cy="461665"/>
              </a:xfrm>
              <a:prstGeom prst="rect">
                <a:avLst/>
              </a:prstGeom>
              <a:blipFill>
                <a:blip r:embed="rId5"/>
                <a:stretch>
                  <a:fillRect b="-256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8DDD94-C234-00AE-0093-A6AC20E65488}"/>
                  </a:ext>
                </a:extLst>
              </p:cNvPr>
              <p:cNvSpPr txBox="1"/>
              <p:nvPr/>
            </p:nvSpPr>
            <p:spPr>
              <a:xfrm>
                <a:off x="132835" y="2459475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8DDD94-C234-00AE-0093-A6AC20E65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35" y="2459475"/>
                <a:ext cx="6147486" cy="661015"/>
              </a:xfrm>
              <a:prstGeom prst="rect">
                <a:avLst/>
              </a:prstGeom>
              <a:blipFill>
                <a:blip r:embed="rId6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5F1C19-260E-878D-3A98-A16C6FADEE2C}"/>
                  </a:ext>
                </a:extLst>
              </p:cNvPr>
              <p:cNvSpPr txBox="1"/>
              <p:nvPr/>
            </p:nvSpPr>
            <p:spPr>
              <a:xfrm>
                <a:off x="2120039" y="1290897"/>
                <a:ext cx="6147486" cy="662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5F1C19-260E-878D-3A98-A16C6FADE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039" y="1290897"/>
                <a:ext cx="6147486" cy="662617"/>
              </a:xfrm>
              <a:prstGeom prst="rect">
                <a:avLst/>
              </a:prstGeom>
              <a:blipFill>
                <a:blip r:embed="rId7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024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277792" y="774626"/>
                <a:ext cx="11552964" cy="304948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Suppose we want an analytical (i.e., algebraic)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b="0" dirty="0"/>
                  <a:t>, starting with 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𝑅𝑇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𝑉𝑇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b="0" dirty="0"/>
                  <a:t> 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(this is what’s called a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Berthelot</a:t>
                </a:r>
                <a:r>
                  <a:rPr lang="en-US" sz="2400" dirty="0">
                    <a:solidFill>
                      <a:schemeClr val="tx1"/>
                    </a:solidFill>
                  </a:rPr>
                  <a:t> gas, as opposed to a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van der Waals </a:t>
                </a:r>
                <a:r>
                  <a:rPr lang="en-US" sz="2400" dirty="0">
                    <a:solidFill>
                      <a:schemeClr val="tx1"/>
                    </a:solidFill>
                  </a:rPr>
                  <a:t>gas).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/>
                  <a:t>D</a:t>
                </a:r>
                <a:r>
                  <a:rPr lang="en-US" sz="2400" dirty="0">
                    <a:solidFill>
                      <a:schemeClr val="tx1"/>
                    </a:solidFill>
                  </a:rPr>
                  <a:t>erive an algebraic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consistent with this expression.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92" y="774626"/>
                <a:ext cx="11552964" cy="3049489"/>
              </a:xfrm>
              <a:prstGeom prst="rect">
                <a:avLst/>
              </a:prstGeom>
              <a:blipFill>
                <a:blip r:embed="rId3"/>
                <a:stretch>
                  <a:fillRect l="-768" t="-1240" b="-330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7B72A122-685A-44AF-206C-2B35A09494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"/>
                <a:ext cx="12192000" cy="45720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b="1" dirty="0">
                    <a:latin typeface="+mn-lt"/>
                  </a:rPr>
                  <a:t>The kind of question I might ask – Analytical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7B72A122-685A-44AF-206C-2B35A0949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"/>
                <a:ext cx="12192000" cy="457200"/>
              </a:xfrm>
              <a:prstGeom prst="rect">
                <a:avLst/>
              </a:prstGeom>
              <a:blipFill>
                <a:blip r:embed="rId4"/>
                <a:stretch>
                  <a:fillRect l="-832" t="-13889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198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449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Contours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97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2EABC16F-61C6-A545-B7B7-16F21FDB0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169" y="508366"/>
            <a:ext cx="4931226" cy="416465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AA0B0C44-A5CA-324A-8972-597A90F41CDF}"/>
              </a:ext>
            </a:extLst>
          </p:cNvPr>
          <p:cNvSpPr/>
          <p:nvPr/>
        </p:nvSpPr>
        <p:spPr>
          <a:xfrm rot="17346277" flipH="1">
            <a:off x="6219967" y="3258122"/>
            <a:ext cx="1524765" cy="1400932"/>
          </a:xfrm>
          <a:custGeom>
            <a:avLst/>
            <a:gdLst>
              <a:gd name="connsiteX0" fmla="*/ 527252 w 4104936"/>
              <a:gd name="connsiteY0" fmla="*/ 0 h 2251710"/>
              <a:gd name="connsiteX1" fmla="*/ 161492 w 4104936"/>
              <a:gd name="connsiteY1" fmla="*/ 342900 h 2251710"/>
              <a:gd name="connsiteX2" fmla="*/ 12902 w 4104936"/>
              <a:gd name="connsiteY2" fmla="*/ 697230 h 2251710"/>
              <a:gd name="connsiteX3" fmla="*/ 12902 w 4104936"/>
              <a:gd name="connsiteY3" fmla="*/ 948690 h 2251710"/>
              <a:gd name="connsiteX4" fmla="*/ 58622 w 4104936"/>
              <a:gd name="connsiteY4" fmla="*/ 1188720 h 2251710"/>
              <a:gd name="connsiteX5" fmla="*/ 252932 w 4104936"/>
              <a:gd name="connsiteY5" fmla="*/ 1485900 h 2251710"/>
              <a:gd name="connsiteX6" fmla="*/ 630122 w 4104936"/>
              <a:gd name="connsiteY6" fmla="*/ 1725930 h 2251710"/>
              <a:gd name="connsiteX7" fmla="*/ 1350212 w 4104936"/>
              <a:gd name="connsiteY7" fmla="*/ 1863090 h 2251710"/>
              <a:gd name="connsiteX8" fmla="*/ 2378912 w 4104936"/>
              <a:gd name="connsiteY8" fmla="*/ 1908810 h 2251710"/>
              <a:gd name="connsiteX9" fmla="*/ 3693362 w 4104936"/>
              <a:gd name="connsiteY9" fmla="*/ 1943100 h 2251710"/>
              <a:gd name="connsiteX10" fmla="*/ 4024832 w 4104936"/>
              <a:gd name="connsiteY10" fmla="*/ 2045970 h 2251710"/>
              <a:gd name="connsiteX11" fmla="*/ 4093412 w 4104936"/>
              <a:gd name="connsiteY11" fmla="*/ 2171700 h 2251710"/>
              <a:gd name="connsiteX12" fmla="*/ 4104842 w 4104936"/>
              <a:gd name="connsiteY12" fmla="*/ 2251710 h 2251710"/>
              <a:gd name="connsiteX13" fmla="*/ 4104842 w 4104936"/>
              <a:gd name="connsiteY13" fmla="*/ 2251710 h 225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104936" h="2251710">
                <a:moveTo>
                  <a:pt x="527252" y="0"/>
                </a:moveTo>
                <a:cubicBezTo>
                  <a:pt x="387234" y="113347"/>
                  <a:pt x="247217" y="226695"/>
                  <a:pt x="161492" y="342900"/>
                </a:cubicBezTo>
                <a:cubicBezTo>
                  <a:pt x="75767" y="459105"/>
                  <a:pt x="37667" y="596265"/>
                  <a:pt x="12902" y="697230"/>
                </a:cubicBezTo>
                <a:cubicBezTo>
                  <a:pt x="-11863" y="798195"/>
                  <a:pt x="5282" y="866775"/>
                  <a:pt x="12902" y="948690"/>
                </a:cubicBezTo>
                <a:cubicBezTo>
                  <a:pt x="20522" y="1030605"/>
                  <a:pt x="18617" y="1099185"/>
                  <a:pt x="58622" y="1188720"/>
                </a:cubicBezTo>
                <a:cubicBezTo>
                  <a:pt x="98627" y="1278255"/>
                  <a:pt x="157682" y="1396365"/>
                  <a:pt x="252932" y="1485900"/>
                </a:cubicBezTo>
                <a:cubicBezTo>
                  <a:pt x="348182" y="1575435"/>
                  <a:pt x="447242" y="1663065"/>
                  <a:pt x="630122" y="1725930"/>
                </a:cubicBezTo>
                <a:cubicBezTo>
                  <a:pt x="813002" y="1788795"/>
                  <a:pt x="1058747" y="1832610"/>
                  <a:pt x="1350212" y="1863090"/>
                </a:cubicBezTo>
                <a:cubicBezTo>
                  <a:pt x="1641677" y="1893570"/>
                  <a:pt x="2378912" y="1908810"/>
                  <a:pt x="2378912" y="1908810"/>
                </a:cubicBezTo>
                <a:cubicBezTo>
                  <a:pt x="2769437" y="1922145"/>
                  <a:pt x="3419042" y="1920240"/>
                  <a:pt x="3693362" y="1943100"/>
                </a:cubicBezTo>
                <a:cubicBezTo>
                  <a:pt x="3967682" y="1965960"/>
                  <a:pt x="3958157" y="2007870"/>
                  <a:pt x="4024832" y="2045970"/>
                </a:cubicBezTo>
                <a:cubicBezTo>
                  <a:pt x="4091507" y="2084070"/>
                  <a:pt x="4080077" y="2137410"/>
                  <a:pt x="4093412" y="2171700"/>
                </a:cubicBezTo>
                <a:cubicBezTo>
                  <a:pt x="4106747" y="2205990"/>
                  <a:pt x="4104842" y="2251710"/>
                  <a:pt x="4104842" y="2251710"/>
                </a:cubicBezTo>
                <a:lnTo>
                  <a:pt x="4104842" y="2251710"/>
                </a:lnTo>
              </a:path>
            </a:pathLst>
          </a:custGeom>
          <a:noFill/>
          <a:ln w="3810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70DF44-4B84-0940-A98E-66C85F8907A5}"/>
                  </a:ext>
                </a:extLst>
              </p:cNvPr>
              <p:cNvSpPr txBox="1"/>
              <p:nvPr/>
            </p:nvSpPr>
            <p:spPr>
              <a:xfrm>
                <a:off x="8114502" y="4843251"/>
                <a:ext cx="3304068" cy="18993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70DF44-4B84-0940-A98E-66C85F890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502" y="4843251"/>
                <a:ext cx="3304068" cy="1899302"/>
              </a:xfrm>
              <a:prstGeom prst="rect">
                <a:avLst/>
              </a:prstGeom>
              <a:blipFill>
                <a:blip r:embed="rId4"/>
                <a:stretch>
                  <a:fillRect l="-2672" b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3D6788E-D07F-FD42-9440-3DEF471C9319}"/>
              </a:ext>
            </a:extLst>
          </p:cNvPr>
          <p:cNvSpPr txBox="1"/>
          <p:nvPr/>
        </p:nvSpPr>
        <p:spPr>
          <a:xfrm>
            <a:off x="3032416" y="5238457"/>
            <a:ext cx="4621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Which is the correct description of the slopes of these lines?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B313A9-5480-D2D3-B286-724347EBAD0F}"/>
                  </a:ext>
                </a:extLst>
              </p:cNvPr>
              <p:cNvSpPr txBox="1"/>
              <p:nvPr/>
            </p:nvSpPr>
            <p:spPr>
              <a:xfrm>
                <a:off x="7659395" y="1935265"/>
                <a:ext cx="3634349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B313A9-5480-D2D3-B286-724347EBA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395" y="1935265"/>
                <a:ext cx="3634349" cy="461665"/>
              </a:xfrm>
              <a:prstGeom prst="rect">
                <a:avLst/>
              </a:prstGeom>
              <a:blipFill>
                <a:blip r:embed="rId5"/>
                <a:stretch>
                  <a:fillRect b="-256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950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510</Words>
  <Application>Microsoft Macintosh PowerPoint</Application>
  <PresentationFormat>Widescreen</PresentationFormat>
  <Paragraphs>73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175</cp:revision>
  <dcterms:created xsi:type="dcterms:W3CDTF">2021-11-02T21:07:57Z</dcterms:created>
  <dcterms:modified xsi:type="dcterms:W3CDTF">2025-12-08T16:20:24Z</dcterms:modified>
</cp:coreProperties>
</file>