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7" r:id="rId2"/>
    <p:sldId id="343" r:id="rId3"/>
    <p:sldId id="316" r:id="rId4"/>
    <p:sldId id="262" r:id="rId5"/>
    <p:sldId id="750" r:id="rId6"/>
    <p:sldId id="741" r:id="rId7"/>
    <p:sldId id="751" r:id="rId8"/>
    <p:sldId id="317" r:id="rId9"/>
    <p:sldId id="743" r:id="rId10"/>
    <p:sldId id="416" r:id="rId11"/>
    <p:sldId id="339" r:id="rId12"/>
    <p:sldId id="748" r:id="rId13"/>
    <p:sldId id="749" r:id="rId14"/>
    <p:sldId id="350" r:id="rId15"/>
    <p:sldId id="375" r:id="rId16"/>
    <p:sldId id="397" r:id="rId17"/>
    <p:sldId id="396" r:id="rId18"/>
    <p:sldId id="399" r:id="rId19"/>
    <p:sldId id="746" r:id="rId20"/>
    <p:sldId id="745" r:id="rId21"/>
    <p:sldId id="752" r:id="rId22"/>
    <p:sldId id="753" r:id="rId23"/>
    <p:sldId id="727" r:id="rId24"/>
    <p:sldId id="73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868"/>
    <p:restoredTop sz="95976"/>
  </p:normalViewPr>
  <p:slideViewPr>
    <p:cSldViewPr snapToGrid="0" showGuides="1">
      <p:cViewPr varScale="1">
        <p:scale>
          <a:sx n="90" d="100"/>
          <a:sy n="90" d="100"/>
        </p:scale>
        <p:origin x="23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D5E88-C46B-F64B-8116-8AEC3C305F3B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890B1-CACD-F34E-AD11-7AC3A0D8F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1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54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06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72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slideplayer.com</a:t>
            </a:r>
            <a:r>
              <a:rPr lang="en-US" dirty="0"/>
              <a:t>/slide/7362502/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6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slideplayer.com</a:t>
            </a:r>
            <a:r>
              <a:rPr lang="en-US" dirty="0"/>
              <a:t>/slide/7362502/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88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slideplayer.com</a:t>
            </a:r>
            <a:r>
              <a:rPr lang="en-US" dirty="0"/>
              <a:t>/slide/7362502/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09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08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69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214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BB0D-435C-2ED1-BE6C-0B1802EEE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955AD-8D45-53D4-6784-45D52DBF7E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D256B-6C07-B197-EB51-BC089099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3BA71-7B66-E22B-4612-F369D33A9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9E8A3-60C2-A7F0-3EFC-2A30B8FC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26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C4ABE-8E5B-30E7-9CEF-DE85430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89F78-F752-5B10-3675-A02FE421A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C1E95-DA0C-8E75-6E91-B47BBCAE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FFE6D-1866-5089-5659-637A4BA9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C96A1-E748-8D99-5FC8-5DFBCEC6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5B0F-FA13-A37B-A891-07875513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CC5E9-F094-759E-2E62-369C5055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859CA-110C-6993-6101-5164EDB4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83D6F-4C60-94FA-D905-11F8BC45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A4950-B533-B665-4A06-B12E78B3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9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CEB25-A313-D559-293B-327BB370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F9179-B2B4-072C-87C7-5E37FA1CA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4999B-B46C-5C82-9326-AC233752F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5FDEA-64C9-384D-8A57-BDBD3CD05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192B6-4206-18FB-806D-944F3B6A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E590F-2EC0-5D8C-65B7-851BBB60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63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5DB4-4A97-96C3-B1DC-8AF6E884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5923F-05FE-F3F0-7297-2022F9E80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9D151-585A-D252-6886-363A38AB4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03EBD-F06A-D935-CD83-5A5E2F2ED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904F6-F5E4-E510-2D32-32876176B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963F35-AE71-F78A-0FF2-C6DE2582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D13B8B-75AF-F689-ED70-AA8774A01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2BAA95-6AF2-D636-6108-C19DF3B3E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3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CD87-AC8F-0BA7-219A-3F18FB3AF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7E775-B719-6799-405B-5B9C84D0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1CA45-1DA0-EB34-EF17-0FDEC5AC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3FD9F-6DAC-FC36-9467-72388FB7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4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C4560-EF66-66B0-5E85-A7A74E8A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BBD72-E996-2ADF-2CE8-662B899E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3E9D7-53D4-43D2-5BFA-84A25F3FE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07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60E3-5FB8-8426-962F-8A772F5C3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0545D-1741-C7FD-EAC1-EEAA5C477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D99F3-9C84-4F74-1088-93F9133CF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7C480-A55D-B274-0713-85516400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8A521-AC93-44C8-632F-EF232C96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FAA32-140D-C1DF-9721-5C00BDFD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9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57404-0B01-F094-747D-10A3B200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03E523-7803-1819-A12D-38969B2C9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3438B-B98F-E3AA-CDC7-150F769B5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71C9A-9EC3-53BD-B42E-BA9C6582B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A2BD3-EA2F-8937-9159-93B8E25F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C50B6-DDF9-634D-B6A0-3E869BDB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F3779-103C-841A-A051-B50B7E5F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D24D9-948A-147E-526C-4580E186F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FE87D-0E8A-BFC8-7A8A-88B4E7AB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471FA-85B9-2B3F-9060-AACF91CE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5A650-A4D8-749D-DDD5-DE5094B0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3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615DAE-191B-4E3E-6BA4-A1D321F27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9E11F-F28F-F507-A1CE-B671386ED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D7382-E92A-CC0A-6B0B-B7112EBA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4338A-9549-9422-E8A8-6DC1802A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466F1-66FF-12F6-EDA3-A455ED16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E4AFB-49BA-D9A7-7555-20B958B9B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6BAE9-22B8-A532-6606-74B4445FB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008A8-3E2D-EA4D-B460-0912DB413A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0830A-3AC1-4A4A-9AB2-5EF32838442E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5AB02-6ADB-C29B-BD10-5332AA325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DC8F4-A103-BA5F-1FF2-47ABC3713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01C2D-8E7F-7B43-8560-375468F8F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3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00.png"/><Relationship Id="rId7" Type="http://schemas.openxmlformats.org/officeDocument/2006/relationships/image" Target="../media/image2301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0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971E466-1D9E-5BFA-F9DF-DDB9713DA5C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26384" y="710917"/>
              <a:ext cx="9339232" cy="5675371"/>
            </p:xfrm>
            <a:graphic>
              <a:graphicData uri="http://schemas.openxmlformats.org/drawingml/2006/table">
                <a:tbl>
                  <a:tblPr/>
                  <a:tblGrid>
                    <a:gridCol w="1443473">
                      <a:extLst>
                        <a:ext uri="{9D8B030D-6E8A-4147-A177-3AD203B41FA5}">
                          <a16:colId xmlns:a16="http://schemas.microsoft.com/office/drawing/2014/main" val="1798213402"/>
                        </a:ext>
                      </a:extLst>
                    </a:gridCol>
                    <a:gridCol w="1030811">
                      <a:extLst>
                        <a:ext uri="{9D8B030D-6E8A-4147-A177-3AD203B41FA5}">
                          <a16:colId xmlns:a16="http://schemas.microsoft.com/office/drawing/2014/main" val="2934198407"/>
                        </a:ext>
                      </a:extLst>
                    </a:gridCol>
                    <a:gridCol w="1856135">
                      <a:extLst>
                        <a:ext uri="{9D8B030D-6E8A-4147-A177-3AD203B41FA5}">
                          <a16:colId xmlns:a16="http://schemas.microsoft.com/office/drawing/2014/main" val="320345858"/>
                        </a:ext>
                      </a:extLst>
                    </a:gridCol>
                    <a:gridCol w="1650994">
                      <a:extLst>
                        <a:ext uri="{9D8B030D-6E8A-4147-A177-3AD203B41FA5}">
                          <a16:colId xmlns:a16="http://schemas.microsoft.com/office/drawing/2014/main" val="2108516021"/>
                        </a:ext>
                      </a:extLst>
                    </a:gridCol>
                    <a:gridCol w="3357819">
                      <a:extLst>
                        <a:ext uri="{9D8B030D-6E8A-4147-A177-3AD203B41FA5}">
                          <a16:colId xmlns:a16="http://schemas.microsoft.com/office/drawing/2014/main" val="357770747"/>
                        </a:ext>
                      </a:extLst>
                    </a:gridCol>
                  </a:tblGrid>
                  <a:tr h="209199">
                    <a:tc>
                      <a:txBody>
                        <a:bodyPr/>
                        <a:lstStyle/>
                        <a:p>
                          <a:r>
                            <a:rPr lang="en-US" sz="1200" b="1">
                              <a:effectLst/>
                              <a:latin typeface="TimesNewRomanPS"/>
                            </a:rPr>
                            <a:t>Name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Symbol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Dimension (SI unit)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Definition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Comment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1976765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Joule-Thomson coefficient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Volume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𝐽𝑇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6190867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Adiabatic Joule-Thomson coefficient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𝐽𝑇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Temp/Pressure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2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2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num>
                                    <m:den>
                                      <m:r>
                                        <a:rPr lang="en-US" sz="12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𝑃𝑎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Measured in the Joule- Thomson experiment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6952212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Joule coefficient (aka internal pressure)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Pressure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𝑃𝑎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𝑈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Measured in the Joule experiment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838709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Isobaric heat capacity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Energy/Temp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Measure, or approximate as</a:t>
                          </a:r>
                          <a:br>
                            <a:rPr lang="en-US" sz="1200" dirty="0">
                              <a:effectLst/>
                              <a:latin typeface="TimesNewRomanPSMT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𝑛𝑅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933524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Isochoric heat capacity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Energy/Temp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𝑈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Est. from equipartition, or approximate as</a:t>
                          </a:r>
                          <a:br>
                            <a:rPr lang="en-US" sz="1200" dirty="0">
                              <a:effectLst/>
                              <a:latin typeface="TimesNewRomanPSMT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𝑛𝑅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2119041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compressibility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1/Pressure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𝑃𝑎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Water density at the ocean floor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570667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Isobaric thermal expansivity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1/Temp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Sea level rise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0525261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Expansivity-to-compressibility ratio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𝜅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Pressure/Temp 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Pa</m:t>
                              </m:r>
                              <m:r>
                                <a:rPr lang="en-US" sz="1200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From Euler chain relation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1595308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Boyle temperature</a:t>
                          </a: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𝐵𝑜𝑦𝑙𝑒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 at which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𝑟𝑒𝑎𝑙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vdw: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𝑅𝑏</m:t>
                                  </m:r>
                                </m:den>
                              </m:f>
                            </m:oMath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077924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Inversion temperature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𝑖𝑛𝑣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 at which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vdw: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𝑅𝑏</m:t>
                                  </m:r>
                                </m:den>
                              </m:f>
                            </m:oMath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3930469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Critical temperature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𝑐𝑟𝑖𝑡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 at which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en-US" sz="12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2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𝜕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2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12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2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𝑉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2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vdw: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27</m:t>
                                  </m:r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𝑅𝑏</m:t>
                                  </m:r>
                                </m:den>
                              </m:f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≈</m:t>
                              </m:r>
                              <m:f>
                                <m:f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𝑅𝑏</m:t>
                                  </m:r>
                                </m:den>
                              </m:f>
                            </m:oMath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28909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971E466-1D9E-5BFA-F9DF-DDB9713DA5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3943718"/>
                  </p:ext>
                </p:extLst>
              </p:nvPr>
            </p:nvGraphicFramePr>
            <p:xfrm>
              <a:off x="1426384" y="710917"/>
              <a:ext cx="9339232" cy="5675371"/>
            </p:xfrm>
            <a:graphic>
              <a:graphicData uri="http://schemas.openxmlformats.org/drawingml/2006/table">
                <a:tbl>
                  <a:tblPr/>
                  <a:tblGrid>
                    <a:gridCol w="1443473">
                      <a:extLst>
                        <a:ext uri="{9D8B030D-6E8A-4147-A177-3AD203B41FA5}">
                          <a16:colId xmlns:a16="http://schemas.microsoft.com/office/drawing/2014/main" val="1798213402"/>
                        </a:ext>
                      </a:extLst>
                    </a:gridCol>
                    <a:gridCol w="1030811">
                      <a:extLst>
                        <a:ext uri="{9D8B030D-6E8A-4147-A177-3AD203B41FA5}">
                          <a16:colId xmlns:a16="http://schemas.microsoft.com/office/drawing/2014/main" val="2934198407"/>
                        </a:ext>
                      </a:extLst>
                    </a:gridCol>
                    <a:gridCol w="1856135">
                      <a:extLst>
                        <a:ext uri="{9D8B030D-6E8A-4147-A177-3AD203B41FA5}">
                          <a16:colId xmlns:a16="http://schemas.microsoft.com/office/drawing/2014/main" val="320345858"/>
                        </a:ext>
                      </a:extLst>
                    </a:gridCol>
                    <a:gridCol w="1650994">
                      <a:extLst>
                        <a:ext uri="{9D8B030D-6E8A-4147-A177-3AD203B41FA5}">
                          <a16:colId xmlns:a16="http://schemas.microsoft.com/office/drawing/2014/main" val="2108516021"/>
                        </a:ext>
                      </a:extLst>
                    </a:gridCol>
                    <a:gridCol w="3357819">
                      <a:extLst>
                        <a:ext uri="{9D8B030D-6E8A-4147-A177-3AD203B41FA5}">
                          <a16:colId xmlns:a16="http://schemas.microsoft.com/office/drawing/2014/main" val="357770747"/>
                        </a:ext>
                      </a:extLst>
                    </a:gridCol>
                  </a:tblGrid>
                  <a:tr h="245640">
                    <a:tc>
                      <a:txBody>
                        <a:bodyPr/>
                        <a:lstStyle/>
                        <a:p>
                          <a:r>
                            <a:rPr lang="en-US" sz="1200" b="1">
                              <a:effectLst/>
                              <a:latin typeface="TimesNewRomanPS"/>
                            </a:rPr>
                            <a:t>Name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Symbol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Dimension (SI unit)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Definition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Comment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1976765"/>
                      </a:ext>
                    </a:extLst>
                  </a:tr>
                  <a:tr h="438172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Joule-Thomson coefficient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60000" r="-669136" b="-1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60000" r="-271233" b="-1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60000" r="-204615" b="-1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113" t="-60000" r="-377" b="-112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6190867"/>
                      </a:ext>
                    </a:extLst>
                  </a:tr>
                  <a:tr h="519389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Adiabatic Joule-Thomson coefficient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136585" r="-669136" b="-86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136585" r="-271233" b="-86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136585" r="-204615" b="-86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Measured in the Joule- Thomson experiment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6952212"/>
                      </a:ext>
                    </a:extLst>
                  </a:tr>
                  <a:tr h="611400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Joule coefficient (aka internal pressure)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202083" r="-669136" b="-6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202083" r="-271233" b="-6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202083" r="-204615" b="-6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Measured in the Joule experiment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838709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Isobaric heat capacity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362500" r="-669136" b="-6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362500" r="-271233" b="-6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362500" r="-204615" b="-6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113" t="-362500" r="-377" b="-66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7933524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Isochoric heat capacity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462500" r="-669136" b="-5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462500" r="-271233" b="-5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462500" r="-204615" b="-5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113" t="-462500" r="-377" b="-56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2119041"/>
                      </a:ext>
                    </a:extLst>
                  </a:tr>
                  <a:tr h="438172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compressibility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661765" r="-669136" b="-5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661765" r="-271233" b="-5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661765" r="-204615" b="-56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Water density at the ocean floor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570667"/>
                      </a:ext>
                    </a:extLst>
                  </a:tr>
                  <a:tr h="438172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Isobaric thermal expansivity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740000" r="-669136" b="-44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740000" r="-271233" b="-44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740000" r="-204615" b="-44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>
                              <a:effectLst/>
                              <a:latin typeface="TimesNewRomanPSMT"/>
                            </a:rPr>
                            <a:t>Sea level rise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0525261"/>
                      </a:ext>
                    </a:extLst>
                  </a:tr>
                  <a:tr h="439188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Expansivity-to-compressibility ratio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864706" r="-669136" b="-3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864706" r="-271233" b="-3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864706" r="-204615" b="-3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From Euler chain relation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1595308"/>
                      </a:ext>
                    </a:extLst>
                  </a:tr>
                  <a:tr h="42852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Boyle temperature</a:t>
                          </a: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964706" r="-669136" b="-2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964706" r="-271233" b="-2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964706" r="-204615" b="-2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113" t="-964706" r="-377" b="-26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077924"/>
                      </a:ext>
                    </a:extLst>
                  </a:tr>
                  <a:tr h="42852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Inversion temperature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1064706" r="-669136" b="-1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1064706" r="-271233" b="-1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1064706" r="-204615" b="-16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113" t="-1064706" r="-377" b="-16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3930469"/>
                      </a:ext>
                    </a:extLst>
                  </a:tr>
                  <a:tr h="684044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Critical temperature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733333" r="-669136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733333" r="-271233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733333" r="-204615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113" t="-733333" r="-377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28909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65FA43E-A66D-BB81-5A41-2074BB3363DF}"/>
              </a:ext>
            </a:extLst>
          </p:cNvPr>
          <p:cNvSpPr txBox="1"/>
          <p:nvPr/>
        </p:nvSpPr>
        <p:spPr>
          <a:xfrm>
            <a:off x="0" y="2381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Summary of measurable quantities </a:t>
            </a:r>
          </a:p>
        </p:txBody>
      </p:sp>
    </p:spTree>
    <p:extLst>
      <p:ext uri="{BB962C8B-B14F-4D97-AF65-F5344CB8AC3E}">
        <p14:creationId xmlns:p14="http://schemas.microsoft.com/office/powerpoint/2010/main" val="531759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10 – Thermodynamic Definition of Entropy (TDE)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8EEFAF-4F44-DB45-8953-6405773D8D7B}"/>
                  </a:ext>
                </a:extLst>
              </p:cNvPr>
              <p:cNvSpPr txBox="1"/>
              <p:nvPr/>
            </p:nvSpPr>
            <p:spPr>
              <a:xfrm>
                <a:off x="471488" y="1062990"/>
                <a:ext cx="10895116" cy="358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We don’t have an entropy-meter. However, the </a:t>
                </a:r>
                <a:r>
                  <a:rPr lang="en-US" sz="2400" b="1" dirty="0"/>
                  <a:t>Thermodynamic Definition of Entropy (TDE) </a:t>
                </a:r>
                <a:r>
                  <a:rPr lang="en-US" sz="2400" dirty="0"/>
                  <a:t>can help: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𝒅𝑺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𝒓𝒆𝒗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</m:oMath>
                </a14:m>
                <a:r>
                  <a:rPr lang="en-US" sz="2400" dirty="0"/>
                  <a:t>  </a:t>
                </a:r>
              </a:p>
              <a:p>
                <a:endParaRPr lang="en-US" sz="2400" dirty="0"/>
              </a:p>
              <a:p>
                <a:r>
                  <a:rPr lang="en-US" sz="2400" u="sng" dirty="0"/>
                  <a:t>Embedded in the TDE: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:r>
                  <a:rPr lang="en-US" sz="2400" b="1" dirty="0"/>
                  <a:t>Adding</a:t>
                </a:r>
                <a:r>
                  <a:rPr lang="en-US" sz="2400" dirty="0"/>
                  <a:t> heat to an object means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𝑟𝑒𝑣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, so its </a:t>
                </a:r>
                <a:r>
                  <a:rPr lang="en-US" sz="2400" b="1" dirty="0"/>
                  <a:t>entropy goes up</a:t>
                </a:r>
                <a:r>
                  <a:rPr lang="en-US" sz="2400" dirty="0"/>
                  <a:t>.</a:t>
                </a:r>
                <a:endParaRPr lang="en-US" sz="2400" b="1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:r>
                  <a:rPr lang="en-US" sz="2400" b="1" dirty="0"/>
                  <a:t>Removing</a:t>
                </a:r>
                <a:r>
                  <a:rPr lang="en-US" sz="2400" dirty="0"/>
                  <a:t> heat from an object means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𝑟𝑒𝑣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so its </a:t>
                </a:r>
                <a:r>
                  <a:rPr lang="en-US" sz="2400" b="1" dirty="0"/>
                  <a:t>entropy goes down</a:t>
                </a:r>
                <a:r>
                  <a:rPr lang="en-US" sz="2400" dirty="0"/>
                  <a:t>.</a:t>
                </a:r>
                <a:endParaRPr lang="en-US" sz="2400" b="1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 Adding heat to a </a:t>
                </a:r>
                <a:r>
                  <a:rPr lang="en-US" sz="2400" b="1" dirty="0"/>
                  <a:t>cold object </a:t>
                </a:r>
                <a:r>
                  <a:rPr lang="en-US" sz="2400" dirty="0"/>
                  <a:t>will raise its entropy </a:t>
                </a:r>
                <a:r>
                  <a:rPr lang="en-US" sz="2400" b="1" dirty="0"/>
                  <a:t>more</a:t>
                </a:r>
                <a:r>
                  <a:rPr lang="en-US" sz="2400" dirty="0"/>
                  <a:t> than adding the same amount of heat to an object that’s </a:t>
                </a:r>
                <a:r>
                  <a:rPr lang="en-US" sz="2400" b="1" dirty="0"/>
                  <a:t>already</a:t>
                </a:r>
                <a:r>
                  <a:rPr lang="en-US" sz="2400" dirty="0"/>
                  <a:t> </a:t>
                </a:r>
                <a:r>
                  <a:rPr lang="en-US" sz="2400" b="1" dirty="0"/>
                  <a:t>hot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8EEFAF-4F44-DB45-8953-6405773D8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1062990"/>
                <a:ext cx="10895116" cy="3584315"/>
              </a:xfrm>
              <a:prstGeom prst="rect">
                <a:avLst/>
              </a:prstGeom>
              <a:blipFill>
                <a:blip r:embed="rId3"/>
                <a:stretch>
                  <a:fillRect l="-814" t="-1413" r="-814" b="-2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553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068E28-89CC-C84A-8BC9-2BED91C035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48"/>
          <a:stretch/>
        </p:blipFill>
        <p:spPr>
          <a:xfrm>
            <a:off x="3729340" y="1720459"/>
            <a:ext cx="4257040" cy="30681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98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Week 10 –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b="1" dirty="0"/>
                  <a:t>as a thermodynamic surface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81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8AE349-0593-D249-AB13-C294A3890C86}"/>
                  </a:ext>
                </a:extLst>
              </p:cNvPr>
              <p:cNvSpPr txBox="1"/>
              <p:nvPr/>
            </p:nvSpPr>
            <p:spPr>
              <a:xfrm>
                <a:off x="1483567" y="5035500"/>
                <a:ext cx="8353168" cy="1215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𝒅𝑺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𝒅𝑻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𝜿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</m:den>
                      </m:f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8AE349-0593-D249-AB13-C294A3890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567" y="5035500"/>
                <a:ext cx="8353168" cy="12159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/>
              <p:nvPr/>
            </p:nvSpPr>
            <p:spPr>
              <a:xfrm>
                <a:off x="3889289" y="3115076"/>
                <a:ext cx="6147486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289" y="3115076"/>
                <a:ext cx="6147486" cy="661015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A2CC0B-185B-2341-8BA7-87BD1A7AB4DF}"/>
                  </a:ext>
                </a:extLst>
              </p:cNvPr>
              <p:cNvSpPr txBox="1"/>
              <p:nvPr/>
            </p:nvSpPr>
            <p:spPr>
              <a:xfrm>
                <a:off x="4489348" y="1572475"/>
                <a:ext cx="6147486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A2CC0B-185B-2341-8BA7-87BD1A7AB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348" y="1572475"/>
                <a:ext cx="6147486" cy="661015"/>
              </a:xfrm>
              <a:prstGeom prst="rect">
                <a:avLst/>
              </a:prstGeom>
              <a:blipFill>
                <a:blip r:embed="rId6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EDAD02D9-4C99-6048-B8FC-4C972765E0D0}"/>
              </a:ext>
            </a:extLst>
          </p:cNvPr>
          <p:cNvGrpSpPr/>
          <p:nvPr/>
        </p:nvGrpSpPr>
        <p:grpSpPr>
          <a:xfrm>
            <a:off x="3530115" y="4439528"/>
            <a:ext cx="5466646" cy="370113"/>
            <a:chOff x="2678937" y="5513271"/>
            <a:chExt cx="5466646" cy="37011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D9B3CB-A60B-C041-AEFF-8FACEC1BCD3B}"/>
                </a:ext>
              </a:extLst>
            </p:cNvPr>
            <p:cNvSpPr txBox="1"/>
            <p:nvPr/>
          </p:nvSpPr>
          <p:spPr>
            <a:xfrm rot="21161009">
              <a:off x="6008173" y="5514052"/>
              <a:ext cx="2137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Volume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C0AC4C-C5C2-5C45-ADEB-ACCC48242A39}"/>
                </a:ext>
              </a:extLst>
            </p:cNvPr>
            <p:cNvSpPr txBox="1"/>
            <p:nvPr/>
          </p:nvSpPr>
          <p:spPr>
            <a:xfrm rot="1466443">
              <a:off x="2678937" y="5513271"/>
              <a:ext cx="2137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Temperature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0545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FFA99-D9ED-730A-A6D2-B8A5BE849F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48"/>
          <a:stretch/>
        </p:blipFill>
        <p:spPr>
          <a:xfrm>
            <a:off x="654049" y="2205797"/>
            <a:ext cx="5189538" cy="37402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8189F6-FDA7-DC4A-A7E0-98F1005E9C29}"/>
                  </a:ext>
                </a:extLst>
              </p:cNvPr>
              <p:cNvSpPr txBox="1"/>
              <p:nvPr/>
            </p:nvSpPr>
            <p:spPr>
              <a:xfrm>
                <a:off x="-2" y="-3219"/>
                <a:ext cx="12192001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About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  <a:endParaRPr lang="en-US" sz="2400" b="1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8189F6-FDA7-DC4A-A7E0-98F1005E9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-3219"/>
                <a:ext cx="12192001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B1A7085D-614D-3C7B-2039-324450096134}"/>
              </a:ext>
            </a:extLst>
          </p:cNvPr>
          <p:cNvGrpSpPr>
            <a:grpSpLocks noChangeAspect="1"/>
          </p:cNvGrpSpPr>
          <p:nvPr/>
        </p:nvGrpSpPr>
        <p:grpSpPr>
          <a:xfrm>
            <a:off x="1146314" y="4704526"/>
            <a:ext cx="4206978" cy="636824"/>
            <a:chOff x="3489528" y="3004147"/>
            <a:chExt cx="2577849" cy="390217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1E36767-778C-8C47-88CA-BEBF89647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3067" y="3241964"/>
              <a:ext cx="1664310" cy="15240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4552BBAC-E0F3-46BA-86B3-8C37950E1D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89528" y="3004147"/>
              <a:ext cx="913539" cy="390217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382134-16EB-D795-00C5-E785DB51F564}"/>
                  </a:ext>
                </a:extLst>
              </p:cNvPr>
              <p:cNvSpPr txBox="1"/>
              <p:nvPr/>
            </p:nvSpPr>
            <p:spPr>
              <a:xfrm>
                <a:off x="2081621" y="1101289"/>
                <a:ext cx="34724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 gas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382134-16EB-D795-00C5-E785DB51F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621" y="1101289"/>
                <a:ext cx="3472406" cy="461665"/>
              </a:xfrm>
              <a:prstGeom prst="rect">
                <a:avLst/>
              </a:prstGeom>
              <a:blipFill>
                <a:blip r:embed="rId4"/>
                <a:stretch>
                  <a:fillRect t="-5405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D0E512D7-5994-951A-33D2-5568E10A7272}"/>
              </a:ext>
            </a:extLst>
          </p:cNvPr>
          <p:cNvSpPr txBox="1"/>
          <p:nvPr/>
        </p:nvSpPr>
        <p:spPr>
          <a:xfrm>
            <a:off x="6504972" y="1262963"/>
            <a:ext cx="550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Which arrow is accompanied by a change in positional entropy (and why)?</a:t>
            </a:r>
          </a:p>
        </p:txBody>
      </p:sp>
    </p:spTree>
    <p:extLst>
      <p:ext uri="{BB962C8B-B14F-4D97-AF65-F5344CB8AC3E}">
        <p14:creationId xmlns:p14="http://schemas.microsoft.com/office/powerpoint/2010/main" val="113212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FFA99-D9ED-730A-A6D2-B8A5BE849F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48"/>
          <a:stretch/>
        </p:blipFill>
        <p:spPr>
          <a:xfrm>
            <a:off x="654049" y="2205797"/>
            <a:ext cx="5189538" cy="37402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8189F6-FDA7-DC4A-A7E0-98F1005E9C29}"/>
                  </a:ext>
                </a:extLst>
              </p:cNvPr>
              <p:cNvSpPr txBox="1"/>
              <p:nvPr/>
            </p:nvSpPr>
            <p:spPr>
              <a:xfrm>
                <a:off x="-2" y="-3219"/>
                <a:ext cx="12192001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About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  <a:endParaRPr lang="en-US" sz="2400" b="1" i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8189F6-FDA7-DC4A-A7E0-98F1005E9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-3219"/>
                <a:ext cx="12192001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B1A7085D-614D-3C7B-2039-324450096134}"/>
              </a:ext>
            </a:extLst>
          </p:cNvPr>
          <p:cNvGrpSpPr>
            <a:grpSpLocks noChangeAspect="1"/>
          </p:cNvGrpSpPr>
          <p:nvPr/>
        </p:nvGrpSpPr>
        <p:grpSpPr>
          <a:xfrm>
            <a:off x="1146314" y="4704526"/>
            <a:ext cx="4206978" cy="636824"/>
            <a:chOff x="3489528" y="3004147"/>
            <a:chExt cx="2577849" cy="390217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1E36767-778C-8C47-88CA-BEBF89647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3067" y="3241964"/>
              <a:ext cx="1664310" cy="152400"/>
            </a:xfrm>
            <a:prstGeom prst="straightConnector1">
              <a:avLst/>
            </a:prstGeom>
            <a:ln w="635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4552BBAC-E0F3-46BA-86B3-8C37950E1D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89528" y="3004147"/>
              <a:ext cx="913539" cy="390217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382134-16EB-D795-00C5-E785DB51F564}"/>
                  </a:ext>
                </a:extLst>
              </p:cNvPr>
              <p:cNvSpPr txBox="1"/>
              <p:nvPr/>
            </p:nvSpPr>
            <p:spPr>
              <a:xfrm>
                <a:off x="2081621" y="1101289"/>
                <a:ext cx="34724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 gas 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382134-16EB-D795-00C5-E785DB51F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621" y="1101289"/>
                <a:ext cx="3472406" cy="461665"/>
              </a:xfrm>
              <a:prstGeom prst="rect">
                <a:avLst/>
              </a:prstGeom>
              <a:blipFill>
                <a:blip r:embed="rId4"/>
                <a:stretch>
                  <a:fillRect t="-5405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D0E512D7-5994-951A-33D2-5568E10A7272}"/>
              </a:ext>
            </a:extLst>
          </p:cNvPr>
          <p:cNvSpPr txBox="1"/>
          <p:nvPr/>
        </p:nvSpPr>
        <p:spPr>
          <a:xfrm>
            <a:off x="6504972" y="1262963"/>
            <a:ext cx="550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Which arrow is accompanied by a change in positional entropy (and why)?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0141A70-0C85-861B-41A2-47FB085712A3}"/>
              </a:ext>
            </a:extLst>
          </p:cNvPr>
          <p:cNvCxnSpPr>
            <a:cxnSpLocks/>
          </p:cNvCxnSpPr>
          <p:nvPr/>
        </p:nvCxnSpPr>
        <p:spPr>
          <a:xfrm>
            <a:off x="7057991" y="2384123"/>
            <a:ext cx="2886113" cy="0"/>
          </a:xfrm>
          <a:prstGeom prst="straightConnector1">
            <a:avLst/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850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8189F6-FDA7-DC4A-A7E0-98F1005E9C29}"/>
                  </a:ext>
                </a:extLst>
              </p:cNvPr>
              <p:cNvSpPr txBox="1"/>
              <p:nvPr/>
            </p:nvSpPr>
            <p:spPr>
              <a:xfrm>
                <a:off x="-2" y="-3219"/>
                <a:ext cx="12192001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About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  <a:endParaRPr lang="en-US" sz="2400" b="1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8189F6-FDA7-DC4A-A7E0-98F1005E9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-3219"/>
                <a:ext cx="12192001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D0E512D7-5994-951A-33D2-5568E10A7272}"/>
              </a:ext>
            </a:extLst>
          </p:cNvPr>
          <p:cNvSpPr txBox="1"/>
          <p:nvPr/>
        </p:nvSpPr>
        <p:spPr>
          <a:xfrm>
            <a:off x="1389484" y="981704"/>
            <a:ext cx="92508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a given volume of gas, which probability density corresponds to higher thermal entropy?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ED2751A-C809-87F8-D806-F729BA6F00A0}"/>
              </a:ext>
            </a:extLst>
          </p:cNvPr>
          <p:cNvGrpSpPr>
            <a:grpSpLocks noChangeAspect="1"/>
          </p:cNvGrpSpPr>
          <p:nvPr/>
        </p:nvGrpSpPr>
        <p:grpSpPr>
          <a:xfrm>
            <a:off x="2426675" y="2683612"/>
            <a:ext cx="7176463" cy="4174388"/>
            <a:chOff x="6775937" y="3429000"/>
            <a:chExt cx="5042353" cy="2933024"/>
          </a:xfrm>
        </p:grpSpPr>
        <p:pic>
          <p:nvPicPr>
            <p:cNvPr id="26" name="Picture 2" descr="Image result for image maxwell distribution">
              <a:extLst>
                <a:ext uri="{FF2B5EF4-FFF2-40B4-BE49-F238E27FC236}">
                  <a16:creationId xmlns:a16="http://schemas.microsoft.com/office/drawing/2014/main" id="{3BCEA5E2-7E59-E8CE-00D0-16A391ACFB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13" t="19882"/>
            <a:stretch/>
          </p:blipFill>
          <p:spPr bwMode="auto">
            <a:xfrm>
              <a:off x="6775937" y="3429000"/>
              <a:ext cx="5042353" cy="25689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5121643-135D-51A9-035B-453EB5D3A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7603671" y="5633800"/>
              <a:ext cx="2965450" cy="72822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6BA2420-CA23-98E1-FC92-8D6207131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10855568" y="3732520"/>
              <a:ext cx="879231" cy="1338946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5FEC392-6B81-869C-A082-2839A7FAF5B0}"/>
              </a:ext>
            </a:extLst>
          </p:cNvPr>
          <p:cNvSpPr txBox="1"/>
          <p:nvPr/>
        </p:nvSpPr>
        <p:spPr>
          <a:xfrm>
            <a:off x="3510833" y="2846449"/>
            <a:ext cx="422053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Probability density of molecular speeds</a:t>
            </a:r>
          </a:p>
        </p:txBody>
      </p:sp>
    </p:spTree>
    <p:extLst>
      <p:ext uri="{BB962C8B-B14F-4D97-AF65-F5344CB8AC3E}">
        <p14:creationId xmlns:p14="http://schemas.microsoft.com/office/powerpoint/2010/main" val="978428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8189F6-FDA7-DC4A-A7E0-98F1005E9C29}"/>
                  </a:ext>
                </a:extLst>
              </p:cNvPr>
              <p:cNvSpPr txBox="1"/>
              <p:nvPr/>
            </p:nvSpPr>
            <p:spPr>
              <a:xfrm>
                <a:off x="-2" y="-3219"/>
                <a:ext cx="12192001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About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  <a:endParaRPr lang="en-US" sz="2400" b="1" i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8189F6-FDA7-DC4A-A7E0-98F1005E9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-3219"/>
                <a:ext cx="12192001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D0E512D7-5994-951A-33D2-5568E10A7272}"/>
              </a:ext>
            </a:extLst>
          </p:cNvPr>
          <p:cNvSpPr txBox="1"/>
          <p:nvPr/>
        </p:nvSpPr>
        <p:spPr>
          <a:xfrm>
            <a:off x="1389484" y="981704"/>
            <a:ext cx="92508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a given volume of gas, which probability density corresponds to higher thermal entropy?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ED2751A-C809-87F8-D806-F729BA6F00A0}"/>
              </a:ext>
            </a:extLst>
          </p:cNvPr>
          <p:cNvGrpSpPr>
            <a:grpSpLocks noChangeAspect="1"/>
          </p:cNvGrpSpPr>
          <p:nvPr/>
        </p:nvGrpSpPr>
        <p:grpSpPr>
          <a:xfrm>
            <a:off x="2426675" y="2683612"/>
            <a:ext cx="7176463" cy="4174388"/>
            <a:chOff x="6775937" y="3429000"/>
            <a:chExt cx="5042353" cy="2933024"/>
          </a:xfrm>
        </p:grpSpPr>
        <p:pic>
          <p:nvPicPr>
            <p:cNvPr id="26" name="Picture 2" descr="Image result for image maxwell distribution">
              <a:extLst>
                <a:ext uri="{FF2B5EF4-FFF2-40B4-BE49-F238E27FC236}">
                  <a16:creationId xmlns:a16="http://schemas.microsoft.com/office/drawing/2014/main" id="{3BCEA5E2-7E59-E8CE-00D0-16A391ACFB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13" t="19882"/>
            <a:stretch/>
          </p:blipFill>
          <p:spPr bwMode="auto">
            <a:xfrm>
              <a:off x="6775937" y="3429000"/>
              <a:ext cx="5042353" cy="25689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5121643-135D-51A9-035B-453EB5D3A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7603671" y="5633800"/>
              <a:ext cx="2965450" cy="72822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6BA2420-CA23-98E1-FC92-8D6207131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10855568" y="3732520"/>
              <a:ext cx="879231" cy="1338946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5FEC392-6B81-869C-A082-2839A7FAF5B0}"/>
              </a:ext>
            </a:extLst>
          </p:cNvPr>
          <p:cNvSpPr txBox="1"/>
          <p:nvPr/>
        </p:nvSpPr>
        <p:spPr>
          <a:xfrm>
            <a:off x="3510833" y="2846449"/>
            <a:ext cx="422053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Probability density of molecular speeds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4AE56A6-9134-801B-4F64-CD81762BA71F}"/>
              </a:ext>
            </a:extLst>
          </p:cNvPr>
          <p:cNvCxnSpPr>
            <a:cxnSpLocks/>
          </p:cNvCxnSpPr>
          <p:nvPr/>
        </p:nvCxnSpPr>
        <p:spPr>
          <a:xfrm>
            <a:off x="4371975" y="1928813"/>
            <a:ext cx="1128713" cy="2714625"/>
          </a:xfrm>
          <a:prstGeom prst="straightConnector1">
            <a:avLst/>
          </a:prstGeom>
          <a:ln w="50800">
            <a:solidFill>
              <a:schemeClr val="tx1">
                <a:alpha val="4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203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A2DDEC-7AD5-3548-AEB2-1DB286647B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50"/>
          <a:stretch/>
        </p:blipFill>
        <p:spPr>
          <a:xfrm>
            <a:off x="3332973" y="1473600"/>
            <a:ext cx="4654356" cy="31761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-7364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Week 10 –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b="1" dirty="0"/>
                  <a:t>as a thermodynamic surface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7364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8AE349-0593-D249-AB13-C294A3890C86}"/>
                  </a:ext>
                </a:extLst>
              </p:cNvPr>
              <p:cNvSpPr txBox="1"/>
              <p:nvPr/>
            </p:nvSpPr>
            <p:spPr>
              <a:xfrm>
                <a:off x="1483567" y="5035500"/>
                <a:ext cx="8353168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𝒅𝑺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𝒅𝑻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𝑽𝒅𝑷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8AE349-0593-D249-AB13-C294A3890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567" y="5035500"/>
                <a:ext cx="8353168" cy="783804"/>
              </a:xfrm>
              <a:prstGeom prst="rect">
                <a:avLst/>
              </a:prstGeom>
              <a:blipFill>
                <a:blip r:embed="rId4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/>
              <p:nvPr/>
            </p:nvSpPr>
            <p:spPr>
              <a:xfrm>
                <a:off x="4309419" y="2442968"/>
                <a:ext cx="6147486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419" y="2442968"/>
                <a:ext cx="6147486" cy="661015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A2CC0B-185B-2341-8BA7-87BD1A7AB4DF}"/>
                  </a:ext>
                </a:extLst>
              </p:cNvPr>
              <p:cNvSpPr txBox="1"/>
              <p:nvPr/>
            </p:nvSpPr>
            <p:spPr>
              <a:xfrm>
                <a:off x="2499909" y="3454987"/>
                <a:ext cx="6147486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A2CC0B-185B-2341-8BA7-87BD1A7AB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909" y="3454987"/>
                <a:ext cx="6147486" cy="661015"/>
              </a:xfrm>
              <a:prstGeom prst="rect">
                <a:avLst/>
              </a:prstGeom>
              <a:blipFill>
                <a:blip r:embed="rId6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436DA83-9ADA-5A43-8E60-074A532FFFA8}"/>
              </a:ext>
            </a:extLst>
          </p:cNvPr>
          <p:cNvGrpSpPr/>
          <p:nvPr/>
        </p:nvGrpSpPr>
        <p:grpSpPr>
          <a:xfrm>
            <a:off x="3310058" y="3440656"/>
            <a:ext cx="5745976" cy="966231"/>
            <a:chOff x="2458880" y="4514399"/>
            <a:chExt cx="5745976" cy="96623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AAF368-FA60-334B-A38E-45586302FC5E}"/>
                </a:ext>
              </a:extLst>
            </p:cNvPr>
            <p:cNvSpPr txBox="1"/>
            <p:nvPr/>
          </p:nvSpPr>
          <p:spPr>
            <a:xfrm rot="19263365">
              <a:off x="6067446" y="4514399"/>
              <a:ext cx="2137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ym typeface="Wingdings" pitchFamily="2" charset="2"/>
                </a:rPr>
                <a:t></a:t>
              </a:r>
              <a:r>
                <a:rPr lang="en-US" b="1" dirty="0"/>
                <a:t> Pressure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AEEA63-103D-6746-B6C1-0D9985D84396}"/>
                </a:ext>
              </a:extLst>
            </p:cNvPr>
            <p:cNvSpPr txBox="1"/>
            <p:nvPr/>
          </p:nvSpPr>
          <p:spPr>
            <a:xfrm rot="1466443">
              <a:off x="2458880" y="5111298"/>
              <a:ext cx="2137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Temperature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0610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-2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Distinguishing between entropy of different phases</a:t>
            </a:r>
            <a:endParaRPr lang="en-US" sz="2400" b="1" i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5B51127-1209-811A-66E9-A79ED311B3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0" t="21504" r="12620" b="12968"/>
          <a:stretch/>
        </p:blipFill>
        <p:spPr bwMode="auto">
          <a:xfrm>
            <a:off x="5151442" y="1008189"/>
            <a:ext cx="6567667" cy="5064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E74DD5-AAC8-A21E-0468-862919F73BC5}"/>
              </a:ext>
            </a:extLst>
          </p:cNvPr>
          <p:cNvSpPr txBox="1"/>
          <p:nvPr/>
        </p:nvSpPr>
        <p:spPr>
          <a:xfrm>
            <a:off x="472890" y="2644170"/>
            <a:ext cx="3712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These surfaces represent solid, liquid, and gas. </a:t>
            </a:r>
          </a:p>
          <a:p>
            <a:endParaRPr lang="en-US" sz="2400" dirty="0"/>
          </a:p>
          <a:p>
            <a:r>
              <a:rPr lang="en-US" sz="2400" dirty="0"/>
              <a:t>Which is which?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0A8029-1A70-5216-D2D6-DA270D499242}"/>
                  </a:ext>
                </a:extLst>
              </p:cNvPr>
              <p:cNvSpPr txBox="1"/>
              <p:nvPr/>
            </p:nvSpPr>
            <p:spPr>
              <a:xfrm>
                <a:off x="6272607" y="1486598"/>
                <a:ext cx="7679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0A8029-1A70-5216-D2D6-DA270D499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607" y="1486598"/>
                <a:ext cx="767953" cy="461665"/>
              </a:xfrm>
              <a:prstGeom prst="rect">
                <a:avLst/>
              </a:prstGeom>
              <a:blipFill>
                <a:blip r:embed="rId5"/>
                <a:stretch>
                  <a:fillRect l="-1613" r="-51613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343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3DCC2EF-FF92-4719-59F6-0E3A25C2D105}"/>
              </a:ext>
            </a:extLst>
          </p:cNvPr>
          <p:cNvGrpSpPr>
            <a:grpSpLocks noChangeAspect="1"/>
          </p:cNvGrpSpPr>
          <p:nvPr/>
        </p:nvGrpSpPr>
        <p:grpSpPr>
          <a:xfrm>
            <a:off x="359499" y="819615"/>
            <a:ext cx="6951110" cy="5218769"/>
            <a:chOff x="544834" y="217304"/>
            <a:chExt cx="8244129" cy="6189544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10A3455D-7777-ACE1-B489-B49AE315F8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834" y="217304"/>
              <a:ext cx="8244129" cy="6189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1867833-9114-84DF-F518-045ABEEF811E}"/>
                </a:ext>
              </a:extLst>
            </p:cNvPr>
            <p:cNvCxnSpPr/>
            <p:nvPr/>
          </p:nvCxnSpPr>
          <p:spPr>
            <a:xfrm flipV="1">
              <a:off x="6647654" y="1255456"/>
              <a:ext cx="0" cy="2789499"/>
            </a:xfrm>
            <a:prstGeom prst="straightConnector1">
              <a:avLst/>
            </a:prstGeom>
            <a:ln w="63500">
              <a:solidFill>
                <a:srgbClr val="FF0000">
                  <a:alpha val="5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7F67D97-48DA-6655-F646-72869D35C65A}"/>
              </a:ext>
            </a:extLst>
          </p:cNvPr>
          <p:cNvCxnSpPr>
            <a:cxnSpLocks/>
          </p:cNvCxnSpPr>
          <p:nvPr/>
        </p:nvCxnSpPr>
        <p:spPr>
          <a:xfrm flipV="1">
            <a:off x="3207868" y="4572000"/>
            <a:ext cx="0" cy="422031"/>
          </a:xfrm>
          <a:prstGeom prst="straightConnector1">
            <a:avLst/>
          </a:prstGeom>
          <a:ln w="63500">
            <a:solidFill>
              <a:schemeClr val="tx1">
                <a:alpha val="5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6ED04B4-5C1F-8A24-0081-A1B50AD40734}"/>
              </a:ext>
            </a:extLst>
          </p:cNvPr>
          <p:cNvSpPr txBox="1"/>
          <p:nvPr/>
        </p:nvSpPr>
        <p:spPr>
          <a:xfrm>
            <a:off x="-2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10 – Entropy of phase transitions at their normal transition temperatures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DAEB94-DAB8-B916-72BA-9D9FFA754E43}"/>
                  </a:ext>
                </a:extLst>
              </p:cNvPr>
              <p:cNvSpPr txBox="1"/>
              <p:nvPr/>
            </p:nvSpPr>
            <p:spPr>
              <a:xfrm>
                <a:off x="7228546" y="1581713"/>
                <a:ext cx="4603951" cy="1637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Here’s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dirty="0"/>
                  <a:t> of water at its normal boiling temperature, and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𝒇𝒖𝒔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at the normal melting temperature of water.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DAEB94-DAB8-B916-72BA-9D9FFA754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546" y="1581713"/>
                <a:ext cx="4603951" cy="1637756"/>
              </a:xfrm>
              <a:prstGeom prst="rect">
                <a:avLst/>
              </a:prstGeom>
              <a:blipFill>
                <a:blip r:embed="rId4"/>
                <a:stretch>
                  <a:fillRect l="-2204" t="-2308" r="-192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8950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/>
              <p:nvPr/>
            </p:nvSpPr>
            <p:spPr>
              <a:xfrm>
                <a:off x="-1" y="0"/>
                <a:ext cx="12192001" cy="494751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About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b="1" dirty="0"/>
                  <a:t>  </a:t>
                </a:r>
                <a:endParaRPr lang="en-US" sz="2400" b="1" u="sng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12192001" cy="494751"/>
              </a:xfrm>
              <a:prstGeom prst="rect">
                <a:avLst/>
              </a:prstGeom>
              <a:blipFill>
                <a:blip r:embed="rId3"/>
                <a:stretch>
                  <a:fillRect l="-832" t="-769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6E06CA-1450-8846-867D-807B4F368870}"/>
              </a:ext>
            </a:extLst>
          </p:cNvPr>
          <p:cNvCxnSpPr>
            <a:cxnSpLocks/>
          </p:cNvCxnSpPr>
          <p:nvPr/>
        </p:nvCxnSpPr>
        <p:spPr>
          <a:xfrm>
            <a:off x="645458" y="735721"/>
            <a:ext cx="657292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6DC45853-F073-7C4C-8CF7-C0C45F2DE849}"/>
              </a:ext>
            </a:extLst>
          </p:cNvPr>
          <p:cNvGrpSpPr/>
          <p:nvPr/>
        </p:nvGrpSpPr>
        <p:grpSpPr>
          <a:xfrm>
            <a:off x="5614160" y="765479"/>
            <a:ext cx="1302187" cy="5476985"/>
            <a:chOff x="9489844" y="376433"/>
            <a:chExt cx="1302187" cy="547698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6C91093-9C61-7A41-9A8C-D5D1B7F2E17E}"/>
                </a:ext>
              </a:extLst>
            </p:cNvPr>
            <p:cNvCxnSpPr/>
            <p:nvPr/>
          </p:nvCxnSpPr>
          <p:spPr>
            <a:xfrm>
              <a:off x="9489844" y="5853418"/>
              <a:ext cx="1302187" cy="0"/>
            </a:xfrm>
            <a:prstGeom prst="line">
              <a:avLst/>
            </a:prstGeom>
            <a:ln w="63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22A04FE-F114-B449-9CB4-BEA26A0A12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24069" y="376433"/>
              <a:ext cx="27048" cy="5476985"/>
            </a:xfrm>
            <a:prstGeom prst="line">
              <a:avLst/>
            </a:prstGeom>
            <a:ln w="635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355415-B48F-5E44-8D7D-322381FB7FA6}"/>
              </a:ext>
            </a:extLst>
          </p:cNvPr>
          <p:cNvGrpSpPr/>
          <p:nvPr/>
        </p:nvGrpSpPr>
        <p:grpSpPr>
          <a:xfrm>
            <a:off x="3540517" y="765478"/>
            <a:ext cx="1609435" cy="4512651"/>
            <a:chOff x="2216637" y="888120"/>
            <a:chExt cx="1609435" cy="451265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EE0F342-1D43-0748-A589-5D7A23A0A70B}"/>
                </a:ext>
              </a:extLst>
            </p:cNvPr>
            <p:cNvGrpSpPr/>
            <p:nvPr/>
          </p:nvGrpSpPr>
          <p:grpSpPr>
            <a:xfrm>
              <a:off x="2403399" y="888120"/>
              <a:ext cx="1302187" cy="4512651"/>
              <a:chOff x="9600023" y="376433"/>
              <a:chExt cx="1302187" cy="4512651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1E75752-1846-A44C-BA42-F4C7FDE877F9}"/>
                  </a:ext>
                </a:extLst>
              </p:cNvPr>
              <p:cNvCxnSpPr/>
              <p:nvPr/>
            </p:nvCxnSpPr>
            <p:spPr>
              <a:xfrm>
                <a:off x="9600023" y="4889084"/>
                <a:ext cx="1302187" cy="0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4559C40-E302-394C-95A2-7F6F85B3AD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1117" y="376433"/>
                <a:ext cx="0" cy="4512651"/>
              </a:xfrm>
              <a:prstGeom prst="line">
                <a:avLst/>
              </a:prstGeom>
              <a:ln w="635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632FC-5E93-6847-B7E0-D58B36881A4E}"/>
                </a:ext>
              </a:extLst>
            </p:cNvPr>
            <p:cNvSpPr txBox="1"/>
            <p:nvPr/>
          </p:nvSpPr>
          <p:spPr>
            <a:xfrm>
              <a:off x="2216637" y="2697363"/>
              <a:ext cx="1609435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Acetone 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AFDEBDA-D7CE-FC4A-8A4C-7DC566C674AF}"/>
              </a:ext>
            </a:extLst>
          </p:cNvPr>
          <p:cNvGrpSpPr/>
          <p:nvPr/>
        </p:nvGrpSpPr>
        <p:grpSpPr>
          <a:xfrm>
            <a:off x="1515177" y="795234"/>
            <a:ext cx="2510551" cy="3679184"/>
            <a:chOff x="1680246" y="888120"/>
            <a:chExt cx="2510551" cy="367918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4154C14-F12E-FB4D-829E-C9B1444414FC}"/>
                </a:ext>
              </a:extLst>
            </p:cNvPr>
            <p:cNvGrpSpPr/>
            <p:nvPr/>
          </p:nvGrpSpPr>
          <p:grpSpPr>
            <a:xfrm>
              <a:off x="2403399" y="888120"/>
              <a:ext cx="1302187" cy="3679184"/>
              <a:chOff x="9600023" y="376433"/>
              <a:chExt cx="1302187" cy="3679184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606061F-3E4B-B143-92D1-40AB26D89E74}"/>
                  </a:ext>
                </a:extLst>
              </p:cNvPr>
              <p:cNvCxnSpPr/>
              <p:nvPr/>
            </p:nvCxnSpPr>
            <p:spPr>
              <a:xfrm>
                <a:off x="9600023" y="4055617"/>
                <a:ext cx="1302187" cy="0"/>
              </a:xfrm>
              <a:prstGeom prst="line">
                <a:avLst/>
              </a:prstGeom>
              <a:ln w="635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AD1453C-D2E3-B541-8FAB-305A277A1A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51116" y="376433"/>
                <a:ext cx="1" cy="3679184"/>
              </a:xfrm>
              <a:prstGeom prst="line">
                <a:avLst/>
              </a:prstGeom>
              <a:ln w="635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EA60339-A02A-914F-A2FE-C70F84E89A43}"/>
                </a:ext>
              </a:extLst>
            </p:cNvPr>
            <p:cNvSpPr txBox="1"/>
            <p:nvPr/>
          </p:nvSpPr>
          <p:spPr>
            <a:xfrm>
              <a:off x="1680246" y="1490376"/>
              <a:ext cx="251055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Methane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E656D70-7FFC-B348-AB62-86F26E90CA51}"/>
              </a:ext>
            </a:extLst>
          </p:cNvPr>
          <p:cNvSpPr/>
          <p:nvPr/>
        </p:nvSpPr>
        <p:spPr>
          <a:xfrm>
            <a:off x="5106186" y="3342179"/>
            <a:ext cx="2677127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Water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00D7A72-BCED-1D4D-87EE-3B5D55476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5787" y="3537020"/>
            <a:ext cx="3352468" cy="173679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FCEF05A-67FB-F340-B02A-C44D21D2C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278" y="5565877"/>
            <a:ext cx="1775304" cy="119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1EE31B-20E0-6D88-B7D4-B0AF1435A4E2}"/>
                  </a:ext>
                </a:extLst>
              </p:cNvPr>
              <p:cNvSpPr txBox="1"/>
              <p:nvPr/>
            </p:nvSpPr>
            <p:spPr>
              <a:xfrm>
                <a:off x="7064278" y="1140683"/>
                <a:ext cx="4754871" cy="123341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According to Trouton, all these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dirty="0"/>
                  <a:t> values would be expected to hover around what value?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1EE31B-20E0-6D88-B7D4-B0AF1435A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278" y="1140683"/>
                <a:ext cx="4754871" cy="1233415"/>
              </a:xfrm>
              <a:prstGeom prst="rect">
                <a:avLst/>
              </a:prstGeom>
              <a:blipFill>
                <a:blip r:embed="rId6"/>
                <a:stretch>
                  <a:fillRect l="-1857" t="-4040" b="-1010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6248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/>
              <p:nvPr/>
            </p:nvSpPr>
            <p:spPr>
              <a:xfrm>
                <a:off x="-1" y="0"/>
                <a:ext cx="12192001" cy="494751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About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b="1" dirty="0"/>
                  <a:t>  </a:t>
                </a:r>
                <a:endParaRPr lang="en-US" sz="2400" b="1" u="sng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12192001" cy="494751"/>
              </a:xfrm>
              <a:prstGeom prst="rect">
                <a:avLst/>
              </a:prstGeom>
              <a:blipFill>
                <a:blip r:embed="rId3"/>
                <a:stretch>
                  <a:fillRect l="-832" t="-769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6E06CA-1450-8846-867D-807B4F368870}"/>
              </a:ext>
            </a:extLst>
          </p:cNvPr>
          <p:cNvCxnSpPr>
            <a:cxnSpLocks/>
          </p:cNvCxnSpPr>
          <p:nvPr/>
        </p:nvCxnSpPr>
        <p:spPr>
          <a:xfrm>
            <a:off x="645458" y="735721"/>
            <a:ext cx="657292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6DC45853-F073-7C4C-8CF7-C0C45F2DE849}"/>
              </a:ext>
            </a:extLst>
          </p:cNvPr>
          <p:cNvGrpSpPr/>
          <p:nvPr/>
        </p:nvGrpSpPr>
        <p:grpSpPr>
          <a:xfrm>
            <a:off x="5614160" y="765479"/>
            <a:ext cx="1302187" cy="5476985"/>
            <a:chOff x="9489844" y="376433"/>
            <a:chExt cx="1302187" cy="547698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6C91093-9C61-7A41-9A8C-D5D1B7F2E17E}"/>
                </a:ext>
              </a:extLst>
            </p:cNvPr>
            <p:cNvCxnSpPr/>
            <p:nvPr/>
          </p:nvCxnSpPr>
          <p:spPr>
            <a:xfrm>
              <a:off x="9489844" y="5853418"/>
              <a:ext cx="1302187" cy="0"/>
            </a:xfrm>
            <a:prstGeom prst="line">
              <a:avLst/>
            </a:prstGeom>
            <a:ln w="63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22A04FE-F114-B449-9CB4-BEA26A0A12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24069" y="376433"/>
              <a:ext cx="27048" cy="5476985"/>
            </a:xfrm>
            <a:prstGeom prst="line">
              <a:avLst/>
            </a:prstGeom>
            <a:ln w="635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355415-B48F-5E44-8D7D-322381FB7FA6}"/>
              </a:ext>
            </a:extLst>
          </p:cNvPr>
          <p:cNvGrpSpPr/>
          <p:nvPr/>
        </p:nvGrpSpPr>
        <p:grpSpPr>
          <a:xfrm>
            <a:off x="3540517" y="765478"/>
            <a:ext cx="1609435" cy="4512651"/>
            <a:chOff x="2216637" y="888120"/>
            <a:chExt cx="1609435" cy="451265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EE0F342-1D43-0748-A589-5D7A23A0A70B}"/>
                </a:ext>
              </a:extLst>
            </p:cNvPr>
            <p:cNvGrpSpPr/>
            <p:nvPr/>
          </p:nvGrpSpPr>
          <p:grpSpPr>
            <a:xfrm>
              <a:off x="2403399" y="888120"/>
              <a:ext cx="1302187" cy="4512651"/>
              <a:chOff x="9600023" y="376433"/>
              <a:chExt cx="1302187" cy="4512651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1E75752-1846-A44C-BA42-F4C7FDE877F9}"/>
                  </a:ext>
                </a:extLst>
              </p:cNvPr>
              <p:cNvCxnSpPr/>
              <p:nvPr/>
            </p:nvCxnSpPr>
            <p:spPr>
              <a:xfrm>
                <a:off x="9600023" y="4889084"/>
                <a:ext cx="1302187" cy="0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4559C40-E302-394C-95A2-7F6F85B3AD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1117" y="376433"/>
                <a:ext cx="0" cy="4512651"/>
              </a:xfrm>
              <a:prstGeom prst="line">
                <a:avLst/>
              </a:prstGeom>
              <a:ln w="635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632FC-5E93-6847-B7E0-D58B36881A4E}"/>
                </a:ext>
              </a:extLst>
            </p:cNvPr>
            <p:cNvSpPr txBox="1"/>
            <p:nvPr/>
          </p:nvSpPr>
          <p:spPr>
            <a:xfrm>
              <a:off x="2216637" y="2697363"/>
              <a:ext cx="1609435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Acetone 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AFDEBDA-D7CE-FC4A-8A4C-7DC566C674AF}"/>
              </a:ext>
            </a:extLst>
          </p:cNvPr>
          <p:cNvGrpSpPr/>
          <p:nvPr/>
        </p:nvGrpSpPr>
        <p:grpSpPr>
          <a:xfrm>
            <a:off x="1515177" y="795234"/>
            <a:ext cx="2510551" cy="3679184"/>
            <a:chOff x="1680246" y="888120"/>
            <a:chExt cx="2510551" cy="367918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4154C14-F12E-FB4D-829E-C9B1444414FC}"/>
                </a:ext>
              </a:extLst>
            </p:cNvPr>
            <p:cNvGrpSpPr/>
            <p:nvPr/>
          </p:nvGrpSpPr>
          <p:grpSpPr>
            <a:xfrm>
              <a:off x="2403399" y="888120"/>
              <a:ext cx="1302187" cy="3679184"/>
              <a:chOff x="9600023" y="376433"/>
              <a:chExt cx="1302187" cy="3679184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606061F-3E4B-B143-92D1-40AB26D89E74}"/>
                  </a:ext>
                </a:extLst>
              </p:cNvPr>
              <p:cNvCxnSpPr/>
              <p:nvPr/>
            </p:nvCxnSpPr>
            <p:spPr>
              <a:xfrm>
                <a:off x="9600023" y="4055617"/>
                <a:ext cx="1302187" cy="0"/>
              </a:xfrm>
              <a:prstGeom prst="line">
                <a:avLst/>
              </a:prstGeom>
              <a:ln w="635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AD1453C-D2E3-B541-8FAB-305A277A1A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51116" y="376433"/>
                <a:ext cx="1" cy="3679184"/>
              </a:xfrm>
              <a:prstGeom prst="line">
                <a:avLst/>
              </a:prstGeom>
              <a:ln w="635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EA60339-A02A-914F-A2FE-C70F84E89A43}"/>
                </a:ext>
              </a:extLst>
            </p:cNvPr>
            <p:cNvSpPr txBox="1"/>
            <p:nvPr/>
          </p:nvSpPr>
          <p:spPr>
            <a:xfrm>
              <a:off x="1680246" y="1490376"/>
              <a:ext cx="251055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Methane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E656D70-7FFC-B348-AB62-86F26E90CA51}"/>
              </a:ext>
            </a:extLst>
          </p:cNvPr>
          <p:cNvSpPr/>
          <p:nvPr/>
        </p:nvSpPr>
        <p:spPr>
          <a:xfrm>
            <a:off x="5106186" y="3342179"/>
            <a:ext cx="2677127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Water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00D7A72-BCED-1D4D-87EE-3B5D55476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5787" y="3537020"/>
            <a:ext cx="3352468" cy="173679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FCEF05A-67FB-F340-B02A-C44D21D2C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278" y="5565877"/>
            <a:ext cx="1775304" cy="119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1EE31B-20E0-6D88-B7D4-B0AF1435A4E2}"/>
                  </a:ext>
                </a:extLst>
              </p:cNvPr>
              <p:cNvSpPr txBox="1"/>
              <p:nvPr/>
            </p:nvSpPr>
            <p:spPr>
              <a:xfrm>
                <a:off x="7064278" y="1140683"/>
                <a:ext cx="4754871" cy="123341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According to Trouton, all these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dirty="0"/>
                  <a:t> values would be expected to hover around what value?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1EE31B-20E0-6D88-B7D4-B0AF1435A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278" y="1140683"/>
                <a:ext cx="4754871" cy="1233415"/>
              </a:xfrm>
              <a:prstGeom prst="rect">
                <a:avLst/>
              </a:prstGeom>
              <a:blipFill>
                <a:blip r:embed="rId6"/>
                <a:stretch>
                  <a:fillRect l="-1857" t="-4040" b="-1010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AFA24F-0003-9F1C-C38D-637E2A41B4ED}"/>
                  </a:ext>
                </a:extLst>
              </p:cNvPr>
              <p:cNvSpPr txBox="1"/>
              <p:nvPr/>
            </p:nvSpPr>
            <p:spPr>
              <a:xfrm>
                <a:off x="7064278" y="2871788"/>
                <a:ext cx="2352553" cy="78393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85−88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AFA24F-0003-9F1C-C38D-637E2A41B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278" y="2871788"/>
                <a:ext cx="2352553" cy="783933"/>
              </a:xfrm>
              <a:prstGeom prst="rect">
                <a:avLst/>
              </a:prstGeom>
              <a:blipFill>
                <a:blip r:embed="rId7"/>
                <a:stretch>
                  <a:fillRect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589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/>
              <p:nvPr/>
            </p:nvSpPr>
            <p:spPr>
              <a:xfrm>
                <a:off x="-1" y="0"/>
                <a:ext cx="12192001" cy="494751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kind of question I might ask – About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b="1" dirty="0"/>
                  <a:t>  </a:t>
                </a:r>
                <a:endParaRPr lang="en-US" sz="2400" b="1" u="sng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12192001" cy="494751"/>
              </a:xfrm>
              <a:prstGeom prst="rect">
                <a:avLst/>
              </a:prstGeom>
              <a:blipFill>
                <a:blip r:embed="rId3"/>
                <a:stretch>
                  <a:fillRect l="-832" t="-769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6E06CA-1450-8846-867D-807B4F368870}"/>
              </a:ext>
            </a:extLst>
          </p:cNvPr>
          <p:cNvCxnSpPr>
            <a:cxnSpLocks/>
          </p:cNvCxnSpPr>
          <p:nvPr/>
        </p:nvCxnSpPr>
        <p:spPr>
          <a:xfrm>
            <a:off x="645458" y="735721"/>
            <a:ext cx="657292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6DC45853-F073-7C4C-8CF7-C0C45F2DE849}"/>
              </a:ext>
            </a:extLst>
          </p:cNvPr>
          <p:cNvGrpSpPr/>
          <p:nvPr/>
        </p:nvGrpSpPr>
        <p:grpSpPr>
          <a:xfrm>
            <a:off x="5614160" y="765479"/>
            <a:ext cx="1302187" cy="5476985"/>
            <a:chOff x="9489844" y="376433"/>
            <a:chExt cx="1302187" cy="547698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6C91093-9C61-7A41-9A8C-D5D1B7F2E17E}"/>
                </a:ext>
              </a:extLst>
            </p:cNvPr>
            <p:cNvCxnSpPr/>
            <p:nvPr/>
          </p:nvCxnSpPr>
          <p:spPr>
            <a:xfrm>
              <a:off x="9489844" y="5853418"/>
              <a:ext cx="1302187" cy="0"/>
            </a:xfrm>
            <a:prstGeom prst="line">
              <a:avLst/>
            </a:prstGeom>
            <a:ln w="63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22A04FE-F114-B449-9CB4-BEA26A0A12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24069" y="376433"/>
              <a:ext cx="27048" cy="5476985"/>
            </a:xfrm>
            <a:prstGeom prst="line">
              <a:avLst/>
            </a:prstGeom>
            <a:ln w="635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355415-B48F-5E44-8D7D-322381FB7FA6}"/>
              </a:ext>
            </a:extLst>
          </p:cNvPr>
          <p:cNvGrpSpPr/>
          <p:nvPr/>
        </p:nvGrpSpPr>
        <p:grpSpPr>
          <a:xfrm>
            <a:off x="3540517" y="765478"/>
            <a:ext cx="1609435" cy="4512651"/>
            <a:chOff x="2216637" y="888120"/>
            <a:chExt cx="1609435" cy="451265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EE0F342-1D43-0748-A589-5D7A23A0A70B}"/>
                </a:ext>
              </a:extLst>
            </p:cNvPr>
            <p:cNvGrpSpPr/>
            <p:nvPr/>
          </p:nvGrpSpPr>
          <p:grpSpPr>
            <a:xfrm>
              <a:off x="2403399" y="888120"/>
              <a:ext cx="1302187" cy="4512651"/>
              <a:chOff x="9600023" y="376433"/>
              <a:chExt cx="1302187" cy="4512651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1E75752-1846-A44C-BA42-F4C7FDE877F9}"/>
                  </a:ext>
                </a:extLst>
              </p:cNvPr>
              <p:cNvCxnSpPr/>
              <p:nvPr/>
            </p:nvCxnSpPr>
            <p:spPr>
              <a:xfrm>
                <a:off x="9600023" y="4889084"/>
                <a:ext cx="1302187" cy="0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4559C40-E302-394C-95A2-7F6F85B3AD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1117" y="376433"/>
                <a:ext cx="0" cy="4512651"/>
              </a:xfrm>
              <a:prstGeom prst="line">
                <a:avLst/>
              </a:prstGeom>
              <a:ln w="635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632FC-5E93-6847-B7E0-D58B36881A4E}"/>
                </a:ext>
              </a:extLst>
            </p:cNvPr>
            <p:cNvSpPr txBox="1"/>
            <p:nvPr/>
          </p:nvSpPr>
          <p:spPr>
            <a:xfrm>
              <a:off x="2216637" y="2697363"/>
              <a:ext cx="1609435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Acetone 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AFDEBDA-D7CE-FC4A-8A4C-7DC566C674AF}"/>
              </a:ext>
            </a:extLst>
          </p:cNvPr>
          <p:cNvGrpSpPr/>
          <p:nvPr/>
        </p:nvGrpSpPr>
        <p:grpSpPr>
          <a:xfrm>
            <a:off x="1515177" y="795234"/>
            <a:ext cx="2510551" cy="3679184"/>
            <a:chOff x="1680246" y="888120"/>
            <a:chExt cx="2510551" cy="367918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4154C14-F12E-FB4D-829E-C9B1444414FC}"/>
                </a:ext>
              </a:extLst>
            </p:cNvPr>
            <p:cNvGrpSpPr/>
            <p:nvPr/>
          </p:nvGrpSpPr>
          <p:grpSpPr>
            <a:xfrm>
              <a:off x="2403399" y="888120"/>
              <a:ext cx="1302187" cy="3679184"/>
              <a:chOff x="9600023" y="376433"/>
              <a:chExt cx="1302187" cy="3679184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606061F-3E4B-B143-92D1-40AB26D89E74}"/>
                  </a:ext>
                </a:extLst>
              </p:cNvPr>
              <p:cNvCxnSpPr/>
              <p:nvPr/>
            </p:nvCxnSpPr>
            <p:spPr>
              <a:xfrm>
                <a:off x="9600023" y="4055617"/>
                <a:ext cx="1302187" cy="0"/>
              </a:xfrm>
              <a:prstGeom prst="line">
                <a:avLst/>
              </a:prstGeom>
              <a:ln w="635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AD1453C-D2E3-B541-8FAB-305A277A1A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51116" y="376433"/>
                <a:ext cx="1" cy="3679184"/>
              </a:xfrm>
              <a:prstGeom prst="line">
                <a:avLst/>
              </a:prstGeom>
              <a:ln w="635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EA60339-A02A-914F-A2FE-C70F84E89A43}"/>
                </a:ext>
              </a:extLst>
            </p:cNvPr>
            <p:cNvSpPr txBox="1"/>
            <p:nvPr/>
          </p:nvSpPr>
          <p:spPr>
            <a:xfrm>
              <a:off x="1680246" y="1490376"/>
              <a:ext cx="251055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Methane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E656D70-7FFC-B348-AB62-86F26E90CA51}"/>
              </a:ext>
            </a:extLst>
          </p:cNvPr>
          <p:cNvSpPr/>
          <p:nvPr/>
        </p:nvSpPr>
        <p:spPr>
          <a:xfrm>
            <a:off x="5106186" y="3342179"/>
            <a:ext cx="2677127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Water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00D7A72-BCED-1D4D-87EE-3B5D55476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5787" y="3537020"/>
            <a:ext cx="3352468" cy="173679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FCEF05A-67FB-F340-B02A-C44D21D2C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278" y="5565877"/>
            <a:ext cx="1775304" cy="119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1EE31B-20E0-6D88-B7D4-B0AF1435A4E2}"/>
                  </a:ext>
                </a:extLst>
              </p:cNvPr>
              <p:cNvSpPr txBox="1"/>
              <p:nvPr/>
            </p:nvSpPr>
            <p:spPr>
              <a:xfrm>
                <a:off x="7064278" y="1140683"/>
                <a:ext cx="4754871" cy="123341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According to Trouton, all these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dirty="0"/>
                  <a:t> values would be expected to hover around what value?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1EE31B-20E0-6D88-B7D4-B0AF1435A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278" y="1140683"/>
                <a:ext cx="4754871" cy="1233415"/>
              </a:xfrm>
              <a:prstGeom prst="rect">
                <a:avLst/>
              </a:prstGeom>
              <a:blipFill>
                <a:blip r:embed="rId6"/>
                <a:stretch>
                  <a:fillRect l="-1857" t="-4040" b="-1010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AFA24F-0003-9F1C-C38D-637E2A41B4ED}"/>
                  </a:ext>
                </a:extLst>
              </p:cNvPr>
              <p:cNvSpPr txBox="1"/>
              <p:nvPr/>
            </p:nvSpPr>
            <p:spPr>
              <a:xfrm>
                <a:off x="7064278" y="2871788"/>
                <a:ext cx="2352553" cy="78393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85−88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AFA24F-0003-9F1C-C38D-637E2A41B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278" y="2871788"/>
                <a:ext cx="2352553" cy="783933"/>
              </a:xfrm>
              <a:prstGeom prst="rect">
                <a:avLst/>
              </a:prstGeom>
              <a:blipFill>
                <a:blip r:embed="rId7"/>
                <a:stretch>
                  <a:fillRect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76E7F0-9123-5264-D16A-250D47333C92}"/>
                  </a:ext>
                </a:extLst>
              </p:cNvPr>
              <p:cNvSpPr txBox="1"/>
              <p:nvPr/>
            </p:nvSpPr>
            <p:spPr>
              <a:xfrm>
                <a:off x="6972221" y="3989918"/>
                <a:ext cx="4754871" cy="135549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How do we account for water’s value being bigger than expected? (over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100 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dirty="0"/>
                  <a:t>)?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76E7F0-9123-5264-D16A-250D47333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221" y="3989918"/>
                <a:ext cx="4754871" cy="1355499"/>
              </a:xfrm>
              <a:prstGeom prst="rect">
                <a:avLst/>
              </a:prstGeom>
              <a:blipFill>
                <a:blip r:embed="rId8"/>
                <a:stretch>
                  <a:fillRect l="-1857" t="-2752" r="-3183" b="-73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913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13F3E96F-9386-4445-8D43-8F437E271685}"/>
              </a:ext>
            </a:extLst>
          </p:cNvPr>
          <p:cNvSpPr txBox="1"/>
          <p:nvPr/>
        </p:nvSpPr>
        <p:spPr>
          <a:xfrm>
            <a:off x="0" y="-848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11 – The two parts of the 2</a:t>
            </a:r>
            <a:r>
              <a:rPr lang="en-US" sz="2400" b="1" baseline="30000" dirty="0"/>
              <a:t>nd</a:t>
            </a:r>
            <a:r>
              <a:rPr lang="en-US" sz="2400" b="1" dirty="0"/>
              <a:t> Law</a:t>
            </a:r>
            <a:endParaRPr lang="en-US" sz="2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8B86F4-7008-E24D-80EA-DDC27DD835BC}"/>
              </a:ext>
            </a:extLst>
          </p:cNvPr>
          <p:cNvSpPr txBox="1"/>
          <p:nvPr/>
        </p:nvSpPr>
        <p:spPr>
          <a:xfrm>
            <a:off x="596437" y="1445791"/>
            <a:ext cx="105987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2</a:t>
            </a:r>
            <a:r>
              <a:rPr lang="en-US" sz="2400" b="1" baseline="30000" dirty="0"/>
              <a:t>nd</a:t>
            </a:r>
            <a:r>
              <a:rPr lang="en-US" sz="2400" b="1" dirty="0"/>
              <a:t> Law</a:t>
            </a:r>
            <a:r>
              <a:rPr lang="en-US" sz="2400" dirty="0"/>
              <a:t> divides the question of spontaneity into two parts: 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system</a:t>
            </a:r>
            <a:r>
              <a:rPr lang="en-US" sz="2400" dirty="0"/>
              <a:t> part that we can get at using differential equations of state for the entropy, and thermodynamic tables of </a:t>
            </a:r>
            <a:r>
              <a:rPr lang="en-US" sz="2400" b="1" dirty="0"/>
              <a:t>entropy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surroundings</a:t>
            </a:r>
            <a:r>
              <a:rPr lang="en-US" sz="2400" dirty="0"/>
              <a:t> part that deals with the entropy change of the surroundings due to heat transfer, that we can get at using thermodynamic tables of </a:t>
            </a:r>
            <a:r>
              <a:rPr lang="en-US" sz="2400" b="1" dirty="0"/>
              <a:t>enthalpy</a:t>
            </a:r>
          </a:p>
        </p:txBody>
      </p:sp>
    </p:spTree>
    <p:extLst>
      <p:ext uri="{BB962C8B-B14F-4D97-AF65-F5344CB8AC3E}">
        <p14:creationId xmlns:p14="http://schemas.microsoft.com/office/powerpoint/2010/main" val="2145295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667842B3-6C4D-5340-95B1-5F24A40ED1B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54780" y="587302"/>
              <a:ext cx="7659495" cy="618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5058">
                      <a:extLst>
                        <a:ext uri="{9D8B030D-6E8A-4147-A177-3AD203B41FA5}">
                          <a16:colId xmlns:a16="http://schemas.microsoft.com/office/drawing/2014/main" val="2451354662"/>
                        </a:ext>
                      </a:extLst>
                    </a:gridCol>
                    <a:gridCol w="3604437">
                      <a:extLst>
                        <a:ext uri="{9D8B030D-6E8A-4147-A177-3AD203B41FA5}">
                          <a16:colId xmlns:a16="http://schemas.microsoft.com/office/drawing/2014/main" val="21018695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983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7030A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7030A0"/>
                              </a:solidFill>
                            </a:rPr>
                            <a:t>Exothermic; enthalpically 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FF000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Entropically favorable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98978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7030A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7030A0"/>
                              </a:solidFill>
                            </a:rPr>
                            <a:t>Exothermic; enthalpically 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Entropically unfavorable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557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7030A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7030A0"/>
                              </a:solidFill>
                            </a:rPr>
                            <a:t>Endothermic; enthalpically unfavorable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FF000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Entropically favorable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66239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7030A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7030A0"/>
                              </a:solidFill>
                            </a:rPr>
                            <a:t>Endothermic; enthalpically unfavorable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Entropically unfavorable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69731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667842B3-6C4D-5340-95B1-5F24A40ED1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9554376"/>
                  </p:ext>
                </p:extLst>
              </p:nvPr>
            </p:nvGraphicFramePr>
            <p:xfrm>
              <a:off x="2354780" y="587302"/>
              <a:ext cx="7659495" cy="618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5058">
                      <a:extLst>
                        <a:ext uri="{9D8B030D-6E8A-4147-A177-3AD203B41FA5}">
                          <a16:colId xmlns:a16="http://schemas.microsoft.com/office/drawing/2014/main" val="2451354662"/>
                        </a:ext>
                      </a:extLst>
                    </a:gridCol>
                    <a:gridCol w="3604437">
                      <a:extLst>
                        <a:ext uri="{9D8B030D-6E8A-4147-A177-3AD203B41FA5}">
                          <a16:colId xmlns:a16="http://schemas.microsoft.com/office/drawing/2014/main" val="210186957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3" t="-2778" r="-89375" b="-12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3028" t="-2778" r="-704" b="-128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9830319"/>
                      </a:ext>
                    </a:extLst>
                  </a:tr>
                  <a:tr h="14325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7030A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7030A0"/>
                              </a:solidFill>
                            </a:rPr>
                            <a:t>Exothermic; enthalpically 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FF000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Entropically favorable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9897885"/>
                      </a:ext>
                    </a:extLst>
                  </a:tr>
                  <a:tr h="14325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7030A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7030A0"/>
                              </a:solidFill>
                            </a:rPr>
                            <a:t>Exothermic; enthalpically 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Entropically unfavorable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3557801"/>
                      </a:ext>
                    </a:extLst>
                  </a:tr>
                  <a:tr h="14325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7030A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7030A0"/>
                              </a:solidFill>
                            </a:rPr>
                            <a:t>Endothermic; enthalpically unfavorable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FF000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Entropically favorable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6623905"/>
                      </a:ext>
                    </a:extLst>
                  </a:tr>
                  <a:tr h="14325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7030A0"/>
                              </a:solidFill>
                            </a:rPr>
                            <a:t>+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7030A0"/>
                              </a:solidFill>
                            </a:rPr>
                            <a:t>Endothermic; enthalpically unfavorable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Entropically unfavorable</a:t>
                          </a:r>
                        </a:p>
                        <a:p>
                          <a:pPr algn="ctr"/>
                          <a:endParaRPr 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69731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8B743CC-CCE1-894F-BBD8-1C361C0CD0A1}"/>
              </a:ext>
            </a:extLst>
          </p:cNvPr>
          <p:cNvSpPr txBox="1"/>
          <p:nvPr/>
        </p:nvSpPr>
        <p:spPr>
          <a:xfrm>
            <a:off x="-1" y="-848"/>
            <a:ext cx="11602995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11 – Systematizing the enthalpic/entropic favorability/unfavorability picture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18035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0" y="0"/>
            <a:ext cx="996573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11 – Entropy (and enthalpy) of dilution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1E1FDE9-6FE3-FA9F-D4C3-A824573CD09F}"/>
              </a:ext>
            </a:extLst>
          </p:cNvPr>
          <p:cNvGrpSpPr/>
          <p:nvPr/>
        </p:nvGrpSpPr>
        <p:grpSpPr>
          <a:xfrm>
            <a:off x="549222" y="562843"/>
            <a:ext cx="11002526" cy="1998473"/>
            <a:chOff x="549222" y="971917"/>
            <a:chExt cx="11002526" cy="199847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1EED442-9275-2F47-B006-0515B7507435}"/>
                </a:ext>
              </a:extLst>
            </p:cNvPr>
            <p:cNvSpPr/>
            <p:nvPr/>
          </p:nvSpPr>
          <p:spPr>
            <a:xfrm>
              <a:off x="6418729" y="971917"/>
              <a:ext cx="5073818" cy="1978417"/>
            </a:xfrm>
            <a:prstGeom prst="rect">
              <a:avLst/>
            </a:prstGeom>
            <a:pattFill prst="pct30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8B6D66F-040E-2943-83C7-8E58E419FB5D}"/>
                </a:ext>
              </a:extLst>
            </p:cNvPr>
            <p:cNvSpPr/>
            <p:nvPr/>
          </p:nvSpPr>
          <p:spPr>
            <a:xfrm>
              <a:off x="607955" y="991961"/>
              <a:ext cx="5073818" cy="1978417"/>
            </a:xfrm>
            <a:prstGeom prst="rect">
              <a:avLst/>
            </a:prstGeom>
            <a:pattFill prst="pct30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332C7F7-A188-D14B-96E3-5545C116D0B1}"/>
                </a:ext>
              </a:extLst>
            </p:cNvPr>
            <p:cNvGrpSpPr/>
            <p:nvPr/>
          </p:nvGrpSpPr>
          <p:grpSpPr>
            <a:xfrm>
              <a:off x="549222" y="984109"/>
              <a:ext cx="11002526" cy="1986281"/>
              <a:chOff x="549222" y="984109"/>
              <a:chExt cx="11002526" cy="1986281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E688D2E8-2DB5-CA46-854A-45443EFF8D42}"/>
                  </a:ext>
                </a:extLst>
              </p:cNvPr>
              <p:cNvGrpSpPr/>
              <p:nvPr/>
            </p:nvGrpSpPr>
            <p:grpSpPr>
              <a:xfrm>
                <a:off x="549222" y="984109"/>
                <a:ext cx="11002526" cy="1978430"/>
                <a:chOff x="565265" y="615141"/>
                <a:chExt cx="11002526" cy="1978430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9CF3292A-9CF3-7949-A22C-B7C7405637A8}"/>
                    </a:ext>
                  </a:extLst>
                </p:cNvPr>
                <p:cNvGrpSpPr/>
                <p:nvPr/>
              </p:nvGrpSpPr>
              <p:grpSpPr>
                <a:xfrm>
                  <a:off x="565265" y="615141"/>
                  <a:ext cx="5189149" cy="1978430"/>
                  <a:chOff x="565265" y="615142"/>
                  <a:chExt cx="5569528" cy="1978429"/>
                </a:xfrm>
              </p:grpSpPr>
              <p:sp>
                <p:nvSpPr>
                  <p:cNvPr id="32" name="Frame 31">
                    <a:extLst>
                      <a:ext uri="{FF2B5EF4-FFF2-40B4-BE49-F238E27FC236}">
                        <a16:creationId xmlns:a16="http://schemas.microsoft.com/office/drawing/2014/main" id="{4EAC890C-E1E4-F04C-900D-F566440155D4}"/>
                      </a:ext>
                    </a:extLst>
                  </p:cNvPr>
                  <p:cNvSpPr/>
                  <p:nvPr/>
                </p:nvSpPr>
                <p:spPr>
                  <a:xfrm>
                    <a:off x="565265" y="615142"/>
                    <a:ext cx="5569528" cy="1978429"/>
                  </a:xfrm>
                  <a:prstGeom prst="frame">
                    <a:avLst>
                      <a:gd name="adj1" fmla="val 3256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FC244131-0B44-EB43-B34D-C647C66DF17E}"/>
                      </a:ext>
                    </a:extLst>
                  </p:cNvPr>
                  <p:cNvGrpSpPr/>
                  <p:nvPr/>
                </p:nvGrpSpPr>
                <p:grpSpPr>
                  <a:xfrm>
                    <a:off x="1011191" y="1418392"/>
                    <a:ext cx="704192" cy="813303"/>
                    <a:chOff x="7961586" y="3080780"/>
                    <a:chExt cx="704192" cy="813303"/>
                  </a:xfrm>
                </p:grpSpPr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FEF11A15-3234-484F-AED4-75C4D8B388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1586" y="3274597"/>
                      <a:ext cx="157655" cy="16228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9" name="Oval 28">
                      <a:extLst>
                        <a:ext uri="{FF2B5EF4-FFF2-40B4-BE49-F238E27FC236}">
                          <a16:creationId xmlns:a16="http://schemas.microsoft.com/office/drawing/2014/main" id="{CD68AE01-18CF-5C40-8D14-97F054D4F3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8123" y="3080780"/>
                      <a:ext cx="157655" cy="16228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4BC9C4F9-D3DB-0242-8D84-C1CE784175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19241" y="3614805"/>
                      <a:ext cx="157655" cy="16228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93518172-C7F5-F04C-B0F9-A442DE48D3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18786" y="3731797"/>
                      <a:ext cx="157655" cy="16228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5A66EF09-5960-2248-9891-5432F384D18B}"/>
                    </a:ext>
                  </a:extLst>
                </p:cNvPr>
                <p:cNvGrpSpPr/>
                <p:nvPr/>
              </p:nvGrpSpPr>
              <p:grpSpPr>
                <a:xfrm>
                  <a:off x="6378642" y="615141"/>
                  <a:ext cx="5189149" cy="1978430"/>
                  <a:chOff x="565265" y="615142"/>
                  <a:chExt cx="5569528" cy="1978429"/>
                </a:xfrm>
              </p:grpSpPr>
              <p:sp>
                <p:nvSpPr>
                  <p:cNvPr id="23" name="Frame 22">
                    <a:extLst>
                      <a:ext uri="{FF2B5EF4-FFF2-40B4-BE49-F238E27FC236}">
                        <a16:creationId xmlns:a16="http://schemas.microsoft.com/office/drawing/2014/main" id="{08ACCD9A-2566-0545-87FB-4F84D47A3648}"/>
                      </a:ext>
                    </a:extLst>
                  </p:cNvPr>
                  <p:cNvSpPr/>
                  <p:nvPr/>
                </p:nvSpPr>
                <p:spPr>
                  <a:xfrm>
                    <a:off x="565265" y="615142"/>
                    <a:ext cx="5569528" cy="1978429"/>
                  </a:xfrm>
                  <a:prstGeom prst="frame">
                    <a:avLst>
                      <a:gd name="adj1" fmla="val 3256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C099C0A7-A565-0946-9FD1-366C1D8D1B65}"/>
                      </a:ext>
                    </a:extLst>
                  </p:cNvPr>
                  <p:cNvGrpSpPr/>
                  <p:nvPr/>
                </p:nvGrpSpPr>
                <p:grpSpPr>
                  <a:xfrm>
                    <a:off x="1168846" y="1312662"/>
                    <a:ext cx="4032290" cy="919033"/>
                    <a:chOff x="8119241" y="2975050"/>
                    <a:chExt cx="4032290" cy="919033"/>
                  </a:xfrm>
                </p:grpSpPr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C74A3626-5147-164A-B039-B764F52F17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8440" y="2975050"/>
                      <a:ext cx="187010" cy="152887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C036A00D-43A8-1543-8CBE-715ACC608E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93876" y="3080780"/>
                      <a:ext cx="157655" cy="16228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DDE716CD-505C-2340-ADE5-613EABCFF4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19241" y="3614805"/>
                      <a:ext cx="157655" cy="16228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1143701E-BF15-8A4C-A05C-43ABD5D7DC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83299" y="3731797"/>
                      <a:ext cx="157655" cy="16228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4347B4C9-EBF0-3445-BBE4-C4AF6B581B80}"/>
                    </a:ext>
                  </a:extLst>
                </p:cNvPr>
                <p:cNvCxnSpPr/>
                <p:nvPr/>
              </p:nvCxnSpPr>
              <p:spPr>
                <a:xfrm>
                  <a:off x="5880538" y="1740455"/>
                  <a:ext cx="351960" cy="0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76309A7-405A-CA4A-B4AF-B3FE7C818409}"/>
                  </a:ext>
                </a:extLst>
              </p:cNvPr>
              <p:cNvCxnSpPr/>
              <p:nvPr/>
            </p:nvCxnSpPr>
            <p:spPr>
              <a:xfrm>
                <a:off x="2261062" y="991961"/>
                <a:ext cx="0" cy="1978429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D7CA1C-F398-514B-AE3E-6DC7CDE4A7F6}"/>
                  </a:ext>
                </a:extLst>
              </p:cNvPr>
              <p:cNvSpPr txBox="1"/>
              <p:nvPr/>
            </p:nvSpPr>
            <p:spPr>
              <a:xfrm>
                <a:off x="541210" y="3286920"/>
                <a:ext cx="11642778" cy="1803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𝒅𝒊𝒍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𝒏𝑹𝒍𝒏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400" b="1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𝒅𝒊𝒍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dirty="0"/>
                  <a:t> </a:t>
                </a:r>
              </a:p>
              <a:p>
                <a:endParaRPr lang="en-US" sz="2400" b="1" dirty="0"/>
              </a:p>
              <a:p>
                <a:r>
                  <a:rPr lang="en-US" sz="2400" dirty="0"/>
                  <a:t>These equations are kind of like the equivalent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𝑛𝑅𝑇</m:t>
                    </m:r>
                  </m:oMath>
                </a14:m>
                <a:r>
                  <a:rPr lang="en-US" sz="2400" dirty="0"/>
                  <a:t>, but for solutes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0D7CA1C-F398-514B-AE3E-6DC7CDE4A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10" y="3286920"/>
                <a:ext cx="11642778" cy="1803379"/>
              </a:xfrm>
              <a:prstGeom prst="rect">
                <a:avLst/>
              </a:prstGeom>
              <a:blipFill>
                <a:blip r:embed="rId3"/>
                <a:stretch>
                  <a:fillRect l="-763" b="-6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377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D7A08AA8-0532-EF41-B329-0A99C839AC9A}"/>
              </a:ext>
            </a:extLst>
          </p:cNvPr>
          <p:cNvSpPr/>
          <p:nvPr/>
        </p:nvSpPr>
        <p:spPr>
          <a:xfrm>
            <a:off x="6438004" y="574873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A9196A-580D-F14D-A5D3-1C40B858951D}"/>
              </a:ext>
            </a:extLst>
          </p:cNvPr>
          <p:cNvSpPr/>
          <p:nvPr/>
        </p:nvSpPr>
        <p:spPr>
          <a:xfrm>
            <a:off x="620147" y="577433"/>
            <a:ext cx="5073818" cy="1978417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63A21-7279-9D42-8077-C7DDE7E0E8D4}"/>
              </a:ext>
            </a:extLst>
          </p:cNvPr>
          <p:cNvSpPr txBox="1"/>
          <p:nvPr/>
        </p:nvSpPr>
        <p:spPr>
          <a:xfrm>
            <a:off x="-9543" y="-3023"/>
            <a:ext cx="1046313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11 – Entropy of mixing – the E-ICE equation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BE36AF-30BF-6643-8F50-F0EF84F6B690}"/>
              </a:ext>
            </a:extLst>
          </p:cNvPr>
          <p:cNvGrpSpPr/>
          <p:nvPr/>
        </p:nvGrpSpPr>
        <p:grpSpPr>
          <a:xfrm>
            <a:off x="565265" y="567015"/>
            <a:ext cx="11002526" cy="1978430"/>
            <a:chOff x="565265" y="615141"/>
            <a:chExt cx="11002526" cy="197843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0A3EBAB-B6A5-A646-9444-AF42128AFA41}"/>
                </a:ext>
              </a:extLst>
            </p:cNvPr>
            <p:cNvCxnSpPr/>
            <p:nvPr/>
          </p:nvCxnSpPr>
          <p:spPr>
            <a:xfrm>
              <a:off x="2261062" y="615142"/>
              <a:ext cx="0" cy="1978429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5A85B85-67A0-3E42-BEC8-3CAD0B92886B}"/>
                </a:ext>
              </a:extLst>
            </p:cNvPr>
            <p:cNvGrpSpPr/>
            <p:nvPr/>
          </p:nvGrpSpPr>
          <p:grpSpPr>
            <a:xfrm>
              <a:off x="565265" y="615141"/>
              <a:ext cx="11002526" cy="1978430"/>
              <a:chOff x="565265" y="615141"/>
              <a:chExt cx="11002526" cy="197843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3D5E545-0ACF-664E-BF01-9E0B0F88A96A}"/>
                  </a:ext>
                </a:extLst>
              </p:cNvPr>
              <p:cNvGrpSpPr/>
              <p:nvPr/>
            </p:nvGrpSpPr>
            <p:grpSpPr>
              <a:xfrm>
                <a:off x="565265" y="615141"/>
                <a:ext cx="5189149" cy="1978430"/>
                <a:chOff x="565265" y="615142"/>
                <a:chExt cx="5569528" cy="1978429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D7ACDC11-5D3A-E945-A7BF-C484CEA921F0}"/>
                    </a:ext>
                  </a:extLst>
                </p:cNvPr>
                <p:cNvGrpSpPr/>
                <p:nvPr/>
              </p:nvGrpSpPr>
              <p:grpSpPr>
                <a:xfrm>
                  <a:off x="565265" y="615142"/>
                  <a:ext cx="5569528" cy="1978429"/>
                  <a:chOff x="565265" y="615142"/>
                  <a:chExt cx="5569528" cy="1978429"/>
                </a:xfrm>
              </p:grpSpPr>
              <p:sp>
                <p:nvSpPr>
                  <p:cNvPr id="27" name="Frame 26">
                    <a:extLst>
                      <a:ext uri="{FF2B5EF4-FFF2-40B4-BE49-F238E27FC236}">
                        <a16:creationId xmlns:a16="http://schemas.microsoft.com/office/drawing/2014/main" id="{F8F49FC0-463D-4A4B-B012-7D30710F3F50}"/>
                      </a:ext>
                    </a:extLst>
                  </p:cNvPr>
                  <p:cNvSpPr/>
                  <p:nvPr/>
                </p:nvSpPr>
                <p:spPr>
                  <a:xfrm>
                    <a:off x="565265" y="615142"/>
                    <a:ext cx="5569528" cy="1978429"/>
                  </a:xfrm>
                  <a:prstGeom prst="frame">
                    <a:avLst>
                      <a:gd name="adj1" fmla="val 3256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11B821F4-8D6D-9940-89DB-75F04430CA4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3245" y="719563"/>
                        <a:ext cx="1784275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rgbClr val="7030A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11B821F4-8D6D-9940-89DB-75F04430CA4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23245" y="719563"/>
                        <a:ext cx="1784275" cy="46166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b="-263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44D313B5-409A-2F4A-AD91-F6250FF1058E}"/>
                    </a:ext>
                  </a:extLst>
                </p:cNvPr>
                <p:cNvGrpSpPr/>
                <p:nvPr/>
              </p:nvGrpSpPr>
              <p:grpSpPr>
                <a:xfrm>
                  <a:off x="1011191" y="1418392"/>
                  <a:ext cx="704192" cy="813303"/>
                  <a:chOff x="7961586" y="3080780"/>
                  <a:chExt cx="704192" cy="813303"/>
                </a:xfrm>
              </p:grpSpPr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5977975E-C0E1-D440-A877-4861A1987094}"/>
                      </a:ext>
                    </a:extLst>
                  </p:cNvPr>
                  <p:cNvSpPr/>
                  <p:nvPr/>
                </p:nvSpPr>
                <p:spPr>
                  <a:xfrm>
                    <a:off x="7961586" y="32745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08625905-9803-2D43-AB7D-5B93BB1CA524}"/>
                      </a:ext>
                    </a:extLst>
                  </p:cNvPr>
                  <p:cNvSpPr/>
                  <p:nvPr/>
                </p:nvSpPr>
                <p:spPr>
                  <a:xfrm>
                    <a:off x="8508123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BD1FBBEE-2521-C841-A886-92A94BCFA9AF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E92CF092-7519-F041-BECE-57DAA5A62CB9}"/>
                      </a:ext>
                    </a:extLst>
                  </p:cNvPr>
                  <p:cNvSpPr/>
                  <p:nvPr/>
                </p:nvSpPr>
                <p:spPr>
                  <a:xfrm>
                    <a:off x="8418786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692515B-A705-304C-A00B-37EF172CC974}"/>
                  </a:ext>
                </a:extLst>
              </p:cNvPr>
              <p:cNvGrpSpPr/>
              <p:nvPr/>
            </p:nvGrpSpPr>
            <p:grpSpPr>
              <a:xfrm>
                <a:off x="6378642" y="615141"/>
                <a:ext cx="5189149" cy="1978430"/>
                <a:chOff x="565265" y="615142"/>
                <a:chExt cx="5569528" cy="1978429"/>
              </a:xfrm>
            </p:grpSpPr>
            <p:sp>
              <p:nvSpPr>
                <p:cNvPr id="19" name="Frame 18">
                  <a:extLst>
                    <a:ext uri="{FF2B5EF4-FFF2-40B4-BE49-F238E27FC236}">
                      <a16:creationId xmlns:a16="http://schemas.microsoft.com/office/drawing/2014/main" id="{02124E61-C1BF-BF45-B309-912423140552}"/>
                    </a:ext>
                  </a:extLst>
                </p:cNvPr>
                <p:cNvSpPr/>
                <p:nvPr/>
              </p:nvSpPr>
              <p:spPr>
                <a:xfrm>
                  <a:off x="565265" y="615142"/>
                  <a:ext cx="5569528" cy="1978429"/>
                </a:xfrm>
                <a:prstGeom prst="frame">
                  <a:avLst>
                    <a:gd name="adj1" fmla="val 325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845CE38F-B309-004F-ACAA-8A7BC9A7208A}"/>
                    </a:ext>
                  </a:extLst>
                </p:cNvPr>
                <p:cNvGrpSpPr/>
                <p:nvPr/>
              </p:nvGrpSpPr>
              <p:grpSpPr>
                <a:xfrm>
                  <a:off x="1168846" y="1312662"/>
                  <a:ext cx="4032290" cy="919033"/>
                  <a:chOff x="8119241" y="2975050"/>
                  <a:chExt cx="4032290" cy="919033"/>
                </a:xfrm>
              </p:grpSpPr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DAC040FB-F30F-6240-A6B3-E06CA450D8CE}"/>
                      </a:ext>
                    </a:extLst>
                  </p:cNvPr>
                  <p:cNvSpPr/>
                  <p:nvPr/>
                </p:nvSpPr>
                <p:spPr>
                  <a:xfrm>
                    <a:off x="8638440" y="2975050"/>
                    <a:ext cx="187010" cy="152887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ED736B5D-95D1-8E49-8BA5-65A4001281CB}"/>
                      </a:ext>
                    </a:extLst>
                  </p:cNvPr>
                  <p:cNvSpPr/>
                  <p:nvPr/>
                </p:nvSpPr>
                <p:spPr>
                  <a:xfrm>
                    <a:off x="11993876" y="3080780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08026D60-FAE1-4546-855A-20510027F900}"/>
                      </a:ext>
                    </a:extLst>
                  </p:cNvPr>
                  <p:cNvSpPr/>
                  <p:nvPr/>
                </p:nvSpPr>
                <p:spPr>
                  <a:xfrm>
                    <a:off x="8119241" y="3614805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21900C1C-1585-F747-AC7C-9759FA370EA2}"/>
                      </a:ext>
                    </a:extLst>
                  </p:cNvPr>
                  <p:cNvSpPr/>
                  <p:nvPr/>
                </p:nvSpPr>
                <p:spPr>
                  <a:xfrm>
                    <a:off x="9383299" y="3731797"/>
                    <a:ext cx="157655" cy="162286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AE54C26-CA4E-3546-A7FC-03F04C271677}"/>
                  </a:ext>
                </a:extLst>
              </p:cNvPr>
              <p:cNvCxnSpPr/>
              <p:nvPr/>
            </p:nvCxnSpPr>
            <p:spPr>
              <a:xfrm>
                <a:off x="5880538" y="1740455"/>
                <a:ext cx="351960" cy="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98145B-0849-2E42-B996-034C4A227ACF}"/>
                  </a:ext>
                </a:extLst>
              </p:cNvPr>
              <p:cNvSpPr txBox="1"/>
              <p:nvPr/>
            </p:nvSpPr>
            <p:spPr>
              <a:xfrm>
                <a:off x="6925468" y="594715"/>
                <a:ext cx="1662415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A98145B-0849-2E42-B996-034C4A227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468" y="594715"/>
                <a:ext cx="1662415" cy="491288"/>
              </a:xfrm>
              <a:prstGeom prst="rect">
                <a:avLst/>
              </a:prstGeom>
              <a:blipFill>
                <a:blip r:embed="rId3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3D224303-AFBE-A647-8525-3369CC70617D}"/>
              </a:ext>
            </a:extLst>
          </p:cNvPr>
          <p:cNvGrpSpPr/>
          <p:nvPr/>
        </p:nvGrpSpPr>
        <p:grpSpPr>
          <a:xfrm>
            <a:off x="2799831" y="948656"/>
            <a:ext cx="656098" cy="1159130"/>
            <a:chOff x="1133136" y="1176838"/>
            <a:chExt cx="656098" cy="1159130"/>
          </a:xfrm>
          <a:solidFill>
            <a:schemeClr val="bg1"/>
          </a:solidFill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217B787-DB1F-524C-92EC-F7AA4998E48A}"/>
                </a:ext>
              </a:extLst>
            </p:cNvPr>
            <p:cNvSpPr/>
            <p:nvPr/>
          </p:nvSpPr>
          <p:spPr>
            <a:xfrm>
              <a:off x="1133136" y="11768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E1A290F-4C2D-4C49-A29F-DC1EEFFFAE0C}"/>
                </a:ext>
              </a:extLst>
            </p:cNvPr>
            <p:cNvSpPr/>
            <p:nvPr/>
          </p:nvSpPr>
          <p:spPr>
            <a:xfrm>
              <a:off x="1642346" y="152266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FD1752-FF03-B24B-BD79-AF55688C3519}"/>
                </a:ext>
              </a:extLst>
            </p:cNvPr>
            <p:cNvSpPr/>
            <p:nvPr/>
          </p:nvSpPr>
          <p:spPr>
            <a:xfrm>
              <a:off x="1160104" y="2056690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449251B-DA66-0D47-AA99-339346597927}"/>
                </a:ext>
              </a:extLst>
            </p:cNvPr>
            <p:cNvSpPr/>
            <p:nvPr/>
          </p:nvSpPr>
          <p:spPr>
            <a:xfrm>
              <a:off x="155911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807A12A-A73D-B046-A190-2015185893F7}"/>
              </a:ext>
            </a:extLst>
          </p:cNvPr>
          <p:cNvGrpSpPr/>
          <p:nvPr/>
        </p:nvGrpSpPr>
        <p:grpSpPr>
          <a:xfrm>
            <a:off x="4082252" y="906630"/>
            <a:ext cx="1052543" cy="1310906"/>
            <a:chOff x="938266" y="1522665"/>
            <a:chExt cx="1052543" cy="1310906"/>
          </a:xfrm>
          <a:solidFill>
            <a:schemeClr val="bg1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FB8343D-7951-3543-A81F-6E2556614646}"/>
                </a:ext>
              </a:extLst>
            </p:cNvPr>
            <p:cNvSpPr/>
            <p:nvPr/>
          </p:nvSpPr>
          <p:spPr>
            <a:xfrm>
              <a:off x="938266" y="192634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52FDC77-7327-5A46-B180-991E29A263EC}"/>
                </a:ext>
              </a:extLst>
            </p:cNvPr>
            <p:cNvSpPr/>
            <p:nvPr/>
          </p:nvSpPr>
          <p:spPr>
            <a:xfrm>
              <a:off x="1642346" y="152266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DA89AF2-D4B4-C24D-892B-A4CBC9A888CE}"/>
                </a:ext>
              </a:extLst>
            </p:cNvPr>
            <p:cNvSpPr/>
            <p:nvPr/>
          </p:nvSpPr>
          <p:spPr>
            <a:xfrm>
              <a:off x="1280024" y="267128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A0ED5C1-0707-D14A-86A0-D1CBCAF746AE}"/>
                </a:ext>
              </a:extLst>
            </p:cNvPr>
            <p:cNvSpPr/>
            <p:nvPr/>
          </p:nvSpPr>
          <p:spPr>
            <a:xfrm>
              <a:off x="184392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47D1EE9-4B17-574A-A266-E5BD41AA0DFD}"/>
              </a:ext>
            </a:extLst>
          </p:cNvPr>
          <p:cNvGrpSpPr/>
          <p:nvPr/>
        </p:nvGrpSpPr>
        <p:grpSpPr>
          <a:xfrm>
            <a:off x="6513254" y="911467"/>
            <a:ext cx="1548725" cy="1159130"/>
            <a:chOff x="240509" y="1176838"/>
            <a:chExt cx="1548725" cy="1159130"/>
          </a:xfrm>
          <a:solidFill>
            <a:schemeClr val="bg1"/>
          </a:solidFill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9A745E7-C982-D54B-BBDE-9A7F2EFCD4D9}"/>
                </a:ext>
              </a:extLst>
            </p:cNvPr>
            <p:cNvSpPr/>
            <p:nvPr/>
          </p:nvSpPr>
          <p:spPr>
            <a:xfrm>
              <a:off x="240509" y="11768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751CCD6-C600-B442-BFAC-9EC502DAAD7A}"/>
                </a:ext>
              </a:extLst>
            </p:cNvPr>
            <p:cNvSpPr/>
            <p:nvPr/>
          </p:nvSpPr>
          <p:spPr>
            <a:xfrm>
              <a:off x="1642346" y="1522665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2C20106-46CC-424D-A143-77416D83797D}"/>
                </a:ext>
              </a:extLst>
            </p:cNvPr>
            <p:cNvSpPr/>
            <p:nvPr/>
          </p:nvSpPr>
          <p:spPr>
            <a:xfrm>
              <a:off x="1160104" y="2056690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6A67283-E6C6-EC49-A5B0-861FCA79F094}"/>
                </a:ext>
              </a:extLst>
            </p:cNvPr>
            <p:cNvSpPr/>
            <p:nvPr/>
          </p:nvSpPr>
          <p:spPr>
            <a:xfrm>
              <a:off x="155911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B90FA7E-853B-A34F-9264-4C415CC7E437}"/>
              </a:ext>
            </a:extLst>
          </p:cNvPr>
          <p:cNvGrpSpPr/>
          <p:nvPr/>
        </p:nvGrpSpPr>
        <p:grpSpPr>
          <a:xfrm>
            <a:off x="9080675" y="956449"/>
            <a:ext cx="1548725" cy="1159130"/>
            <a:chOff x="240509" y="1176838"/>
            <a:chExt cx="1548725" cy="1159130"/>
          </a:xfrm>
          <a:solidFill>
            <a:schemeClr val="bg1"/>
          </a:solidFill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FA11EB2-91BC-CE4A-A1EC-50339727A952}"/>
                </a:ext>
              </a:extLst>
            </p:cNvPr>
            <p:cNvSpPr/>
            <p:nvPr/>
          </p:nvSpPr>
          <p:spPr>
            <a:xfrm>
              <a:off x="240509" y="11768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9538BD4-C118-9A47-B0F5-AF9CD8445206}"/>
                </a:ext>
              </a:extLst>
            </p:cNvPr>
            <p:cNvSpPr/>
            <p:nvPr/>
          </p:nvSpPr>
          <p:spPr>
            <a:xfrm>
              <a:off x="1642346" y="1239638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3983468-B4C3-4240-8A31-D84AA157C196}"/>
                </a:ext>
              </a:extLst>
            </p:cNvPr>
            <p:cNvSpPr/>
            <p:nvPr/>
          </p:nvSpPr>
          <p:spPr>
            <a:xfrm>
              <a:off x="1160104" y="2056690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5804121-3D49-DC41-B42A-28CD0EF97C48}"/>
                </a:ext>
              </a:extLst>
            </p:cNvPr>
            <p:cNvSpPr/>
            <p:nvPr/>
          </p:nvSpPr>
          <p:spPr>
            <a:xfrm>
              <a:off x="1559111" y="2173682"/>
              <a:ext cx="146888" cy="16228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B7C77958-9BE7-DC49-8CD9-0782C152264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26163" y="2387068"/>
            <a:ext cx="483249" cy="442891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4FE88C79-7E68-C545-AFAF-6F7F90A976A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35293" y="2446023"/>
            <a:ext cx="499995" cy="327975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73" name="TextBox 3072">
                <a:extLst>
                  <a:ext uri="{FF2B5EF4-FFF2-40B4-BE49-F238E27FC236}">
                    <a16:creationId xmlns:a16="http://schemas.microsoft.com/office/drawing/2014/main" id="{63D82187-FD62-B247-ADEC-E3FB6056A140}"/>
                  </a:ext>
                </a:extLst>
              </p:cNvPr>
              <p:cNvSpPr txBox="1"/>
              <p:nvPr/>
            </p:nvSpPr>
            <p:spPr>
              <a:xfrm>
                <a:off x="529949" y="2894829"/>
                <a:ext cx="44579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Same initial concentration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”</a:t>
                </a:r>
              </a:p>
            </p:txBody>
          </p:sp>
        </mc:Choice>
        <mc:Fallback xmlns="">
          <p:sp>
            <p:nvSpPr>
              <p:cNvPr id="3073" name="TextBox 3072">
                <a:extLst>
                  <a:ext uri="{FF2B5EF4-FFF2-40B4-BE49-F238E27FC236}">
                    <a16:creationId xmlns:a16="http://schemas.microsoft.com/office/drawing/2014/main" id="{63D82187-FD62-B247-ADEC-E3FB6056A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49" y="2894829"/>
                <a:ext cx="4457958" cy="461665"/>
              </a:xfrm>
              <a:prstGeom prst="rect">
                <a:avLst/>
              </a:prstGeom>
              <a:blipFill>
                <a:blip r:embed="rId4"/>
                <a:stretch>
                  <a:fillRect l="-1989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62B830E-AB4A-D047-9C8F-59E3CC7CC520}"/>
                  </a:ext>
                </a:extLst>
              </p:cNvPr>
              <p:cNvSpPr txBox="1"/>
              <p:nvPr/>
            </p:nvSpPr>
            <p:spPr>
              <a:xfrm>
                <a:off x="3516681" y="823836"/>
                <a:ext cx="16624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62B830E-AB4A-D047-9C8F-59E3CC7CC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681" y="823836"/>
                <a:ext cx="1662415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0FDB0CD-E537-F74E-BC75-1AD1FF8300D0}"/>
                  </a:ext>
                </a:extLst>
              </p:cNvPr>
              <p:cNvSpPr txBox="1"/>
              <p:nvPr/>
            </p:nvSpPr>
            <p:spPr>
              <a:xfrm>
                <a:off x="8276877" y="1286907"/>
                <a:ext cx="1662415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0FDB0CD-E537-F74E-BC75-1AD1FF830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877" y="1286907"/>
                <a:ext cx="1662415" cy="491288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074">
                <a:extLst>
                  <a:ext uri="{FF2B5EF4-FFF2-40B4-BE49-F238E27FC236}">
                    <a16:creationId xmlns:a16="http://schemas.microsoft.com/office/drawing/2014/main" id="{D3D0372A-7ECE-614F-B4B8-A7617F4A9B86}"/>
                  </a:ext>
                </a:extLst>
              </p:cNvPr>
              <p:cNvSpPr/>
              <p:nvPr/>
            </p:nvSpPr>
            <p:spPr>
              <a:xfrm>
                <a:off x="6586698" y="2823439"/>
                <a:ext cx="5168210" cy="4912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Therefore, must be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3075" name="Rectangle 3074">
                <a:extLst>
                  <a:ext uri="{FF2B5EF4-FFF2-40B4-BE49-F238E27FC236}">
                    <a16:creationId xmlns:a16="http://schemas.microsoft.com/office/drawing/2014/main" id="{D3D0372A-7ECE-614F-B4B8-A7617F4A9B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698" y="2823439"/>
                <a:ext cx="5168210" cy="491288"/>
              </a:xfrm>
              <a:prstGeom prst="rect">
                <a:avLst/>
              </a:prstGeom>
              <a:blipFill>
                <a:blip r:embed="rId7"/>
                <a:stretch>
                  <a:fillRect l="-1716" t="-75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79" name="Straight Arrow Connector 3078">
            <a:extLst>
              <a:ext uri="{FF2B5EF4-FFF2-40B4-BE49-F238E27FC236}">
                <a16:creationId xmlns:a16="http://schemas.microsoft.com/office/drawing/2014/main" id="{84DB2DBD-8A98-D243-9C47-B944F129BC41}"/>
              </a:ext>
            </a:extLst>
          </p:cNvPr>
          <p:cNvCxnSpPr>
            <a:cxnSpLocks/>
          </p:cNvCxnSpPr>
          <p:nvPr/>
        </p:nvCxnSpPr>
        <p:spPr>
          <a:xfrm flipV="1">
            <a:off x="8602128" y="2284160"/>
            <a:ext cx="11261" cy="44408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82" name="Rectangle 3081">
                <a:extLst>
                  <a:ext uri="{FF2B5EF4-FFF2-40B4-BE49-F238E27FC236}">
                    <a16:creationId xmlns:a16="http://schemas.microsoft.com/office/drawing/2014/main" id="{7CC876DA-4095-404A-A0E5-2987EA3A63F0}"/>
                  </a:ext>
                </a:extLst>
              </p:cNvPr>
              <p:cNvSpPr/>
              <p:nvPr/>
            </p:nvSpPr>
            <p:spPr>
              <a:xfrm>
                <a:off x="720458" y="3300363"/>
                <a:ext cx="11586466" cy="13709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𝒎𝒊𝒙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𝒕𝒐𝒕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d>
                      <m:dPr>
                        <m:begChr m:val="["/>
                        <m:endChr m:val="]"/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𝝌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𝒍𝒏</m:t>
                        </m:r>
                        <m:d>
                          <m:d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𝝌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</m:sub>
                            </m:sSub>
                          </m:e>
                        </m:d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𝝌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𝒍𝒏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𝝌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𝑩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, etc. </a:t>
                </a:r>
              </a:p>
            </p:txBody>
          </p:sp>
        </mc:Choice>
        <mc:Fallback xmlns="">
          <p:sp>
            <p:nvSpPr>
              <p:cNvPr id="3082" name="Rectangle 3081">
                <a:extLst>
                  <a:ext uri="{FF2B5EF4-FFF2-40B4-BE49-F238E27FC236}">
                    <a16:creationId xmlns:a16="http://schemas.microsoft.com/office/drawing/2014/main" id="{7CC876DA-4095-404A-A0E5-2987EA3A6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58" y="3300363"/>
                <a:ext cx="11586466" cy="1370953"/>
              </a:xfrm>
              <a:prstGeom prst="rect">
                <a:avLst/>
              </a:prstGeom>
              <a:blipFill>
                <a:blip r:embed="rId8"/>
                <a:stretch>
                  <a:fillRect l="-875" b="-1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3450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858B102-B571-814E-9B29-D8217CB3311C}"/>
                  </a:ext>
                </a:extLst>
              </p:cNvPr>
              <p:cNvSpPr/>
              <p:nvPr/>
            </p:nvSpPr>
            <p:spPr>
              <a:xfrm>
                <a:off x="226368" y="817290"/>
                <a:ext cx="11396363" cy="24763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thermodynamic </a:t>
                </a:r>
                <a:r>
                  <a:rPr lang="en-US" sz="2400" dirty="0">
                    <a:solidFill>
                      <a:schemeClr val="tx1"/>
                    </a:solidFill>
                  </a:rPr>
                  <a:t>definition of entropy (TDE):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𝒅𝑺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𝒓𝒆𝒗</m:t>
                            </m:r>
                          </m:sub>
                        </m:sSub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The 1</a:t>
                </a:r>
                <a:r>
                  <a:rPr lang="en-US" sz="2400" baseline="30000" dirty="0">
                    <a:solidFill>
                      <a:schemeClr val="tx1"/>
                    </a:solidFill>
                  </a:rPr>
                  <a:t>st</a:t>
                </a:r>
                <a:r>
                  <a:rPr lang="en-US" sz="2400" dirty="0">
                    <a:solidFill>
                      <a:schemeClr val="tx1"/>
                    </a:solidFill>
                  </a:rPr>
                  <a:t> Law: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𝒅𝒒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𝒅𝒘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Combining these, we got the first Fundamental Equation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𝒅𝑼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𝑻𝒅𝑺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𝑷𝒅𝑽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858B102-B571-814E-9B29-D8217CB331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368" y="817290"/>
                <a:ext cx="11396363" cy="2476319"/>
              </a:xfrm>
              <a:prstGeom prst="rect">
                <a:avLst/>
              </a:prstGeom>
              <a:blipFill>
                <a:blip r:embed="rId2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1BC7B2C-AFE0-1643-B0D8-F5A1F8E08B00}"/>
              </a:ext>
            </a:extLst>
          </p:cNvPr>
          <p:cNvSpPr txBox="1"/>
          <p:nvPr/>
        </p:nvSpPr>
        <p:spPr>
          <a:xfrm>
            <a:off x="0" y="0"/>
            <a:ext cx="1142406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Week 11 – How the “Fundamental Equations” came about</a:t>
            </a:r>
          </a:p>
        </p:txBody>
      </p:sp>
    </p:spTree>
    <p:extLst>
      <p:ext uri="{BB962C8B-B14F-4D97-AF65-F5344CB8AC3E}">
        <p14:creationId xmlns:p14="http://schemas.microsoft.com/office/powerpoint/2010/main" val="323145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858B102-B571-814E-9B29-D8217CB3311C}"/>
                  </a:ext>
                </a:extLst>
              </p:cNvPr>
              <p:cNvSpPr/>
              <p:nvPr/>
            </p:nvSpPr>
            <p:spPr>
              <a:xfrm>
                <a:off x="226368" y="817290"/>
                <a:ext cx="11396363" cy="43229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thermodynamic </a:t>
                </a:r>
                <a:r>
                  <a:rPr lang="en-US" sz="2400" dirty="0">
                    <a:solidFill>
                      <a:schemeClr val="tx1"/>
                    </a:solidFill>
                  </a:rPr>
                  <a:t>definition of entropy (TDE):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𝒅𝑺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𝒓𝒆𝒗</m:t>
                            </m:r>
                          </m:sub>
                        </m:sSub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The 1</a:t>
                </a:r>
                <a:r>
                  <a:rPr lang="en-US" sz="2400" baseline="30000" dirty="0">
                    <a:solidFill>
                      <a:schemeClr val="tx1"/>
                    </a:solidFill>
                  </a:rPr>
                  <a:t>st</a:t>
                </a:r>
                <a:r>
                  <a:rPr lang="en-US" sz="2400" dirty="0">
                    <a:solidFill>
                      <a:schemeClr val="tx1"/>
                    </a:solidFill>
                  </a:rPr>
                  <a:t> Law: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𝒅𝒒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𝒅𝒘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Combining these, we got the first Fundamental Equation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𝒅𝑼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𝑻𝒅𝑺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𝑷𝒅𝑽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en-US" sz="2400" b="1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Using the definition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derive the </a:t>
                </a:r>
                <a:r>
                  <a:rPr lang="en-US" sz="2400" dirty="0"/>
                  <a:t>second Fundamental Equation,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𝒅𝑯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=…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858B102-B571-814E-9B29-D8217CB331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368" y="817290"/>
                <a:ext cx="11396363" cy="4322978"/>
              </a:xfrm>
              <a:prstGeom prst="rect">
                <a:avLst/>
              </a:prstGeom>
              <a:blipFill>
                <a:blip r:embed="rId2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1BC7B2C-AFE0-1643-B0D8-F5A1F8E08B00}"/>
              </a:ext>
            </a:extLst>
          </p:cNvPr>
          <p:cNvSpPr txBox="1"/>
          <p:nvPr/>
        </p:nvSpPr>
        <p:spPr>
          <a:xfrm>
            <a:off x="0" y="0"/>
            <a:ext cx="1142406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The other three fundamental equations</a:t>
            </a:r>
          </a:p>
        </p:txBody>
      </p:sp>
    </p:spTree>
    <p:extLst>
      <p:ext uri="{BB962C8B-B14F-4D97-AF65-F5344CB8AC3E}">
        <p14:creationId xmlns:p14="http://schemas.microsoft.com/office/powerpoint/2010/main" val="1564828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7652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Maxwell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48B7AA0-9C80-9D4A-9F36-619E03925373}"/>
                  </a:ext>
                </a:extLst>
              </p:cNvPr>
              <p:cNvSpPr/>
              <p:nvPr/>
            </p:nvSpPr>
            <p:spPr>
              <a:xfrm>
                <a:off x="5086350" y="1092963"/>
                <a:ext cx="6672262" cy="4902817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From these four, fill in the right hand sides …. (called </a:t>
                </a:r>
                <a:r>
                  <a:rPr lang="en-US" sz="2400" b="1" dirty="0"/>
                  <a:t>Maxwell Relations</a:t>
                </a:r>
                <a:r>
                  <a:rPr lang="en-US" sz="2400" dirty="0"/>
                  <a:t>)</a:t>
                </a:r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48B7AA0-9C80-9D4A-9F36-619E039253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350" y="1092963"/>
                <a:ext cx="6672262" cy="4902817"/>
              </a:xfrm>
              <a:prstGeom prst="rect">
                <a:avLst/>
              </a:prstGeom>
              <a:blipFill>
                <a:blip r:embed="rId2"/>
                <a:stretch>
                  <a:fillRect l="-1136" t="-773" r="-189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3E51EC-5FF1-DD46-A560-284F9AEAD015}"/>
                  </a:ext>
                </a:extLst>
              </p:cNvPr>
              <p:cNvSpPr txBox="1"/>
              <p:nvPr/>
            </p:nvSpPr>
            <p:spPr>
              <a:xfrm>
                <a:off x="914400" y="2019002"/>
                <a:ext cx="4086225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These are the four </a:t>
                </a:r>
                <a:r>
                  <a:rPr lang="en-US" sz="2400" b="1" dirty="0"/>
                  <a:t>Fundamental Equations</a:t>
                </a:r>
                <a:endParaRPr lang="en-US" sz="2400" dirty="0"/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𝑑𝑈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𝑇𝑑𝑆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𝑃𝑑𝑉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𝑇𝑑𝑆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𝑆𝑑𝑇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SdT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PdV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3E51EC-5FF1-DD46-A560-284F9AEAD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019002"/>
                <a:ext cx="4086225" cy="2677656"/>
              </a:xfrm>
              <a:prstGeom prst="rect">
                <a:avLst/>
              </a:prstGeom>
              <a:blipFill>
                <a:blip r:embed="rId3"/>
                <a:stretch>
                  <a:fillRect l="-2484" t="-1415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3011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7652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Maxwell Relations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48B7AA0-9C80-9D4A-9F36-619E03925373}"/>
                  </a:ext>
                </a:extLst>
              </p:cNvPr>
              <p:cNvSpPr/>
              <p:nvPr/>
            </p:nvSpPr>
            <p:spPr>
              <a:xfrm>
                <a:off x="5086350" y="1092963"/>
                <a:ext cx="6672262" cy="4902817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From these four, fill in the right hand sides …. (called </a:t>
                </a:r>
                <a:r>
                  <a:rPr lang="en-US" sz="2400" b="1" dirty="0"/>
                  <a:t>Maxwell Relations</a:t>
                </a:r>
                <a:r>
                  <a:rPr lang="en-US" sz="2400" dirty="0"/>
                  <a:t>)</a:t>
                </a:r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48B7AA0-9C80-9D4A-9F36-619E039253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350" y="1092963"/>
                <a:ext cx="6672262" cy="4902817"/>
              </a:xfrm>
              <a:prstGeom prst="rect">
                <a:avLst/>
              </a:prstGeom>
              <a:blipFill>
                <a:blip r:embed="rId2"/>
                <a:stretch>
                  <a:fillRect l="-1136" t="-773" r="-189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3E51EC-5FF1-DD46-A560-284F9AEAD015}"/>
                  </a:ext>
                </a:extLst>
              </p:cNvPr>
              <p:cNvSpPr txBox="1"/>
              <p:nvPr/>
            </p:nvSpPr>
            <p:spPr>
              <a:xfrm>
                <a:off x="914400" y="2019002"/>
                <a:ext cx="4086225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These are the four </a:t>
                </a:r>
                <a:r>
                  <a:rPr lang="en-US" sz="2400" b="1" dirty="0"/>
                  <a:t>Fundamental Equations</a:t>
                </a:r>
                <a:endParaRPr lang="en-US" sz="2400" dirty="0"/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𝑑𝑈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𝑇𝑑𝑆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𝑃𝑑𝑉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𝑇𝑑𝑆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𝑆𝑑𝑇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SdT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PdV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3E51EC-5FF1-DD46-A560-284F9AEAD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019002"/>
                <a:ext cx="4086225" cy="2677656"/>
              </a:xfrm>
              <a:prstGeom prst="rect">
                <a:avLst/>
              </a:prstGeom>
              <a:blipFill>
                <a:blip r:embed="rId3"/>
                <a:stretch>
                  <a:fillRect l="-2484" t="-1415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c 1">
            <a:extLst>
              <a:ext uri="{FF2B5EF4-FFF2-40B4-BE49-F238E27FC236}">
                <a16:creationId xmlns:a16="http://schemas.microsoft.com/office/drawing/2014/main" id="{CE5FC95A-BFDE-FB0E-3F0D-326D3B75BE6F}"/>
              </a:ext>
            </a:extLst>
          </p:cNvPr>
          <p:cNvSpPr/>
          <p:nvPr/>
        </p:nvSpPr>
        <p:spPr>
          <a:xfrm flipH="1">
            <a:off x="3315890" y="3829050"/>
            <a:ext cx="3455196" cy="1381958"/>
          </a:xfrm>
          <a:prstGeom prst="arc">
            <a:avLst>
              <a:gd name="adj1" fmla="val 16200000"/>
              <a:gd name="adj2" fmla="val 21155707"/>
            </a:avLst>
          </a:prstGeom>
          <a:ln w="50800">
            <a:solidFill>
              <a:schemeClr val="tx1">
                <a:alpha val="46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D2F92-DB7F-E5F2-6C26-1FCA3BF6ADED}"/>
              </a:ext>
            </a:extLst>
          </p:cNvPr>
          <p:cNvSpPr txBox="1"/>
          <p:nvPr/>
        </p:nvSpPr>
        <p:spPr>
          <a:xfrm>
            <a:off x="6615114" y="3357830"/>
            <a:ext cx="25574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Cross-derivative rule</a:t>
            </a:r>
          </a:p>
        </p:txBody>
      </p:sp>
    </p:spTree>
    <p:extLst>
      <p:ext uri="{BB962C8B-B14F-4D97-AF65-F5344CB8AC3E}">
        <p14:creationId xmlns:p14="http://schemas.microsoft.com/office/powerpoint/2010/main" val="681386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7652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Maxwell Relations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48B7AA0-9C80-9D4A-9F36-619E03925373}"/>
                  </a:ext>
                </a:extLst>
              </p:cNvPr>
              <p:cNvSpPr/>
              <p:nvPr/>
            </p:nvSpPr>
            <p:spPr>
              <a:xfrm>
                <a:off x="5086350" y="1092963"/>
                <a:ext cx="6672262" cy="4902817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From these four, fill in the right hand sides …. (called </a:t>
                </a:r>
                <a:r>
                  <a:rPr lang="en-US" sz="2400" b="1" dirty="0"/>
                  <a:t>Maxwell Relations</a:t>
                </a:r>
                <a:r>
                  <a:rPr lang="en-US" sz="2400" dirty="0"/>
                  <a:t>)</a:t>
                </a:r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2600" dirty="0">
                  <a:solidFill>
                    <a:schemeClr val="tx1"/>
                  </a:solidFill>
                </a:endParaRPr>
              </a:p>
              <a:p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48B7AA0-9C80-9D4A-9F36-619E039253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350" y="1092963"/>
                <a:ext cx="6672262" cy="4902817"/>
              </a:xfrm>
              <a:prstGeom prst="rect">
                <a:avLst/>
              </a:prstGeom>
              <a:blipFill>
                <a:blip r:embed="rId2"/>
                <a:stretch>
                  <a:fillRect l="-1136" t="-773" r="-189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3E51EC-5FF1-DD46-A560-284F9AEAD015}"/>
                  </a:ext>
                </a:extLst>
              </p:cNvPr>
              <p:cNvSpPr txBox="1"/>
              <p:nvPr/>
            </p:nvSpPr>
            <p:spPr>
              <a:xfrm>
                <a:off x="914400" y="2019002"/>
                <a:ext cx="4086225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These are the four </a:t>
                </a:r>
                <a:r>
                  <a:rPr lang="en-US" sz="2400" b="1" dirty="0"/>
                  <a:t>Fundamental Equations</a:t>
                </a:r>
                <a:endParaRPr lang="en-US" sz="2400" dirty="0"/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𝑑𝑈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𝑇𝑑𝑆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𝑃𝑑𝑉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𝑇𝑑𝑆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𝑆𝑑𝑇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SdT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PdV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3E51EC-5FF1-DD46-A560-284F9AEAD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019002"/>
                <a:ext cx="4086225" cy="2677656"/>
              </a:xfrm>
              <a:prstGeom prst="rect">
                <a:avLst/>
              </a:prstGeom>
              <a:blipFill>
                <a:blip r:embed="rId3"/>
                <a:stretch>
                  <a:fillRect l="-2484" t="-1415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c 1">
            <a:extLst>
              <a:ext uri="{FF2B5EF4-FFF2-40B4-BE49-F238E27FC236}">
                <a16:creationId xmlns:a16="http://schemas.microsoft.com/office/drawing/2014/main" id="{CE5FC95A-BFDE-FB0E-3F0D-326D3B75BE6F}"/>
              </a:ext>
            </a:extLst>
          </p:cNvPr>
          <p:cNvSpPr/>
          <p:nvPr/>
        </p:nvSpPr>
        <p:spPr>
          <a:xfrm flipH="1">
            <a:off x="3315890" y="3829050"/>
            <a:ext cx="3455196" cy="1381958"/>
          </a:xfrm>
          <a:prstGeom prst="arc">
            <a:avLst>
              <a:gd name="adj1" fmla="val 16200000"/>
              <a:gd name="adj2" fmla="val 21155707"/>
            </a:avLst>
          </a:prstGeom>
          <a:ln w="50800">
            <a:solidFill>
              <a:schemeClr val="tx1">
                <a:alpha val="46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52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64CA00-2CFF-7D1A-C5BA-573282FF9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02" t="11888" r="2173" b="6077"/>
          <a:stretch/>
        </p:blipFill>
        <p:spPr>
          <a:xfrm>
            <a:off x="1471347" y="619555"/>
            <a:ext cx="8758989" cy="15400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7E4C18-4755-7148-EA5A-1A1BB2F72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900" y="3212015"/>
            <a:ext cx="6337300" cy="3454400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675DF910-ABDF-C82F-9013-23E745E81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22" y="3081866"/>
            <a:ext cx="4777740" cy="3584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B603A8-2396-B4C1-DCE7-9A0325DA12E0}"/>
              </a:ext>
            </a:extLst>
          </p:cNvPr>
          <p:cNvSpPr txBox="1"/>
          <p:nvPr/>
        </p:nvSpPr>
        <p:spPr>
          <a:xfrm>
            <a:off x="2251032" y="2454974"/>
            <a:ext cx="5998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Something is dreadfully wrong here … what?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284DBE-15D5-51E1-834E-7899827AA8D6}"/>
              </a:ext>
            </a:extLst>
          </p:cNvPr>
          <p:cNvSpPr txBox="1"/>
          <p:nvPr/>
        </p:nvSpPr>
        <p:spPr>
          <a:xfrm>
            <a:off x="0" y="-7652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Calculating the entropy of mixing</a:t>
            </a:r>
          </a:p>
        </p:txBody>
      </p:sp>
    </p:spTree>
    <p:extLst>
      <p:ext uri="{BB962C8B-B14F-4D97-AF65-F5344CB8AC3E}">
        <p14:creationId xmlns:p14="http://schemas.microsoft.com/office/powerpoint/2010/main" val="69671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8EEFAF-4F44-DB45-8953-6405773D8D7B}"/>
                  </a:ext>
                </a:extLst>
              </p:cNvPr>
              <p:cNvSpPr txBox="1"/>
              <p:nvPr/>
            </p:nvSpPr>
            <p:spPr>
              <a:xfrm>
                <a:off x="427039" y="937703"/>
                <a:ext cx="6252210" cy="270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𝑇𝑑𝑆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𝑃𝑑𝑉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𝑒𝑥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𝑑𝑉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𝑟𝑒𝑣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for spontaneous processes</a:t>
                </a:r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68EEFAF-4F44-DB45-8953-6405773D8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39" y="937703"/>
                <a:ext cx="6252210" cy="2702535"/>
              </a:xfrm>
              <a:prstGeom prst="rect">
                <a:avLst/>
              </a:prstGeom>
              <a:blipFill>
                <a:blip r:embed="rId3"/>
                <a:stretch>
                  <a:fillRect l="-1619" t="-1869" b="-4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5987609-FBC0-EE48-BCCC-65E147C88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981" y="784911"/>
            <a:ext cx="3204099" cy="26440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FAADA7-2A5B-644C-825C-5E984319FF6B}"/>
              </a:ext>
            </a:extLst>
          </p:cNvPr>
          <p:cNvSpPr txBox="1"/>
          <p:nvPr/>
        </p:nvSpPr>
        <p:spPr>
          <a:xfrm>
            <a:off x="427039" y="4116276"/>
            <a:ext cx="11419820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Which equation number would you associate with each of these?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The Thermodynamic Definition of Entropy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The 2</a:t>
            </a:r>
            <a:r>
              <a:rPr lang="en-US" sz="2400" baseline="30000" dirty="0"/>
              <a:t>nd</a:t>
            </a:r>
            <a:r>
              <a:rPr lang="en-US" sz="2400" dirty="0"/>
              <a:t> Law of Thermodynamics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One of the four fundamental differential equations of Thermodynamics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/>
              <a:t>A Maxwell relation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B5E79-217A-CC03-C9D7-29AE5D81139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kind of question I might ask – How entropy is related to other thermodynamic quantities</a:t>
            </a:r>
          </a:p>
        </p:txBody>
      </p:sp>
    </p:spTree>
    <p:extLst>
      <p:ext uri="{BB962C8B-B14F-4D97-AF65-F5344CB8AC3E}">
        <p14:creationId xmlns:p14="http://schemas.microsoft.com/office/powerpoint/2010/main" val="142920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1334</Words>
  <Application>Microsoft Macintosh PowerPoint</Application>
  <PresentationFormat>Widescreen</PresentationFormat>
  <Paragraphs>265</Paragraphs>
  <Slides>24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CambriaMath</vt:lpstr>
      <vt:lpstr>Times New Roman</vt:lpstr>
      <vt:lpstr>TimesNewRomanPS</vt:lpstr>
      <vt:lpstr>TimesNewRomanPSMT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38</cp:revision>
  <dcterms:created xsi:type="dcterms:W3CDTF">2023-12-04T03:00:53Z</dcterms:created>
  <dcterms:modified xsi:type="dcterms:W3CDTF">2025-12-10T15:59:12Z</dcterms:modified>
</cp:coreProperties>
</file>