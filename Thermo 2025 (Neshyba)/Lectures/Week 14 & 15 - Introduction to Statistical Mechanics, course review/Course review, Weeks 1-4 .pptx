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355" r:id="rId2"/>
    <p:sldId id="705" r:id="rId3"/>
    <p:sldId id="736" r:id="rId4"/>
    <p:sldId id="735" r:id="rId5"/>
    <p:sldId id="756" r:id="rId6"/>
    <p:sldId id="701" r:id="rId7"/>
    <p:sldId id="771" r:id="rId8"/>
    <p:sldId id="709" r:id="rId9"/>
    <p:sldId id="710" r:id="rId10"/>
    <p:sldId id="708" r:id="rId11"/>
    <p:sldId id="765" r:id="rId12"/>
    <p:sldId id="713" r:id="rId13"/>
    <p:sldId id="758" r:id="rId14"/>
    <p:sldId id="769" r:id="rId15"/>
    <p:sldId id="759" r:id="rId16"/>
    <p:sldId id="766" r:id="rId17"/>
    <p:sldId id="767" r:id="rId18"/>
    <p:sldId id="730" r:id="rId19"/>
    <p:sldId id="348" r:id="rId20"/>
    <p:sldId id="762" r:id="rId21"/>
    <p:sldId id="763" r:id="rId22"/>
    <p:sldId id="77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49"/>
    <p:restoredTop sz="95970"/>
  </p:normalViewPr>
  <p:slideViewPr>
    <p:cSldViewPr snapToGrid="0">
      <p:cViewPr varScale="1">
        <p:scale>
          <a:sx n="107" d="100"/>
          <a:sy n="107" d="100"/>
        </p:scale>
        <p:origin x="504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4D696F-0323-B948-8D9D-CDC898E7F2D6}" type="datetimeFigureOut">
              <a:rPr lang="en-US" smtClean="0"/>
              <a:t>10/3/25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178BAA-32E4-8A4F-9E01-87FA22A1B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09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86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Week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86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56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33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07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Week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32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237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71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22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81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3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31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009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+mn-lt"/>
              </a:rPr>
              <a:t>Week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88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3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42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42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671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26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57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+mn-lt"/>
              </a:rPr>
              <a:t>Week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4F8E1-D078-1143-9A1A-657540FB873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7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830AB-6482-C3A2-1B22-74EBC4A7E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ADFFC-9BFB-601F-9C72-DDBBEDE1F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1DA7-747C-9CBA-55CF-08604FEB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68268-FFFC-04F9-B21E-65EC62A4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C3886-C939-1CE1-A8A8-A556876C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57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5097-4D6A-A3CD-9265-FE0211DE3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C75FE-ADC7-0E2C-1269-8D05E8E98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80C1C-44AF-01F6-41D8-55149182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33074-693D-AAD9-1E19-3F1B3770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4FAE3-5AEE-8D54-CFC5-07EE8FD82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9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4C596-C613-5524-770F-4FE1EAC92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8BFAA-3C5C-5265-1F2F-E29B38152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E0CF6-DFD4-CD9C-B8B1-D2C076DBA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34C5A-E8B7-BE20-225D-4823D2A5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E74BE-26B7-5292-C58C-1D636C60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6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E6BEF-56A7-FA77-DC77-5CC63C26F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0FD63-3255-8806-E498-27F5EBB60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03FBB-FFA3-AFFC-DB19-640CEDBD6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B63A7-6BB9-20CD-A4C2-77D9C041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77A07-8DDD-185B-BBB4-7C8FCE2D5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D4884-8C25-A0F5-68E2-3488D978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22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15C18-DB67-61C9-4C72-588037C84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1B288-E889-2E49-5608-3F3ADAF2B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01B24-39C3-997F-2CDA-800AE3731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47D129-5256-3F83-5B2F-1CEABB436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1097F-0BC9-DB35-9D00-DAA7BA9AA2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E14A43-6B07-F211-D4D0-E1FD7040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B979EE-E2E7-1E8E-EC9A-6673EF647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BB38BE-E449-1717-C22F-7A88CA57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5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9303-B09F-E9E1-FB1C-D079979C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1EB8F9-5770-1A42-3D2D-B70210C0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8ADCC-A358-4A3B-275D-12283B91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FE41E-9439-4674-5811-322CE178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27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5B938-EAEF-4524-1792-9A1A5820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4E2A9A-2194-FD4E-C1BD-58260D87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87863-DB20-F1AE-3AA2-6C66BDC3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48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D3423-ED47-9D15-6765-447F16239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0516F-2A78-B768-240C-BE3FD5805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8DC32-4F0D-A591-16CF-172E0FC78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C4401-A3E8-791D-CB44-441A3C6C9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C0429-6578-0664-A21B-FF5A31806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71494-6E99-4D23-7D3F-6C2C9545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0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0405-6809-174A-2FF1-A259D4154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6A9117-F402-22FA-9D62-F50AFB0AA8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86A4D-3687-1E3A-7DDD-FA367CFE5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29049-9913-DB1C-7EDA-BF01926C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2C027-585B-63DE-07DE-9B95AE48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A07CF-769D-6FFD-F5BF-36E68295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44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2DF6C-8049-8CDF-1E0C-C46FF4F79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EB403-DAFB-21EC-EECE-F8CC6A3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A7E10-33BE-AA97-B161-3E8F5CA1B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E93F7-1699-2D0A-6AF7-16B480B7F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8898F-AC3B-4779-93A1-7BAA2657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91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56E304-B41F-D82D-DD1B-1EAF4565D7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7AC00-6A23-5431-EB59-9CCD2524D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77692-14B1-2F68-D4CE-D9E9773C0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9A77-DB4F-FA40-AE77-1846C4664C1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C7FDD-DD2E-41CB-7D28-6296A8BD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42FA7-54AE-C856-71EE-8DD7953E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34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CCEAB-0675-3371-F870-FCD6A3705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187E9-956F-0963-A149-6EE3C1A98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B65CD-E411-19B0-B06D-B303359BD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19A77-DB4F-FA40-AE77-1846C4664C1D}" type="datetimeFigureOut">
              <a:rPr lang="en-US" smtClean="0"/>
              <a:t>10/3/25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9FF80-0D25-729A-4FFF-A0578265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12E6D-A725-1E49-A23F-942CAF424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971F0-E586-4E43-B3DD-8C3FF9E2D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2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90.png"/><Relationship Id="rId10" Type="http://schemas.openxmlformats.org/officeDocument/2006/relationships/image" Target="../media/image22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4" Type="http://schemas.openxmlformats.org/officeDocument/2006/relationships/image" Target="../media/image2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0.png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gif"/><Relationship Id="rId4" Type="http://schemas.openxmlformats.org/officeDocument/2006/relationships/hyperlink" Target="https://en.wikipedia.org/wiki/Maxwell%E2%80%93Boltzmann_distribution#/media/File:Simulation_of_gas_for_relaxation_demonstration.gif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gif"/><Relationship Id="rId4" Type="http://schemas.openxmlformats.org/officeDocument/2006/relationships/hyperlink" Target="https://en.wikipedia.org/wiki/Maxwell%E2%80%93Boltzmann_distribution#/media/File:Simulation_of_gas_for_relaxation_demonstration.gi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Summary of measurable quantities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6C0CDE2-D165-C8AC-B0B8-B81871D2AF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01802"/>
                  </p:ext>
                </p:extLst>
              </p:nvPr>
            </p:nvGraphicFramePr>
            <p:xfrm>
              <a:off x="1123207" y="792471"/>
              <a:ext cx="9339232" cy="1787637"/>
            </p:xfrm>
            <a:graphic>
              <a:graphicData uri="http://schemas.openxmlformats.org/drawingml/2006/table">
                <a:tbl>
                  <a:tblPr/>
                  <a:tblGrid>
                    <a:gridCol w="1443473">
                      <a:extLst>
                        <a:ext uri="{9D8B030D-6E8A-4147-A177-3AD203B41FA5}">
                          <a16:colId xmlns:a16="http://schemas.microsoft.com/office/drawing/2014/main" val="1255572873"/>
                        </a:ext>
                      </a:extLst>
                    </a:gridCol>
                    <a:gridCol w="1030811">
                      <a:extLst>
                        <a:ext uri="{9D8B030D-6E8A-4147-A177-3AD203B41FA5}">
                          <a16:colId xmlns:a16="http://schemas.microsoft.com/office/drawing/2014/main" val="3400188206"/>
                        </a:ext>
                      </a:extLst>
                    </a:gridCol>
                    <a:gridCol w="1856135">
                      <a:extLst>
                        <a:ext uri="{9D8B030D-6E8A-4147-A177-3AD203B41FA5}">
                          <a16:colId xmlns:a16="http://schemas.microsoft.com/office/drawing/2014/main" val="3356275290"/>
                        </a:ext>
                      </a:extLst>
                    </a:gridCol>
                    <a:gridCol w="1650994">
                      <a:extLst>
                        <a:ext uri="{9D8B030D-6E8A-4147-A177-3AD203B41FA5}">
                          <a16:colId xmlns:a16="http://schemas.microsoft.com/office/drawing/2014/main" val="3153862936"/>
                        </a:ext>
                      </a:extLst>
                    </a:gridCol>
                    <a:gridCol w="3357819">
                      <a:extLst>
                        <a:ext uri="{9D8B030D-6E8A-4147-A177-3AD203B41FA5}">
                          <a16:colId xmlns:a16="http://schemas.microsoft.com/office/drawing/2014/main" val="2907323714"/>
                        </a:ext>
                      </a:extLst>
                    </a:gridCol>
                  </a:tblGrid>
                  <a:tr h="209199">
                    <a:tc>
                      <a:txBody>
                        <a:bodyPr/>
                        <a:lstStyle/>
                        <a:p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Name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Symbol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Dimension (SI unit)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Definition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Comment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216992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Isothermal Joule coefficient (aka internal pressure)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Pressure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𝑃𝑎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𝑈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Measured in the Joule experiment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4224044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Isochoric heat capacity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Energy/Temp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200" b="0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𝑈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𝜕</m:t>
                                            </m:r>
                                            <m:r>
                                              <a:rPr lang="en-US" sz="12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Estimate from equipartition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2284988"/>
                      </a:ext>
                    </a:extLst>
                  </a:tr>
                  <a:tr h="355638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Boyle temperature</a:t>
                          </a: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𝐵𝑜𝑦𝑙𝑒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Temp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200" dirty="0">
                              <a:effectLst/>
                              <a:latin typeface="CambriaMath"/>
                            </a:rPr>
                            <a:t>)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Temp at which 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𝑟𝑒𝑎𝑙</m:t>
                                    </m:r>
                                  </m:sub>
                                </m:sSub>
                                <m:r>
                                  <a:rPr lang="en-US" sz="1200" b="0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𝑖𝑑𝑒𝑎𝑙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vdw: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𝑅𝑏</m:t>
                                  </m:r>
                                </m:den>
                              </m:f>
                            </m:oMath>
                          </a14:m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83452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6C0CDE2-D165-C8AC-B0B8-B81871D2AF5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01802"/>
                  </p:ext>
                </p:extLst>
              </p:nvPr>
            </p:nvGraphicFramePr>
            <p:xfrm>
              <a:off x="1123207" y="792471"/>
              <a:ext cx="9339232" cy="1787637"/>
            </p:xfrm>
            <a:graphic>
              <a:graphicData uri="http://schemas.openxmlformats.org/drawingml/2006/table">
                <a:tbl>
                  <a:tblPr/>
                  <a:tblGrid>
                    <a:gridCol w="1443473">
                      <a:extLst>
                        <a:ext uri="{9D8B030D-6E8A-4147-A177-3AD203B41FA5}">
                          <a16:colId xmlns:a16="http://schemas.microsoft.com/office/drawing/2014/main" val="1255572873"/>
                        </a:ext>
                      </a:extLst>
                    </a:gridCol>
                    <a:gridCol w="1030811">
                      <a:extLst>
                        <a:ext uri="{9D8B030D-6E8A-4147-A177-3AD203B41FA5}">
                          <a16:colId xmlns:a16="http://schemas.microsoft.com/office/drawing/2014/main" val="3400188206"/>
                        </a:ext>
                      </a:extLst>
                    </a:gridCol>
                    <a:gridCol w="1856135">
                      <a:extLst>
                        <a:ext uri="{9D8B030D-6E8A-4147-A177-3AD203B41FA5}">
                          <a16:colId xmlns:a16="http://schemas.microsoft.com/office/drawing/2014/main" val="3356275290"/>
                        </a:ext>
                      </a:extLst>
                    </a:gridCol>
                    <a:gridCol w="1650994">
                      <a:extLst>
                        <a:ext uri="{9D8B030D-6E8A-4147-A177-3AD203B41FA5}">
                          <a16:colId xmlns:a16="http://schemas.microsoft.com/office/drawing/2014/main" val="3153862936"/>
                        </a:ext>
                      </a:extLst>
                    </a:gridCol>
                    <a:gridCol w="3357819">
                      <a:extLst>
                        <a:ext uri="{9D8B030D-6E8A-4147-A177-3AD203B41FA5}">
                          <a16:colId xmlns:a16="http://schemas.microsoft.com/office/drawing/2014/main" val="2907323714"/>
                        </a:ext>
                      </a:extLst>
                    </a:gridCol>
                  </a:tblGrid>
                  <a:tr h="245640">
                    <a:tc>
                      <a:txBody>
                        <a:bodyPr/>
                        <a:lstStyle/>
                        <a:p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Name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Symbol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Dimension (SI unit)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Definition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>
                              <a:effectLst/>
                              <a:latin typeface="TimesNewRomanPS"/>
                            </a:rPr>
                            <a:t>Comment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8216992"/>
                      </a:ext>
                    </a:extLst>
                  </a:tr>
                  <a:tr h="611400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Isothermal Joule coefficient (aka internal pressure)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45833" r="-669136" b="-16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45833" r="-271233" b="-16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45833" r="-204615" b="-16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Measured in the Joule experiment 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4224044"/>
                      </a:ext>
                    </a:extLst>
                  </a:tr>
                  <a:tr h="502077">
                    <a:tc>
                      <a:txBody>
                        <a:bodyPr/>
                        <a:lstStyle/>
                        <a:p>
                          <a:r>
                            <a:rPr lang="en-US" sz="1200">
                              <a:effectLst/>
                              <a:latin typeface="TimesNewRomanPSMT"/>
                            </a:rPr>
                            <a:t>Isochoric heat capacity </a:t>
                          </a:r>
                          <a:endParaRPr lang="en-US" sz="120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175000" r="-669136" b="-9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175000" r="-271233" b="-9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175000" r="-204615" b="-9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dirty="0">
                              <a:effectLst/>
                              <a:latin typeface="TimesNewRomanPSMT"/>
                            </a:rPr>
                            <a:t>Estimate from equipartition</a:t>
                          </a:r>
                          <a:endParaRPr lang="en-US" sz="1200" dirty="0">
                            <a:effectLst/>
                          </a:endParaRP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2284988"/>
                      </a:ext>
                    </a:extLst>
                  </a:tr>
                  <a:tr h="42852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Boyle temperature</a:t>
                          </a:r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1975" t="-323529" r="-669136" b="-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4247" t="-323529" r="-271233" b="-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3077" t="-323529" r="-204615" b="-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760" marR="62760" marT="31380" marB="31380" anchor="ctr">
                        <a:lnL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8179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113" t="-323529" r="-377" b="-1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83452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25942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572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The E-format convention (in Python)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272799" y="591671"/>
                <a:ext cx="96571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E-format convention (in Python)</a:t>
                </a:r>
              </a:p>
              <a:p>
                <a:r>
                  <a:rPr lang="en-US" sz="2400" dirty="0"/>
                  <a:t>Define a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=8.314×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using the E-format convention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99" y="591671"/>
                <a:ext cx="9657176" cy="830997"/>
              </a:xfrm>
              <a:prstGeom prst="rect">
                <a:avLst/>
              </a:prstGeom>
              <a:blipFill>
                <a:blip r:embed="rId3"/>
                <a:stretch>
                  <a:fillRect l="-1051" t="-6061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9145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2781" y="653986"/>
                <a:ext cx="11365604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Use </a:t>
                </a:r>
                <a:r>
                  <a:rPr lang="en-US" sz="2400" dirty="0" err="1"/>
                  <a:t>AssignQuantity</a:t>
                </a:r>
                <a:r>
                  <a:rPr lang="en-US" sz="2400" dirty="0"/>
                  <a:t> to define the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=8.314×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sup>
                    </m:sSup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1" y="653986"/>
                <a:ext cx="11365604" cy="624273"/>
              </a:xfrm>
              <a:prstGeom prst="rect">
                <a:avLst/>
              </a:prstGeom>
              <a:blipFill>
                <a:blip r:embed="rId3"/>
                <a:stretch>
                  <a:fillRect l="-781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900D014B-8EAA-A519-7205-43991446423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Variables with units (in Python)</a:t>
            </a:r>
          </a:p>
        </p:txBody>
      </p:sp>
    </p:spTree>
    <p:extLst>
      <p:ext uri="{BB962C8B-B14F-4D97-AF65-F5344CB8AC3E}">
        <p14:creationId xmlns:p14="http://schemas.microsoft.com/office/powerpoint/2010/main" val="2457224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F9F29B-97C6-E2E1-F6E1-C180ABF54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853" y="1899992"/>
            <a:ext cx="5743251" cy="41718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988790-E08A-143C-366B-69E54A870C46}"/>
                  </a:ext>
                </a:extLst>
              </p:cNvPr>
              <p:cNvSpPr txBox="1"/>
              <p:nvPr/>
            </p:nvSpPr>
            <p:spPr>
              <a:xfrm>
                <a:off x="277792" y="786201"/>
                <a:ext cx="119142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What’s the meaning of the colors in this electrostatic potential map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988790-E08A-143C-366B-69E54A870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92" y="786201"/>
                <a:ext cx="11914208" cy="461665"/>
              </a:xfrm>
              <a:prstGeom prst="rect">
                <a:avLst/>
              </a:prstGeom>
              <a:blipFill>
                <a:blip r:embed="rId4"/>
                <a:stretch>
                  <a:fillRect l="-852" t="-526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ECD1CE7A-F8FA-376E-83F2-52476698B6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Intermolecular bond strengths, part 1 (Spartan)</a:t>
            </a:r>
          </a:p>
        </p:txBody>
      </p:sp>
    </p:spTree>
    <p:extLst>
      <p:ext uri="{BB962C8B-B14F-4D97-AF65-F5344CB8AC3E}">
        <p14:creationId xmlns:p14="http://schemas.microsoft.com/office/powerpoint/2010/main" val="25233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277792" y="786201"/>
            <a:ext cx="11914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would you use Spartan to get the bond strength holding two water molecules together?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86C97F-5F8D-4E67-59E5-1DAA0A5F13E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Intermolecular bond strengths, part 2 (Spartan)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BD0BAC-E1F1-CB8B-B28D-17E73339B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775" y="1247866"/>
            <a:ext cx="3362942" cy="27621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5CA06D-AB1F-F9FA-E459-746FF24CE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700" y="1203037"/>
            <a:ext cx="4618518" cy="285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7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238074" y="680985"/>
                <a:ext cx="9657176" cy="1037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Name this equation of state: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𝑛𝑏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Describe the physical meaning behind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74" y="680985"/>
                <a:ext cx="9657176" cy="1037848"/>
              </a:xfrm>
              <a:prstGeom prst="rect">
                <a:avLst/>
              </a:prstGeom>
              <a:blipFill>
                <a:blip r:embed="rId3"/>
                <a:stretch>
                  <a:fillRect l="-787" b="-10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7A1605FC-1E11-B751-5113-6E717478AA04}"/>
              </a:ext>
            </a:extLst>
          </p:cNvPr>
          <p:cNvGrpSpPr/>
          <p:nvPr/>
        </p:nvGrpSpPr>
        <p:grpSpPr>
          <a:xfrm>
            <a:off x="3279201" y="2373306"/>
            <a:ext cx="4902525" cy="4296254"/>
            <a:chOff x="3551049" y="1533046"/>
            <a:chExt cx="4902525" cy="429625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5BE8E97-0C73-EDC8-9549-B9F5499D561C}"/>
                </a:ext>
              </a:extLst>
            </p:cNvPr>
            <p:cNvGrpSpPr/>
            <p:nvPr/>
          </p:nvGrpSpPr>
          <p:grpSpPr>
            <a:xfrm>
              <a:off x="3551049" y="1533046"/>
              <a:ext cx="4902525" cy="4296254"/>
              <a:chOff x="801045" y="1575076"/>
              <a:chExt cx="3718056" cy="355375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4077BE1-3516-50BF-E8CD-06F2FBF4CDB6}"/>
                  </a:ext>
                </a:extLst>
              </p:cNvPr>
              <p:cNvGrpSpPr/>
              <p:nvPr/>
            </p:nvGrpSpPr>
            <p:grpSpPr>
              <a:xfrm>
                <a:off x="801045" y="1575076"/>
                <a:ext cx="3718056" cy="3553750"/>
                <a:chOff x="5651292" y="1334126"/>
                <a:chExt cx="6041036" cy="4961744"/>
              </a:xfrm>
            </p:grpSpPr>
            <p:sp>
              <p:nvSpPr>
                <p:cNvPr id="11" name="Frame 10">
                  <a:extLst>
                    <a:ext uri="{FF2B5EF4-FFF2-40B4-BE49-F238E27FC236}">
                      <a16:creationId xmlns:a16="http://schemas.microsoft.com/office/drawing/2014/main" id="{89BC6835-163E-B50F-893A-56C85E906E4F}"/>
                    </a:ext>
                  </a:extLst>
                </p:cNvPr>
                <p:cNvSpPr/>
                <p:nvPr/>
              </p:nvSpPr>
              <p:spPr>
                <a:xfrm>
                  <a:off x="5651292" y="1334126"/>
                  <a:ext cx="6041036" cy="4961744"/>
                </a:xfrm>
                <a:prstGeom prst="frame">
                  <a:avLst>
                    <a:gd name="adj1" fmla="val 1926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21E1359F-612F-B50F-11B4-7F71675D625A}"/>
                    </a:ext>
                  </a:extLst>
                </p:cNvPr>
                <p:cNvGrpSpPr/>
                <p:nvPr/>
              </p:nvGrpSpPr>
              <p:grpSpPr>
                <a:xfrm>
                  <a:off x="6016053" y="2083631"/>
                  <a:ext cx="4994223" cy="3667594"/>
                  <a:chOff x="6016053" y="2083631"/>
                  <a:chExt cx="4994223" cy="3667594"/>
                </a:xfrm>
                <a:solidFill>
                  <a:srgbClr val="7030A0"/>
                </a:solidFill>
              </p:grpSpPr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94128DC4-4CA8-72E2-502F-282D63783CD4}"/>
                      </a:ext>
                    </a:extLst>
                  </p:cNvPr>
                  <p:cNvSpPr/>
                  <p:nvPr/>
                </p:nvSpPr>
                <p:spPr>
                  <a:xfrm>
                    <a:off x="6625653" y="226351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DD06D76B-1DBC-3FCA-2A08-0D004CEC5A0A}"/>
                      </a:ext>
                    </a:extLst>
                  </p:cNvPr>
                  <p:cNvSpPr/>
                  <p:nvPr/>
                </p:nvSpPr>
                <p:spPr>
                  <a:xfrm>
                    <a:off x="7182787" y="51441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466F48BD-DB69-31DF-A1CD-4536215B412C}"/>
                      </a:ext>
                    </a:extLst>
                  </p:cNvPr>
                  <p:cNvSpPr/>
                  <p:nvPr/>
                </p:nvSpPr>
                <p:spPr>
                  <a:xfrm>
                    <a:off x="8276781" y="3259298"/>
                    <a:ext cx="149903" cy="149902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CA5E2236-D85C-3501-57BF-EED91B492DB2}"/>
                      </a:ext>
                    </a:extLst>
                  </p:cNvPr>
                  <p:cNvSpPr/>
                  <p:nvPr/>
                </p:nvSpPr>
                <p:spPr>
                  <a:xfrm>
                    <a:off x="7490085" y="3629480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F5B8472A-B5AF-FCB1-1F3C-F242A12B8BD3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8F2A52A4-B362-4C74-63FF-3AEE83F1D12A}"/>
                      </a:ext>
                    </a:extLst>
                  </p:cNvPr>
                  <p:cNvSpPr/>
                  <p:nvPr/>
                </p:nvSpPr>
                <p:spPr>
                  <a:xfrm>
                    <a:off x="10298243" y="2083631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FAECCF88-9DA8-273A-7AEE-B9163A536306}"/>
                      </a:ext>
                    </a:extLst>
                  </p:cNvPr>
                  <p:cNvSpPr/>
                  <p:nvPr/>
                </p:nvSpPr>
                <p:spPr>
                  <a:xfrm>
                    <a:off x="8446957" y="4774366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407E8140-6325-418C-A210-FC9DED68C2AE}"/>
                      </a:ext>
                    </a:extLst>
                  </p:cNvPr>
                  <p:cNvSpPr/>
                  <p:nvPr/>
                </p:nvSpPr>
                <p:spPr>
                  <a:xfrm>
                    <a:off x="6016053" y="3814998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0F562731-1FD0-D750-2539-73A7D9C441E4}"/>
                      </a:ext>
                    </a:extLst>
                  </p:cNvPr>
                  <p:cNvSpPr/>
                  <p:nvPr/>
                </p:nvSpPr>
                <p:spPr>
                  <a:xfrm>
                    <a:off x="10860374" y="4624465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431F4D27-D791-745D-0C8B-CEE0E208A0F1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99B4419A-652E-20D6-479A-C560E61E236F}"/>
                    </a:ext>
                  </a:extLst>
                </p:cNvPr>
                <p:cNvGrpSpPr/>
                <p:nvPr/>
              </p:nvGrpSpPr>
              <p:grpSpPr>
                <a:xfrm>
                  <a:off x="6212174" y="1656413"/>
                  <a:ext cx="4910528" cy="4094812"/>
                  <a:chOff x="6016053" y="2263514"/>
                  <a:chExt cx="4087318" cy="3487711"/>
                </a:xfrm>
                <a:solidFill>
                  <a:srgbClr val="FF0000"/>
                </a:solidFill>
              </p:grpSpPr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84E999C4-233D-CCE0-58DB-9FBEC7531969}"/>
                      </a:ext>
                    </a:extLst>
                  </p:cNvPr>
                  <p:cNvSpPr/>
                  <p:nvPr/>
                </p:nvSpPr>
                <p:spPr>
                  <a:xfrm>
                    <a:off x="6625653" y="226351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B514E4BF-BB65-1E24-4995-060CFC0BCF68}"/>
                      </a:ext>
                    </a:extLst>
                  </p:cNvPr>
                  <p:cNvSpPr/>
                  <p:nvPr/>
                </p:nvSpPr>
                <p:spPr>
                  <a:xfrm>
                    <a:off x="7182787" y="51441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E4314C6F-CC3D-D83A-F1FA-6EFF75933DCF}"/>
                      </a:ext>
                    </a:extLst>
                  </p:cNvPr>
                  <p:cNvSpPr/>
                  <p:nvPr/>
                </p:nvSpPr>
                <p:spPr>
                  <a:xfrm>
                    <a:off x="8104543" y="3035420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" name="Oval 16">
                    <a:extLst>
                      <a:ext uri="{FF2B5EF4-FFF2-40B4-BE49-F238E27FC236}">
                        <a16:creationId xmlns:a16="http://schemas.microsoft.com/office/drawing/2014/main" id="{36F5CFD7-7EE5-053C-E60A-61BAE57A3B1C}"/>
                      </a:ext>
                    </a:extLst>
                  </p:cNvPr>
                  <p:cNvSpPr/>
                  <p:nvPr/>
                </p:nvSpPr>
                <p:spPr>
                  <a:xfrm>
                    <a:off x="6864246" y="3244729"/>
                    <a:ext cx="149902" cy="14990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E057072B-56D3-DDEA-1304-201E6A3ED5B9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A2F407FE-4EC4-CD3B-0CD5-8DBF7F98B7F2}"/>
                      </a:ext>
                    </a:extLst>
                  </p:cNvPr>
                  <p:cNvSpPr/>
                  <p:nvPr/>
                </p:nvSpPr>
                <p:spPr>
                  <a:xfrm>
                    <a:off x="9927236" y="2638265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FBDCA8EA-EF83-E53F-5951-671AC19B41DE}"/>
                      </a:ext>
                    </a:extLst>
                  </p:cNvPr>
                  <p:cNvSpPr/>
                  <p:nvPr/>
                </p:nvSpPr>
                <p:spPr>
                  <a:xfrm>
                    <a:off x="8446957" y="4102945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B74A60A9-B10D-F0D7-2E85-404A5A9B163F}"/>
                      </a:ext>
                    </a:extLst>
                  </p:cNvPr>
                  <p:cNvSpPr/>
                  <p:nvPr/>
                </p:nvSpPr>
                <p:spPr>
                  <a:xfrm>
                    <a:off x="6016053" y="3814998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709EB56A-F233-C8C3-D7A5-A1A38C7C388A}"/>
                      </a:ext>
                    </a:extLst>
                  </p:cNvPr>
                  <p:cNvSpPr/>
                  <p:nvPr/>
                </p:nvSpPr>
                <p:spPr>
                  <a:xfrm>
                    <a:off x="9953469" y="4423108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3418A355-0686-CDE1-1FAD-C01A4AC7E1D5}"/>
                      </a:ext>
                    </a:extLst>
                  </p:cNvPr>
                  <p:cNvSpPr/>
                  <p:nvPr/>
                </p:nvSpPr>
                <p:spPr>
                  <a:xfrm>
                    <a:off x="7639987" y="5601324"/>
                    <a:ext cx="149902" cy="149901"/>
                  </a:xfrm>
                  <a:prstGeom prst="ellipse">
                    <a:avLst/>
                  </a:prstGeom>
                  <a:grp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D85A6C06-EC2C-7EB2-7BDA-1F21667A0550}"/>
                  </a:ext>
                </a:extLst>
              </p:cNvPr>
              <p:cNvCxnSpPr/>
              <p:nvPr/>
            </p:nvCxnSpPr>
            <p:spPr>
              <a:xfrm flipV="1">
                <a:off x="1962710" y="2544966"/>
                <a:ext cx="697363" cy="125716"/>
              </a:xfrm>
              <a:prstGeom prst="straightConnector1">
                <a:avLst/>
              </a:prstGeom>
              <a:ln w="38100"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4FE1512-DD50-174A-FF0E-A86CB8B57D9A}"/>
                </a:ext>
              </a:extLst>
            </p:cNvPr>
            <p:cNvCxnSpPr>
              <a:cxnSpLocks/>
              <a:stCxn id="24" idx="5"/>
            </p:cNvCxnSpPr>
            <p:nvPr/>
          </p:nvCxnSpPr>
          <p:spPr>
            <a:xfrm>
              <a:off x="4445615" y="2448568"/>
              <a:ext cx="347424" cy="333003"/>
            </a:xfrm>
            <a:prstGeom prst="straightConnector1">
              <a:avLst/>
            </a:prstGeom>
            <a:ln w="38100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AC0C845-42AD-0B0F-2C8A-F32B89370D2D}"/>
                </a:ext>
              </a:extLst>
            </p:cNvPr>
            <p:cNvCxnSpPr>
              <a:cxnSpLocks/>
            </p:cNvCxnSpPr>
            <p:nvPr/>
          </p:nvCxnSpPr>
          <p:spPr>
            <a:xfrm>
              <a:off x="4915565" y="2994143"/>
              <a:ext cx="127733" cy="434857"/>
            </a:xfrm>
            <a:prstGeom prst="straightConnector1">
              <a:avLst/>
            </a:prstGeom>
            <a:ln w="38100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itle 1">
            <a:extLst>
              <a:ext uri="{FF2B5EF4-FFF2-40B4-BE49-F238E27FC236}">
                <a16:creationId xmlns:a16="http://schemas.microsoft.com/office/drawing/2014/main" id="{818CD97B-6B8C-FE2F-FF81-CA980E700BE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Equations of state</a:t>
            </a:r>
          </a:p>
        </p:txBody>
      </p:sp>
    </p:spTree>
    <p:extLst>
      <p:ext uri="{BB962C8B-B14F-4D97-AF65-F5344CB8AC3E}">
        <p14:creationId xmlns:p14="http://schemas.microsoft.com/office/powerpoint/2010/main" val="186657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2781" y="653986"/>
                <a:ext cx="11365604" cy="3253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Imagine an equation of state that says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𝑛𝑏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3/2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. Which formula below gives the correct result with a minimum number of parentheses?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(n*R*T/V-n*b) - n**2*a/V**(3/2)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n*R*T/(V-n*b) - n**2*a/V**3/2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n*R*T/(V-n*b) - (n**2)*a/V**(3/2)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n*R*T/(V-n*b) - n**2*a/V**(3/2)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1" y="653986"/>
                <a:ext cx="11365604" cy="3253839"/>
              </a:xfrm>
              <a:prstGeom prst="rect">
                <a:avLst/>
              </a:prstGeom>
              <a:blipFill>
                <a:blip r:embed="rId3"/>
                <a:stretch>
                  <a:fillRect l="-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477F8678-0BE8-1AF5-56C0-6DAE18A079E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Order of operations</a:t>
            </a:r>
          </a:p>
        </p:txBody>
      </p:sp>
    </p:spTree>
    <p:extLst>
      <p:ext uri="{BB962C8B-B14F-4D97-AF65-F5344CB8AC3E}">
        <p14:creationId xmlns:p14="http://schemas.microsoft.com/office/powerpoint/2010/main" val="2793861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4A25AC05-D866-E544-9AAE-C372CF28C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61" y="2620806"/>
            <a:ext cx="4968794" cy="386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265105" y="732520"/>
            <a:ext cx="11475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Assuming grids have been organized in the way we’ve been doing it, which might give you the curve shown on the right?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A0FCA67-6FE7-A34B-9BF9-B1579E0995B0}"/>
                  </a:ext>
                </a:extLst>
              </p:cNvPr>
              <p:cNvSpPr/>
              <p:nvPr/>
            </p:nvSpPr>
            <p:spPr>
              <a:xfrm>
                <a:off x="2628253" y="3316852"/>
                <a:ext cx="9685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A0FCA67-6FE7-A34B-9BF9-B1579E0995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253" y="3316852"/>
                <a:ext cx="968535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rved Left Arrow 2">
            <a:extLst>
              <a:ext uri="{FF2B5EF4-FFF2-40B4-BE49-F238E27FC236}">
                <a16:creationId xmlns:a16="http://schemas.microsoft.com/office/drawing/2014/main" id="{137CF4D1-8A87-0088-3FFE-68382DAF17BC}"/>
              </a:ext>
            </a:extLst>
          </p:cNvPr>
          <p:cNvSpPr/>
          <p:nvPr/>
        </p:nvSpPr>
        <p:spPr>
          <a:xfrm rot="16200000">
            <a:off x="5021227" y="2422833"/>
            <a:ext cx="525704" cy="1954243"/>
          </a:xfrm>
          <a:prstGeom prst="curvedLef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AA4032-5D57-EE6D-7049-89C249579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558" y="2620806"/>
            <a:ext cx="4930385" cy="3697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B47A04A-B0F2-A4A0-6024-B8852920C50F}"/>
              </a:ext>
            </a:extLst>
          </p:cNvPr>
          <p:cNvSpPr/>
          <p:nvPr/>
        </p:nvSpPr>
        <p:spPr>
          <a:xfrm>
            <a:off x="8887905" y="3313849"/>
            <a:ext cx="205537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Pgrid</a:t>
            </a:r>
            <a:r>
              <a:rPr lang="en-US" sz="2400" dirty="0"/>
              <a:t>[:,-1]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Pgrid</a:t>
            </a:r>
            <a:r>
              <a:rPr lang="en-US" sz="2400" dirty="0"/>
              <a:t>[-1,:]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Pgrid</a:t>
            </a:r>
            <a:r>
              <a:rPr lang="en-US" sz="2400" dirty="0"/>
              <a:t>[-1,-1]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Pgrid</a:t>
            </a:r>
            <a:r>
              <a:rPr lang="en-US" sz="2400" dirty="0"/>
              <a:t>[:,:]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89741E3-EE65-09C7-944D-BC8670B3752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Slicing</a:t>
            </a:r>
          </a:p>
        </p:txBody>
      </p:sp>
    </p:spTree>
    <p:extLst>
      <p:ext uri="{BB962C8B-B14F-4D97-AF65-F5344CB8AC3E}">
        <p14:creationId xmlns:p14="http://schemas.microsoft.com/office/powerpoint/2010/main" val="2290084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4FA118B5-7773-9E91-CB6F-B0BF4CA81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79"/>
          <a:stretch/>
        </p:blipFill>
        <p:spPr bwMode="auto">
          <a:xfrm>
            <a:off x="4604901" y="2256840"/>
            <a:ext cx="4247815" cy="3751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202565" y="698246"/>
            <a:ext cx="10037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Assuming ideal gas behavior, which surface could the one on the right be?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8CF3679-8616-4C95-D410-5D533F7EA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88076"/>
            <a:ext cx="4968794" cy="3866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rved Left Arrow 10">
            <a:extLst>
              <a:ext uri="{FF2B5EF4-FFF2-40B4-BE49-F238E27FC236}">
                <a16:creationId xmlns:a16="http://schemas.microsoft.com/office/drawing/2014/main" id="{AE0AA0E2-53FF-C478-7909-189B342614B0}"/>
              </a:ext>
            </a:extLst>
          </p:cNvPr>
          <p:cNvSpPr/>
          <p:nvPr/>
        </p:nvSpPr>
        <p:spPr>
          <a:xfrm rot="16200000">
            <a:off x="4705942" y="1485674"/>
            <a:ext cx="525704" cy="1954243"/>
          </a:xfrm>
          <a:prstGeom prst="curvedLef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A4D4B30-6D17-8D25-57C7-2840AC4764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Partial derivatives (slopes) of thermodynamic surfaces, part 1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1401EE6-B838-F340-F861-D3B69CCC2A78}"/>
              </a:ext>
            </a:extLst>
          </p:cNvPr>
          <p:cNvGrpSpPr/>
          <p:nvPr/>
        </p:nvGrpSpPr>
        <p:grpSpPr>
          <a:xfrm>
            <a:off x="9459532" y="1899288"/>
            <a:ext cx="1390799" cy="3736843"/>
            <a:chOff x="10406573" y="1936855"/>
            <a:chExt cx="1390799" cy="37368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9FFC1E1D-A738-9E2F-58A1-E931E4303C23}"/>
                    </a:ext>
                  </a:extLst>
                </p:cNvPr>
                <p:cNvSpPr/>
                <p:nvPr/>
              </p:nvSpPr>
              <p:spPr>
                <a:xfrm>
                  <a:off x="10412985" y="1936855"/>
                  <a:ext cx="1312732" cy="6952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1.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b="1" dirty="0"/>
                    <a:t> 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9FFC1E1D-A738-9E2F-58A1-E931E4303C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2985" y="1936855"/>
                  <a:ext cx="1312732" cy="695255"/>
                </a:xfrm>
                <a:prstGeom prst="rect">
                  <a:avLst/>
                </a:prstGeom>
                <a:blipFill>
                  <a:blip r:embed="rId5"/>
                  <a:stretch>
                    <a:fillRect l="-7692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02E07BCD-13CC-EBFB-FA84-5629D54C1622}"/>
                    </a:ext>
                  </a:extLst>
                </p:cNvPr>
                <p:cNvSpPr/>
                <p:nvPr/>
              </p:nvSpPr>
              <p:spPr>
                <a:xfrm>
                  <a:off x="10406573" y="2935085"/>
                  <a:ext cx="1349216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2. 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02E07BCD-13CC-EBFB-FA84-5629D54C16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6573" y="2935085"/>
                  <a:ext cx="1349216" cy="693138"/>
                </a:xfrm>
                <a:prstGeom prst="rect">
                  <a:avLst/>
                </a:prstGeom>
                <a:blipFill>
                  <a:blip r:embed="rId6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6AAC263-6FC6-276E-0EE8-C162337E08F3}"/>
                    </a:ext>
                  </a:extLst>
                </p:cNvPr>
                <p:cNvSpPr/>
                <p:nvPr/>
              </p:nvSpPr>
              <p:spPr>
                <a:xfrm>
                  <a:off x="10446618" y="3934085"/>
                  <a:ext cx="1295098" cy="6952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6AAC263-6FC6-276E-0EE8-C162337E08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3934085"/>
                  <a:ext cx="1295098" cy="695255"/>
                </a:xfrm>
                <a:prstGeom prst="rect">
                  <a:avLst/>
                </a:prstGeom>
                <a:blipFill>
                  <a:blip r:embed="rId7"/>
                  <a:stretch>
                    <a:fillRect l="-962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62D35EF-A081-054F-A7EB-0AC892EC8F28}"/>
                    </a:ext>
                  </a:extLst>
                </p:cNvPr>
                <p:cNvSpPr/>
                <p:nvPr/>
              </p:nvSpPr>
              <p:spPr>
                <a:xfrm>
                  <a:off x="10446618" y="4980560"/>
                  <a:ext cx="1350754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62D35EF-A081-054F-A7EB-0AC892EC8F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4980560"/>
                  <a:ext cx="1350754" cy="693138"/>
                </a:xfrm>
                <a:prstGeom prst="rect">
                  <a:avLst/>
                </a:prstGeom>
                <a:blipFill>
                  <a:blip r:embed="rId8"/>
                  <a:stretch>
                    <a:fillRect l="-926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89251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207297" y="702835"/>
            <a:ext cx="10037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Assuming ideal gas behavior, which thermodynamic surface could this be?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AB3795E-68E9-E04E-BD9E-4B70E50D14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36"/>
          <a:stretch/>
        </p:blipFill>
        <p:spPr bwMode="auto">
          <a:xfrm>
            <a:off x="1807443" y="1462350"/>
            <a:ext cx="5760419" cy="486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E592541-14C9-AE57-D5C8-F085C4E4D92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Partial derivatives (slopes) of thermodynamic surfaces, part 2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7C823A9-BAF4-9E48-5EF3-60768D22A91E}"/>
              </a:ext>
            </a:extLst>
          </p:cNvPr>
          <p:cNvGrpSpPr/>
          <p:nvPr/>
        </p:nvGrpSpPr>
        <p:grpSpPr>
          <a:xfrm>
            <a:off x="9459532" y="1899288"/>
            <a:ext cx="1390799" cy="3736843"/>
            <a:chOff x="10406573" y="1936855"/>
            <a:chExt cx="1390799" cy="37368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192C654-FCF9-CF27-AE6E-C0F0E213C721}"/>
                    </a:ext>
                  </a:extLst>
                </p:cNvPr>
                <p:cNvSpPr/>
                <p:nvPr/>
              </p:nvSpPr>
              <p:spPr>
                <a:xfrm>
                  <a:off x="10412985" y="1936855"/>
                  <a:ext cx="1312732" cy="6952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1.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b="1" dirty="0"/>
                    <a:t> 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192C654-FCF9-CF27-AE6E-C0F0E213C7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2985" y="1936855"/>
                  <a:ext cx="1312732" cy="695255"/>
                </a:xfrm>
                <a:prstGeom prst="rect">
                  <a:avLst/>
                </a:prstGeom>
                <a:blipFill>
                  <a:blip r:embed="rId4"/>
                  <a:stretch>
                    <a:fillRect l="-7692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2612DD71-51B1-50EC-BEC4-8472C6C5310A}"/>
                    </a:ext>
                  </a:extLst>
                </p:cNvPr>
                <p:cNvSpPr/>
                <p:nvPr/>
              </p:nvSpPr>
              <p:spPr>
                <a:xfrm>
                  <a:off x="10406573" y="2935085"/>
                  <a:ext cx="1349216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2. 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2612DD71-51B1-50EC-BEC4-8472C6C531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6573" y="2935085"/>
                  <a:ext cx="1349216" cy="693138"/>
                </a:xfrm>
                <a:prstGeom prst="rect">
                  <a:avLst/>
                </a:prstGeom>
                <a:blipFill>
                  <a:blip r:embed="rId5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70F06C2-1417-F7DE-7B46-01F22478168F}"/>
                    </a:ext>
                  </a:extLst>
                </p:cNvPr>
                <p:cNvSpPr/>
                <p:nvPr/>
              </p:nvSpPr>
              <p:spPr>
                <a:xfrm>
                  <a:off x="10446618" y="3934085"/>
                  <a:ext cx="1295098" cy="6952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70F06C2-1417-F7DE-7B46-01F2247816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3934085"/>
                  <a:ext cx="1295098" cy="695255"/>
                </a:xfrm>
                <a:prstGeom prst="rect">
                  <a:avLst/>
                </a:prstGeom>
                <a:blipFill>
                  <a:blip r:embed="rId6"/>
                  <a:stretch>
                    <a:fillRect l="-962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EE200DD-4F24-D63C-C520-D19A58C99B23}"/>
                    </a:ext>
                  </a:extLst>
                </p:cNvPr>
                <p:cNvSpPr/>
                <p:nvPr/>
              </p:nvSpPr>
              <p:spPr>
                <a:xfrm>
                  <a:off x="10446618" y="4980560"/>
                  <a:ext cx="1350754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EE200DD-4F24-D63C-C520-D19A58C99B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4980560"/>
                  <a:ext cx="1350754" cy="693138"/>
                </a:xfrm>
                <a:prstGeom prst="rect">
                  <a:avLst/>
                </a:prstGeom>
                <a:blipFill>
                  <a:blip r:embed="rId7"/>
                  <a:stretch>
                    <a:fillRect l="-926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6789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12859" y="739902"/>
                <a:ext cx="11178406" cy="4505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/>
                  <a:t>Suppose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𝑛𝑏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𝑛𝑏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400" dirty="0"/>
                  <a:t>. Find the algebraic expression corresponding to one of these (your choice):</a:t>
                </a: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dirty="0"/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i="1" dirty="0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59" y="739902"/>
                <a:ext cx="11178406" cy="4505079"/>
              </a:xfrm>
              <a:prstGeom prst="rect">
                <a:avLst/>
              </a:prstGeom>
              <a:blipFill>
                <a:blip r:embed="rId3"/>
                <a:stretch>
                  <a:fillRect l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D4A3991D-CE9E-9C0E-BDA5-4E2AF711265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Calculus of partial derivatives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5ADC3CE-D4EE-F510-8DC8-0D9E99D01D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26" t="18141" r="16421" b="8125"/>
          <a:stretch/>
        </p:blipFill>
        <p:spPr bwMode="auto">
          <a:xfrm>
            <a:off x="7704038" y="3793953"/>
            <a:ext cx="1856419" cy="164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28B0027-8D4B-2A79-1200-3E2D5D3D7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34" t="15477" r="16178" b="5399"/>
          <a:stretch/>
        </p:blipFill>
        <p:spPr bwMode="auto">
          <a:xfrm>
            <a:off x="7672173" y="1416436"/>
            <a:ext cx="1920150" cy="188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329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0762" y="591671"/>
                <a:ext cx="115875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 are the units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62" y="591671"/>
                <a:ext cx="11587542" cy="461665"/>
              </a:xfrm>
              <a:prstGeom prst="rect">
                <a:avLst/>
              </a:prstGeom>
              <a:blipFill>
                <a:blip r:embed="rId5"/>
                <a:stretch>
                  <a:fillRect l="-767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124EDC97-B1B3-4043-BE59-4FDCC7C601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4132" y="3174013"/>
            <a:ext cx="1856541" cy="199799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0A69D23-44FE-A1BB-BD4B-4C0BE37A9C0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Probability densities, part 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FABA97-16ED-E36D-78CE-3DBA535B0F60}"/>
              </a:ext>
            </a:extLst>
          </p:cNvPr>
          <p:cNvGrpSpPr/>
          <p:nvPr/>
        </p:nvGrpSpPr>
        <p:grpSpPr>
          <a:xfrm>
            <a:off x="772160" y="1368953"/>
            <a:ext cx="6121761" cy="5180755"/>
            <a:chOff x="772160" y="1368953"/>
            <a:chExt cx="6121761" cy="518075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B4026DB-5731-1D22-9D7B-343B3114E916}"/>
                </a:ext>
              </a:extLst>
            </p:cNvPr>
            <p:cNvGrpSpPr/>
            <p:nvPr/>
          </p:nvGrpSpPr>
          <p:grpSpPr>
            <a:xfrm>
              <a:off x="772160" y="1631480"/>
              <a:ext cx="6121761" cy="4918228"/>
              <a:chOff x="772160" y="1631480"/>
              <a:chExt cx="6121761" cy="491822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0B8AAF87-AD23-4631-713D-83FD27B367AA}"/>
                  </a:ext>
                </a:extLst>
              </p:cNvPr>
              <p:cNvGrpSpPr/>
              <p:nvPr/>
            </p:nvGrpSpPr>
            <p:grpSpPr>
              <a:xfrm>
                <a:off x="772160" y="1631480"/>
                <a:ext cx="6121761" cy="4730607"/>
                <a:chOff x="6531419" y="3429000"/>
                <a:chExt cx="4281264" cy="3133165"/>
              </a:xfrm>
            </p:grpSpPr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550A9DD6-1B5D-E088-750C-AA072F8B48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9231" t="22895"/>
                <a:stretch/>
              </p:blipFill>
              <p:spPr>
                <a:xfrm>
                  <a:off x="6531419" y="3918250"/>
                  <a:ext cx="4281264" cy="2643915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843CBA8A-195C-0474-C291-13D08B2621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37220" y="3429000"/>
                  <a:ext cx="1066800" cy="558800"/>
                </a:xfrm>
                <a:prstGeom prst="rect">
                  <a:avLst/>
                </a:prstGeom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0B0AC0F2-A110-9D58-7C8B-26DF42DD54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45630" y="5024120"/>
                  <a:ext cx="1066800" cy="558800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EE6FA15C-1BF8-6AE8-931F-015C3D52AAC1}"/>
                      </a:ext>
                    </a:extLst>
                  </p:cNvPr>
                  <p:cNvSpPr txBox="1"/>
                  <p:nvPr/>
                </p:nvSpPr>
                <p:spPr>
                  <a:xfrm>
                    <a:off x="3269091" y="5982950"/>
                    <a:ext cx="1472540" cy="56675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EE6FA15C-1BF8-6AE8-931F-015C3D52AA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9091" y="5982950"/>
                    <a:ext cx="1472540" cy="56675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217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71118D5-8C35-45DA-8FBA-56582E5A19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b="35678"/>
            <a:stretch/>
          </p:blipFill>
          <p:spPr>
            <a:xfrm>
              <a:off x="1642643" y="1368953"/>
              <a:ext cx="3886448" cy="9588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4485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160762" y="591671"/>
            <a:ext cx="11587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Which graph below corresponds to the </a:t>
            </a:r>
            <a:r>
              <a:rPr lang="en-US" sz="2400" b="1" dirty="0"/>
              <a:t>lighter</a:t>
            </a:r>
            <a:r>
              <a:rPr lang="en-US" sz="2400" dirty="0"/>
              <a:t> molecule?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4EDC97-B1B3-4043-BE59-4FDCC7C60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132" y="3174013"/>
            <a:ext cx="1856541" cy="199799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6BF17FE-864E-9B34-E12F-3DA274F846A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Probability densities, part 2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40BE47E-9490-6BA3-69DA-F84F1D07D34C}"/>
              </a:ext>
            </a:extLst>
          </p:cNvPr>
          <p:cNvGrpSpPr/>
          <p:nvPr/>
        </p:nvGrpSpPr>
        <p:grpSpPr>
          <a:xfrm>
            <a:off x="772160" y="1368953"/>
            <a:ext cx="6121761" cy="5180755"/>
            <a:chOff x="772160" y="1368953"/>
            <a:chExt cx="6121761" cy="51807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2AA11D5-EDF7-1850-A7A6-BD395EB77D22}"/>
                </a:ext>
              </a:extLst>
            </p:cNvPr>
            <p:cNvGrpSpPr/>
            <p:nvPr/>
          </p:nvGrpSpPr>
          <p:grpSpPr>
            <a:xfrm>
              <a:off x="772160" y="1631480"/>
              <a:ext cx="6121761" cy="4918228"/>
              <a:chOff x="772160" y="1631480"/>
              <a:chExt cx="6121761" cy="4918228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A7ACD12-2A6D-4C4B-833A-3F909AC9BB7D}"/>
                  </a:ext>
                </a:extLst>
              </p:cNvPr>
              <p:cNvGrpSpPr/>
              <p:nvPr/>
            </p:nvGrpSpPr>
            <p:grpSpPr>
              <a:xfrm>
                <a:off x="772160" y="1631480"/>
                <a:ext cx="6121761" cy="4730607"/>
                <a:chOff x="6531419" y="3429000"/>
                <a:chExt cx="4281264" cy="3133165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CDC3A9BD-A0A9-0740-8AD2-1927629B1C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9231" t="22895"/>
                <a:stretch/>
              </p:blipFill>
              <p:spPr>
                <a:xfrm>
                  <a:off x="6531419" y="3918250"/>
                  <a:ext cx="4281264" cy="2643915"/>
                </a:xfrm>
                <a:prstGeom prst="rect">
                  <a:avLst/>
                </a:prstGeom>
              </p:spPr>
            </p:pic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51A4B2E1-D52C-CF4E-9EF2-0B0922A3C7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37220" y="3429000"/>
                  <a:ext cx="1066800" cy="558800"/>
                </a:xfrm>
                <a:prstGeom prst="rect">
                  <a:avLst/>
                </a:prstGeom>
              </p:spPr>
            </p:pic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4DFA010B-8DE2-1142-8E60-0C708E64B0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45630" y="5024120"/>
                  <a:ext cx="1066800" cy="558800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521F738A-4926-7D0D-FF35-BDE5EAB6A21E}"/>
                      </a:ext>
                    </a:extLst>
                  </p:cNvPr>
                  <p:cNvSpPr txBox="1"/>
                  <p:nvPr/>
                </p:nvSpPr>
                <p:spPr>
                  <a:xfrm>
                    <a:off x="3269091" y="5982950"/>
                    <a:ext cx="1472540" cy="56675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f>
                            <m:f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num>
                            <m:den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den>
                          </m:f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521F738A-4926-7D0D-FF35-BDE5EAB6A2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69091" y="5982950"/>
                    <a:ext cx="1472540" cy="56675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217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84204DF-B273-6E62-28F5-CCD190EF24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35678"/>
            <a:stretch/>
          </p:blipFill>
          <p:spPr>
            <a:xfrm>
              <a:off x="1642643" y="1368953"/>
              <a:ext cx="3886448" cy="9588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0051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09DCDD2C-EEC3-FB56-869E-5CD947BBC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938" y="1265304"/>
            <a:ext cx="7888184" cy="525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115747" y="591671"/>
            <a:ext cx="11772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What’s the probability (as a </a:t>
            </a:r>
            <a:r>
              <a:rPr lang="en-US" sz="2400" b="1" dirty="0"/>
              <a:t>fraction</a:t>
            </a:r>
            <a:r>
              <a:rPr lang="en-US" sz="2400" dirty="0"/>
              <a:t>, and also </a:t>
            </a:r>
            <a:r>
              <a:rPr lang="en-US" sz="2400" b="1" dirty="0"/>
              <a:t>in %</a:t>
            </a:r>
            <a:r>
              <a:rPr lang="en-US" sz="2400" dirty="0"/>
              <a:t>) of finding a Neon gas atom with speed between 740 m/s and 760 m/s?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A8C6087-89E4-AF0D-E6FE-1C6E6ECDBB7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Probabilities from probability densities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34D24A-95D9-1161-1060-301F0D569F17}"/>
              </a:ext>
            </a:extLst>
          </p:cNvPr>
          <p:cNvGrpSpPr/>
          <p:nvPr/>
        </p:nvGrpSpPr>
        <p:grpSpPr>
          <a:xfrm>
            <a:off x="762742" y="3165510"/>
            <a:ext cx="6578263" cy="3393271"/>
            <a:chOff x="1083375" y="3025660"/>
            <a:chExt cx="5840864" cy="27218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DE5421AF-BF0A-0042-B5B3-56916AC3D9C8}"/>
                    </a:ext>
                  </a:extLst>
                </p:cNvPr>
                <p:cNvSpPr/>
                <p:nvPr/>
              </p:nvSpPr>
              <p:spPr>
                <a:xfrm>
                  <a:off x="1083375" y="3025660"/>
                  <a:ext cx="1549335" cy="58490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</m:oMath>
                  </a14:m>
                  <a:r>
                    <a:rPr lang="en-US" sz="2400" dirty="0"/>
                    <a:t> </a:t>
                  </a:r>
                  <a14:m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r>
                        <a:rPr lang="en-US" sz="2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DE5421AF-BF0A-0042-B5B3-56916AC3D9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375" y="3025660"/>
                  <a:ext cx="1549335" cy="584904"/>
                </a:xfrm>
                <a:prstGeom prst="rect">
                  <a:avLst/>
                </a:prstGeom>
                <a:blipFill>
                  <a:blip r:embed="rId4"/>
                  <a:stretch>
                    <a:fillRect l="-289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BCA62C48-0049-FA4F-8E37-9B388F6558C9}"/>
                    </a:ext>
                  </a:extLst>
                </p:cNvPr>
                <p:cNvSpPr txBox="1"/>
                <p:nvPr/>
              </p:nvSpPr>
              <p:spPr>
                <a:xfrm>
                  <a:off x="5451699" y="5278334"/>
                  <a:ext cx="1472540" cy="46916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b="1" dirty="0"/>
                    <a:t> </a:t>
                  </a: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BCA62C48-0049-FA4F-8E37-9B388F6558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1699" y="5278334"/>
                  <a:ext cx="1472540" cy="469169"/>
                </a:xfrm>
                <a:prstGeom prst="rect">
                  <a:avLst/>
                </a:prstGeom>
                <a:blipFill>
                  <a:blip r:embed="rId5"/>
                  <a:stretch>
                    <a:fillRect b="-21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2981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162781" y="653986"/>
                <a:ext cx="84094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Which Gaussian integral below would you use to find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400" dirty="0"/>
                  <a:t>?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81" y="653986"/>
                <a:ext cx="8409446" cy="461665"/>
              </a:xfrm>
              <a:prstGeom prst="rect">
                <a:avLst/>
              </a:prstGeom>
              <a:blipFill>
                <a:blip r:embed="rId3"/>
                <a:stretch>
                  <a:fillRect l="-1056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FC4E9C2-2558-534A-95F5-7112BFDDBE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520" t="11406" r="21348" b="64728"/>
          <a:stretch/>
        </p:blipFill>
        <p:spPr>
          <a:xfrm>
            <a:off x="162781" y="1641318"/>
            <a:ext cx="7887472" cy="3575363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FD080C1-FA0F-3941-9B72-20A933C180D1}"/>
                  </a:ext>
                </a:extLst>
              </p:cNvPr>
              <p:cNvSpPr/>
              <p:nvPr/>
            </p:nvSpPr>
            <p:spPr>
              <a:xfrm>
                <a:off x="8572227" y="1857427"/>
                <a:ext cx="2924006" cy="4397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sSup>
                        <m:sSup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func>
                        <m:func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𝐞𝐱𝐩</m:t>
                          </m:r>
                        </m:fName>
                        <m:e>
                          <m:d>
                            <m:d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sSup>
                                <m:sSup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FD080C1-FA0F-3941-9B72-20A933C180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27" y="1857427"/>
                <a:ext cx="2924006" cy="439736"/>
              </a:xfrm>
              <a:prstGeom prst="rect">
                <a:avLst/>
              </a:prstGeom>
              <a:blipFill>
                <a:blip r:embed="rId6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EBB8CB65-1993-83E0-094C-0B8C19895A9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Analytical moments of the speed</a:t>
            </a:r>
          </a:p>
        </p:txBody>
      </p:sp>
    </p:spTree>
    <p:extLst>
      <p:ext uri="{BB962C8B-B14F-4D97-AF65-F5344CB8AC3E}">
        <p14:creationId xmlns:p14="http://schemas.microsoft.com/office/powerpoint/2010/main" val="564617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4E6855-6609-0341-842E-71E36BE9927A}"/>
                  </a:ext>
                </a:extLst>
              </p:cNvPr>
              <p:cNvSpPr txBox="1"/>
              <p:nvPr/>
            </p:nvSpPr>
            <p:spPr>
              <a:xfrm>
                <a:off x="133050" y="821344"/>
                <a:ext cx="11489455" cy="1352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According to the equipartition theorem, each rotational and translational degree of freedom is said to get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𝑅𝑇</m:t>
                    </m:r>
                  </m:oMath>
                </a14:m>
                <a:r>
                  <a:rPr lang="en-US" sz="2400" dirty="0"/>
                  <a:t> of energy, but each vibrational degree of freedom gets twice that,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𝑅𝑇</m:t>
                    </m:r>
                  </m:oMath>
                </a14:m>
                <a:r>
                  <a:rPr lang="en-US" sz="2400" dirty="0"/>
                  <a:t>. Why twice?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4E6855-6609-0341-842E-71E36BE99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50" y="821344"/>
                <a:ext cx="11489455" cy="1352550"/>
              </a:xfrm>
              <a:prstGeom prst="rect">
                <a:avLst/>
              </a:prstGeom>
              <a:blipFill>
                <a:blip r:embed="rId3"/>
                <a:stretch>
                  <a:fillRect l="-883" t="-3704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57E69049-E833-8848-8456-53F29EB193A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9167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767B5A-3658-B34C-06BE-5C177397AE1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Equipartition</a:t>
            </a:r>
          </a:p>
        </p:txBody>
      </p:sp>
    </p:spTree>
    <p:extLst>
      <p:ext uri="{BB962C8B-B14F-4D97-AF65-F5344CB8AC3E}">
        <p14:creationId xmlns:p14="http://schemas.microsoft.com/office/powerpoint/2010/main" val="3571891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0B8D4D-5FC8-78B2-987D-7678D0179AEF}"/>
              </a:ext>
            </a:extLst>
          </p:cNvPr>
          <p:cNvGrpSpPr>
            <a:grpSpLocks noChangeAspect="1"/>
          </p:cNvGrpSpPr>
          <p:nvPr/>
        </p:nvGrpSpPr>
        <p:grpSpPr>
          <a:xfrm>
            <a:off x="124791" y="4997510"/>
            <a:ext cx="5908632" cy="508478"/>
            <a:chOff x="1236705" y="5667461"/>
            <a:chExt cx="8339781" cy="7176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E471C15-2128-95E1-7B10-B0F9D4E90079}"/>
                    </a:ext>
                  </a:extLst>
                </p:cNvPr>
                <p:cNvSpPr txBox="1"/>
                <p:nvPr/>
              </p:nvSpPr>
              <p:spPr>
                <a:xfrm>
                  <a:off x="7784757" y="5733535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E471C15-2128-95E1-7B10-B0F9D4E900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4757" y="5733535"/>
                  <a:ext cx="1791729" cy="651620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6F7A0A-4302-8C25-16A8-A22E7DB5E15D}"/>
                    </a:ext>
                  </a:extLst>
                </p:cNvPr>
                <p:cNvSpPr txBox="1"/>
                <p:nvPr/>
              </p:nvSpPr>
              <p:spPr>
                <a:xfrm>
                  <a:off x="4510731" y="5704531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6F7A0A-4302-8C25-16A8-A22E7DB5E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0731" y="5704531"/>
                  <a:ext cx="1791729" cy="6516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4A4B2C-8584-3672-1713-5E30280C22BB}"/>
                    </a:ext>
                  </a:extLst>
                </p:cNvPr>
                <p:cNvSpPr txBox="1"/>
                <p:nvPr/>
              </p:nvSpPr>
              <p:spPr>
                <a:xfrm>
                  <a:off x="1236705" y="5667461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4A4B2C-8584-3672-1713-5E30280C22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6705" y="5667461"/>
                  <a:ext cx="1791729" cy="6516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DDC3C5D-1415-EA2A-5926-E6FD86C38908}"/>
              </a:ext>
            </a:extLst>
          </p:cNvPr>
          <p:cNvGrpSpPr>
            <a:grpSpLocks noChangeAspect="1"/>
          </p:cNvGrpSpPr>
          <p:nvPr/>
        </p:nvGrpSpPr>
        <p:grpSpPr>
          <a:xfrm>
            <a:off x="515803" y="1682016"/>
            <a:ext cx="6157785" cy="2961173"/>
            <a:chOff x="1626972" y="889686"/>
            <a:chExt cx="9152239" cy="4401154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93B0F22-B989-B0F7-0F63-3200ED2E728F}"/>
                </a:ext>
              </a:extLst>
            </p:cNvPr>
            <p:cNvGrpSpPr/>
            <p:nvPr/>
          </p:nvGrpSpPr>
          <p:grpSpPr>
            <a:xfrm>
              <a:off x="8175024" y="1145058"/>
              <a:ext cx="1029729" cy="4118921"/>
              <a:chOff x="8175024" y="1145058"/>
              <a:chExt cx="1029729" cy="411892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6B7CAA-30BD-F8E0-94BC-E4D57521C788}"/>
                  </a:ext>
                </a:extLst>
              </p:cNvPr>
              <p:cNvCxnSpPr/>
              <p:nvPr/>
            </p:nvCxnSpPr>
            <p:spPr>
              <a:xfrm>
                <a:off x="8175024" y="526397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3F740D8-FED4-3083-CA49-55C17908895C}"/>
                  </a:ext>
                </a:extLst>
              </p:cNvPr>
              <p:cNvCxnSpPr/>
              <p:nvPr/>
            </p:nvCxnSpPr>
            <p:spPr>
              <a:xfrm>
                <a:off x="8193559" y="319216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367C285-1D0B-CC06-7226-9D9AAA646D3F}"/>
                  </a:ext>
                </a:extLst>
              </p:cNvPr>
              <p:cNvCxnSpPr/>
              <p:nvPr/>
            </p:nvCxnSpPr>
            <p:spPr>
              <a:xfrm>
                <a:off x="8175024" y="1145058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Up Arrow 34">
              <a:extLst>
                <a:ext uri="{FF2B5EF4-FFF2-40B4-BE49-F238E27FC236}">
                  <a16:creationId xmlns:a16="http://schemas.microsoft.com/office/drawing/2014/main" id="{115AC60A-8713-B77D-CA00-0D8B36DC1ACD}"/>
                </a:ext>
              </a:extLst>
            </p:cNvPr>
            <p:cNvSpPr/>
            <p:nvPr/>
          </p:nvSpPr>
          <p:spPr>
            <a:xfrm>
              <a:off x="5945660" y="3830600"/>
              <a:ext cx="494270" cy="1441617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3368996-4A1A-1ED2-DB9C-F01254297C43}"/>
                    </a:ext>
                  </a:extLst>
                </p:cNvPr>
                <p:cNvSpPr txBox="1"/>
                <p:nvPr/>
              </p:nvSpPr>
              <p:spPr>
                <a:xfrm>
                  <a:off x="9827741" y="4220683"/>
                  <a:ext cx="951470" cy="7838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𝑅𝑇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3368996-4A1A-1ED2-DB9C-F01254297C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7741" y="4220683"/>
                  <a:ext cx="951470" cy="783804"/>
                </a:xfrm>
                <a:prstGeom prst="rect">
                  <a:avLst/>
                </a:prstGeom>
                <a:blipFill>
                  <a:blip r:embed="rId6"/>
                  <a:stretch>
                    <a:fillRect l="-1961" r="-23529" b="-5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Up Arrow 38">
              <a:extLst>
                <a:ext uri="{FF2B5EF4-FFF2-40B4-BE49-F238E27FC236}">
                  <a16:creationId xmlns:a16="http://schemas.microsoft.com/office/drawing/2014/main" id="{A72F7681-17A2-84C2-3CC2-66CF10288246}"/>
                </a:ext>
              </a:extLst>
            </p:cNvPr>
            <p:cNvSpPr/>
            <p:nvPr/>
          </p:nvSpPr>
          <p:spPr>
            <a:xfrm>
              <a:off x="9234616" y="3830600"/>
              <a:ext cx="494270" cy="1449682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Up Arrow 39">
              <a:extLst>
                <a:ext uri="{FF2B5EF4-FFF2-40B4-BE49-F238E27FC236}">
                  <a16:creationId xmlns:a16="http://schemas.microsoft.com/office/drawing/2014/main" id="{6AFE4695-64D0-8D97-91B9-0F0E212ACAB5}"/>
                </a:ext>
              </a:extLst>
            </p:cNvPr>
            <p:cNvSpPr/>
            <p:nvPr/>
          </p:nvSpPr>
          <p:spPr>
            <a:xfrm>
              <a:off x="2877065" y="3830600"/>
              <a:ext cx="494270" cy="1460240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FEF9A81-D505-023F-AD9C-A97B73E6C6F5}"/>
                </a:ext>
              </a:extLst>
            </p:cNvPr>
            <p:cNvGrpSpPr/>
            <p:nvPr/>
          </p:nvGrpSpPr>
          <p:grpSpPr>
            <a:xfrm>
              <a:off x="4835611" y="889686"/>
              <a:ext cx="1011194" cy="4386650"/>
              <a:chOff x="4835611" y="889686"/>
              <a:chExt cx="1011194" cy="4386650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EE51DB65-198F-82E9-C616-48868D190F7B}"/>
                  </a:ext>
                </a:extLst>
              </p:cNvPr>
              <p:cNvCxnSpPr/>
              <p:nvPr/>
            </p:nvCxnSpPr>
            <p:spPr>
              <a:xfrm>
                <a:off x="4835611" y="5276336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E7D4D64C-F7EA-8872-00C9-E498E8834F3C}"/>
                  </a:ext>
                </a:extLst>
              </p:cNvPr>
              <p:cNvCxnSpPr/>
              <p:nvPr/>
            </p:nvCxnSpPr>
            <p:spPr>
              <a:xfrm>
                <a:off x="4835611" y="465025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6E3FD980-DB84-1E42-1B9A-48509EE30123}"/>
                  </a:ext>
                </a:extLst>
              </p:cNvPr>
              <p:cNvCxnSpPr/>
              <p:nvPr/>
            </p:nvCxnSpPr>
            <p:spPr>
              <a:xfrm>
                <a:off x="4835611" y="4026244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B64C3C3-A284-69D5-E1CB-45098E245596}"/>
                  </a:ext>
                </a:extLst>
              </p:cNvPr>
              <p:cNvCxnSpPr/>
              <p:nvPr/>
            </p:nvCxnSpPr>
            <p:spPr>
              <a:xfrm>
                <a:off x="4835611" y="340016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4E30B906-CE97-1258-CA55-6C87330C139A}"/>
                  </a:ext>
                </a:extLst>
              </p:cNvPr>
              <p:cNvCxnSpPr/>
              <p:nvPr/>
            </p:nvCxnSpPr>
            <p:spPr>
              <a:xfrm>
                <a:off x="4835611" y="275967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890AB27-C58A-8083-C0D5-CF43B6D39223}"/>
                  </a:ext>
                </a:extLst>
              </p:cNvPr>
              <p:cNvCxnSpPr/>
              <p:nvPr/>
            </p:nvCxnSpPr>
            <p:spPr>
              <a:xfrm>
                <a:off x="4835611" y="2133600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8876357-ED45-2C33-F004-11434A747E47}"/>
                  </a:ext>
                </a:extLst>
              </p:cNvPr>
              <p:cNvCxnSpPr/>
              <p:nvPr/>
            </p:nvCxnSpPr>
            <p:spPr>
              <a:xfrm>
                <a:off x="4835611" y="151576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05827E3-7487-7B57-49AE-9BDB2617FA7A}"/>
                  </a:ext>
                </a:extLst>
              </p:cNvPr>
              <p:cNvCxnSpPr/>
              <p:nvPr/>
            </p:nvCxnSpPr>
            <p:spPr>
              <a:xfrm>
                <a:off x="4835611" y="889686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5602657-5CBF-1182-2B58-D93296AB6BE3}"/>
                </a:ext>
              </a:extLst>
            </p:cNvPr>
            <p:cNvGrpSpPr/>
            <p:nvPr/>
          </p:nvGrpSpPr>
          <p:grpSpPr>
            <a:xfrm>
              <a:off x="1626972" y="951469"/>
              <a:ext cx="1011195" cy="4320748"/>
              <a:chOff x="1626972" y="951469"/>
              <a:chExt cx="1011195" cy="4320748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D63EB84-6CE0-55D8-114F-EDC9DCE487DE}"/>
                  </a:ext>
                </a:extLst>
              </p:cNvPr>
              <p:cNvCxnSpPr/>
              <p:nvPr/>
            </p:nvCxnSpPr>
            <p:spPr>
              <a:xfrm>
                <a:off x="1626973" y="527221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5A0A0F4-C661-0B7A-16BC-2AC4B16A6991}"/>
                  </a:ext>
                </a:extLst>
              </p:cNvPr>
              <p:cNvCxnSpPr/>
              <p:nvPr/>
            </p:nvCxnSpPr>
            <p:spPr>
              <a:xfrm>
                <a:off x="1626973" y="500448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64EC3B3-F1DD-6C2A-981B-43063BF58CE6}"/>
                  </a:ext>
                </a:extLst>
              </p:cNvPr>
              <p:cNvCxnSpPr/>
              <p:nvPr/>
            </p:nvCxnSpPr>
            <p:spPr>
              <a:xfrm>
                <a:off x="1626973" y="472028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360BA53-A5F9-B53D-3072-6C34A35AF4F1}"/>
                  </a:ext>
                </a:extLst>
              </p:cNvPr>
              <p:cNvCxnSpPr/>
              <p:nvPr/>
            </p:nvCxnSpPr>
            <p:spPr>
              <a:xfrm>
                <a:off x="1626973" y="445255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628B3F1-352D-72FF-572F-71E0F80E8EE8}"/>
                  </a:ext>
                </a:extLst>
              </p:cNvPr>
              <p:cNvCxnSpPr/>
              <p:nvPr/>
            </p:nvCxnSpPr>
            <p:spPr>
              <a:xfrm>
                <a:off x="1626972" y="419306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84A47A2-C238-7775-15A2-57CB49897F22}"/>
                  </a:ext>
                </a:extLst>
              </p:cNvPr>
              <p:cNvCxnSpPr/>
              <p:nvPr/>
            </p:nvCxnSpPr>
            <p:spPr>
              <a:xfrm>
                <a:off x="1626972" y="392533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7A938C7-1387-3FDD-A92B-419F460B58FD}"/>
                  </a:ext>
                </a:extLst>
              </p:cNvPr>
              <p:cNvCxnSpPr/>
              <p:nvPr/>
            </p:nvCxnSpPr>
            <p:spPr>
              <a:xfrm>
                <a:off x="1626972" y="3641125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365EBD6-F6C8-569F-47C9-8FA3D2E8E301}"/>
                  </a:ext>
                </a:extLst>
              </p:cNvPr>
              <p:cNvCxnSpPr/>
              <p:nvPr/>
            </p:nvCxnSpPr>
            <p:spPr>
              <a:xfrm>
                <a:off x="1626972" y="3373395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A744A53-8189-3618-17D5-8527F2D8B6CA}"/>
                  </a:ext>
                </a:extLst>
              </p:cNvPr>
              <p:cNvCxnSpPr/>
              <p:nvPr/>
            </p:nvCxnSpPr>
            <p:spPr>
              <a:xfrm>
                <a:off x="1626972" y="312625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D1B59C4-3B4F-5BE9-AD80-4E4A904EFFA2}"/>
                  </a:ext>
                </a:extLst>
              </p:cNvPr>
              <p:cNvCxnSpPr/>
              <p:nvPr/>
            </p:nvCxnSpPr>
            <p:spPr>
              <a:xfrm>
                <a:off x="1626972" y="285852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55F8214-4EA8-01A5-82CC-604329A56C32}"/>
                  </a:ext>
                </a:extLst>
              </p:cNvPr>
              <p:cNvCxnSpPr/>
              <p:nvPr/>
            </p:nvCxnSpPr>
            <p:spPr>
              <a:xfrm>
                <a:off x="1626972" y="257432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2BE70C4-DF95-C25E-55BC-72E21E46CF64}"/>
                  </a:ext>
                </a:extLst>
              </p:cNvPr>
              <p:cNvCxnSpPr/>
              <p:nvPr/>
            </p:nvCxnSpPr>
            <p:spPr>
              <a:xfrm>
                <a:off x="1626972" y="230659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5491CA5-ED12-6CFB-F5F1-99C21FE08752}"/>
                  </a:ext>
                </a:extLst>
              </p:cNvPr>
              <p:cNvCxnSpPr/>
              <p:nvPr/>
            </p:nvCxnSpPr>
            <p:spPr>
              <a:xfrm>
                <a:off x="1626972" y="202650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F31CB8A-5B96-C7F9-5F0D-0704BBFEB9DC}"/>
                  </a:ext>
                </a:extLst>
              </p:cNvPr>
              <p:cNvCxnSpPr/>
              <p:nvPr/>
            </p:nvCxnSpPr>
            <p:spPr>
              <a:xfrm>
                <a:off x="1626972" y="175877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744C68E-D963-F273-07E1-81B6D265F70D}"/>
                  </a:ext>
                </a:extLst>
              </p:cNvPr>
              <p:cNvCxnSpPr/>
              <p:nvPr/>
            </p:nvCxnSpPr>
            <p:spPr>
              <a:xfrm>
                <a:off x="1626972" y="147457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3F5FCFC-6731-9535-93FA-0E47E482E1CD}"/>
                  </a:ext>
                </a:extLst>
              </p:cNvPr>
              <p:cNvCxnSpPr/>
              <p:nvPr/>
            </p:nvCxnSpPr>
            <p:spPr>
              <a:xfrm>
                <a:off x="1626972" y="120684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67BB0B6-A980-FA2B-A645-5AF469BECA1A}"/>
                  </a:ext>
                </a:extLst>
              </p:cNvPr>
              <p:cNvCxnSpPr/>
              <p:nvPr/>
            </p:nvCxnSpPr>
            <p:spPr>
              <a:xfrm>
                <a:off x="1626972" y="95146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7A5A66-B169-6E45-8773-25AEA98111A6}"/>
                  </a:ext>
                </a:extLst>
              </p:cNvPr>
              <p:cNvSpPr txBox="1"/>
              <p:nvPr/>
            </p:nvSpPr>
            <p:spPr>
              <a:xfrm>
                <a:off x="7189391" y="2274838"/>
                <a:ext cx="5002609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It’s probably the case that the atomic masses are such that</a:t>
                </a:r>
              </a:p>
              <a:p>
                <a:endParaRPr lang="en-US" sz="2400" dirty="0"/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heaviest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is heaviest</a:t>
                </a:r>
              </a:p>
              <a:p>
                <a:pPr marL="914400" lvl="1" indent="-457200">
                  <a:buFont typeface="+mj-lt"/>
                  <a:buAutoNum type="alphaU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400" dirty="0"/>
                  <a:t> is heaviest</a:t>
                </a:r>
              </a:p>
              <a:p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7A5A66-B169-6E45-8773-25AEA9811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391" y="2274838"/>
                <a:ext cx="5002609" cy="2677656"/>
              </a:xfrm>
              <a:prstGeom prst="rect">
                <a:avLst/>
              </a:prstGeom>
              <a:blipFill>
                <a:blip r:embed="rId7"/>
                <a:stretch>
                  <a:fillRect l="-1768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CD05D09-10C6-2EEE-EA07-933B914D16E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Heat capacities, part 1</a:t>
            </a:r>
          </a:p>
        </p:txBody>
      </p:sp>
    </p:spTree>
    <p:extLst>
      <p:ext uri="{BB962C8B-B14F-4D97-AF65-F5344CB8AC3E}">
        <p14:creationId xmlns:p14="http://schemas.microsoft.com/office/powerpoint/2010/main" val="3835008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0B8D4D-5FC8-78B2-987D-7678D0179AEF}"/>
              </a:ext>
            </a:extLst>
          </p:cNvPr>
          <p:cNvGrpSpPr>
            <a:grpSpLocks noChangeAspect="1"/>
          </p:cNvGrpSpPr>
          <p:nvPr/>
        </p:nvGrpSpPr>
        <p:grpSpPr>
          <a:xfrm>
            <a:off x="124791" y="4997510"/>
            <a:ext cx="5908632" cy="508478"/>
            <a:chOff x="1236705" y="5667461"/>
            <a:chExt cx="8339781" cy="7176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E471C15-2128-95E1-7B10-B0F9D4E90079}"/>
                    </a:ext>
                  </a:extLst>
                </p:cNvPr>
                <p:cNvSpPr txBox="1"/>
                <p:nvPr/>
              </p:nvSpPr>
              <p:spPr>
                <a:xfrm>
                  <a:off x="7784757" y="5733535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E471C15-2128-95E1-7B10-B0F9D4E900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4757" y="5733535"/>
                  <a:ext cx="1791729" cy="651620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6F7A0A-4302-8C25-16A8-A22E7DB5E15D}"/>
                    </a:ext>
                  </a:extLst>
                </p:cNvPr>
                <p:cNvSpPr txBox="1"/>
                <p:nvPr/>
              </p:nvSpPr>
              <p:spPr>
                <a:xfrm>
                  <a:off x="4510731" y="5704531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6F7A0A-4302-8C25-16A8-A22E7DB5E1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0731" y="5704531"/>
                  <a:ext cx="1791729" cy="6516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4A4B2C-8584-3672-1713-5E30280C22BB}"/>
                    </a:ext>
                  </a:extLst>
                </p:cNvPr>
                <p:cNvSpPr txBox="1"/>
                <p:nvPr/>
              </p:nvSpPr>
              <p:spPr>
                <a:xfrm>
                  <a:off x="1236705" y="5667461"/>
                  <a:ext cx="1791729" cy="651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4A4B2C-8584-3672-1713-5E30280C22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6705" y="5667461"/>
                  <a:ext cx="1791729" cy="6516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DDC3C5D-1415-EA2A-5926-E6FD86C38908}"/>
              </a:ext>
            </a:extLst>
          </p:cNvPr>
          <p:cNvGrpSpPr>
            <a:grpSpLocks noChangeAspect="1"/>
          </p:cNvGrpSpPr>
          <p:nvPr/>
        </p:nvGrpSpPr>
        <p:grpSpPr>
          <a:xfrm>
            <a:off x="515803" y="1682016"/>
            <a:ext cx="6157785" cy="2961173"/>
            <a:chOff x="1626972" y="889686"/>
            <a:chExt cx="9152239" cy="4401154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93B0F22-B989-B0F7-0F63-3200ED2E728F}"/>
                </a:ext>
              </a:extLst>
            </p:cNvPr>
            <p:cNvGrpSpPr/>
            <p:nvPr/>
          </p:nvGrpSpPr>
          <p:grpSpPr>
            <a:xfrm>
              <a:off x="8175024" y="1145058"/>
              <a:ext cx="1029729" cy="4118921"/>
              <a:chOff x="8175024" y="1145058"/>
              <a:chExt cx="1029729" cy="411892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56B7CAA-30BD-F8E0-94BC-E4D57521C788}"/>
                  </a:ext>
                </a:extLst>
              </p:cNvPr>
              <p:cNvCxnSpPr/>
              <p:nvPr/>
            </p:nvCxnSpPr>
            <p:spPr>
              <a:xfrm>
                <a:off x="8175024" y="526397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3F740D8-FED4-3083-CA49-55C17908895C}"/>
                  </a:ext>
                </a:extLst>
              </p:cNvPr>
              <p:cNvCxnSpPr/>
              <p:nvPr/>
            </p:nvCxnSpPr>
            <p:spPr>
              <a:xfrm>
                <a:off x="8193559" y="319216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367C285-1D0B-CC06-7226-9D9AAA646D3F}"/>
                  </a:ext>
                </a:extLst>
              </p:cNvPr>
              <p:cNvCxnSpPr/>
              <p:nvPr/>
            </p:nvCxnSpPr>
            <p:spPr>
              <a:xfrm>
                <a:off x="8175024" y="1145058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Up Arrow 34">
              <a:extLst>
                <a:ext uri="{FF2B5EF4-FFF2-40B4-BE49-F238E27FC236}">
                  <a16:creationId xmlns:a16="http://schemas.microsoft.com/office/drawing/2014/main" id="{115AC60A-8713-B77D-CA00-0D8B36DC1ACD}"/>
                </a:ext>
              </a:extLst>
            </p:cNvPr>
            <p:cNvSpPr/>
            <p:nvPr/>
          </p:nvSpPr>
          <p:spPr>
            <a:xfrm>
              <a:off x="5945660" y="3830600"/>
              <a:ext cx="494270" cy="1441617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3368996-4A1A-1ED2-DB9C-F01254297C43}"/>
                    </a:ext>
                  </a:extLst>
                </p:cNvPr>
                <p:cNvSpPr txBox="1"/>
                <p:nvPr/>
              </p:nvSpPr>
              <p:spPr>
                <a:xfrm>
                  <a:off x="9827741" y="4220683"/>
                  <a:ext cx="951470" cy="7838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𝑅𝑇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3368996-4A1A-1ED2-DB9C-F01254297C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7741" y="4220683"/>
                  <a:ext cx="951470" cy="783804"/>
                </a:xfrm>
                <a:prstGeom prst="rect">
                  <a:avLst/>
                </a:prstGeom>
                <a:blipFill>
                  <a:blip r:embed="rId6"/>
                  <a:stretch>
                    <a:fillRect l="-1961" r="-23529" b="-5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Up Arrow 38">
              <a:extLst>
                <a:ext uri="{FF2B5EF4-FFF2-40B4-BE49-F238E27FC236}">
                  <a16:creationId xmlns:a16="http://schemas.microsoft.com/office/drawing/2014/main" id="{A72F7681-17A2-84C2-3CC2-66CF10288246}"/>
                </a:ext>
              </a:extLst>
            </p:cNvPr>
            <p:cNvSpPr/>
            <p:nvPr/>
          </p:nvSpPr>
          <p:spPr>
            <a:xfrm>
              <a:off x="9234616" y="3830600"/>
              <a:ext cx="494270" cy="1449682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Up Arrow 39">
              <a:extLst>
                <a:ext uri="{FF2B5EF4-FFF2-40B4-BE49-F238E27FC236}">
                  <a16:creationId xmlns:a16="http://schemas.microsoft.com/office/drawing/2014/main" id="{6AFE4695-64D0-8D97-91B9-0F0E212ACAB5}"/>
                </a:ext>
              </a:extLst>
            </p:cNvPr>
            <p:cNvSpPr/>
            <p:nvPr/>
          </p:nvSpPr>
          <p:spPr>
            <a:xfrm>
              <a:off x="2877065" y="3830600"/>
              <a:ext cx="494270" cy="1460240"/>
            </a:xfrm>
            <a:prstGeom prst="up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FEF9A81-D505-023F-AD9C-A97B73E6C6F5}"/>
                </a:ext>
              </a:extLst>
            </p:cNvPr>
            <p:cNvGrpSpPr/>
            <p:nvPr/>
          </p:nvGrpSpPr>
          <p:grpSpPr>
            <a:xfrm>
              <a:off x="4835611" y="889686"/>
              <a:ext cx="1011194" cy="4386650"/>
              <a:chOff x="4835611" y="889686"/>
              <a:chExt cx="1011194" cy="4386650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EE51DB65-198F-82E9-C616-48868D190F7B}"/>
                  </a:ext>
                </a:extLst>
              </p:cNvPr>
              <p:cNvCxnSpPr/>
              <p:nvPr/>
            </p:nvCxnSpPr>
            <p:spPr>
              <a:xfrm>
                <a:off x="4835611" y="5276336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E7D4D64C-F7EA-8872-00C9-E498E8834F3C}"/>
                  </a:ext>
                </a:extLst>
              </p:cNvPr>
              <p:cNvCxnSpPr/>
              <p:nvPr/>
            </p:nvCxnSpPr>
            <p:spPr>
              <a:xfrm>
                <a:off x="4835611" y="465025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6E3FD980-DB84-1E42-1B9A-48509EE30123}"/>
                  </a:ext>
                </a:extLst>
              </p:cNvPr>
              <p:cNvCxnSpPr/>
              <p:nvPr/>
            </p:nvCxnSpPr>
            <p:spPr>
              <a:xfrm>
                <a:off x="4835611" y="4026244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B64C3C3-A284-69D5-E1CB-45098E245596}"/>
                  </a:ext>
                </a:extLst>
              </p:cNvPr>
              <p:cNvCxnSpPr/>
              <p:nvPr/>
            </p:nvCxnSpPr>
            <p:spPr>
              <a:xfrm>
                <a:off x="4835611" y="340016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4E30B906-CE97-1258-CA55-6C87330C139A}"/>
                  </a:ext>
                </a:extLst>
              </p:cNvPr>
              <p:cNvCxnSpPr/>
              <p:nvPr/>
            </p:nvCxnSpPr>
            <p:spPr>
              <a:xfrm>
                <a:off x="4835611" y="275967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6890AB27-C58A-8083-C0D5-CF43B6D39223}"/>
                  </a:ext>
                </a:extLst>
              </p:cNvPr>
              <p:cNvCxnSpPr/>
              <p:nvPr/>
            </p:nvCxnSpPr>
            <p:spPr>
              <a:xfrm>
                <a:off x="4835611" y="2133600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8876357-ED45-2C33-F004-11434A747E47}"/>
                  </a:ext>
                </a:extLst>
              </p:cNvPr>
              <p:cNvCxnSpPr/>
              <p:nvPr/>
            </p:nvCxnSpPr>
            <p:spPr>
              <a:xfrm>
                <a:off x="4835611" y="151576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05827E3-7487-7B57-49AE-9BDB2617FA7A}"/>
                  </a:ext>
                </a:extLst>
              </p:cNvPr>
              <p:cNvCxnSpPr/>
              <p:nvPr/>
            </p:nvCxnSpPr>
            <p:spPr>
              <a:xfrm>
                <a:off x="4835611" y="889686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5602657-5CBF-1182-2B58-D93296AB6BE3}"/>
                </a:ext>
              </a:extLst>
            </p:cNvPr>
            <p:cNvGrpSpPr/>
            <p:nvPr/>
          </p:nvGrpSpPr>
          <p:grpSpPr>
            <a:xfrm>
              <a:off x="1626972" y="951469"/>
              <a:ext cx="1011195" cy="4320748"/>
              <a:chOff x="1626972" y="951469"/>
              <a:chExt cx="1011195" cy="4320748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D63EB84-6CE0-55D8-114F-EDC9DCE487DE}"/>
                  </a:ext>
                </a:extLst>
              </p:cNvPr>
              <p:cNvCxnSpPr/>
              <p:nvPr/>
            </p:nvCxnSpPr>
            <p:spPr>
              <a:xfrm>
                <a:off x="1626973" y="527221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5A0A0F4-C661-0B7A-16BC-2AC4B16A6991}"/>
                  </a:ext>
                </a:extLst>
              </p:cNvPr>
              <p:cNvCxnSpPr/>
              <p:nvPr/>
            </p:nvCxnSpPr>
            <p:spPr>
              <a:xfrm>
                <a:off x="1626973" y="5004487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64EC3B3-F1DD-6C2A-981B-43063BF58CE6}"/>
                  </a:ext>
                </a:extLst>
              </p:cNvPr>
              <p:cNvCxnSpPr/>
              <p:nvPr/>
            </p:nvCxnSpPr>
            <p:spPr>
              <a:xfrm>
                <a:off x="1626973" y="472028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360BA53-A5F9-B53D-3072-6C34A35AF4F1}"/>
                  </a:ext>
                </a:extLst>
              </p:cNvPr>
              <p:cNvCxnSpPr/>
              <p:nvPr/>
            </p:nvCxnSpPr>
            <p:spPr>
              <a:xfrm>
                <a:off x="1626973" y="445255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628B3F1-352D-72FF-572F-71E0F80E8EE8}"/>
                  </a:ext>
                </a:extLst>
              </p:cNvPr>
              <p:cNvCxnSpPr/>
              <p:nvPr/>
            </p:nvCxnSpPr>
            <p:spPr>
              <a:xfrm>
                <a:off x="1626972" y="419306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84A47A2-C238-7775-15A2-57CB49897F22}"/>
                  </a:ext>
                </a:extLst>
              </p:cNvPr>
              <p:cNvCxnSpPr/>
              <p:nvPr/>
            </p:nvCxnSpPr>
            <p:spPr>
              <a:xfrm>
                <a:off x="1626972" y="3925331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B7A938C7-1387-3FDD-A92B-419F460B58FD}"/>
                  </a:ext>
                </a:extLst>
              </p:cNvPr>
              <p:cNvCxnSpPr/>
              <p:nvPr/>
            </p:nvCxnSpPr>
            <p:spPr>
              <a:xfrm>
                <a:off x="1626972" y="3641125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365EBD6-F6C8-569F-47C9-8FA3D2E8E301}"/>
                  </a:ext>
                </a:extLst>
              </p:cNvPr>
              <p:cNvCxnSpPr/>
              <p:nvPr/>
            </p:nvCxnSpPr>
            <p:spPr>
              <a:xfrm>
                <a:off x="1626972" y="3373395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A744A53-8189-3618-17D5-8527F2D8B6CA}"/>
                  </a:ext>
                </a:extLst>
              </p:cNvPr>
              <p:cNvCxnSpPr/>
              <p:nvPr/>
            </p:nvCxnSpPr>
            <p:spPr>
              <a:xfrm>
                <a:off x="1626972" y="312625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D1B59C4-3B4F-5BE9-AD80-4E4A904EFFA2}"/>
                  </a:ext>
                </a:extLst>
              </p:cNvPr>
              <p:cNvCxnSpPr/>
              <p:nvPr/>
            </p:nvCxnSpPr>
            <p:spPr>
              <a:xfrm>
                <a:off x="1626972" y="285852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55F8214-4EA8-01A5-82CC-604329A56C32}"/>
                  </a:ext>
                </a:extLst>
              </p:cNvPr>
              <p:cNvCxnSpPr/>
              <p:nvPr/>
            </p:nvCxnSpPr>
            <p:spPr>
              <a:xfrm>
                <a:off x="1626972" y="257432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2BE70C4-DF95-C25E-55BC-72E21E46CF64}"/>
                  </a:ext>
                </a:extLst>
              </p:cNvPr>
              <p:cNvCxnSpPr/>
              <p:nvPr/>
            </p:nvCxnSpPr>
            <p:spPr>
              <a:xfrm>
                <a:off x="1626972" y="230659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5491CA5-ED12-6CFB-F5F1-99C21FE08752}"/>
                  </a:ext>
                </a:extLst>
              </p:cNvPr>
              <p:cNvCxnSpPr/>
              <p:nvPr/>
            </p:nvCxnSpPr>
            <p:spPr>
              <a:xfrm>
                <a:off x="1626972" y="202650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F31CB8A-5B96-C7F9-5F0D-0704BBFEB9DC}"/>
                  </a:ext>
                </a:extLst>
              </p:cNvPr>
              <p:cNvCxnSpPr/>
              <p:nvPr/>
            </p:nvCxnSpPr>
            <p:spPr>
              <a:xfrm>
                <a:off x="1626972" y="175877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744C68E-D963-F273-07E1-81B6D265F70D}"/>
                  </a:ext>
                </a:extLst>
              </p:cNvPr>
              <p:cNvCxnSpPr/>
              <p:nvPr/>
            </p:nvCxnSpPr>
            <p:spPr>
              <a:xfrm>
                <a:off x="1626972" y="147457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3F5FCFC-6731-9535-93FA-0E47E482E1CD}"/>
                  </a:ext>
                </a:extLst>
              </p:cNvPr>
              <p:cNvCxnSpPr/>
              <p:nvPr/>
            </p:nvCxnSpPr>
            <p:spPr>
              <a:xfrm>
                <a:off x="1626972" y="1206843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67BB0B6-A980-FA2B-A645-5AF469BECA1A}"/>
                  </a:ext>
                </a:extLst>
              </p:cNvPr>
              <p:cNvCxnSpPr/>
              <p:nvPr/>
            </p:nvCxnSpPr>
            <p:spPr>
              <a:xfrm>
                <a:off x="1626972" y="951469"/>
                <a:ext cx="1011194" cy="0"/>
              </a:xfrm>
              <a:prstGeom prst="line">
                <a:avLst/>
              </a:prstGeom>
              <a:ln w="635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7A5A66-B169-6E45-8773-25AEA98111A6}"/>
                  </a:ext>
                </a:extLst>
              </p:cNvPr>
              <p:cNvSpPr txBox="1"/>
              <p:nvPr/>
            </p:nvSpPr>
            <p:spPr>
              <a:xfrm>
                <a:off x="7222602" y="2187266"/>
                <a:ext cx="477292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What’ the heat capacity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at this temperature?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7A5A66-B169-6E45-8773-25AEA9811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602" y="2187266"/>
                <a:ext cx="4772921" cy="830997"/>
              </a:xfrm>
              <a:prstGeom prst="rect">
                <a:avLst/>
              </a:prstGeom>
              <a:blipFill>
                <a:blip r:embed="rId7"/>
                <a:stretch>
                  <a:fillRect l="-1857" t="-4545" r="-531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330619B7-E7BB-7438-2340-06EBFF27DC6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Heat capacities, part 2</a:t>
            </a:r>
          </a:p>
        </p:txBody>
      </p:sp>
    </p:spTree>
    <p:extLst>
      <p:ext uri="{BB962C8B-B14F-4D97-AF65-F5344CB8AC3E}">
        <p14:creationId xmlns:p14="http://schemas.microsoft.com/office/powerpoint/2010/main" val="3516819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2E9A30-6526-C641-A80E-2D0980AA8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7852"/>
            <a:ext cx="5538260" cy="41622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F5580A-5F05-1543-9B99-E227D98FB026}"/>
              </a:ext>
            </a:extLst>
          </p:cNvPr>
          <p:cNvSpPr txBox="1"/>
          <p:nvPr/>
        </p:nvSpPr>
        <p:spPr>
          <a:xfrm>
            <a:off x="5296395" y="2125634"/>
            <a:ext cx="67333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is responsible for the </a:t>
            </a:r>
            <a:r>
              <a:rPr lang="en-US" sz="2400" b="1" dirty="0"/>
              <a:t>curvature</a:t>
            </a:r>
            <a:r>
              <a:rPr lang="en-US" sz="2400" dirty="0"/>
              <a:t> of the red and green gases in the temperature direction?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Which gas(es) could be </a:t>
            </a:r>
            <a:r>
              <a:rPr lang="en-US" sz="2400" b="1" dirty="0"/>
              <a:t>ideal</a:t>
            </a:r>
            <a:r>
              <a:rPr lang="en-US" sz="2400" dirty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Which is/are probably </a:t>
            </a:r>
            <a:r>
              <a:rPr lang="en-US" sz="2400" b="1" dirty="0"/>
              <a:t>monatomic</a:t>
            </a:r>
            <a:r>
              <a:rPr lang="en-US" sz="2400" dirty="0"/>
              <a:t>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458E22-1F02-F14C-91DD-90366C0DA99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Interpreting U(T,V)</a:t>
            </a:r>
          </a:p>
        </p:txBody>
      </p:sp>
    </p:spTree>
    <p:extLst>
      <p:ext uri="{BB962C8B-B14F-4D97-AF65-F5344CB8AC3E}">
        <p14:creationId xmlns:p14="http://schemas.microsoft.com/office/powerpoint/2010/main" val="517382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277792" y="774626"/>
                <a:ext cx="11552964" cy="3049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/>
                  <a:t>Suppose we want an analytical (i.e., algebraic) expression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b="0" dirty="0"/>
                  <a:t>, starting with 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𝑅𝑇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𝑉𝑇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r>
                  <a:rPr lang="en-US" sz="2400" b="0" dirty="0"/>
                  <a:t> 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(this is what’s called a </a:t>
                </a:r>
                <a:r>
                  <a:rPr lang="en-US" sz="2400" i="1" dirty="0">
                    <a:solidFill>
                      <a:schemeClr val="tx1"/>
                    </a:solidFill>
                  </a:rPr>
                  <a:t>Berthelot</a:t>
                </a:r>
                <a:r>
                  <a:rPr lang="en-US" sz="2400" dirty="0">
                    <a:solidFill>
                      <a:schemeClr val="tx1"/>
                    </a:solidFill>
                  </a:rPr>
                  <a:t> gas, as opposed to a </a:t>
                </a:r>
                <a:r>
                  <a:rPr lang="en-US" sz="2400" i="1" dirty="0">
                    <a:solidFill>
                      <a:schemeClr val="tx1"/>
                    </a:solidFill>
                  </a:rPr>
                  <a:t>van der Waals </a:t>
                </a:r>
                <a:r>
                  <a:rPr lang="en-US" sz="2400" dirty="0">
                    <a:solidFill>
                      <a:schemeClr val="tx1"/>
                    </a:solidFill>
                  </a:rPr>
                  <a:t>gas).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/>
                  <a:t>D</a:t>
                </a:r>
                <a:r>
                  <a:rPr lang="en-US" sz="2400" dirty="0">
                    <a:solidFill>
                      <a:schemeClr val="tx1"/>
                    </a:solidFill>
                  </a:rPr>
                  <a:t>erive an algebraic expression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consistent with this expression.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92" y="774626"/>
                <a:ext cx="11552964" cy="3049489"/>
              </a:xfrm>
              <a:prstGeom prst="rect">
                <a:avLst/>
              </a:prstGeom>
              <a:blipFill>
                <a:blip r:embed="rId3"/>
                <a:stretch>
                  <a:fillRect l="-879" t="-1245" b="-3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7B72A122-685A-44AF-206C-2B35A09494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"/>
                <a:ext cx="12192000" cy="45720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b="1" dirty="0">
                    <a:latin typeface="+mn-lt"/>
                  </a:rPr>
                  <a:t>Analytical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7B72A122-685A-44AF-206C-2B35A0949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"/>
                <a:ext cx="12192000" cy="457200"/>
              </a:xfrm>
              <a:prstGeom prst="rect">
                <a:avLst/>
              </a:prstGeom>
              <a:blipFill>
                <a:blip r:embed="rId4"/>
                <a:stretch>
                  <a:fillRect l="-832" t="-13889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6198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98024" y="752049"/>
                <a:ext cx="7526329" cy="4574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It’s sometimes useful to think about gases that are confined to move in a plane instead of in three dimensions. The probability density as a function of the speed of molecules comprising such gases takes the form</a:t>
                </a: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𝐷𝑣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lvl="1"/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are constants for a given gas and temperature (as usual). 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How would you go about determining a value (expression)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24" y="752049"/>
                <a:ext cx="7526329" cy="4574970"/>
              </a:xfrm>
              <a:prstGeom prst="rect">
                <a:avLst/>
              </a:prstGeom>
              <a:blipFill>
                <a:blip r:embed="rId3"/>
                <a:stretch>
                  <a:fillRect l="-1178" t="-1108" r="-1852" b="-1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hlinkClick r:id="rId4"/>
            <a:extLst>
              <a:ext uri="{FF2B5EF4-FFF2-40B4-BE49-F238E27FC236}">
                <a16:creationId xmlns:a16="http://schemas.microsoft.com/office/drawing/2014/main" id="{604BC21F-C9A0-D4C3-5A03-949BBB56A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4592" y="524934"/>
            <a:ext cx="4014850" cy="63090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500034F-D3D9-0F06-6F1A-CAB4D56CEAD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Normalization of a speed probability density 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110690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/>
              <p:nvPr/>
            </p:nvSpPr>
            <p:spPr>
              <a:xfrm>
                <a:off x="98024" y="752049"/>
                <a:ext cx="7846568" cy="54658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It’s sometimes useful to think about gases that are confined to move in a plane instead of in three dimensions. The probability density as a function of the speed of molecules comprising such gases takes the form</a:t>
                </a: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𝐷𝑣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lvl="1"/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are constants for a given gas and temperature (as usual). 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/>
                  <a:t>Suppose you want to convert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is the kinetic energy of a mole of gas molecules.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How would you go about doing that?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6706AA-EEB3-2E4F-B4FB-66429C2F4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24" y="752049"/>
                <a:ext cx="7846568" cy="5465855"/>
              </a:xfrm>
              <a:prstGeom prst="rect">
                <a:avLst/>
              </a:prstGeom>
              <a:blipFill>
                <a:blip r:embed="rId3"/>
                <a:stretch>
                  <a:fillRect l="-1131" t="-928" b="-1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hlinkClick r:id="rId4"/>
            <a:extLst>
              <a:ext uri="{FF2B5EF4-FFF2-40B4-BE49-F238E27FC236}">
                <a16:creationId xmlns:a16="http://schemas.microsoft.com/office/drawing/2014/main" id="{604BC21F-C9A0-D4C3-5A03-949BBB56A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4592" y="524934"/>
            <a:ext cx="4014850" cy="630905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7A0EE6B-BF43-8EB4-D4DD-98DE98E9BE1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45720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Probability densities of kinetic energy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869012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3940</TotalTime>
  <Words>975</Words>
  <Application>Microsoft Macintosh PowerPoint</Application>
  <PresentationFormat>Widescreen</PresentationFormat>
  <Paragraphs>176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CambriaMath</vt:lpstr>
      <vt:lpstr>Times New Roman</vt:lpstr>
      <vt:lpstr>TimesNewRomanPS</vt:lpstr>
      <vt:lpstr>TimesNewRomanPSMT</vt:lpstr>
      <vt:lpstr>Office Theme</vt:lpstr>
      <vt:lpstr>PowerPoint Presentation</vt:lpstr>
      <vt:lpstr>The E-format convention (in Python)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31</cp:revision>
  <cp:lastPrinted>2025-09-29T17:02:52Z</cp:lastPrinted>
  <dcterms:created xsi:type="dcterms:W3CDTF">2024-12-17T00:02:43Z</dcterms:created>
  <dcterms:modified xsi:type="dcterms:W3CDTF">2025-10-03T22:15:11Z</dcterms:modified>
</cp:coreProperties>
</file>