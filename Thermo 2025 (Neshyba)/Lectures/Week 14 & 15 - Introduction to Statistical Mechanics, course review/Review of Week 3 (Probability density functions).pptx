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66" r:id="rId3"/>
    <p:sldId id="339" r:id="rId4"/>
    <p:sldId id="713" r:id="rId5"/>
    <p:sldId id="779" r:id="rId6"/>
    <p:sldId id="758" r:id="rId7"/>
    <p:sldId id="769" r:id="rId8"/>
    <p:sldId id="772" r:id="rId9"/>
    <p:sldId id="773" r:id="rId10"/>
    <p:sldId id="369" r:id="rId11"/>
    <p:sldId id="759" r:id="rId12"/>
    <p:sldId id="774" r:id="rId13"/>
    <p:sldId id="775" r:id="rId14"/>
    <p:sldId id="766" r:id="rId15"/>
    <p:sldId id="767" r:id="rId16"/>
    <p:sldId id="776" r:id="rId17"/>
    <p:sldId id="730" r:id="rId18"/>
    <p:sldId id="777" r:id="rId19"/>
    <p:sldId id="763" r:id="rId20"/>
    <p:sldId id="778" r:id="rId21"/>
    <p:sldId id="780" r:id="rId22"/>
    <p:sldId id="782" r:id="rId23"/>
    <p:sldId id="7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/>
    <p:restoredTop sz="95988"/>
  </p:normalViewPr>
  <p:slideViewPr>
    <p:cSldViewPr snapToGrid="0">
      <p:cViewPr varScale="1">
        <p:scale>
          <a:sx n="107" d="100"/>
          <a:sy n="10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D696F-0323-B948-8D9D-CDC898E7F2D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78BAA-32E4-8A4F-9E01-87FA22A1B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81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69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31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09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83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46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8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66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4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42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07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4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76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57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41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40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88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1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30AB-6482-C3A2-1B22-74EBC4A7E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DFFC-9BFB-601F-9C72-DDBBEDE1F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1DA7-747C-9CBA-55CF-08604FEB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68268-FFFC-04F9-B21E-65EC62A4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3886-C939-1CE1-A8A8-A556876C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5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5097-4D6A-A3CD-9265-FE0211DE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75FE-ADC7-0E2C-1269-8D05E8E98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0C1C-44AF-01F6-41D8-55149182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3074-693D-AAD9-1E19-3F1B3770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FAE3-5AEE-8D54-CFC5-07EE8FD8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C596-C613-5524-770F-4FE1EAC9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8BFAA-3C5C-5265-1F2F-E29B38152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0CF6-DFD4-CD9C-B8B1-D2C076DB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4C5A-E8B7-BE20-225D-4823D2A5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74BE-26B7-5292-C58C-1D636C60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6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6BEF-56A7-FA77-DC77-5CC63C26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FD63-3255-8806-E498-27F5EBB6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03FBB-FFA3-AFFC-DB19-640CEDBD6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B63A7-6BB9-20CD-A4C2-77D9C041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7A07-8DDD-185B-BBB4-7C8FCE2D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D4884-8C25-A0F5-68E2-3488D97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2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5C18-DB67-61C9-4C72-588037C8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1B288-E889-2E49-5608-3F3ADAF2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01B24-39C3-997F-2CDA-800AE3731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7D129-5256-3F83-5B2F-1CEABB436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1097F-0BC9-DB35-9D00-DAA7BA9AA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14A43-6B07-F211-D4D0-E1FD7040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979EE-E2E7-1E8E-EC9A-6673EF64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B38BE-E449-1717-C22F-7A88CA57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9303-B09F-E9E1-FB1C-D079979C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EB8F9-5770-1A42-3D2D-B70210C0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8ADCC-A358-4A3B-275D-12283B91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FE41E-9439-4674-5811-322CE178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5B938-EAEF-4524-1792-9A1A5820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E2A9A-2194-FD4E-C1BD-58260D87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87863-DB20-F1AE-3AA2-6C66BDC3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4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3423-ED47-9D15-6765-447F1623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516F-2A78-B768-240C-BE3FD580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8DC32-4F0D-A591-16CF-172E0FC7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4401-A3E8-791D-CB44-441A3C6C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C0429-6578-0664-A21B-FF5A3180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71494-6E99-4D23-7D3F-6C2C9545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405-6809-174A-2FF1-A259D415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A9117-F402-22FA-9D62-F50AFB0AA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86A4D-3687-1E3A-7DDD-FA367CFE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29049-9913-DB1C-7EDA-BF01926C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C027-585B-63DE-07DE-9B95AE48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A07CF-769D-6FFD-F5BF-36E68295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4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DF6C-8049-8CDF-1E0C-C46FF4F7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EB403-DAFB-21EC-EECE-F8CC6A3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7E10-33BE-AA97-B161-3E8F5CA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E93F7-1699-2D0A-6AF7-16B480B7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898F-AC3B-4779-93A1-7BAA2657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6E304-B41F-D82D-DD1B-1EAF4565D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7AC00-6A23-5431-EB59-9CCD2524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77692-14B1-2F68-D4CE-D9E9773C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C7FDD-DD2E-41CB-7D28-6296A8BD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FA7-54AE-C856-71EE-8DD7953E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4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CCEAB-0675-3371-F870-FCD6A370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187E9-956F-0963-A149-6EE3C1A9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B65CD-E411-19B0-B06D-B303359BD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19A77-DB4F-FA40-AE77-1846C4664C1D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FF80-0D25-729A-4FFF-A0578265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12E6D-A725-1E49-A23F-942CAF424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2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3" Type="http://schemas.openxmlformats.org/officeDocument/2006/relationships/image" Target="../media/image4.png"/><Relationship Id="rId12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2.gif"/><Relationship Id="rId4" Type="http://schemas.openxmlformats.org/officeDocument/2006/relationships/image" Target="../media/image5.png"/><Relationship Id="rId9" Type="http://schemas.openxmlformats.org/officeDocument/2006/relationships/image" Target="../media/image20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2.gif"/><Relationship Id="rId3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0" Type="http://schemas.openxmlformats.org/officeDocument/2006/relationships/image" Target="../media/image70.png"/><Relationship Id="rId4" Type="http://schemas.openxmlformats.org/officeDocument/2006/relationships/image" Target="../media/image11.png"/><Relationship Id="rId9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2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gif"/><Relationship Id="rId5" Type="http://schemas.openxmlformats.org/officeDocument/2006/relationships/image" Target="../media/image33.png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1.png"/><Relationship Id="rId5" Type="http://schemas.openxmlformats.org/officeDocument/2006/relationships/image" Target="../media/image301.png"/><Relationship Id="rId4" Type="http://schemas.openxmlformats.org/officeDocument/2006/relationships/image" Target="../media/image29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hyperlink" Target="https://en.wikipedia.org/wiki/Maxwell%E2%80%93Boltzmann_distribution#/media/File:Simulation_of_gas_for_relaxation_demonstration.gi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7.gif"/><Relationship Id="rId4" Type="http://schemas.openxmlformats.org/officeDocument/2006/relationships/hyperlink" Target="https://en.wikipedia.org/wiki/Maxwell%E2%80%93Boltzmann_distribution#/media/File:Simulation_of_gas_for_relaxation_demonstration.gif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5D6853-6F73-1A4C-858F-0AD6B864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645627"/>
            <a:ext cx="8936736" cy="6033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42D18F-2189-274D-894A-C16B2848A0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3 – Assumptions of the kinetic-molecular theory of gases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31AA2-CFCE-EB13-8454-EB987124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943" y="3429000"/>
            <a:ext cx="2691801" cy="23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01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66C88-2BAF-BB45-91F7-000FBA3A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71" y="105891"/>
            <a:ext cx="1003300" cy="1435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188224-D4F6-E145-8CAB-213345BB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18" y="761093"/>
            <a:ext cx="5316582" cy="10795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C9BE48-EE12-7406-8EEF-B92A8D4298E7}"/>
                  </a:ext>
                </a:extLst>
              </p:cNvPr>
              <p:cNvSpPr txBox="1"/>
              <p:nvPr/>
            </p:nvSpPr>
            <p:spPr>
              <a:xfrm>
                <a:off x="0" y="2417"/>
                <a:ext cx="82296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3 – 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Maxwell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C9BE48-EE12-7406-8EEF-B92A8D42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17"/>
                <a:ext cx="8229600" cy="461665"/>
              </a:xfrm>
              <a:prstGeom prst="rect">
                <a:avLst/>
              </a:prstGeom>
              <a:blipFill>
                <a:blip r:embed="rId4"/>
                <a:stretch>
                  <a:fillRect l="-1235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D883227-00D8-2332-F1A7-24BDCCBD63D7}"/>
              </a:ext>
            </a:extLst>
          </p:cNvPr>
          <p:cNvGrpSpPr>
            <a:grpSpLocks noChangeAspect="1"/>
          </p:cNvGrpSpPr>
          <p:nvPr/>
        </p:nvGrpSpPr>
        <p:grpSpPr>
          <a:xfrm>
            <a:off x="380782" y="2254075"/>
            <a:ext cx="4994407" cy="2806195"/>
            <a:chOff x="380782" y="2698919"/>
            <a:chExt cx="6321121" cy="355163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AA27392-473D-9636-45D2-8EE1ED1A0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0782" y="2747053"/>
              <a:ext cx="5834824" cy="350349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9F1A24-5FC2-61B2-F744-F9C0974CB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47303" y="2735478"/>
              <a:ext cx="5054600" cy="419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401AAB-DEAB-2ADC-FB9F-7C862CB65E05}"/>
                    </a:ext>
                  </a:extLst>
                </p:cNvPr>
                <p:cNvSpPr txBox="1"/>
                <p:nvPr/>
              </p:nvSpPr>
              <p:spPr>
                <a:xfrm>
                  <a:off x="1563492" y="2698919"/>
                  <a:ext cx="5054600" cy="467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isotherms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b="1" dirty="0"/>
                    <a:t> </a:t>
                  </a:r>
                  <a:r>
                    <a:rPr lang="en-US" dirty="0"/>
                    <a:t>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2401AAB-DEAB-2ADC-FB9F-7C862CB65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492" y="2698919"/>
                  <a:ext cx="5054600" cy="467441"/>
                </a:xfrm>
                <a:prstGeom prst="rect">
                  <a:avLst/>
                </a:prstGeom>
                <a:blipFill>
                  <a:blip r:embed="rId9"/>
                  <a:stretch>
                    <a:fillRect l="-1266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0FFB4E-3158-00F8-24F7-A841C2999F33}"/>
                  </a:ext>
                </a:extLst>
              </p:cNvPr>
              <p:cNvSpPr txBox="1"/>
              <p:nvPr/>
            </p:nvSpPr>
            <p:spPr>
              <a:xfrm>
                <a:off x="4644468" y="4379705"/>
                <a:ext cx="1010992" cy="56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0FFB4E-3158-00F8-24F7-A841C2999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468" y="4379705"/>
                <a:ext cx="1010992" cy="566758"/>
              </a:xfrm>
              <a:prstGeom prst="rect">
                <a:avLst/>
              </a:prstGeom>
              <a:blipFill>
                <a:blip r:embed="rId11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D5CFBC-4251-3D2D-B077-91945205EDFE}"/>
                  </a:ext>
                </a:extLst>
              </p:cNvPr>
              <p:cNvSpPr txBox="1"/>
              <p:nvPr/>
            </p:nvSpPr>
            <p:spPr>
              <a:xfrm>
                <a:off x="10205" y="2448529"/>
                <a:ext cx="689020" cy="56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D5CFBC-4251-3D2D-B077-91945205E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5" y="2448529"/>
                <a:ext cx="689020" cy="566630"/>
              </a:xfrm>
              <a:prstGeom prst="rect">
                <a:avLst/>
              </a:prstGeom>
              <a:blipFill>
                <a:blip r:embed="rId1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5CEDD7-F395-128E-EA98-D1A8F8C7AFF3}"/>
                  </a:ext>
                </a:extLst>
              </p:cNvPr>
              <p:cNvSpPr txBox="1"/>
              <p:nvPr/>
            </p:nvSpPr>
            <p:spPr>
              <a:xfrm>
                <a:off x="419430" y="1053074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5CEDD7-F395-128E-EA98-D1A8F8C7A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0" y="1053074"/>
                <a:ext cx="1213344" cy="461665"/>
              </a:xfrm>
              <a:prstGeom prst="rect">
                <a:avLst/>
              </a:prstGeom>
              <a:blipFill>
                <a:blip r:embed="rId1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0BE77C-7DE4-2BAC-B202-5F11F4DFF4A1}"/>
                  </a:ext>
                </a:extLst>
              </p:cNvPr>
              <p:cNvSpPr/>
              <p:nvPr/>
            </p:nvSpPr>
            <p:spPr>
              <a:xfrm>
                <a:off x="2218928" y="5518931"/>
                <a:ext cx="2282356" cy="11740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0BE77C-7DE4-2BAC-B202-5F11F4DFF4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928" y="5518931"/>
                <a:ext cx="2282356" cy="1174039"/>
              </a:xfrm>
              <a:prstGeom prst="rect">
                <a:avLst/>
              </a:prstGeom>
              <a:blipFill>
                <a:blip r:embed="rId14"/>
                <a:stretch>
                  <a:fillRect l="-51381" t="-115957" b="-17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50076CD-0964-69E6-A7D1-E7AC7DE297E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1943" y="3429000"/>
            <a:ext cx="2691801" cy="23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8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0350B2-B6B0-CC4A-B87A-BE495EB77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58" y="505208"/>
            <a:ext cx="4661698" cy="1788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D6DA2-8034-EC4A-B883-82578DD75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482" y="43543"/>
            <a:ext cx="1333500" cy="143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8265226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3 – The</a:t>
                </a:r>
                <a:r>
                  <a:rPr lang="en-US" sz="2400" dirty="0"/>
                  <a:t> </a:t>
                </a:r>
                <a:r>
                  <a:rPr lang="en-US" sz="2400" b="1" dirty="0"/>
                  <a:t>Boltzmann Distribution (which we’re calling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b="1" dirty="0"/>
                  <a:t>”)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46EAF0-1A5D-6BBB-AAA6-74495E1E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8265226" cy="461665"/>
              </a:xfrm>
              <a:prstGeom prst="rect">
                <a:avLst/>
              </a:prstGeom>
              <a:blipFill>
                <a:blip r:embed="rId4"/>
                <a:stretch>
                  <a:fillRect l="-1229" t="-8108" r="-922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3C84211-30DC-7CD3-1741-825C7369F654}"/>
              </a:ext>
            </a:extLst>
          </p:cNvPr>
          <p:cNvGrpSpPr/>
          <p:nvPr/>
        </p:nvGrpSpPr>
        <p:grpSpPr>
          <a:xfrm>
            <a:off x="546748" y="2449003"/>
            <a:ext cx="4630723" cy="3409834"/>
            <a:chOff x="546748" y="2449003"/>
            <a:chExt cx="4630723" cy="34098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EB3A46-B4DA-4E11-D22A-DFD5440B5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66742" y="2449003"/>
              <a:ext cx="3910729" cy="28430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91784F-FD68-CC8F-FF16-16BAFEE61C2C}"/>
                    </a:ext>
                  </a:extLst>
                </p:cNvPr>
                <p:cNvSpPr txBox="1"/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91784F-FD68-CC8F-FF16-16BAFEE61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312" y="5292079"/>
                  <a:ext cx="1010992" cy="566758"/>
                </a:xfrm>
                <a:prstGeom prst="rect">
                  <a:avLst/>
                </a:prstGeom>
                <a:blipFill>
                  <a:blip r:embed="rId8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FA045-5E7F-9193-C55B-7C06208C468D}"/>
                    </a:ext>
                  </a:extLst>
                </p:cNvPr>
                <p:cNvSpPr txBox="1"/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FA045-5E7F-9193-C55B-7C06208C4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48" y="3303911"/>
                  <a:ext cx="689020" cy="566630"/>
                </a:xfrm>
                <a:prstGeom prst="rect">
                  <a:avLst/>
                </a:prstGeom>
                <a:blipFill>
                  <a:blip r:embed="rId9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E43A89-C00B-60AC-E720-32715F808C37}"/>
                  </a:ext>
                </a:extLst>
              </p:cNvPr>
              <p:cNvSpPr txBox="1"/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isotherms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E43A89-C00B-60AC-E720-32715F808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897" y="2475578"/>
                <a:ext cx="3993711" cy="369332"/>
              </a:xfrm>
              <a:prstGeom prst="rect">
                <a:avLst/>
              </a:prstGeom>
              <a:blipFill>
                <a:blip r:embed="rId10"/>
                <a:stretch>
                  <a:fillRect l="-158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9FA84E-5930-AB2C-A211-3F00902B27D7}"/>
                  </a:ext>
                </a:extLst>
              </p:cNvPr>
              <p:cNvSpPr txBox="1"/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9FA84E-5930-AB2C-A211-3F00902B2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22" y="1016978"/>
                <a:ext cx="1213344" cy="461665"/>
              </a:xfrm>
              <a:prstGeom prst="rect">
                <a:avLst/>
              </a:prstGeom>
              <a:blipFill>
                <a:blip r:embed="rId11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7D3F435-C466-1766-D76B-1C4992CF82BA}"/>
                  </a:ext>
                </a:extLst>
              </p:cNvPr>
              <p:cNvSpPr/>
              <p:nvPr/>
            </p:nvSpPr>
            <p:spPr>
              <a:xfrm>
                <a:off x="2218928" y="5518931"/>
                <a:ext cx="2614049" cy="117173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7D3F435-C466-1766-D76B-1C4992CF8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928" y="5518931"/>
                <a:ext cx="2614049" cy="1171731"/>
              </a:xfrm>
              <a:prstGeom prst="rect">
                <a:avLst/>
              </a:prstGeom>
              <a:blipFill>
                <a:blip r:embed="rId12"/>
                <a:stretch>
                  <a:fillRect l="-40580" t="-115957" b="-17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A9CF8375-7154-FCC5-B250-CBF7ABC5D0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1943" y="3429000"/>
            <a:ext cx="2691801" cy="23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5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0762" y="591671"/>
                <a:ext cx="3769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are the units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62" y="591671"/>
                <a:ext cx="3769970" cy="461665"/>
              </a:xfrm>
              <a:prstGeom prst="rect">
                <a:avLst/>
              </a:prstGeom>
              <a:blipFill>
                <a:blip r:embed="rId3"/>
                <a:stretch>
                  <a:fillRect l="-2341" t="-7895" r="-1672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24EDC97-B1B3-4043-BE59-4FDCC7C60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32" y="3174013"/>
            <a:ext cx="1856541" cy="19979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A69D23-44FE-A1BB-BD4B-4C0BE37A9C0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Probability densities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FABA97-16ED-E36D-78CE-3DBA535B0F60}"/>
              </a:ext>
            </a:extLst>
          </p:cNvPr>
          <p:cNvGrpSpPr/>
          <p:nvPr/>
        </p:nvGrpSpPr>
        <p:grpSpPr>
          <a:xfrm>
            <a:off x="772160" y="1368953"/>
            <a:ext cx="6121761" cy="5180755"/>
            <a:chOff x="772160" y="1368953"/>
            <a:chExt cx="6121761" cy="518075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B4026DB-5731-1D22-9D7B-343B3114E916}"/>
                </a:ext>
              </a:extLst>
            </p:cNvPr>
            <p:cNvGrpSpPr/>
            <p:nvPr/>
          </p:nvGrpSpPr>
          <p:grpSpPr>
            <a:xfrm>
              <a:off x="772160" y="1631480"/>
              <a:ext cx="6121761" cy="4918228"/>
              <a:chOff x="772160" y="1631480"/>
              <a:chExt cx="6121761" cy="49182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B8AAF87-AD23-4631-713D-83FD27B367AA}"/>
                  </a:ext>
                </a:extLst>
              </p:cNvPr>
              <p:cNvGrpSpPr/>
              <p:nvPr/>
            </p:nvGrpSpPr>
            <p:grpSpPr>
              <a:xfrm>
                <a:off x="772160" y="1631480"/>
                <a:ext cx="6121761" cy="4730607"/>
                <a:chOff x="6531419" y="3429000"/>
                <a:chExt cx="4281264" cy="3133165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550A9DD6-1B5D-E088-750C-AA072F8B48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9231" t="22895"/>
                <a:stretch/>
              </p:blipFill>
              <p:spPr>
                <a:xfrm>
                  <a:off x="6531419" y="3918250"/>
                  <a:ext cx="4281264" cy="2643915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843CBA8A-195C-0474-C291-13D08B262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37220" y="3429000"/>
                  <a:ext cx="1066800" cy="5588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0B0AC0F2-A110-9D58-7C8B-26DF42DD54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45630" y="5024120"/>
                  <a:ext cx="1066800" cy="558800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E6FA15C-1BF8-6AE8-931F-015C3D52AA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E6FA15C-1BF8-6AE8-931F-015C3D52A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1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1118D5-8C35-45DA-8FBA-56582E5A1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b="35678"/>
            <a:stretch/>
          </p:blipFill>
          <p:spPr>
            <a:xfrm>
              <a:off x="1642643" y="1368953"/>
              <a:ext cx="3886448" cy="9588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448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0762" y="591671"/>
                <a:ext cx="3769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are the units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62" y="591671"/>
                <a:ext cx="3769970" cy="461665"/>
              </a:xfrm>
              <a:prstGeom prst="rect">
                <a:avLst/>
              </a:prstGeom>
              <a:blipFill>
                <a:blip r:embed="rId3"/>
                <a:stretch>
                  <a:fillRect l="-2341" t="-7895" r="-1672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24EDC97-B1B3-4043-BE59-4FDCC7C60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32" y="3174013"/>
            <a:ext cx="1856541" cy="19979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A69D23-44FE-A1BB-BD4B-4C0BE37A9C0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Probability densities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FABA97-16ED-E36D-78CE-3DBA535B0F60}"/>
              </a:ext>
            </a:extLst>
          </p:cNvPr>
          <p:cNvGrpSpPr/>
          <p:nvPr/>
        </p:nvGrpSpPr>
        <p:grpSpPr>
          <a:xfrm>
            <a:off x="772160" y="1368953"/>
            <a:ext cx="6121761" cy="5180755"/>
            <a:chOff x="772160" y="1368953"/>
            <a:chExt cx="6121761" cy="518075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B4026DB-5731-1D22-9D7B-343B3114E916}"/>
                </a:ext>
              </a:extLst>
            </p:cNvPr>
            <p:cNvGrpSpPr/>
            <p:nvPr/>
          </p:nvGrpSpPr>
          <p:grpSpPr>
            <a:xfrm>
              <a:off x="772160" y="1631480"/>
              <a:ext cx="6121761" cy="4918228"/>
              <a:chOff x="772160" y="1631480"/>
              <a:chExt cx="6121761" cy="49182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B8AAF87-AD23-4631-713D-83FD27B367AA}"/>
                  </a:ext>
                </a:extLst>
              </p:cNvPr>
              <p:cNvGrpSpPr/>
              <p:nvPr/>
            </p:nvGrpSpPr>
            <p:grpSpPr>
              <a:xfrm>
                <a:off x="772160" y="1631480"/>
                <a:ext cx="6121761" cy="4730607"/>
                <a:chOff x="6531419" y="3429000"/>
                <a:chExt cx="4281264" cy="3133165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550A9DD6-1B5D-E088-750C-AA072F8B48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9231" t="22895"/>
                <a:stretch/>
              </p:blipFill>
              <p:spPr>
                <a:xfrm>
                  <a:off x="6531419" y="3918250"/>
                  <a:ext cx="4281264" cy="2643915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843CBA8A-195C-0474-C291-13D08B262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37220" y="3429000"/>
                  <a:ext cx="1066800" cy="5588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0B0AC0F2-A110-9D58-7C8B-26DF42DD54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45630" y="5024120"/>
                  <a:ext cx="1066800" cy="558800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E6FA15C-1BF8-6AE8-931F-015C3D52AA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E6FA15C-1BF8-6AE8-931F-015C3D52A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1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1118D5-8C35-45DA-8FBA-56582E5A1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35678"/>
            <a:stretch/>
          </p:blipFill>
          <p:spPr>
            <a:xfrm>
              <a:off x="1642643" y="1368953"/>
              <a:ext cx="3886448" cy="95884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3AE63E-74E3-01D7-8652-DB1AA13126E1}"/>
                  </a:ext>
                </a:extLst>
              </p:cNvPr>
              <p:cNvSpPr txBox="1"/>
              <p:nvPr/>
            </p:nvSpPr>
            <p:spPr>
              <a:xfrm>
                <a:off x="1011951" y="3174013"/>
                <a:ext cx="630692" cy="57066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3AE63E-74E3-01D7-8652-DB1AA131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51" y="3174013"/>
                <a:ext cx="630692" cy="570669"/>
              </a:xfrm>
              <a:prstGeom prst="rect">
                <a:avLst/>
              </a:prstGeom>
              <a:blipFill>
                <a:blip r:embed="rId9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0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160762" y="591671"/>
            <a:ext cx="733256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Which graph below corresponds to the </a:t>
            </a:r>
            <a:r>
              <a:rPr lang="en-US" sz="2400" b="1" dirty="0"/>
              <a:t>lighter</a:t>
            </a:r>
            <a:r>
              <a:rPr lang="en-US" sz="2400" dirty="0"/>
              <a:t> molecule?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4EDC97-B1B3-4043-BE59-4FDCC7C6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32" y="3174013"/>
            <a:ext cx="1856541" cy="19979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6BF17FE-864E-9B34-E12F-3DA274F846A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Probability densities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0BE47E-9490-6BA3-69DA-F84F1D07D34C}"/>
              </a:ext>
            </a:extLst>
          </p:cNvPr>
          <p:cNvGrpSpPr/>
          <p:nvPr/>
        </p:nvGrpSpPr>
        <p:grpSpPr>
          <a:xfrm>
            <a:off x="772160" y="1368953"/>
            <a:ext cx="6121761" cy="5180755"/>
            <a:chOff x="772160" y="1368953"/>
            <a:chExt cx="6121761" cy="51807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2AA11D5-EDF7-1850-A7A6-BD395EB77D22}"/>
                </a:ext>
              </a:extLst>
            </p:cNvPr>
            <p:cNvGrpSpPr/>
            <p:nvPr/>
          </p:nvGrpSpPr>
          <p:grpSpPr>
            <a:xfrm>
              <a:off x="772160" y="1631480"/>
              <a:ext cx="6121761" cy="4918228"/>
              <a:chOff x="772160" y="1631480"/>
              <a:chExt cx="6121761" cy="491822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A7ACD12-2A6D-4C4B-833A-3F909AC9BB7D}"/>
                  </a:ext>
                </a:extLst>
              </p:cNvPr>
              <p:cNvGrpSpPr/>
              <p:nvPr/>
            </p:nvGrpSpPr>
            <p:grpSpPr>
              <a:xfrm>
                <a:off x="772160" y="1631480"/>
                <a:ext cx="6121761" cy="4730607"/>
                <a:chOff x="6531419" y="3429000"/>
                <a:chExt cx="4281264" cy="3133165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CDC3A9BD-A0A9-0740-8AD2-1927629B1C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9231" t="22895"/>
                <a:stretch/>
              </p:blipFill>
              <p:spPr>
                <a:xfrm>
                  <a:off x="6531419" y="3918250"/>
                  <a:ext cx="4281264" cy="2643915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51A4B2E1-D52C-CF4E-9EF2-0B0922A3C7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37220" y="3429000"/>
                  <a:ext cx="1066800" cy="558800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4DFA010B-8DE2-1142-8E60-0C708E64B0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45630" y="5024120"/>
                  <a:ext cx="1066800" cy="558800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521F738A-4926-7D0D-FF35-BDE5EAB6A21E}"/>
                      </a:ext>
                    </a:extLst>
                  </p:cNvPr>
                  <p:cNvSpPr txBox="1"/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521F738A-4926-7D0D-FF35-BDE5EAB6A2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1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84204DF-B273-6E62-28F5-CCD190EF24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35678"/>
            <a:stretch/>
          </p:blipFill>
          <p:spPr>
            <a:xfrm>
              <a:off x="1642643" y="1368953"/>
              <a:ext cx="3886448" cy="9588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005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9DCDD2C-EEC3-FB56-869E-5CD947BB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938" y="1265304"/>
            <a:ext cx="7888184" cy="525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115747" y="591671"/>
            <a:ext cx="1177290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What’s the probability (as a </a:t>
            </a:r>
            <a:r>
              <a:rPr lang="en-US" sz="2400" b="1" dirty="0"/>
              <a:t>fraction</a:t>
            </a:r>
            <a:r>
              <a:rPr lang="en-US" sz="2400" dirty="0"/>
              <a:t>, and also </a:t>
            </a:r>
            <a:r>
              <a:rPr lang="en-US" sz="2400" b="1" dirty="0"/>
              <a:t>in %</a:t>
            </a:r>
            <a:r>
              <a:rPr lang="en-US" sz="2400" dirty="0"/>
              <a:t>) of finding a Neon gas atom with speed between 740 m/s and 760 m/s?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8C6087-89E4-AF0D-E6FE-1C6E6ECDBB7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Probabilities from probability densities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34D24A-95D9-1161-1060-301F0D569F17}"/>
              </a:ext>
            </a:extLst>
          </p:cNvPr>
          <p:cNvGrpSpPr/>
          <p:nvPr/>
        </p:nvGrpSpPr>
        <p:grpSpPr>
          <a:xfrm>
            <a:off x="762742" y="3165510"/>
            <a:ext cx="6578263" cy="3393271"/>
            <a:chOff x="1083375" y="3025660"/>
            <a:chExt cx="5840864" cy="2721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/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  <a:blipFill>
                  <a:blip r:embed="rId4"/>
                  <a:stretch>
                    <a:fillRect l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/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b="1" dirty="0"/>
                    <a:t>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981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9DCDD2C-EEC3-FB56-869E-5CD947BB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938" y="1265304"/>
            <a:ext cx="7888184" cy="525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115747" y="591671"/>
            <a:ext cx="1177290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What’s the probability (as a </a:t>
            </a:r>
            <a:r>
              <a:rPr lang="en-US" sz="2400" b="1" dirty="0"/>
              <a:t>fraction</a:t>
            </a:r>
            <a:r>
              <a:rPr lang="en-US" sz="2400" dirty="0"/>
              <a:t>, and also </a:t>
            </a:r>
            <a:r>
              <a:rPr lang="en-US" sz="2400" b="1" dirty="0"/>
              <a:t>in %</a:t>
            </a:r>
            <a:r>
              <a:rPr lang="en-US" sz="2400" dirty="0"/>
              <a:t>) of finding a Neon gas atom with speed between 740 m/s and 760 m/s?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8C6087-89E4-AF0D-E6FE-1C6E6ECDBB7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Probabilities from probability densities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34D24A-95D9-1161-1060-301F0D569F17}"/>
              </a:ext>
            </a:extLst>
          </p:cNvPr>
          <p:cNvGrpSpPr/>
          <p:nvPr/>
        </p:nvGrpSpPr>
        <p:grpSpPr>
          <a:xfrm>
            <a:off x="762742" y="3165510"/>
            <a:ext cx="6578263" cy="3393271"/>
            <a:chOff x="1083375" y="3025660"/>
            <a:chExt cx="5840864" cy="2721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/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  <a:blipFill>
                  <a:blip r:embed="rId4"/>
                  <a:stretch>
                    <a:fillRect l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/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b="1" dirty="0"/>
                    <a:t>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BC3BD6E-49FA-4F5B-9E70-4E41B9DA615B}"/>
              </a:ext>
            </a:extLst>
          </p:cNvPr>
          <p:cNvSpPr/>
          <p:nvPr/>
        </p:nvSpPr>
        <p:spPr>
          <a:xfrm>
            <a:off x="5284520" y="4667003"/>
            <a:ext cx="190006" cy="1009402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6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9DCDD2C-EEC3-FB56-869E-5CD947BB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938" y="1265304"/>
            <a:ext cx="7888184" cy="525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115747" y="591671"/>
            <a:ext cx="1177290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What’s the probability (as a </a:t>
            </a:r>
            <a:r>
              <a:rPr lang="en-US" sz="2400" b="1" dirty="0"/>
              <a:t>fraction</a:t>
            </a:r>
            <a:r>
              <a:rPr lang="en-US" sz="2400" dirty="0"/>
              <a:t>, and also </a:t>
            </a:r>
            <a:r>
              <a:rPr lang="en-US" sz="2400" b="1" dirty="0"/>
              <a:t>in %</a:t>
            </a:r>
            <a:r>
              <a:rPr lang="en-US" sz="2400" dirty="0"/>
              <a:t>) of finding a Neon gas atom with speed between 740 m/s and 760 m/s?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8C6087-89E4-AF0D-E6FE-1C6E6ECDBB7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Probabilities from probability densities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34D24A-95D9-1161-1060-301F0D569F17}"/>
              </a:ext>
            </a:extLst>
          </p:cNvPr>
          <p:cNvGrpSpPr/>
          <p:nvPr/>
        </p:nvGrpSpPr>
        <p:grpSpPr>
          <a:xfrm>
            <a:off x="762742" y="3165510"/>
            <a:ext cx="6578263" cy="3393271"/>
            <a:chOff x="1083375" y="3025660"/>
            <a:chExt cx="5840864" cy="2721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/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  <a:blipFill>
                  <a:blip r:embed="rId4"/>
                  <a:stretch>
                    <a:fillRect l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/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b="1" dirty="0"/>
                    <a:t>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BC3BD6E-49FA-4F5B-9E70-4E41B9DA615B}"/>
              </a:ext>
            </a:extLst>
          </p:cNvPr>
          <p:cNvSpPr/>
          <p:nvPr/>
        </p:nvSpPr>
        <p:spPr>
          <a:xfrm>
            <a:off x="5284520" y="4667003"/>
            <a:ext cx="190006" cy="1009402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43C81-FC5A-1EA0-AA19-C90BD0FED547}"/>
              </a:ext>
            </a:extLst>
          </p:cNvPr>
          <p:cNvSpPr txBox="1"/>
          <p:nvPr/>
        </p:nvSpPr>
        <p:spPr>
          <a:xfrm>
            <a:off x="5474526" y="3172984"/>
            <a:ext cx="4425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 = 20 m/s</a:t>
            </a:r>
          </a:p>
          <a:p>
            <a:r>
              <a:rPr lang="en-US" sz="2400" dirty="0"/>
              <a:t>Height = 0.001 s/m</a:t>
            </a:r>
          </a:p>
          <a:p>
            <a:r>
              <a:rPr lang="en-US" sz="2400" dirty="0"/>
              <a:t>Probability = 0.02 (2%)</a:t>
            </a:r>
          </a:p>
        </p:txBody>
      </p:sp>
    </p:spTree>
    <p:extLst>
      <p:ext uri="{BB962C8B-B14F-4D97-AF65-F5344CB8AC3E}">
        <p14:creationId xmlns:p14="http://schemas.microsoft.com/office/powerpoint/2010/main" val="2174990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240985-E633-3C40-AC86-4D9A3B1FD2D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3 – The average kinetic energy depends only on the temperature (not the mass)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7C0FE-476B-86A7-421E-F83F63BC8ACA}"/>
                  </a:ext>
                </a:extLst>
              </p:cNvPr>
              <p:cNvSpPr txBox="1"/>
              <p:nvPr/>
            </p:nvSpPr>
            <p:spPr>
              <a:xfrm>
                <a:off x="212026" y="670377"/>
                <a:ext cx="11767948" cy="13063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We saw that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while the </a:t>
                </a:r>
                <a:r>
                  <a:rPr lang="en-US" sz="2400" dirty="0">
                    <a:ea typeface="Cambria Math" panose="02040503050406030204" pitchFamily="18" charset="0"/>
                  </a:rPr>
                  <a:t>average</a:t>
                </a:r>
                <a:r>
                  <a:rPr lang="en-US" sz="2400" b="1" dirty="0">
                    <a:ea typeface="Cambria Math" panose="02040503050406030204" pitchFamily="18" charset="0"/>
                  </a:rPr>
                  <a:t> kinetic energy </a:t>
                </a:r>
                <a:r>
                  <a:rPr lang="en-US" sz="2400" dirty="0">
                    <a:ea typeface="Cambria Math" panose="02040503050406030204" pitchFamily="18" charset="0"/>
                  </a:rPr>
                  <a:t>of a mole of gas molecules is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𝑅𝑇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𝑹𝑻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7C0FE-476B-86A7-421E-F83F63BC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26" y="670377"/>
                <a:ext cx="11767948" cy="1306320"/>
              </a:xfrm>
              <a:prstGeom prst="rect">
                <a:avLst/>
              </a:prstGeom>
              <a:blipFill>
                <a:blip r:embed="rId2"/>
                <a:stretch>
                  <a:fillRect l="-754" b="-38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3423-C1E5-4961-3ED5-2E17952D3DE7}"/>
                  </a:ext>
                </a:extLst>
              </p:cNvPr>
              <p:cNvSpPr txBox="1"/>
              <p:nvPr/>
            </p:nvSpPr>
            <p:spPr>
              <a:xfrm>
                <a:off x="212026" y="2694676"/>
                <a:ext cx="7860757" cy="3165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 depends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(as seen at right), but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 depends only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Example: at room temperature,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≈298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b="0" dirty="0"/>
                  <a:t>,</a:t>
                </a:r>
                <a:r>
                  <a:rPr lang="en-US" sz="2400" i="1" dirty="0"/>
                  <a:t> </a:t>
                </a:r>
                <a:r>
                  <a:rPr lang="en-US" sz="2400" b="0" dirty="0"/>
                  <a:t>so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b="0" dirty="0"/>
                  <a:t>.</a:t>
                </a:r>
              </a:p>
              <a:p>
                <a:endParaRPr lang="en-US" sz="2400" b="0" dirty="0"/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Side note: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b="0" dirty="0"/>
                  <a:t> is nowhere near enough to break covalent bonds (binding energies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b="0" dirty="0"/>
                  <a:t>). So we’re safe.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DD3423-C1E5-4961-3ED5-2E17952D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26" y="2694676"/>
                <a:ext cx="7860757" cy="3165482"/>
              </a:xfrm>
              <a:prstGeom prst="rect">
                <a:avLst/>
              </a:prstGeom>
              <a:blipFill>
                <a:blip r:embed="rId3"/>
                <a:stretch>
                  <a:fillRect l="-1129" t="-1200" r="-645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B34459F-D382-A765-5811-64A5BBE76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231" y="3001488"/>
            <a:ext cx="2691801" cy="23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4"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32863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3286348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Analytical moments of the speed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EF8940-7422-5C94-02CC-7871C48BB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231" y="3001488"/>
            <a:ext cx="2691801" cy="23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1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4"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/>
              <p:nvPr/>
            </p:nvSpPr>
            <p:spPr>
              <a:xfrm>
                <a:off x="8572227" y="3306217"/>
                <a:ext cx="2820772" cy="99386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)×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3306217"/>
                <a:ext cx="2820772" cy="993862"/>
              </a:xfrm>
              <a:prstGeom prst="rect">
                <a:avLst/>
              </a:prstGeom>
              <a:blipFill>
                <a:blip r:embed="rId5"/>
                <a:stretch>
                  <a:fillRect l="-2232" t="-112658" b="-170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Analytical moments of the speed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59C14E-04EF-E859-0278-9EAB44DC4CF9}"/>
              </a:ext>
            </a:extLst>
          </p:cNvPr>
          <p:cNvSpPr/>
          <p:nvPr/>
        </p:nvSpPr>
        <p:spPr>
          <a:xfrm>
            <a:off x="249382" y="3681351"/>
            <a:ext cx="2885704" cy="783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32863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3286348" cy="461665"/>
              </a:xfrm>
              <a:prstGeom prst="rect">
                <a:avLst/>
              </a:prstGeom>
              <a:blipFill>
                <a:blip r:embed="rId6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709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4"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/>
              <p:nvPr/>
            </p:nvSpPr>
            <p:spPr>
              <a:xfrm>
                <a:off x="8572227" y="3306217"/>
                <a:ext cx="2820772" cy="99386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)×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3306217"/>
                <a:ext cx="2820772" cy="993862"/>
              </a:xfrm>
              <a:prstGeom prst="rect">
                <a:avLst/>
              </a:prstGeom>
              <a:blipFill>
                <a:blip r:embed="rId5"/>
                <a:stretch>
                  <a:fillRect l="-2232" t="-112658" b="-170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Analytical moments of the speed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59C14E-04EF-E859-0278-9EAB44DC4CF9}"/>
              </a:ext>
            </a:extLst>
          </p:cNvPr>
          <p:cNvSpPr/>
          <p:nvPr/>
        </p:nvSpPr>
        <p:spPr>
          <a:xfrm>
            <a:off x="249382" y="3681351"/>
            <a:ext cx="2885704" cy="783771"/>
          </a:xfrm>
          <a:prstGeom prst="rect">
            <a:avLst/>
          </a:prstGeom>
          <a:solidFill>
            <a:schemeClr val="tx1">
              <a:alpha val="1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32863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3286348" cy="461665"/>
              </a:xfrm>
              <a:prstGeom prst="rect">
                <a:avLst/>
              </a:prstGeom>
              <a:blipFill>
                <a:blip r:embed="rId6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03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4E6855-6609-0341-842E-71E36BE9927A}"/>
                  </a:ext>
                </a:extLst>
              </p:cNvPr>
              <p:cNvSpPr txBox="1"/>
              <p:nvPr/>
            </p:nvSpPr>
            <p:spPr>
              <a:xfrm>
                <a:off x="133050" y="821344"/>
                <a:ext cx="11489455" cy="135255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According to the equipartition theorem, each rotational and translational degree of freedom is said to get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/>
                  <a:t> of energy, but each vibrational degree of freedom gets twice that,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/>
                  <a:t>. Why twice?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4E6855-6609-0341-842E-71E36BE99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50" y="821344"/>
                <a:ext cx="11489455" cy="1352550"/>
              </a:xfrm>
              <a:prstGeom prst="rect">
                <a:avLst/>
              </a:prstGeom>
              <a:blipFill>
                <a:blip r:embed="rId3"/>
                <a:stretch>
                  <a:fillRect l="-883" t="-3704" b="-83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57E69049-E833-8848-8456-53F29EB193A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167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67B5A-3658-B34C-06BE-5C177397AE1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Equipartition</a:t>
            </a:r>
          </a:p>
        </p:txBody>
      </p:sp>
    </p:spTree>
    <p:extLst>
      <p:ext uri="{BB962C8B-B14F-4D97-AF65-F5344CB8AC3E}">
        <p14:creationId xmlns:p14="http://schemas.microsoft.com/office/powerpoint/2010/main" val="3571891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0B8D4D-5FC8-78B2-987D-7678D0179AE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91" y="4997510"/>
            <a:ext cx="5908632" cy="508478"/>
            <a:chOff x="1236705" y="5667461"/>
            <a:chExt cx="8339781" cy="717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/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/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/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DC3C5D-1415-EA2A-5926-E6FD86C38908}"/>
              </a:ext>
            </a:extLst>
          </p:cNvPr>
          <p:cNvGrpSpPr>
            <a:grpSpLocks noChangeAspect="1"/>
          </p:cNvGrpSpPr>
          <p:nvPr/>
        </p:nvGrpSpPr>
        <p:grpSpPr>
          <a:xfrm>
            <a:off x="515803" y="1682016"/>
            <a:ext cx="6157785" cy="2961173"/>
            <a:chOff x="1626972" y="889686"/>
            <a:chExt cx="9152239" cy="44011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3B0F22-B989-B0F7-0F63-3200ED2E728F}"/>
                </a:ext>
              </a:extLst>
            </p:cNvPr>
            <p:cNvGrpSpPr/>
            <p:nvPr/>
          </p:nvGrpSpPr>
          <p:grpSpPr>
            <a:xfrm>
              <a:off x="8175024" y="1145058"/>
              <a:ext cx="1029729" cy="4118921"/>
              <a:chOff x="8175024" y="1145058"/>
              <a:chExt cx="1029729" cy="411892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6B7CAA-30BD-F8E0-94BC-E4D57521C788}"/>
                  </a:ext>
                </a:extLst>
              </p:cNvPr>
              <p:cNvCxnSpPr/>
              <p:nvPr/>
            </p:nvCxnSpPr>
            <p:spPr>
              <a:xfrm>
                <a:off x="8175024" y="52639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F740D8-FED4-3083-CA49-55C17908895C}"/>
                  </a:ext>
                </a:extLst>
              </p:cNvPr>
              <p:cNvCxnSpPr/>
              <p:nvPr/>
            </p:nvCxnSpPr>
            <p:spPr>
              <a:xfrm>
                <a:off x="8193559" y="31921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67C285-1D0B-CC06-7226-9D9AAA646D3F}"/>
                  </a:ext>
                </a:extLst>
              </p:cNvPr>
              <p:cNvCxnSpPr/>
              <p:nvPr/>
            </p:nvCxnSpPr>
            <p:spPr>
              <a:xfrm>
                <a:off x="8175024" y="1145058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Up Arrow 34">
              <a:extLst>
                <a:ext uri="{FF2B5EF4-FFF2-40B4-BE49-F238E27FC236}">
                  <a16:creationId xmlns:a16="http://schemas.microsoft.com/office/drawing/2014/main" id="{115AC60A-8713-B77D-CA00-0D8B36DC1ACD}"/>
                </a:ext>
              </a:extLst>
            </p:cNvPr>
            <p:cNvSpPr/>
            <p:nvPr/>
          </p:nvSpPr>
          <p:spPr>
            <a:xfrm>
              <a:off x="5945660" y="3830600"/>
              <a:ext cx="494270" cy="1441617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/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blipFill>
                  <a:blip r:embed="rId6"/>
                  <a:stretch>
                    <a:fillRect l="-1961" r="-23529" b="-5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Up Arrow 38">
              <a:extLst>
                <a:ext uri="{FF2B5EF4-FFF2-40B4-BE49-F238E27FC236}">
                  <a16:creationId xmlns:a16="http://schemas.microsoft.com/office/drawing/2014/main" id="{A72F7681-17A2-84C2-3CC2-66CF10288246}"/>
                </a:ext>
              </a:extLst>
            </p:cNvPr>
            <p:cNvSpPr/>
            <p:nvPr/>
          </p:nvSpPr>
          <p:spPr>
            <a:xfrm>
              <a:off x="9234616" y="3830600"/>
              <a:ext cx="494270" cy="1449682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Up Arrow 39">
              <a:extLst>
                <a:ext uri="{FF2B5EF4-FFF2-40B4-BE49-F238E27FC236}">
                  <a16:creationId xmlns:a16="http://schemas.microsoft.com/office/drawing/2014/main" id="{6AFE4695-64D0-8D97-91B9-0F0E212ACAB5}"/>
                </a:ext>
              </a:extLst>
            </p:cNvPr>
            <p:cNvSpPr/>
            <p:nvPr/>
          </p:nvSpPr>
          <p:spPr>
            <a:xfrm>
              <a:off x="2877065" y="3830600"/>
              <a:ext cx="494270" cy="1460240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EF9A81-D505-023F-AD9C-A97B73E6C6F5}"/>
                </a:ext>
              </a:extLst>
            </p:cNvPr>
            <p:cNvGrpSpPr/>
            <p:nvPr/>
          </p:nvGrpSpPr>
          <p:grpSpPr>
            <a:xfrm>
              <a:off x="4835611" y="889686"/>
              <a:ext cx="1011194" cy="4386650"/>
              <a:chOff x="4835611" y="889686"/>
              <a:chExt cx="1011194" cy="4386650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E51DB65-198F-82E9-C616-48868D190F7B}"/>
                  </a:ext>
                </a:extLst>
              </p:cNvPr>
              <p:cNvCxnSpPr/>
              <p:nvPr/>
            </p:nvCxnSpPr>
            <p:spPr>
              <a:xfrm>
                <a:off x="4835611" y="527633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E7D4D64C-F7EA-8872-00C9-E498E8834F3C}"/>
                  </a:ext>
                </a:extLst>
              </p:cNvPr>
              <p:cNvCxnSpPr/>
              <p:nvPr/>
            </p:nvCxnSpPr>
            <p:spPr>
              <a:xfrm>
                <a:off x="4835611" y="4650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E3FD980-DB84-1E42-1B9A-48509EE30123}"/>
                  </a:ext>
                </a:extLst>
              </p:cNvPr>
              <p:cNvCxnSpPr/>
              <p:nvPr/>
            </p:nvCxnSpPr>
            <p:spPr>
              <a:xfrm>
                <a:off x="4835611" y="4026244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B64C3C3-A284-69D5-E1CB-45098E245596}"/>
                  </a:ext>
                </a:extLst>
              </p:cNvPr>
              <p:cNvCxnSpPr/>
              <p:nvPr/>
            </p:nvCxnSpPr>
            <p:spPr>
              <a:xfrm>
                <a:off x="4835611" y="340016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E30B906-CE97-1258-CA55-6C87330C139A}"/>
                  </a:ext>
                </a:extLst>
              </p:cNvPr>
              <p:cNvCxnSpPr/>
              <p:nvPr/>
            </p:nvCxnSpPr>
            <p:spPr>
              <a:xfrm>
                <a:off x="4835611" y="275967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90AB27-C58A-8083-C0D5-CF43B6D39223}"/>
                  </a:ext>
                </a:extLst>
              </p:cNvPr>
              <p:cNvCxnSpPr/>
              <p:nvPr/>
            </p:nvCxnSpPr>
            <p:spPr>
              <a:xfrm>
                <a:off x="4835611" y="2133600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876357-ED45-2C33-F004-11434A747E47}"/>
                  </a:ext>
                </a:extLst>
              </p:cNvPr>
              <p:cNvCxnSpPr/>
              <p:nvPr/>
            </p:nvCxnSpPr>
            <p:spPr>
              <a:xfrm>
                <a:off x="4835611" y="151576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5827E3-7487-7B57-49AE-9BDB2617FA7A}"/>
                  </a:ext>
                </a:extLst>
              </p:cNvPr>
              <p:cNvCxnSpPr/>
              <p:nvPr/>
            </p:nvCxnSpPr>
            <p:spPr>
              <a:xfrm>
                <a:off x="4835611" y="88968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602657-5CBF-1182-2B58-D93296AB6BE3}"/>
                </a:ext>
              </a:extLst>
            </p:cNvPr>
            <p:cNvGrpSpPr/>
            <p:nvPr/>
          </p:nvGrpSpPr>
          <p:grpSpPr>
            <a:xfrm>
              <a:off x="1626972" y="951469"/>
              <a:ext cx="1011195" cy="4320748"/>
              <a:chOff x="1626972" y="951469"/>
              <a:chExt cx="1011195" cy="4320748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63EB84-6CE0-55D8-114F-EDC9DCE487DE}"/>
                  </a:ext>
                </a:extLst>
              </p:cNvPr>
              <p:cNvCxnSpPr/>
              <p:nvPr/>
            </p:nvCxnSpPr>
            <p:spPr>
              <a:xfrm>
                <a:off x="1626973" y="527221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A0A0F4-C661-0B7A-16BC-2AC4B16A6991}"/>
                  </a:ext>
                </a:extLst>
              </p:cNvPr>
              <p:cNvCxnSpPr/>
              <p:nvPr/>
            </p:nvCxnSpPr>
            <p:spPr>
              <a:xfrm>
                <a:off x="1626973" y="500448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64EC3B3-F1DD-6C2A-981B-43063BF58CE6}"/>
                  </a:ext>
                </a:extLst>
              </p:cNvPr>
              <p:cNvCxnSpPr/>
              <p:nvPr/>
            </p:nvCxnSpPr>
            <p:spPr>
              <a:xfrm>
                <a:off x="1626973" y="472028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60BA53-A5F9-B53D-3072-6C34A35AF4F1}"/>
                  </a:ext>
                </a:extLst>
              </p:cNvPr>
              <p:cNvCxnSpPr/>
              <p:nvPr/>
            </p:nvCxnSpPr>
            <p:spPr>
              <a:xfrm>
                <a:off x="1626973" y="445255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628B3F1-352D-72FF-572F-71E0F80E8EE8}"/>
                  </a:ext>
                </a:extLst>
              </p:cNvPr>
              <p:cNvCxnSpPr/>
              <p:nvPr/>
            </p:nvCxnSpPr>
            <p:spPr>
              <a:xfrm>
                <a:off x="1626972" y="41930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84A47A2-C238-7775-15A2-57CB49897F22}"/>
                  </a:ext>
                </a:extLst>
              </p:cNvPr>
              <p:cNvCxnSpPr/>
              <p:nvPr/>
            </p:nvCxnSpPr>
            <p:spPr>
              <a:xfrm>
                <a:off x="1626972" y="392533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7A938C7-1387-3FDD-A92B-419F460B58FD}"/>
                  </a:ext>
                </a:extLst>
              </p:cNvPr>
              <p:cNvCxnSpPr/>
              <p:nvPr/>
            </p:nvCxnSpPr>
            <p:spPr>
              <a:xfrm>
                <a:off x="1626972" y="364112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365EBD6-F6C8-569F-47C9-8FA3D2E8E301}"/>
                  </a:ext>
                </a:extLst>
              </p:cNvPr>
              <p:cNvCxnSpPr/>
              <p:nvPr/>
            </p:nvCxnSpPr>
            <p:spPr>
              <a:xfrm>
                <a:off x="1626972" y="337339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A744A53-8189-3618-17D5-8527F2D8B6CA}"/>
                  </a:ext>
                </a:extLst>
              </p:cNvPr>
              <p:cNvCxnSpPr/>
              <p:nvPr/>
            </p:nvCxnSpPr>
            <p:spPr>
              <a:xfrm>
                <a:off x="1626972" y="3126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1B59C4-3B4F-5BE9-AD80-4E4A904EFFA2}"/>
                  </a:ext>
                </a:extLst>
              </p:cNvPr>
              <p:cNvCxnSpPr/>
              <p:nvPr/>
            </p:nvCxnSpPr>
            <p:spPr>
              <a:xfrm>
                <a:off x="1626972" y="285852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5F8214-4EA8-01A5-82CC-604329A56C32}"/>
                  </a:ext>
                </a:extLst>
              </p:cNvPr>
              <p:cNvCxnSpPr/>
              <p:nvPr/>
            </p:nvCxnSpPr>
            <p:spPr>
              <a:xfrm>
                <a:off x="1626972" y="257432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2BE70C4-DF95-C25E-55BC-72E21E46CF64}"/>
                  </a:ext>
                </a:extLst>
              </p:cNvPr>
              <p:cNvCxnSpPr/>
              <p:nvPr/>
            </p:nvCxnSpPr>
            <p:spPr>
              <a:xfrm>
                <a:off x="1626972" y="230659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5491CA5-ED12-6CFB-F5F1-99C21FE08752}"/>
                  </a:ext>
                </a:extLst>
              </p:cNvPr>
              <p:cNvCxnSpPr/>
              <p:nvPr/>
            </p:nvCxnSpPr>
            <p:spPr>
              <a:xfrm>
                <a:off x="1626972" y="202650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F31CB8A-5B96-C7F9-5F0D-0704BBFEB9DC}"/>
                  </a:ext>
                </a:extLst>
              </p:cNvPr>
              <p:cNvCxnSpPr/>
              <p:nvPr/>
            </p:nvCxnSpPr>
            <p:spPr>
              <a:xfrm>
                <a:off x="1626972" y="17587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744C68E-D963-F273-07E1-81B6D265F70D}"/>
                  </a:ext>
                </a:extLst>
              </p:cNvPr>
              <p:cNvCxnSpPr/>
              <p:nvPr/>
            </p:nvCxnSpPr>
            <p:spPr>
              <a:xfrm>
                <a:off x="1626972" y="147457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F5FCFC-6731-9535-93FA-0E47E482E1CD}"/>
                  </a:ext>
                </a:extLst>
              </p:cNvPr>
              <p:cNvCxnSpPr/>
              <p:nvPr/>
            </p:nvCxnSpPr>
            <p:spPr>
              <a:xfrm>
                <a:off x="1626972" y="120684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7BB0B6-A980-FA2B-A645-5AF469BECA1A}"/>
                  </a:ext>
                </a:extLst>
              </p:cNvPr>
              <p:cNvCxnSpPr/>
              <p:nvPr/>
            </p:nvCxnSpPr>
            <p:spPr>
              <a:xfrm>
                <a:off x="1626972" y="95146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/>
              <p:nvPr/>
            </p:nvSpPr>
            <p:spPr>
              <a:xfrm>
                <a:off x="7094391" y="2274838"/>
                <a:ext cx="5002609" cy="26776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It’s probably the case that the atomic masses are such that</a:t>
                </a:r>
              </a:p>
              <a:p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91" y="2274838"/>
                <a:ext cx="5002609" cy="2677656"/>
              </a:xfrm>
              <a:prstGeom prst="rect">
                <a:avLst/>
              </a:prstGeom>
              <a:blipFill>
                <a:blip r:embed="rId7"/>
                <a:stretch>
                  <a:fillRect l="-1772" t="-14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D05D09-10C6-2EEE-EA07-933B914D16E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Relationship between vibrational energy gap and mass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FDAEC-5716-7CAD-6C78-D471F22DC601}"/>
              </a:ext>
            </a:extLst>
          </p:cNvPr>
          <p:cNvSpPr txBox="1"/>
          <p:nvPr/>
        </p:nvSpPr>
        <p:spPr>
          <a:xfrm>
            <a:off x="461782" y="582399"/>
            <a:ext cx="5106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vibrational energy levels of some diatomic molecules</a:t>
            </a:r>
          </a:p>
        </p:txBody>
      </p:sp>
    </p:spTree>
    <p:extLst>
      <p:ext uri="{BB962C8B-B14F-4D97-AF65-F5344CB8AC3E}">
        <p14:creationId xmlns:p14="http://schemas.microsoft.com/office/powerpoint/2010/main" val="3835008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0B8D4D-5FC8-78B2-987D-7678D0179AE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91" y="4997510"/>
            <a:ext cx="5908632" cy="508478"/>
            <a:chOff x="1236705" y="5667461"/>
            <a:chExt cx="8339781" cy="717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/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/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/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DC3C5D-1415-EA2A-5926-E6FD86C38908}"/>
              </a:ext>
            </a:extLst>
          </p:cNvPr>
          <p:cNvGrpSpPr>
            <a:grpSpLocks noChangeAspect="1"/>
          </p:cNvGrpSpPr>
          <p:nvPr/>
        </p:nvGrpSpPr>
        <p:grpSpPr>
          <a:xfrm>
            <a:off x="515803" y="1682016"/>
            <a:ext cx="6157785" cy="2961173"/>
            <a:chOff x="1626972" y="889686"/>
            <a:chExt cx="9152239" cy="44011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3B0F22-B989-B0F7-0F63-3200ED2E728F}"/>
                </a:ext>
              </a:extLst>
            </p:cNvPr>
            <p:cNvGrpSpPr/>
            <p:nvPr/>
          </p:nvGrpSpPr>
          <p:grpSpPr>
            <a:xfrm>
              <a:off x="8175024" y="1145058"/>
              <a:ext cx="1029729" cy="4118921"/>
              <a:chOff x="8175024" y="1145058"/>
              <a:chExt cx="1029729" cy="411892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6B7CAA-30BD-F8E0-94BC-E4D57521C788}"/>
                  </a:ext>
                </a:extLst>
              </p:cNvPr>
              <p:cNvCxnSpPr/>
              <p:nvPr/>
            </p:nvCxnSpPr>
            <p:spPr>
              <a:xfrm>
                <a:off x="8175024" y="52639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F740D8-FED4-3083-CA49-55C17908895C}"/>
                  </a:ext>
                </a:extLst>
              </p:cNvPr>
              <p:cNvCxnSpPr/>
              <p:nvPr/>
            </p:nvCxnSpPr>
            <p:spPr>
              <a:xfrm>
                <a:off x="8193559" y="31921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67C285-1D0B-CC06-7226-9D9AAA646D3F}"/>
                  </a:ext>
                </a:extLst>
              </p:cNvPr>
              <p:cNvCxnSpPr/>
              <p:nvPr/>
            </p:nvCxnSpPr>
            <p:spPr>
              <a:xfrm>
                <a:off x="8175024" y="1145058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Up Arrow 34">
              <a:extLst>
                <a:ext uri="{FF2B5EF4-FFF2-40B4-BE49-F238E27FC236}">
                  <a16:creationId xmlns:a16="http://schemas.microsoft.com/office/drawing/2014/main" id="{115AC60A-8713-B77D-CA00-0D8B36DC1ACD}"/>
                </a:ext>
              </a:extLst>
            </p:cNvPr>
            <p:cNvSpPr/>
            <p:nvPr/>
          </p:nvSpPr>
          <p:spPr>
            <a:xfrm>
              <a:off x="5945660" y="3830600"/>
              <a:ext cx="494270" cy="1441617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/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blipFill>
                  <a:blip r:embed="rId6"/>
                  <a:stretch>
                    <a:fillRect l="-1961" r="-23529" b="-5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Up Arrow 38">
              <a:extLst>
                <a:ext uri="{FF2B5EF4-FFF2-40B4-BE49-F238E27FC236}">
                  <a16:creationId xmlns:a16="http://schemas.microsoft.com/office/drawing/2014/main" id="{A72F7681-17A2-84C2-3CC2-66CF10288246}"/>
                </a:ext>
              </a:extLst>
            </p:cNvPr>
            <p:cNvSpPr/>
            <p:nvPr/>
          </p:nvSpPr>
          <p:spPr>
            <a:xfrm>
              <a:off x="9234616" y="3830600"/>
              <a:ext cx="494270" cy="1449682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Up Arrow 39">
              <a:extLst>
                <a:ext uri="{FF2B5EF4-FFF2-40B4-BE49-F238E27FC236}">
                  <a16:creationId xmlns:a16="http://schemas.microsoft.com/office/drawing/2014/main" id="{6AFE4695-64D0-8D97-91B9-0F0E212ACAB5}"/>
                </a:ext>
              </a:extLst>
            </p:cNvPr>
            <p:cNvSpPr/>
            <p:nvPr/>
          </p:nvSpPr>
          <p:spPr>
            <a:xfrm>
              <a:off x="2877065" y="3830600"/>
              <a:ext cx="494270" cy="1460240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EF9A81-D505-023F-AD9C-A97B73E6C6F5}"/>
                </a:ext>
              </a:extLst>
            </p:cNvPr>
            <p:cNvGrpSpPr/>
            <p:nvPr/>
          </p:nvGrpSpPr>
          <p:grpSpPr>
            <a:xfrm>
              <a:off x="4835611" y="889686"/>
              <a:ext cx="1011194" cy="4386650"/>
              <a:chOff x="4835611" y="889686"/>
              <a:chExt cx="1011194" cy="4386650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E51DB65-198F-82E9-C616-48868D190F7B}"/>
                  </a:ext>
                </a:extLst>
              </p:cNvPr>
              <p:cNvCxnSpPr/>
              <p:nvPr/>
            </p:nvCxnSpPr>
            <p:spPr>
              <a:xfrm>
                <a:off x="4835611" y="527633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E7D4D64C-F7EA-8872-00C9-E498E8834F3C}"/>
                  </a:ext>
                </a:extLst>
              </p:cNvPr>
              <p:cNvCxnSpPr/>
              <p:nvPr/>
            </p:nvCxnSpPr>
            <p:spPr>
              <a:xfrm>
                <a:off x="4835611" y="4650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E3FD980-DB84-1E42-1B9A-48509EE30123}"/>
                  </a:ext>
                </a:extLst>
              </p:cNvPr>
              <p:cNvCxnSpPr/>
              <p:nvPr/>
            </p:nvCxnSpPr>
            <p:spPr>
              <a:xfrm>
                <a:off x="4835611" y="4026244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B64C3C3-A284-69D5-E1CB-45098E245596}"/>
                  </a:ext>
                </a:extLst>
              </p:cNvPr>
              <p:cNvCxnSpPr/>
              <p:nvPr/>
            </p:nvCxnSpPr>
            <p:spPr>
              <a:xfrm>
                <a:off x="4835611" y="340016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E30B906-CE97-1258-CA55-6C87330C139A}"/>
                  </a:ext>
                </a:extLst>
              </p:cNvPr>
              <p:cNvCxnSpPr/>
              <p:nvPr/>
            </p:nvCxnSpPr>
            <p:spPr>
              <a:xfrm>
                <a:off x="4835611" y="275967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90AB27-C58A-8083-C0D5-CF43B6D39223}"/>
                  </a:ext>
                </a:extLst>
              </p:cNvPr>
              <p:cNvCxnSpPr/>
              <p:nvPr/>
            </p:nvCxnSpPr>
            <p:spPr>
              <a:xfrm>
                <a:off x="4835611" y="2133600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876357-ED45-2C33-F004-11434A747E47}"/>
                  </a:ext>
                </a:extLst>
              </p:cNvPr>
              <p:cNvCxnSpPr/>
              <p:nvPr/>
            </p:nvCxnSpPr>
            <p:spPr>
              <a:xfrm>
                <a:off x="4835611" y="151576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5827E3-7487-7B57-49AE-9BDB2617FA7A}"/>
                  </a:ext>
                </a:extLst>
              </p:cNvPr>
              <p:cNvCxnSpPr/>
              <p:nvPr/>
            </p:nvCxnSpPr>
            <p:spPr>
              <a:xfrm>
                <a:off x="4835611" y="88968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602657-5CBF-1182-2B58-D93296AB6BE3}"/>
                </a:ext>
              </a:extLst>
            </p:cNvPr>
            <p:cNvGrpSpPr/>
            <p:nvPr/>
          </p:nvGrpSpPr>
          <p:grpSpPr>
            <a:xfrm>
              <a:off x="1626972" y="951469"/>
              <a:ext cx="1011195" cy="4320748"/>
              <a:chOff x="1626972" y="951469"/>
              <a:chExt cx="1011195" cy="4320748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63EB84-6CE0-55D8-114F-EDC9DCE487DE}"/>
                  </a:ext>
                </a:extLst>
              </p:cNvPr>
              <p:cNvCxnSpPr/>
              <p:nvPr/>
            </p:nvCxnSpPr>
            <p:spPr>
              <a:xfrm>
                <a:off x="1626973" y="527221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A0A0F4-C661-0B7A-16BC-2AC4B16A6991}"/>
                  </a:ext>
                </a:extLst>
              </p:cNvPr>
              <p:cNvCxnSpPr/>
              <p:nvPr/>
            </p:nvCxnSpPr>
            <p:spPr>
              <a:xfrm>
                <a:off x="1626973" y="500448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64EC3B3-F1DD-6C2A-981B-43063BF58CE6}"/>
                  </a:ext>
                </a:extLst>
              </p:cNvPr>
              <p:cNvCxnSpPr/>
              <p:nvPr/>
            </p:nvCxnSpPr>
            <p:spPr>
              <a:xfrm>
                <a:off x="1626973" y="472028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60BA53-A5F9-B53D-3072-6C34A35AF4F1}"/>
                  </a:ext>
                </a:extLst>
              </p:cNvPr>
              <p:cNvCxnSpPr/>
              <p:nvPr/>
            </p:nvCxnSpPr>
            <p:spPr>
              <a:xfrm>
                <a:off x="1626973" y="445255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628B3F1-352D-72FF-572F-71E0F80E8EE8}"/>
                  </a:ext>
                </a:extLst>
              </p:cNvPr>
              <p:cNvCxnSpPr/>
              <p:nvPr/>
            </p:nvCxnSpPr>
            <p:spPr>
              <a:xfrm>
                <a:off x="1626972" y="41930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84A47A2-C238-7775-15A2-57CB49897F22}"/>
                  </a:ext>
                </a:extLst>
              </p:cNvPr>
              <p:cNvCxnSpPr/>
              <p:nvPr/>
            </p:nvCxnSpPr>
            <p:spPr>
              <a:xfrm>
                <a:off x="1626972" y="392533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7A938C7-1387-3FDD-A92B-419F460B58FD}"/>
                  </a:ext>
                </a:extLst>
              </p:cNvPr>
              <p:cNvCxnSpPr/>
              <p:nvPr/>
            </p:nvCxnSpPr>
            <p:spPr>
              <a:xfrm>
                <a:off x="1626972" y="364112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365EBD6-F6C8-569F-47C9-8FA3D2E8E301}"/>
                  </a:ext>
                </a:extLst>
              </p:cNvPr>
              <p:cNvCxnSpPr/>
              <p:nvPr/>
            </p:nvCxnSpPr>
            <p:spPr>
              <a:xfrm>
                <a:off x="1626972" y="337339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A744A53-8189-3618-17D5-8527F2D8B6CA}"/>
                  </a:ext>
                </a:extLst>
              </p:cNvPr>
              <p:cNvCxnSpPr/>
              <p:nvPr/>
            </p:nvCxnSpPr>
            <p:spPr>
              <a:xfrm>
                <a:off x="1626972" y="3126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1B59C4-3B4F-5BE9-AD80-4E4A904EFFA2}"/>
                  </a:ext>
                </a:extLst>
              </p:cNvPr>
              <p:cNvCxnSpPr/>
              <p:nvPr/>
            </p:nvCxnSpPr>
            <p:spPr>
              <a:xfrm>
                <a:off x="1626972" y="285852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5F8214-4EA8-01A5-82CC-604329A56C32}"/>
                  </a:ext>
                </a:extLst>
              </p:cNvPr>
              <p:cNvCxnSpPr/>
              <p:nvPr/>
            </p:nvCxnSpPr>
            <p:spPr>
              <a:xfrm>
                <a:off x="1626972" y="257432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2BE70C4-DF95-C25E-55BC-72E21E46CF64}"/>
                  </a:ext>
                </a:extLst>
              </p:cNvPr>
              <p:cNvCxnSpPr/>
              <p:nvPr/>
            </p:nvCxnSpPr>
            <p:spPr>
              <a:xfrm>
                <a:off x="1626972" y="230659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5491CA5-ED12-6CFB-F5F1-99C21FE08752}"/>
                  </a:ext>
                </a:extLst>
              </p:cNvPr>
              <p:cNvCxnSpPr/>
              <p:nvPr/>
            </p:nvCxnSpPr>
            <p:spPr>
              <a:xfrm>
                <a:off x="1626972" y="202650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F31CB8A-5B96-C7F9-5F0D-0704BBFEB9DC}"/>
                  </a:ext>
                </a:extLst>
              </p:cNvPr>
              <p:cNvCxnSpPr/>
              <p:nvPr/>
            </p:nvCxnSpPr>
            <p:spPr>
              <a:xfrm>
                <a:off x="1626972" y="17587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744C68E-D963-F273-07E1-81B6D265F70D}"/>
                  </a:ext>
                </a:extLst>
              </p:cNvPr>
              <p:cNvCxnSpPr/>
              <p:nvPr/>
            </p:nvCxnSpPr>
            <p:spPr>
              <a:xfrm>
                <a:off x="1626972" y="147457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F5FCFC-6731-9535-93FA-0E47E482E1CD}"/>
                  </a:ext>
                </a:extLst>
              </p:cNvPr>
              <p:cNvCxnSpPr/>
              <p:nvPr/>
            </p:nvCxnSpPr>
            <p:spPr>
              <a:xfrm>
                <a:off x="1626972" y="120684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7BB0B6-A980-FA2B-A645-5AF469BECA1A}"/>
                  </a:ext>
                </a:extLst>
              </p:cNvPr>
              <p:cNvCxnSpPr/>
              <p:nvPr/>
            </p:nvCxnSpPr>
            <p:spPr>
              <a:xfrm>
                <a:off x="1626972" y="95146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/>
              <p:nvPr/>
            </p:nvSpPr>
            <p:spPr>
              <a:xfrm>
                <a:off x="7094391" y="2274838"/>
                <a:ext cx="5002609" cy="26776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It’s probably the case that the atomic masses are such that</a:t>
                </a:r>
              </a:p>
              <a:p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heaviest</a:t>
                </a:r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91" y="2274838"/>
                <a:ext cx="5002609" cy="2677656"/>
              </a:xfrm>
              <a:prstGeom prst="rect">
                <a:avLst/>
              </a:prstGeom>
              <a:blipFill>
                <a:blip r:embed="rId7"/>
                <a:stretch>
                  <a:fillRect l="-1772" t="-14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D05D09-10C6-2EEE-EA07-933B914D16E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Relationship between vibrational energy gap and mass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D1272-6959-70DB-7300-71149D8D8A8F}"/>
              </a:ext>
            </a:extLst>
          </p:cNvPr>
          <p:cNvSpPr/>
          <p:nvPr/>
        </p:nvSpPr>
        <p:spPr>
          <a:xfrm>
            <a:off x="8098975" y="3400460"/>
            <a:ext cx="1705980" cy="407974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F734F-7FDA-91A0-C559-002DA09445B3}"/>
              </a:ext>
            </a:extLst>
          </p:cNvPr>
          <p:cNvSpPr txBox="1"/>
          <p:nvPr/>
        </p:nvSpPr>
        <p:spPr>
          <a:xfrm>
            <a:off x="461782" y="582399"/>
            <a:ext cx="5106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vibrational energy levels of some diatomic molecules</a:t>
            </a:r>
          </a:p>
        </p:txBody>
      </p:sp>
    </p:spTree>
    <p:extLst>
      <p:ext uri="{BB962C8B-B14F-4D97-AF65-F5344CB8AC3E}">
        <p14:creationId xmlns:p14="http://schemas.microsoft.com/office/powerpoint/2010/main" val="727275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0B8D4D-5FC8-78B2-987D-7678D0179AE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91" y="4997510"/>
            <a:ext cx="5908632" cy="508478"/>
            <a:chOff x="1236705" y="5667461"/>
            <a:chExt cx="8339781" cy="717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/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/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/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DC3C5D-1415-EA2A-5926-E6FD86C38908}"/>
              </a:ext>
            </a:extLst>
          </p:cNvPr>
          <p:cNvGrpSpPr>
            <a:grpSpLocks noChangeAspect="1"/>
          </p:cNvGrpSpPr>
          <p:nvPr/>
        </p:nvGrpSpPr>
        <p:grpSpPr>
          <a:xfrm>
            <a:off x="515803" y="1682016"/>
            <a:ext cx="6157785" cy="2961173"/>
            <a:chOff x="1626972" y="889686"/>
            <a:chExt cx="9152239" cy="44011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3B0F22-B989-B0F7-0F63-3200ED2E728F}"/>
                </a:ext>
              </a:extLst>
            </p:cNvPr>
            <p:cNvGrpSpPr/>
            <p:nvPr/>
          </p:nvGrpSpPr>
          <p:grpSpPr>
            <a:xfrm>
              <a:off x="8175024" y="1145058"/>
              <a:ext cx="1029729" cy="4118921"/>
              <a:chOff x="8175024" y="1145058"/>
              <a:chExt cx="1029729" cy="411892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6B7CAA-30BD-F8E0-94BC-E4D57521C788}"/>
                  </a:ext>
                </a:extLst>
              </p:cNvPr>
              <p:cNvCxnSpPr/>
              <p:nvPr/>
            </p:nvCxnSpPr>
            <p:spPr>
              <a:xfrm>
                <a:off x="8175024" y="52639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F740D8-FED4-3083-CA49-55C17908895C}"/>
                  </a:ext>
                </a:extLst>
              </p:cNvPr>
              <p:cNvCxnSpPr/>
              <p:nvPr/>
            </p:nvCxnSpPr>
            <p:spPr>
              <a:xfrm>
                <a:off x="8193559" y="31921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67C285-1D0B-CC06-7226-9D9AAA646D3F}"/>
                  </a:ext>
                </a:extLst>
              </p:cNvPr>
              <p:cNvCxnSpPr/>
              <p:nvPr/>
            </p:nvCxnSpPr>
            <p:spPr>
              <a:xfrm>
                <a:off x="8175024" y="1145058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Up Arrow 34">
              <a:extLst>
                <a:ext uri="{FF2B5EF4-FFF2-40B4-BE49-F238E27FC236}">
                  <a16:creationId xmlns:a16="http://schemas.microsoft.com/office/drawing/2014/main" id="{115AC60A-8713-B77D-CA00-0D8B36DC1ACD}"/>
                </a:ext>
              </a:extLst>
            </p:cNvPr>
            <p:cNvSpPr/>
            <p:nvPr/>
          </p:nvSpPr>
          <p:spPr>
            <a:xfrm>
              <a:off x="5945660" y="3830600"/>
              <a:ext cx="494270" cy="1441617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/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blipFill>
                  <a:blip r:embed="rId6"/>
                  <a:stretch>
                    <a:fillRect l="-1961" r="-23529" b="-5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Up Arrow 38">
              <a:extLst>
                <a:ext uri="{FF2B5EF4-FFF2-40B4-BE49-F238E27FC236}">
                  <a16:creationId xmlns:a16="http://schemas.microsoft.com/office/drawing/2014/main" id="{A72F7681-17A2-84C2-3CC2-66CF10288246}"/>
                </a:ext>
              </a:extLst>
            </p:cNvPr>
            <p:cNvSpPr/>
            <p:nvPr/>
          </p:nvSpPr>
          <p:spPr>
            <a:xfrm>
              <a:off x="9234616" y="3830600"/>
              <a:ext cx="494270" cy="1449682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Up Arrow 39">
              <a:extLst>
                <a:ext uri="{FF2B5EF4-FFF2-40B4-BE49-F238E27FC236}">
                  <a16:creationId xmlns:a16="http://schemas.microsoft.com/office/drawing/2014/main" id="{6AFE4695-64D0-8D97-91B9-0F0E212ACAB5}"/>
                </a:ext>
              </a:extLst>
            </p:cNvPr>
            <p:cNvSpPr/>
            <p:nvPr/>
          </p:nvSpPr>
          <p:spPr>
            <a:xfrm>
              <a:off x="2877065" y="3830600"/>
              <a:ext cx="494270" cy="1460240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EF9A81-D505-023F-AD9C-A97B73E6C6F5}"/>
                </a:ext>
              </a:extLst>
            </p:cNvPr>
            <p:cNvGrpSpPr/>
            <p:nvPr/>
          </p:nvGrpSpPr>
          <p:grpSpPr>
            <a:xfrm>
              <a:off x="4835611" y="889686"/>
              <a:ext cx="1011194" cy="4386650"/>
              <a:chOff x="4835611" y="889686"/>
              <a:chExt cx="1011194" cy="4386650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E51DB65-198F-82E9-C616-48868D190F7B}"/>
                  </a:ext>
                </a:extLst>
              </p:cNvPr>
              <p:cNvCxnSpPr/>
              <p:nvPr/>
            </p:nvCxnSpPr>
            <p:spPr>
              <a:xfrm>
                <a:off x="4835611" y="527633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E7D4D64C-F7EA-8872-00C9-E498E8834F3C}"/>
                  </a:ext>
                </a:extLst>
              </p:cNvPr>
              <p:cNvCxnSpPr/>
              <p:nvPr/>
            </p:nvCxnSpPr>
            <p:spPr>
              <a:xfrm>
                <a:off x="4835611" y="4650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E3FD980-DB84-1E42-1B9A-48509EE30123}"/>
                  </a:ext>
                </a:extLst>
              </p:cNvPr>
              <p:cNvCxnSpPr/>
              <p:nvPr/>
            </p:nvCxnSpPr>
            <p:spPr>
              <a:xfrm>
                <a:off x="4835611" y="4026244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B64C3C3-A284-69D5-E1CB-45098E245596}"/>
                  </a:ext>
                </a:extLst>
              </p:cNvPr>
              <p:cNvCxnSpPr/>
              <p:nvPr/>
            </p:nvCxnSpPr>
            <p:spPr>
              <a:xfrm>
                <a:off x="4835611" y="340016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E30B906-CE97-1258-CA55-6C87330C139A}"/>
                  </a:ext>
                </a:extLst>
              </p:cNvPr>
              <p:cNvCxnSpPr/>
              <p:nvPr/>
            </p:nvCxnSpPr>
            <p:spPr>
              <a:xfrm>
                <a:off x="4835611" y="275967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90AB27-C58A-8083-C0D5-CF43B6D39223}"/>
                  </a:ext>
                </a:extLst>
              </p:cNvPr>
              <p:cNvCxnSpPr/>
              <p:nvPr/>
            </p:nvCxnSpPr>
            <p:spPr>
              <a:xfrm>
                <a:off x="4835611" y="2133600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876357-ED45-2C33-F004-11434A747E47}"/>
                  </a:ext>
                </a:extLst>
              </p:cNvPr>
              <p:cNvCxnSpPr/>
              <p:nvPr/>
            </p:nvCxnSpPr>
            <p:spPr>
              <a:xfrm>
                <a:off x="4835611" y="151576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5827E3-7487-7B57-49AE-9BDB2617FA7A}"/>
                  </a:ext>
                </a:extLst>
              </p:cNvPr>
              <p:cNvCxnSpPr/>
              <p:nvPr/>
            </p:nvCxnSpPr>
            <p:spPr>
              <a:xfrm>
                <a:off x="4835611" y="88968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602657-5CBF-1182-2B58-D93296AB6BE3}"/>
                </a:ext>
              </a:extLst>
            </p:cNvPr>
            <p:cNvGrpSpPr/>
            <p:nvPr/>
          </p:nvGrpSpPr>
          <p:grpSpPr>
            <a:xfrm>
              <a:off x="1626972" y="951469"/>
              <a:ext cx="1011195" cy="4320748"/>
              <a:chOff x="1626972" y="951469"/>
              <a:chExt cx="1011195" cy="4320748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63EB84-6CE0-55D8-114F-EDC9DCE487DE}"/>
                  </a:ext>
                </a:extLst>
              </p:cNvPr>
              <p:cNvCxnSpPr/>
              <p:nvPr/>
            </p:nvCxnSpPr>
            <p:spPr>
              <a:xfrm>
                <a:off x="1626973" y="527221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A0A0F4-C661-0B7A-16BC-2AC4B16A6991}"/>
                  </a:ext>
                </a:extLst>
              </p:cNvPr>
              <p:cNvCxnSpPr/>
              <p:nvPr/>
            </p:nvCxnSpPr>
            <p:spPr>
              <a:xfrm>
                <a:off x="1626973" y="500448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64EC3B3-F1DD-6C2A-981B-43063BF58CE6}"/>
                  </a:ext>
                </a:extLst>
              </p:cNvPr>
              <p:cNvCxnSpPr/>
              <p:nvPr/>
            </p:nvCxnSpPr>
            <p:spPr>
              <a:xfrm>
                <a:off x="1626973" y="472028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60BA53-A5F9-B53D-3072-6C34A35AF4F1}"/>
                  </a:ext>
                </a:extLst>
              </p:cNvPr>
              <p:cNvCxnSpPr/>
              <p:nvPr/>
            </p:nvCxnSpPr>
            <p:spPr>
              <a:xfrm>
                <a:off x="1626973" y="445255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628B3F1-352D-72FF-572F-71E0F80E8EE8}"/>
                  </a:ext>
                </a:extLst>
              </p:cNvPr>
              <p:cNvCxnSpPr/>
              <p:nvPr/>
            </p:nvCxnSpPr>
            <p:spPr>
              <a:xfrm>
                <a:off x="1626972" y="41930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84A47A2-C238-7775-15A2-57CB49897F22}"/>
                  </a:ext>
                </a:extLst>
              </p:cNvPr>
              <p:cNvCxnSpPr/>
              <p:nvPr/>
            </p:nvCxnSpPr>
            <p:spPr>
              <a:xfrm>
                <a:off x="1626972" y="392533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7A938C7-1387-3FDD-A92B-419F460B58FD}"/>
                  </a:ext>
                </a:extLst>
              </p:cNvPr>
              <p:cNvCxnSpPr/>
              <p:nvPr/>
            </p:nvCxnSpPr>
            <p:spPr>
              <a:xfrm>
                <a:off x="1626972" y="364112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365EBD6-F6C8-569F-47C9-8FA3D2E8E301}"/>
                  </a:ext>
                </a:extLst>
              </p:cNvPr>
              <p:cNvCxnSpPr/>
              <p:nvPr/>
            </p:nvCxnSpPr>
            <p:spPr>
              <a:xfrm>
                <a:off x="1626972" y="337339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A744A53-8189-3618-17D5-8527F2D8B6CA}"/>
                  </a:ext>
                </a:extLst>
              </p:cNvPr>
              <p:cNvCxnSpPr/>
              <p:nvPr/>
            </p:nvCxnSpPr>
            <p:spPr>
              <a:xfrm>
                <a:off x="1626972" y="3126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1B59C4-3B4F-5BE9-AD80-4E4A904EFFA2}"/>
                  </a:ext>
                </a:extLst>
              </p:cNvPr>
              <p:cNvCxnSpPr/>
              <p:nvPr/>
            </p:nvCxnSpPr>
            <p:spPr>
              <a:xfrm>
                <a:off x="1626972" y="285852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5F8214-4EA8-01A5-82CC-604329A56C32}"/>
                  </a:ext>
                </a:extLst>
              </p:cNvPr>
              <p:cNvCxnSpPr/>
              <p:nvPr/>
            </p:nvCxnSpPr>
            <p:spPr>
              <a:xfrm>
                <a:off x="1626972" y="257432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2BE70C4-DF95-C25E-55BC-72E21E46CF64}"/>
                  </a:ext>
                </a:extLst>
              </p:cNvPr>
              <p:cNvCxnSpPr/>
              <p:nvPr/>
            </p:nvCxnSpPr>
            <p:spPr>
              <a:xfrm>
                <a:off x="1626972" y="230659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5491CA5-ED12-6CFB-F5F1-99C21FE08752}"/>
                  </a:ext>
                </a:extLst>
              </p:cNvPr>
              <p:cNvCxnSpPr/>
              <p:nvPr/>
            </p:nvCxnSpPr>
            <p:spPr>
              <a:xfrm>
                <a:off x="1626972" y="202650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F31CB8A-5B96-C7F9-5F0D-0704BBFEB9DC}"/>
                  </a:ext>
                </a:extLst>
              </p:cNvPr>
              <p:cNvCxnSpPr/>
              <p:nvPr/>
            </p:nvCxnSpPr>
            <p:spPr>
              <a:xfrm>
                <a:off x="1626972" y="17587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744C68E-D963-F273-07E1-81B6D265F70D}"/>
                  </a:ext>
                </a:extLst>
              </p:cNvPr>
              <p:cNvCxnSpPr/>
              <p:nvPr/>
            </p:nvCxnSpPr>
            <p:spPr>
              <a:xfrm>
                <a:off x="1626972" y="147457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F5FCFC-6731-9535-93FA-0E47E482E1CD}"/>
                  </a:ext>
                </a:extLst>
              </p:cNvPr>
              <p:cNvCxnSpPr/>
              <p:nvPr/>
            </p:nvCxnSpPr>
            <p:spPr>
              <a:xfrm>
                <a:off x="1626972" y="120684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7BB0B6-A980-FA2B-A645-5AF469BECA1A}"/>
                  </a:ext>
                </a:extLst>
              </p:cNvPr>
              <p:cNvCxnSpPr/>
              <p:nvPr/>
            </p:nvCxnSpPr>
            <p:spPr>
              <a:xfrm>
                <a:off x="1626972" y="95146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330619B7-E7BB-7438-2340-06EBFF27DC6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Heat capacities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73892D-1AB8-2E97-1F30-7E2FB1398934}"/>
                  </a:ext>
                </a:extLst>
              </p:cNvPr>
              <p:cNvSpPr txBox="1"/>
              <p:nvPr/>
            </p:nvSpPr>
            <p:spPr>
              <a:xfrm>
                <a:off x="7222602" y="2187266"/>
                <a:ext cx="4772921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 the heat capacity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)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moles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at this temperature?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73892D-1AB8-2E97-1F30-7E2FB1398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602" y="2187266"/>
                <a:ext cx="4772921" cy="830997"/>
              </a:xfrm>
              <a:prstGeom prst="rect">
                <a:avLst/>
              </a:prstGeom>
              <a:blipFill>
                <a:blip r:embed="rId7"/>
                <a:stretch>
                  <a:fillRect l="-1852" t="-2941" b="-1323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54DA8EA-1AF1-B299-2C50-DD91FF6F5C39}"/>
              </a:ext>
            </a:extLst>
          </p:cNvPr>
          <p:cNvSpPr txBox="1"/>
          <p:nvPr/>
        </p:nvSpPr>
        <p:spPr>
          <a:xfrm>
            <a:off x="461782" y="582399"/>
            <a:ext cx="5106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vibrational energy levels of some diatomic molecules</a:t>
            </a:r>
          </a:p>
        </p:txBody>
      </p:sp>
    </p:spTree>
    <p:extLst>
      <p:ext uri="{BB962C8B-B14F-4D97-AF65-F5344CB8AC3E}">
        <p14:creationId xmlns:p14="http://schemas.microsoft.com/office/powerpoint/2010/main" val="3516819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0B8D4D-5FC8-78B2-987D-7678D0179AE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91" y="4997510"/>
            <a:ext cx="5908632" cy="508478"/>
            <a:chOff x="1236705" y="5667461"/>
            <a:chExt cx="8339781" cy="717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/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/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/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DC3C5D-1415-EA2A-5926-E6FD86C38908}"/>
              </a:ext>
            </a:extLst>
          </p:cNvPr>
          <p:cNvGrpSpPr>
            <a:grpSpLocks noChangeAspect="1"/>
          </p:cNvGrpSpPr>
          <p:nvPr/>
        </p:nvGrpSpPr>
        <p:grpSpPr>
          <a:xfrm>
            <a:off x="515803" y="1682016"/>
            <a:ext cx="6157785" cy="2961173"/>
            <a:chOff x="1626972" y="889686"/>
            <a:chExt cx="9152239" cy="44011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3B0F22-B989-B0F7-0F63-3200ED2E728F}"/>
                </a:ext>
              </a:extLst>
            </p:cNvPr>
            <p:cNvGrpSpPr/>
            <p:nvPr/>
          </p:nvGrpSpPr>
          <p:grpSpPr>
            <a:xfrm>
              <a:off x="8175024" y="1145058"/>
              <a:ext cx="1029729" cy="4118921"/>
              <a:chOff x="8175024" y="1145058"/>
              <a:chExt cx="1029729" cy="411892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6B7CAA-30BD-F8E0-94BC-E4D57521C788}"/>
                  </a:ext>
                </a:extLst>
              </p:cNvPr>
              <p:cNvCxnSpPr/>
              <p:nvPr/>
            </p:nvCxnSpPr>
            <p:spPr>
              <a:xfrm>
                <a:off x="8175024" y="52639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F740D8-FED4-3083-CA49-55C17908895C}"/>
                  </a:ext>
                </a:extLst>
              </p:cNvPr>
              <p:cNvCxnSpPr/>
              <p:nvPr/>
            </p:nvCxnSpPr>
            <p:spPr>
              <a:xfrm>
                <a:off x="8193559" y="31921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67C285-1D0B-CC06-7226-9D9AAA646D3F}"/>
                  </a:ext>
                </a:extLst>
              </p:cNvPr>
              <p:cNvCxnSpPr/>
              <p:nvPr/>
            </p:nvCxnSpPr>
            <p:spPr>
              <a:xfrm>
                <a:off x="8175024" y="1145058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Up Arrow 34">
              <a:extLst>
                <a:ext uri="{FF2B5EF4-FFF2-40B4-BE49-F238E27FC236}">
                  <a16:creationId xmlns:a16="http://schemas.microsoft.com/office/drawing/2014/main" id="{115AC60A-8713-B77D-CA00-0D8B36DC1ACD}"/>
                </a:ext>
              </a:extLst>
            </p:cNvPr>
            <p:cNvSpPr/>
            <p:nvPr/>
          </p:nvSpPr>
          <p:spPr>
            <a:xfrm>
              <a:off x="5945660" y="3830600"/>
              <a:ext cx="494270" cy="1441617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/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blipFill>
                  <a:blip r:embed="rId6"/>
                  <a:stretch>
                    <a:fillRect l="-1961" r="-23529" b="-5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Up Arrow 38">
              <a:extLst>
                <a:ext uri="{FF2B5EF4-FFF2-40B4-BE49-F238E27FC236}">
                  <a16:creationId xmlns:a16="http://schemas.microsoft.com/office/drawing/2014/main" id="{A72F7681-17A2-84C2-3CC2-66CF10288246}"/>
                </a:ext>
              </a:extLst>
            </p:cNvPr>
            <p:cNvSpPr/>
            <p:nvPr/>
          </p:nvSpPr>
          <p:spPr>
            <a:xfrm>
              <a:off x="9234616" y="3830600"/>
              <a:ext cx="494270" cy="1449682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Up Arrow 39">
              <a:extLst>
                <a:ext uri="{FF2B5EF4-FFF2-40B4-BE49-F238E27FC236}">
                  <a16:creationId xmlns:a16="http://schemas.microsoft.com/office/drawing/2014/main" id="{6AFE4695-64D0-8D97-91B9-0F0E212ACAB5}"/>
                </a:ext>
              </a:extLst>
            </p:cNvPr>
            <p:cNvSpPr/>
            <p:nvPr/>
          </p:nvSpPr>
          <p:spPr>
            <a:xfrm>
              <a:off x="2877065" y="3830600"/>
              <a:ext cx="494270" cy="1460240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EF9A81-D505-023F-AD9C-A97B73E6C6F5}"/>
                </a:ext>
              </a:extLst>
            </p:cNvPr>
            <p:cNvGrpSpPr/>
            <p:nvPr/>
          </p:nvGrpSpPr>
          <p:grpSpPr>
            <a:xfrm>
              <a:off x="4835611" y="889686"/>
              <a:ext cx="1011194" cy="4386650"/>
              <a:chOff x="4835611" y="889686"/>
              <a:chExt cx="1011194" cy="4386650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E51DB65-198F-82E9-C616-48868D190F7B}"/>
                  </a:ext>
                </a:extLst>
              </p:cNvPr>
              <p:cNvCxnSpPr/>
              <p:nvPr/>
            </p:nvCxnSpPr>
            <p:spPr>
              <a:xfrm>
                <a:off x="4835611" y="527633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E7D4D64C-F7EA-8872-00C9-E498E8834F3C}"/>
                  </a:ext>
                </a:extLst>
              </p:cNvPr>
              <p:cNvCxnSpPr/>
              <p:nvPr/>
            </p:nvCxnSpPr>
            <p:spPr>
              <a:xfrm>
                <a:off x="4835611" y="4650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E3FD980-DB84-1E42-1B9A-48509EE30123}"/>
                  </a:ext>
                </a:extLst>
              </p:cNvPr>
              <p:cNvCxnSpPr/>
              <p:nvPr/>
            </p:nvCxnSpPr>
            <p:spPr>
              <a:xfrm>
                <a:off x="4835611" y="4026244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B64C3C3-A284-69D5-E1CB-45098E245596}"/>
                  </a:ext>
                </a:extLst>
              </p:cNvPr>
              <p:cNvCxnSpPr/>
              <p:nvPr/>
            </p:nvCxnSpPr>
            <p:spPr>
              <a:xfrm>
                <a:off x="4835611" y="340016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E30B906-CE97-1258-CA55-6C87330C139A}"/>
                  </a:ext>
                </a:extLst>
              </p:cNvPr>
              <p:cNvCxnSpPr/>
              <p:nvPr/>
            </p:nvCxnSpPr>
            <p:spPr>
              <a:xfrm>
                <a:off x="4835611" y="275967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90AB27-C58A-8083-C0D5-CF43B6D39223}"/>
                  </a:ext>
                </a:extLst>
              </p:cNvPr>
              <p:cNvCxnSpPr/>
              <p:nvPr/>
            </p:nvCxnSpPr>
            <p:spPr>
              <a:xfrm>
                <a:off x="4835611" y="2133600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876357-ED45-2C33-F004-11434A747E47}"/>
                  </a:ext>
                </a:extLst>
              </p:cNvPr>
              <p:cNvCxnSpPr/>
              <p:nvPr/>
            </p:nvCxnSpPr>
            <p:spPr>
              <a:xfrm>
                <a:off x="4835611" y="151576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5827E3-7487-7B57-49AE-9BDB2617FA7A}"/>
                  </a:ext>
                </a:extLst>
              </p:cNvPr>
              <p:cNvCxnSpPr/>
              <p:nvPr/>
            </p:nvCxnSpPr>
            <p:spPr>
              <a:xfrm>
                <a:off x="4835611" y="88968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602657-5CBF-1182-2B58-D93296AB6BE3}"/>
                </a:ext>
              </a:extLst>
            </p:cNvPr>
            <p:cNvGrpSpPr/>
            <p:nvPr/>
          </p:nvGrpSpPr>
          <p:grpSpPr>
            <a:xfrm>
              <a:off x="1626972" y="951469"/>
              <a:ext cx="1011195" cy="4320748"/>
              <a:chOff x="1626972" y="951469"/>
              <a:chExt cx="1011195" cy="4320748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63EB84-6CE0-55D8-114F-EDC9DCE487DE}"/>
                  </a:ext>
                </a:extLst>
              </p:cNvPr>
              <p:cNvCxnSpPr/>
              <p:nvPr/>
            </p:nvCxnSpPr>
            <p:spPr>
              <a:xfrm>
                <a:off x="1626973" y="527221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A0A0F4-C661-0B7A-16BC-2AC4B16A6991}"/>
                  </a:ext>
                </a:extLst>
              </p:cNvPr>
              <p:cNvCxnSpPr/>
              <p:nvPr/>
            </p:nvCxnSpPr>
            <p:spPr>
              <a:xfrm>
                <a:off x="1626973" y="500448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64EC3B3-F1DD-6C2A-981B-43063BF58CE6}"/>
                  </a:ext>
                </a:extLst>
              </p:cNvPr>
              <p:cNvCxnSpPr/>
              <p:nvPr/>
            </p:nvCxnSpPr>
            <p:spPr>
              <a:xfrm>
                <a:off x="1626973" y="472028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60BA53-A5F9-B53D-3072-6C34A35AF4F1}"/>
                  </a:ext>
                </a:extLst>
              </p:cNvPr>
              <p:cNvCxnSpPr/>
              <p:nvPr/>
            </p:nvCxnSpPr>
            <p:spPr>
              <a:xfrm>
                <a:off x="1626973" y="445255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628B3F1-352D-72FF-572F-71E0F80E8EE8}"/>
                  </a:ext>
                </a:extLst>
              </p:cNvPr>
              <p:cNvCxnSpPr/>
              <p:nvPr/>
            </p:nvCxnSpPr>
            <p:spPr>
              <a:xfrm>
                <a:off x="1626972" y="41930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84A47A2-C238-7775-15A2-57CB49897F22}"/>
                  </a:ext>
                </a:extLst>
              </p:cNvPr>
              <p:cNvCxnSpPr/>
              <p:nvPr/>
            </p:nvCxnSpPr>
            <p:spPr>
              <a:xfrm>
                <a:off x="1626972" y="392533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7A938C7-1387-3FDD-A92B-419F460B58FD}"/>
                  </a:ext>
                </a:extLst>
              </p:cNvPr>
              <p:cNvCxnSpPr/>
              <p:nvPr/>
            </p:nvCxnSpPr>
            <p:spPr>
              <a:xfrm>
                <a:off x="1626972" y="364112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365EBD6-F6C8-569F-47C9-8FA3D2E8E301}"/>
                  </a:ext>
                </a:extLst>
              </p:cNvPr>
              <p:cNvCxnSpPr/>
              <p:nvPr/>
            </p:nvCxnSpPr>
            <p:spPr>
              <a:xfrm>
                <a:off x="1626972" y="337339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A744A53-8189-3618-17D5-8527F2D8B6CA}"/>
                  </a:ext>
                </a:extLst>
              </p:cNvPr>
              <p:cNvCxnSpPr/>
              <p:nvPr/>
            </p:nvCxnSpPr>
            <p:spPr>
              <a:xfrm>
                <a:off x="1626972" y="3126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1B59C4-3B4F-5BE9-AD80-4E4A904EFFA2}"/>
                  </a:ext>
                </a:extLst>
              </p:cNvPr>
              <p:cNvCxnSpPr/>
              <p:nvPr/>
            </p:nvCxnSpPr>
            <p:spPr>
              <a:xfrm>
                <a:off x="1626972" y="285852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5F8214-4EA8-01A5-82CC-604329A56C32}"/>
                  </a:ext>
                </a:extLst>
              </p:cNvPr>
              <p:cNvCxnSpPr/>
              <p:nvPr/>
            </p:nvCxnSpPr>
            <p:spPr>
              <a:xfrm>
                <a:off x="1626972" y="257432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2BE70C4-DF95-C25E-55BC-72E21E46CF64}"/>
                  </a:ext>
                </a:extLst>
              </p:cNvPr>
              <p:cNvCxnSpPr/>
              <p:nvPr/>
            </p:nvCxnSpPr>
            <p:spPr>
              <a:xfrm>
                <a:off x="1626972" y="230659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5491CA5-ED12-6CFB-F5F1-99C21FE08752}"/>
                  </a:ext>
                </a:extLst>
              </p:cNvPr>
              <p:cNvCxnSpPr/>
              <p:nvPr/>
            </p:nvCxnSpPr>
            <p:spPr>
              <a:xfrm>
                <a:off x="1626972" y="202650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F31CB8A-5B96-C7F9-5F0D-0704BBFEB9DC}"/>
                  </a:ext>
                </a:extLst>
              </p:cNvPr>
              <p:cNvCxnSpPr/>
              <p:nvPr/>
            </p:nvCxnSpPr>
            <p:spPr>
              <a:xfrm>
                <a:off x="1626972" y="17587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744C68E-D963-F273-07E1-81B6D265F70D}"/>
                  </a:ext>
                </a:extLst>
              </p:cNvPr>
              <p:cNvCxnSpPr/>
              <p:nvPr/>
            </p:nvCxnSpPr>
            <p:spPr>
              <a:xfrm>
                <a:off x="1626972" y="147457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F5FCFC-6731-9535-93FA-0E47E482E1CD}"/>
                  </a:ext>
                </a:extLst>
              </p:cNvPr>
              <p:cNvCxnSpPr/>
              <p:nvPr/>
            </p:nvCxnSpPr>
            <p:spPr>
              <a:xfrm>
                <a:off x="1626972" y="120684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7BB0B6-A980-FA2B-A645-5AF469BECA1A}"/>
                  </a:ext>
                </a:extLst>
              </p:cNvPr>
              <p:cNvCxnSpPr/>
              <p:nvPr/>
            </p:nvCxnSpPr>
            <p:spPr>
              <a:xfrm>
                <a:off x="1626972" y="95146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/>
              <p:nvPr/>
            </p:nvSpPr>
            <p:spPr>
              <a:xfrm>
                <a:off x="7222602" y="2187266"/>
                <a:ext cx="4772921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 the heat capacity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)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moles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at this temperature?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602" y="2187266"/>
                <a:ext cx="4772921" cy="830997"/>
              </a:xfrm>
              <a:prstGeom prst="rect">
                <a:avLst/>
              </a:prstGeom>
              <a:blipFill>
                <a:blip r:embed="rId7"/>
                <a:stretch>
                  <a:fillRect l="-1852" t="-2941" b="-1323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330619B7-E7BB-7438-2340-06EBFF27DC6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Heat capacities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11CF20-5B88-DFF2-AB16-BA1EDE707CD4}"/>
                  </a:ext>
                </a:extLst>
              </p:cNvPr>
              <p:cNvSpPr txBox="1"/>
              <p:nvPr/>
            </p:nvSpPr>
            <p:spPr>
              <a:xfrm>
                <a:off x="7222602" y="3429000"/>
                <a:ext cx="1612640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11CF20-5B88-DFF2-AB16-BA1EDE707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602" y="3429000"/>
                <a:ext cx="1612640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DC2782D-E9B2-9ABD-DC6B-F21C6B22EAE1}"/>
              </a:ext>
            </a:extLst>
          </p:cNvPr>
          <p:cNvSpPr txBox="1"/>
          <p:nvPr/>
        </p:nvSpPr>
        <p:spPr>
          <a:xfrm>
            <a:off x="461782" y="582399"/>
            <a:ext cx="5106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vibrational energy levels of some diatomic molecules</a:t>
            </a:r>
          </a:p>
        </p:txBody>
      </p:sp>
    </p:spTree>
    <p:extLst>
      <p:ext uri="{BB962C8B-B14F-4D97-AF65-F5344CB8AC3E}">
        <p14:creationId xmlns:p14="http://schemas.microsoft.com/office/powerpoint/2010/main" val="176897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98024" y="752049"/>
                <a:ext cx="7526329" cy="45749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It’s sometimes useful to think about gases that are confined to move in a plane instead of in three dimensions. The probability density as a function of the speed of molecules comprising such gases takes the form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𝐷𝑣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constants for a given gas and temperature (as usual).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How would you go about determining a value (expression)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4" y="752049"/>
                <a:ext cx="7526329" cy="4574970"/>
              </a:xfrm>
              <a:prstGeom prst="rect">
                <a:avLst/>
              </a:prstGeom>
              <a:blipFill>
                <a:blip r:embed="rId3"/>
                <a:stretch>
                  <a:fillRect l="-1178" t="-826" r="-1852" b="-165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604BC21F-C9A0-D4C3-5A03-949BBB56A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592" y="524934"/>
            <a:ext cx="4014850" cy="63090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00034F-D3D9-0F06-6F1A-CAB4D56CEAD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Normalization of a speed probability density 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110690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98024" y="752049"/>
                <a:ext cx="7526329" cy="45749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It’s sometimes useful to think about gases that are confined to move in a plane instead of in three dimensions. The probability density as a function of the speed of molecules comprising such gases takes the form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𝐷𝑣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constants for a given gas and temperature (as usual).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How would you go about determining a value (expression)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4" y="752049"/>
                <a:ext cx="7526329" cy="4574970"/>
              </a:xfrm>
              <a:prstGeom prst="rect">
                <a:avLst/>
              </a:prstGeom>
              <a:blipFill>
                <a:blip r:embed="rId3"/>
                <a:stretch>
                  <a:fillRect l="-1178" t="-826" r="-1852" b="-165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604BC21F-C9A0-D4C3-5A03-949BBB56A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592" y="524934"/>
            <a:ext cx="4014850" cy="63090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00034F-D3D9-0F06-6F1A-CAB4D56CEAD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Normalization of a speed probability density </a:t>
            </a:r>
            <a:endParaRPr lang="en-US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3386347-7FF5-884F-079E-61AB70700AFE}"/>
                  </a:ext>
                </a:extLst>
              </p:cNvPr>
              <p:cNvSpPr/>
              <p:nvPr/>
            </p:nvSpPr>
            <p:spPr>
              <a:xfrm>
                <a:off x="2218928" y="5518931"/>
                <a:ext cx="2282356" cy="117403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3386347-7FF5-884F-079E-61AB70700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928" y="5518931"/>
                <a:ext cx="2282356" cy="1174039"/>
              </a:xfrm>
              <a:prstGeom prst="rect">
                <a:avLst/>
              </a:prstGeom>
              <a:blipFill>
                <a:blip r:embed="rId6"/>
                <a:stretch>
                  <a:fillRect l="-51381" t="-115957" b="-17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545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4"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Normalization of a speed probability density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31347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3134704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737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4"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Normalization of a speed probability density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31347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3134704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2BA3EC7-8F55-BBC1-C86D-57ECDC7F7898}"/>
                  </a:ext>
                </a:extLst>
              </p:cNvPr>
              <p:cNvSpPr/>
              <p:nvPr/>
            </p:nvSpPr>
            <p:spPr>
              <a:xfrm>
                <a:off x="8572227" y="3306217"/>
                <a:ext cx="1991956" cy="99386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2BA3EC7-8F55-BBC1-C86D-57ECDC7F7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3306217"/>
                <a:ext cx="1991956" cy="993862"/>
              </a:xfrm>
              <a:prstGeom prst="rect">
                <a:avLst/>
              </a:prstGeom>
              <a:blipFill>
                <a:blip r:embed="rId6"/>
                <a:stretch>
                  <a:fillRect l="-44937" t="-112658" b="-170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211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4" t="-5128" b="-256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The kind of question I might ask – Normalization of a speed probability density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59C14E-04EF-E859-0278-9EAB44DC4CF9}"/>
              </a:ext>
            </a:extLst>
          </p:cNvPr>
          <p:cNvSpPr/>
          <p:nvPr/>
        </p:nvSpPr>
        <p:spPr>
          <a:xfrm>
            <a:off x="4785756" y="2132791"/>
            <a:ext cx="2885704" cy="783771"/>
          </a:xfrm>
          <a:prstGeom prst="rect">
            <a:avLst/>
          </a:prstGeom>
          <a:solidFill>
            <a:schemeClr val="tx1">
              <a:alpha val="1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31347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𝑣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105F820-F18E-2D7D-636D-7C6E22B16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3134704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2BA3EC7-8F55-BBC1-C86D-57ECDC7F7898}"/>
                  </a:ext>
                </a:extLst>
              </p:cNvPr>
              <p:cNvSpPr/>
              <p:nvPr/>
            </p:nvSpPr>
            <p:spPr>
              <a:xfrm>
                <a:off x="8572227" y="3306217"/>
                <a:ext cx="1991956" cy="99386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2BA3EC7-8F55-BBC1-C86D-57ECDC7F7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3306217"/>
                <a:ext cx="1991956" cy="993862"/>
              </a:xfrm>
              <a:prstGeom prst="rect">
                <a:avLst/>
              </a:prstGeom>
              <a:blipFill>
                <a:blip r:embed="rId6"/>
                <a:stretch>
                  <a:fillRect l="-44937" t="-112658" b="-170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412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4003</TotalTime>
  <Words>1107</Words>
  <Application>Microsoft Macintosh PowerPoint</Application>
  <PresentationFormat>Widescreen</PresentationFormat>
  <Paragraphs>164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42</cp:revision>
  <cp:lastPrinted>2025-09-29T17:02:52Z</cp:lastPrinted>
  <dcterms:created xsi:type="dcterms:W3CDTF">2024-12-17T00:02:43Z</dcterms:created>
  <dcterms:modified xsi:type="dcterms:W3CDTF">2025-12-08T18:29:22Z</dcterms:modified>
</cp:coreProperties>
</file>