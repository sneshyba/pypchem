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2" r:id="rId2"/>
    <p:sldId id="729" r:id="rId3"/>
    <p:sldId id="737" r:id="rId4"/>
    <p:sldId id="738" r:id="rId5"/>
    <p:sldId id="739" r:id="rId6"/>
    <p:sldId id="735" r:id="rId7"/>
    <p:sldId id="736" r:id="rId8"/>
    <p:sldId id="715" r:id="rId9"/>
    <p:sldId id="74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18"/>
    <p:restoredTop sz="96405"/>
  </p:normalViewPr>
  <p:slideViewPr>
    <p:cSldViewPr snapToGrid="0" snapToObjects="1">
      <p:cViewPr varScale="1">
        <p:scale>
          <a:sx n="97" d="100"/>
          <a:sy n="97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2C55F-A764-FC44-BEEE-D7C4EE71CF9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FE5B-39E0-E946-A2B0-503E8D947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6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AEAE-9380-E944-B8FB-BA1C7F70F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B660F-C7FA-FD4B-9125-440DD77CA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0AC7-35E0-804C-83C2-2FCF68B7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12328-6AE1-D649-A994-8ED4E1F7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A7EC-971F-1841-B9BC-E9CB596E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8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7BB4-0641-4A4B-8296-DDF56F85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00AF-0F67-A34C-BB2B-FDA93BE8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FB90-97B5-7941-906A-983BDD56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C833-215A-EB41-84A4-79332BC0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E93B9-C539-8E4D-AD7E-E7C690EA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2408-1BC0-654A-A582-CEAF56CD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11575-C03F-D941-AC7A-1BBA414FD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C42C-4E2B-134F-902C-08560B4A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76FD7-258A-EB45-BBC8-CCB4BDE3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9ECD-5699-7D45-8A20-2E0A5F63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2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3DD3-1F11-0243-A23B-38A2A947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F30-3D4D-544E-9C49-027C76B5F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BA7E-B629-D548-9174-30E9EF4B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DC3EA-551B-EF47-B5CE-45B806E1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3BE34-6A7D-9243-824B-85C4DBF1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08E7B-A7CF-E647-9BDA-7CE7791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695F-F03B-184F-A2DC-89AE1548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6B73-B2BA-9347-AD61-E1DD6072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A2C09-C6FC-7B47-9E19-AAF4FE67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F706F-D53E-7D4A-9F46-6F41A0EF7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8DF7E-3979-B544-BAB5-3D07852D9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D21FC-F29A-DA4E-9CC4-4E2616B9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B0028-C7C7-0241-8508-51BB5076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BC0A7-4482-C14D-AB22-D8F7920B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6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37ED-3847-6A45-BF4D-1D1D0518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75824-36F6-8849-B482-4C934324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B2867-D5B3-D846-9A26-B1F13048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C2380-C1A3-0C46-9694-6B58E315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C3485-4BBD-094F-9138-E7A0B14C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84B16-F00E-9C48-9288-EFC0740B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47089-8451-3C44-BC05-933A41B8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7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9D60-9420-5645-85FC-6E94DDC6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D5CF-CDFD-504C-BB58-BA1F0B75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595C8-268C-7148-A4C2-D29D40834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D1EA6-F10C-D34F-9734-31F1E103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D20A-EB3F-DA46-946B-5ED5FF96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AC6E4-B8F4-3A40-B997-EFCD1D54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6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A9F5-254E-BF49-BCAC-C7180E87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CCD3-7E1A-D84B-87A8-018BD576A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240E1-FD7E-1E4D-A4E9-F520F8C1B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F3B33-5ED4-1242-8F8D-2BDA6B1E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BA30C-2A0A-CE47-BF09-5EFAB0B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7664F-57C9-2B44-A85A-52F1F4CA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6E2D-2C6E-5B4B-AEE1-7BDAB3D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D927-F1E1-1945-8A7D-548A36ADD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AAA9-DA94-7045-B335-79DBA0ED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2B07-893F-D24F-A5D9-C55A33E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3E4E8-2A3C-1D4D-BFC0-F4F7ACAF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F7E4D-E1FB-814B-911A-C870A3B29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6E505-7FEA-D54A-9D27-64BA67D7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782D-1E97-7544-B9FB-BFB3EDF4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2A7C-1E52-0E49-B263-DA729878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75FE-CF97-B941-BE85-FF5708E1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E024D-FD5F-5C4F-BEB6-1FFA516A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E4D0-7211-A941-B8DD-35E7D2F1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6B5B1-3B7C-E946-9A6C-B4E8E5DE3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1E672-1AA3-1342-9A1E-E5B7461BC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60A30-CACC-824C-8AB1-51BF6E363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 –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40EDAA-6A51-B744-8BB9-4DCA81A067C0}"/>
                  </a:ext>
                </a:extLst>
              </p:cNvPr>
              <p:cNvSpPr txBox="1"/>
              <p:nvPr/>
            </p:nvSpPr>
            <p:spPr>
              <a:xfrm>
                <a:off x="193782" y="664311"/>
                <a:ext cx="1043601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𝒅𝒒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𝒅𝒘</m:t>
                      </m:r>
                    </m:oMath>
                  </m:oMathPara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This is the same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that we’ve been talking about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𝑑𝑤</m:t>
                    </m:r>
                  </m:oMath>
                </a14:m>
                <a:r>
                  <a:rPr lang="en-US" sz="2400" dirty="0"/>
                  <a:t> is positive, the energy of the system goes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up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𝑑𝑤</m:t>
                    </m:r>
                  </m:oMath>
                </a14:m>
                <a:r>
                  <a:rPr lang="en-US" sz="2400" dirty="0"/>
                  <a:t> is negative, the energy of the system goes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down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changes are large, we say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40EDAA-6A51-B744-8BB9-4DCA81A0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2" y="664311"/>
                <a:ext cx="10436019" cy="3416320"/>
              </a:xfrm>
              <a:prstGeom prst="rect">
                <a:avLst/>
              </a:prstGeom>
              <a:blipFill>
                <a:blip r:embed="rId2"/>
                <a:stretch>
                  <a:fillRect l="-851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6114" y="3749989"/>
                <a:ext cx="1177719" cy="41159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350327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00198" y="2830276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Frame 42">
            <a:extLst>
              <a:ext uri="{FF2B5EF4-FFF2-40B4-BE49-F238E27FC236}">
                <a16:creationId xmlns:a16="http://schemas.microsoft.com/office/drawing/2014/main" id="{2274508B-F9F5-7F4E-B021-74D6253448B1}"/>
              </a:ext>
            </a:extLst>
          </p:cNvPr>
          <p:cNvSpPr/>
          <p:nvPr/>
        </p:nvSpPr>
        <p:spPr>
          <a:xfrm>
            <a:off x="4226598" y="953040"/>
            <a:ext cx="2388426" cy="563357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114" y="4161584"/>
                <a:ext cx="105180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2D1A6-76BD-DB4A-9DBF-34141BAB9DF8}"/>
              </a:ext>
            </a:extLst>
          </p:cNvPr>
          <p:cNvGrpSpPr/>
          <p:nvPr/>
        </p:nvGrpSpPr>
        <p:grpSpPr>
          <a:xfrm>
            <a:off x="889237" y="681603"/>
            <a:ext cx="4251328" cy="4340907"/>
            <a:chOff x="9173981" y="-842097"/>
            <a:chExt cx="4251328" cy="4340907"/>
          </a:xfrm>
        </p:grpSpPr>
        <p:sp>
          <p:nvSpPr>
            <p:cNvPr id="43" name="Donut 42">
              <a:extLst>
                <a:ext uri="{FF2B5EF4-FFF2-40B4-BE49-F238E27FC236}">
                  <a16:creationId xmlns:a16="http://schemas.microsoft.com/office/drawing/2014/main" id="{3B300B8E-A9CA-9D4D-9A5F-9C353D4E6DA7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F77F6-0DF9-EC4A-92C5-E40C4EF70E1C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3CDAFC-4588-2246-9E7A-DF4085048834}"/>
                </a:ext>
              </a:extLst>
            </p:cNvPr>
            <p:cNvGrpSpPr/>
            <p:nvPr/>
          </p:nvGrpSpPr>
          <p:grpSpPr>
            <a:xfrm>
              <a:off x="10058041" y="-842097"/>
              <a:ext cx="3367268" cy="3120602"/>
              <a:chOff x="10058041" y="-842097"/>
              <a:chExt cx="3367268" cy="3120602"/>
            </a:xfrm>
          </p:grpSpPr>
          <p:cxnSp>
            <p:nvCxnSpPr>
              <p:cNvPr id="49" name="Curved Connector 48">
                <a:extLst>
                  <a:ext uri="{FF2B5EF4-FFF2-40B4-BE49-F238E27FC236}">
                    <a16:creationId xmlns:a16="http://schemas.microsoft.com/office/drawing/2014/main" id="{F37D7A4E-F605-5F4B-AE73-DBBF9E320118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/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a14:m>
                    <a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a14:m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 of heat go in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,</a:t>
                    </a:r>
                  </a:p>
                  <a:p>
                    <a:r>
                      <a:rPr lang="en-US" sz="2400" dirty="0"/>
                      <a:t>k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eeping the </a:t>
                    </a:r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volume fixed</a:t>
                    </a: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32" r="-1880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This would be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Isobaric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sochoric </a:t>
                </a:r>
                <a:r>
                  <a:rPr lang="en-US" sz="2400" dirty="0"/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Isothermal 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 err="1"/>
                  <a:t>Isergonic</a:t>
                </a:r>
                <a:r>
                  <a:rPr lang="en-US" sz="2400" dirty="0"/>
                  <a:t> heating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endParaRPr lang="en-US" sz="2400" dirty="0"/>
              </a:p>
              <a:p>
                <a:r>
                  <a:rPr lang="en-US" sz="2400" b="1" dirty="0"/>
                  <a:t>The values of these quantities would be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  <a:blipFill>
                <a:blip r:embed="rId4"/>
                <a:stretch>
                  <a:fillRect l="-1146" t="-1338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/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CFB92C-0F21-8D12-942C-27950B58BD6B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</a:t>
            </a:r>
          </a:p>
        </p:txBody>
      </p:sp>
    </p:spTree>
    <p:extLst>
      <p:ext uri="{BB962C8B-B14F-4D97-AF65-F5344CB8AC3E}">
        <p14:creationId xmlns:p14="http://schemas.microsoft.com/office/powerpoint/2010/main" val="362814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114" y="4161584"/>
                <a:ext cx="105180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2D1A6-76BD-DB4A-9DBF-34141BAB9DF8}"/>
              </a:ext>
            </a:extLst>
          </p:cNvPr>
          <p:cNvGrpSpPr/>
          <p:nvPr/>
        </p:nvGrpSpPr>
        <p:grpSpPr>
          <a:xfrm>
            <a:off x="889237" y="681603"/>
            <a:ext cx="4251328" cy="4340907"/>
            <a:chOff x="9173981" y="-842097"/>
            <a:chExt cx="4251328" cy="4340907"/>
          </a:xfrm>
        </p:grpSpPr>
        <p:sp>
          <p:nvSpPr>
            <p:cNvPr id="43" name="Donut 42">
              <a:extLst>
                <a:ext uri="{FF2B5EF4-FFF2-40B4-BE49-F238E27FC236}">
                  <a16:creationId xmlns:a16="http://schemas.microsoft.com/office/drawing/2014/main" id="{3B300B8E-A9CA-9D4D-9A5F-9C353D4E6DA7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F77F6-0DF9-EC4A-92C5-E40C4EF70E1C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3CDAFC-4588-2246-9E7A-DF4085048834}"/>
                </a:ext>
              </a:extLst>
            </p:cNvPr>
            <p:cNvGrpSpPr/>
            <p:nvPr/>
          </p:nvGrpSpPr>
          <p:grpSpPr>
            <a:xfrm>
              <a:off x="10058041" y="-842097"/>
              <a:ext cx="3367268" cy="3120602"/>
              <a:chOff x="10058041" y="-842097"/>
              <a:chExt cx="3367268" cy="3120602"/>
            </a:xfrm>
          </p:grpSpPr>
          <p:cxnSp>
            <p:nvCxnSpPr>
              <p:cNvPr id="49" name="Curved Connector 48">
                <a:extLst>
                  <a:ext uri="{FF2B5EF4-FFF2-40B4-BE49-F238E27FC236}">
                    <a16:creationId xmlns:a16="http://schemas.microsoft.com/office/drawing/2014/main" id="{F37D7A4E-F605-5F4B-AE73-DBBF9E320118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/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a14:m>
                    <a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a14:m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 of heat go in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,</a:t>
                    </a:r>
                  </a:p>
                  <a:p>
                    <a:r>
                      <a:rPr lang="en-US" sz="2400" dirty="0"/>
                      <a:t>k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eeping the </a:t>
                    </a:r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volume fixed</a:t>
                    </a: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32" r="-1880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This would be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Isobaric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sochoric </a:t>
                </a:r>
                <a:r>
                  <a:rPr lang="en-US" sz="2400" dirty="0"/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Isothermal 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 err="1"/>
                  <a:t>Isergonic</a:t>
                </a:r>
                <a:r>
                  <a:rPr lang="en-US" sz="2400" dirty="0"/>
                  <a:t> heating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endParaRPr lang="en-US" sz="2400" dirty="0"/>
              </a:p>
              <a:p>
                <a:r>
                  <a:rPr lang="en-US" sz="2400" b="1" dirty="0"/>
                  <a:t>The values of these quantities would be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  <a:blipFill>
                <a:blip r:embed="rId4"/>
                <a:stretch>
                  <a:fillRect l="-1146" t="-1338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/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CFB92C-0F21-8D12-942C-27950B58BD6B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</a:t>
            </a:r>
          </a:p>
        </p:txBody>
      </p:sp>
    </p:spTree>
    <p:extLst>
      <p:ext uri="{BB962C8B-B14F-4D97-AF65-F5344CB8AC3E}">
        <p14:creationId xmlns:p14="http://schemas.microsoft.com/office/powerpoint/2010/main" val="329455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114" y="4161584"/>
                <a:ext cx="105180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2D1A6-76BD-DB4A-9DBF-34141BAB9DF8}"/>
              </a:ext>
            </a:extLst>
          </p:cNvPr>
          <p:cNvGrpSpPr/>
          <p:nvPr/>
        </p:nvGrpSpPr>
        <p:grpSpPr>
          <a:xfrm>
            <a:off x="889237" y="681603"/>
            <a:ext cx="4251328" cy="4340907"/>
            <a:chOff x="9173981" y="-842097"/>
            <a:chExt cx="4251328" cy="4340907"/>
          </a:xfrm>
        </p:grpSpPr>
        <p:sp>
          <p:nvSpPr>
            <p:cNvPr id="43" name="Donut 42">
              <a:extLst>
                <a:ext uri="{FF2B5EF4-FFF2-40B4-BE49-F238E27FC236}">
                  <a16:creationId xmlns:a16="http://schemas.microsoft.com/office/drawing/2014/main" id="{3B300B8E-A9CA-9D4D-9A5F-9C353D4E6DA7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F77F6-0DF9-EC4A-92C5-E40C4EF70E1C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3CDAFC-4588-2246-9E7A-DF4085048834}"/>
                </a:ext>
              </a:extLst>
            </p:cNvPr>
            <p:cNvGrpSpPr/>
            <p:nvPr/>
          </p:nvGrpSpPr>
          <p:grpSpPr>
            <a:xfrm>
              <a:off x="10058041" y="-842097"/>
              <a:ext cx="3367268" cy="3120602"/>
              <a:chOff x="10058041" y="-842097"/>
              <a:chExt cx="3367268" cy="3120602"/>
            </a:xfrm>
          </p:grpSpPr>
          <p:cxnSp>
            <p:nvCxnSpPr>
              <p:cNvPr id="49" name="Curved Connector 48">
                <a:extLst>
                  <a:ext uri="{FF2B5EF4-FFF2-40B4-BE49-F238E27FC236}">
                    <a16:creationId xmlns:a16="http://schemas.microsoft.com/office/drawing/2014/main" id="{F37D7A4E-F605-5F4B-AE73-DBBF9E320118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/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a14:m>
                    <a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a14:m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 of heat go in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,</a:t>
                    </a:r>
                  </a:p>
                  <a:p>
                    <a:r>
                      <a:rPr lang="en-US" sz="2400" dirty="0"/>
                      <a:t>k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eeping the </a:t>
                    </a:r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volume fixed</a:t>
                    </a: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32" r="-1880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This would be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Isobaric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sochoric </a:t>
                </a:r>
                <a:r>
                  <a:rPr lang="en-US" sz="2400" dirty="0"/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Isothermal 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 err="1"/>
                  <a:t>Isergonic</a:t>
                </a:r>
                <a:r>
                  <a:rPr lang="en-US" sz="2400" dirty="0"/>
                  <a:t> heating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endParaRPr lang="en-US" sz="2400" dirty="0"/>
              </a:p>
              <a:p>
                <a:r>
                  <a:rPr lang="en-US" sz="2400" b="1" dirty="0"/>
                  <a:t>The values of these quantities would be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  <a:blipFill>
                <a:blip r:embed="rId4"/>
                <a:stretch>
                  <a:fillRect l="-1146" t="-1338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/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CFB92C-0F21-8D12-942C-27950B58BD6B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</a:t>
            </a:r>
          </a:p>
        </p:txBody>
      </p:sp>
    </p:spTree>
    <p:extLst>
      <p:ext uri="{BB962C8B-B14F-4D97-AF65-F5344CB8AC3E}">
        <p14:creationId xmlns:p14="http://schemas.microsoft.com/office/powerpoint/2010/main" val="336496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114" y="4161584"/>
                <a:ext cx="105180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2D1A6-76BD-DB4A-9DBF-34141BAB9DF8}"/>
              </a:ext>
            </a:extLst>
          </p:cNvPr>
          <p:cNvGrpSpPr/>
          <p:nvPr/>
        </p:nvGrpSpPr>
        <p:grpSpPr>
          <a:xfrm>
            <a:off x="889237" y="681603"/>
            <a:ext cx="4251328" cy="4340907"/>
            <a:chOff x="9173981" y="-842097"/>
            <a:chExt cx="4251328" cy="4340907"/>
          </a:xfrm>
        </p:grpSpPr>
        <p:sp>
          <p:nvSpPr>
            <p:cNvPr id="43" name="Donut 42">
              <a:extLst>
                <a:ext uri="{FF2B5EF4-FFF2-40B4-BE49-F238E27FC236}">
                  <a16:creationId xmlns:a16="http://schemas.microsoft.com/office/drawing/2014/main" id="{3B300B8E-A9CA-9D4D-9A5F-9C353D4E6DA7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F77F6-0DF9-EC4A-92C5-E40C4EF70E1C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3CDAFC-4588-2246-9E7A-DF4085048834}"/>
                </a:ext>
              </a:extLst>
            </p:cNvPr>
            <p:cNvGrpSpPr/>
            <p:nvPr/>
          </p:nvGrpSpPr>
          <p:grpSpPr>
            <a:xfrm>
              <a:off x="10058041" y="-842097"/>
              <a:ext cx="3367268" cy="3120602"/>
              <a:chOff x="10058041" y="-842097"/>
              <a:chExt cx="3367268" cy="3120602"/>
            </a:xfrm>
          </p:grpSpPr>
          <p:cxnSp>
            <p:nvCxnSpPr>
              <p:cNvPr id="49" name="Curved Connector 48">
                <a:extLst>
                  <a:ext uri="{FF2B5EF4-FFF2-40B4-BE49-F238E27FC236}">
                    <a16:creationId xmlns:a16="http://schemas.microsoft.com/office/drawing/2014/main" id="{F37D7A4E-F605-5F4B-AE73-DBBF9E320118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/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a14:m>
                    <a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a14:m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 of heat go in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,</a:t>
                    </a:r>
                  </a:p>
                  <a:p>
                    <a:r>
                      <a:rPr lang="en-US" sz="2400" dirty="0"/>
                      <a:t>k</a:t>
                    </a:r>
                    <a:r>
                      <a:rPr lang="en-US" sz="2400" dirty="0">
                        <a:solidFill>
                          <a:schemeClr val="tx1"/>
                        </a:solidFill>
                      </a:rPr>
                      <a:t>eeping the </a:t>
                    </a:r>
                    <a:r>
                      <a:rPr lang="en-US" sz="2400" b="1" dirty="0">
                        <a:solidFill>
                          <a:schemeClr val="tx1"/>
                        </a:solidFill>
                      </a:rPr>
                      <a:t>volume fixed</a:t>
                    </a: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8041" y="-842097"/>
                    <a:ext cx="336726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32" r="-1880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This would be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Isobaric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sochoric </a:t>
                </a:r>
                <a:r>
                  <a:rPr lang="en-US" sz="2400" dirty="0"/>
                  <a:t>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Isothermal heating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 err="1"/>
                  <a:t>Isergonic</a:t>
                </a:r>
                <a:r>
                  <a:rPr lang="en-US" sz="2400" dirty="0"/>
                  <a:t> heating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endParaRPr lang="en-US" sz="2400" dirty="0"/>
              </a:p>
              <a:p>
                <a:r>
                  <a:rPr lang="en-US" sz="2400" b="1" dirty="0"/>
                  <a:t>The values of these quantities would be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A1BD232-F49D-5D48-8FA4-83DD20E7B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3785652"/>
              </a:xfrm>
              <a:prstGeom prst="rect">
                <a:avLst/>
              </a:prstGeom>
              <a:blipFill>
                <a:blip r:embed="rId4"/>
                <a:stretch>
                  <a:fillRect l="-1146" t="-1338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/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B2B6E7-8A4B-044B-BD9B-7BCC56ED7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833" y="2000614"/>
                <a:ext cx="61490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CFB92C-0F21-8D12-942C-27950B58BD6B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</a:t>
            </a:r>
          </a:p>
        </p:txBody>
      </p:sp>
    </p:spTree>
    <p:extLst>
      <p:ext uri="{BB962C8B-B14F-4D97-AF65-F5344CB8AC3E}">
        <p14:creationId xmlns:p14="http://schemas.microsoft.com/office/powerpoint/2010/main" val="427079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438989-E394-4942-82FD-477478DD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0129"/>
            <a:ext cx="6056480" cy="31440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84CA0-5260-BC16-401F-6FAFC348B051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Maximum efficiency of a Carnot engine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E55884-D53A-4E74-5053-427D7B1DB775}"/>
              </a:ext>
            </a:extLst>
          </p:cNvPr>
          <p:cNvGrpSpPr>
            <a:grpSpLocks noChangeAspect="1"/>
          </p:cNvGrpSpPr>
          <p:nvPr/>
        </p:nvGrpSpPr>
        <p:grpSpPr>
          <a:xfrm>
            <a:off x="127073" y="2448749"/>
            <a:ext cx="5372027" cy="4178243"/>
            <a:chOff x="5976976" y="1318994"/>
            <a:chExt cx="6120984" cy="47607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6934F0-B986-56FB-FEEF-ABD2C648C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1E1A059-238F-1FED-D42E-94A86CD91324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1E1A059-238F-1FED-D42E-94A86CD913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63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5F88907-3A0A-6ABF-FE7A-6A0FF934DE7A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5F88907-3A0A-6ABF-FE7A-6A0FF934DE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82" r="-7692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D2F7325-04D8-C654-523E-A72C0644DDA4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D2F7325-04D8-C654-523E-A72C0644DD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564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F624260-4AB2-992F-A069-4C7AFA513B07}"/>
                    </a:ext>
                  </a:extLst>
                </p:cNvPr>
                <p:cNvSpPr/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F624260-4AB2-992F-A069-4C7AFA513B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266" r="-6329" b="-2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8D028-4CB6-E3CD-2C33-3A797F00A1CC}"/>
                  </a:ext>
                </a:extLst>
              </p:cNvPr>
              <p:cNvSpPr txBox="1"/>
              <p:nvPr/>
            </p:nvSpPr>
            <p:spPr>
              <a:xfrm>
                <a:off x="5800724" y="3609438"/>
                <a:ext cx="6056479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power plant operates with a furnace temperature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550 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277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 , and a cooling tower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298 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). What’s the maximum efficiency its designers can hope to achieve?</a:t>
                </a:r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8D028-4CB6-E3CD-2C33-3A797F00A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724" y="3609438"/>
                <a:ext cx="6056479" cy="1569660"/>
              </a:xfrm>
              <a:prstGeom prst="rect">
                <a:avLst/>
              </a:prstGeom>
              <a:blipFill>
                <a:blip r:embed="rId8"/>
                <a:stretch>
                  <a:fillRect l="-1461" t="-2381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04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438989-E394-4942-82FD-477478DD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0129"/>
            <a:ext cx="6056480" cy="31440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84CA0-5260-BC16-401F-6FAFC348B051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Maximum efficiency of a Carnot engine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E55884-D53A-4E74-5053-427D7B1DB775}"/>
              </a:ext>
            </a:extLst>
          </p:cNvPr>
          <p:cNvGrpSpPr>
            <a:grpSpLocks noChangeAspect="1"/>
          </p:cNvGrpSpPr>
          <p:nvPr/>
        </p:nvGrpSpPr>
        <p:grpSpPr>
          <a:xfrm>
            <a:off x="127073" y="2448749"/>
            <a:ext cx="5372027" cy="4178243"/>
            <a:chOff x="5976976" y="1318994"/>
            <a:chExt cx="6120984" cy="47607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6934F0-B986-56FB-FEEF-ABD2C648C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1E1A059-238F-1FED-D42E-94A86CD91324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1E1A059-238F-1FED-D42E-94A86CD913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63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5F88907-3A0A-6ABF-FE7A-6A0FF934DE7A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5F88907-3A0A-6ABF-FE7A-6A0FF934DE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82" r="-7692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D2F7325-04D8-C654-523E-A72C0644DDA4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D2F7325-04D8-C654-523E-A72C0644DD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564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F624260-4AB2-992F-A069-4C7AFA513B07}"/>
                    </a:ext>
                  </a:extLst>
                </p:cNvPr>
                <p:cNvSpPr/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F624260-4AB2-992F-A069-4C7AFA513B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266" r="-6329" b="-2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8D028-4CB6-E3CD-2C33-3A797F00A1CC}"/>
                  </a:ext>
                </a:extLst>
              </p:cNvPr>
              <p:cNvSpPr txBox="1"/>
              <p:nvPr/>
            </p:nvSpPr>
            <p:spPr>
              <a:xfrm>
                <a:off x="5800724" y="3609438"/>
                <a:ext cx="6056479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power plant operates with a furnace temperature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550 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277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 , and a cooling tower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298 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). What’s the maximum efficiency its designers can hope to achieve?</a:t>
                </a:r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8D028-4CB6-E3CD-2C33-3A797F00A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724" y="3609438"/>
                <a:ext cx="6056479" cy="1569660"/>
              </a:xfrm>
              <a:prstGeom prst="rect">
                <a:avLst/>
              </a:prstGeom>
              <a:blipFill>
                <a:blip r:embed="rId8"/>
                <a:stretch>
                  <a:fillRect l="-1461" t="-2381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8FFBA-D527-478F-94A1-3F21133F9EF2}"/>
                  </a:ext>
                </a:extLst>
              </p:cNvPr>
              <p:cNvSpPr txBox="1"/>
              <p:nvPr/>
            </p:nvSpPr>
            <p:spPr>
              <a:xfrm>
                <a:off x="7063408" y="5397525"/>
                <a:ext cx="2756452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𝒉𝒐𝒕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8FFBA-D527-478F-94A1-3F21133F9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408" y="5397525"/>
                <a:ext cx="2756452" cy="461665"/>
              </a:xfrm>
              <a:prstGeom prst="rect">
                <a:avLst/>
              </a:prstGeom>
              <a:blipFill>
                <a:blip r:embed="rId9"/>
                <a:stretch>
                  <a:fillRect b="-184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87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239D6-085A-B148-8FC9-5EC67AB5F88E}"/>
                  </a:ext>
                </a:extLst>
              </p:cNvPr>
              <p:cNvSpPr txBox="1"/>
              <p:nvPr/>
            </p:nvSpPr>
            <p:spPr>
              <a:xfrm>
                <a:off x="6911340" y="1191625"/>
                <a:ext cx="508635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starting point is a gas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298 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1.2 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𝑏𝑎𝑟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Compressing</a:t>
                </a:r>
                <a:r>
                  <a:rPr lang="en-US" sz="2400" dirty="0"/>
                  <a:t>, one curve is </a:t>
                </a:r>
                <a:r>
                  <a:rPr lang="en-US" sz="2400" b="1" dirty="0"/>
                  <a:t>isothermal</a:t>
                </a:r>
                <a:r>
                  <a:rPr lang="en-US" sz="2400" dirty="0"/>
                  <a:t>, the other is </a:t>
                </a:r>
                <a:r>
                  <a:rPr lang="en-US" sz="2400" b="1" dirty="0"/>
                  <a:t>adiabatic (and reversible, i.e., slow)</a:t>
                </a:r>
                <a:r>
                  <a:rPr lang="en-US" sz="2400" dirty="0"/>
                  <a:t>. Say which is which (and how you know).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239D6-085A-B148-8FC9-5EC67AB5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40" y="1191625"/>
                <a:ext cx="5086350" cy="2677656"/>
              </a:xfrm>
              <a:prstGeom prst="rect">
                <a:avLst/>
              </a:prstGeom>
              <a:blipFill>
                <a:blip r:embed="rId2"/>
                <a:stretch>
                  <a:fillRect l="-1995" t="-1415" r="-2993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8DD9562-B90E-FD0D-7C1B-B3F06044ADDF}"/>
              </a:ext>
            </a:extLst>
          </p:cNvPr>
          <p:cNvGrpSpPr/>
          <p:nvPr/>
        </p:nvGrpSpPr>
        <p:grpSpPr>
          <a:xfrm>
            <a:off x="379973" y="839987"/>
            <a:ext cx="6601707" cy="4953000"/>
            <a:chOff x="379973" y="839987"/>
            <a:chExt cx="6601707" cy="495300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2887145-66F8-8D03-0133-6F35C44A0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973" y="839987"/>
              <a:ext cx="6601707" cy="495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21DF7B-CD6A-9D4D-A358-689F72BCD0C5}"/>
                </a:ext>
              </a:extLst>
            </p:cNvPr>
            <p:cNvSpPr/>
            <p:nvPr/>
          </p:nvSpPr>
          <p:spPr>
            <a:xfrm>
              <a:off x="5970270" y="4953000"/>
              <a:ext cx="251460" cy="2514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FD16E6-C187-E337-8214-2232BA98FB6C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Isothermal vs adiabatic compression</a:t>
            </a:r>
          </a:p>
        </p:txBody>
      </p:sp>
    </p:spTree>
    <p:extLst>
      <p:ext uri="{BB962C8B-B14F-4D97-AF65-F5344CB8AC3E}">
        <p14:creationId xmlns:p14="http://schemas.microsoft.com/office/powerpoint/2010/main" val="46004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239D6-085A-B148-8FC9-5EC67AB5F88E}"/>
                  </a:ext>
                </a:extLst>
              </p:cNvPr>
              <p:cNvSpPr txBox="1"/>
              <p:nvPr/>
            </p:nvSpPr>
            <p:spPr>
              <a:xfrm>
                <a:off x="6911340" y="1191625"/>
                <a:ext cx="508635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starting point is a gas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298 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1.2 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𝑏𝑎𝑟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Compressing</a:t>
                </a:r>
                <a:r>
                  <a:rPr lang="en-US" sz="2400" dirty="0"/>
                  <a:t>, one curve is </a:t>
                </a:r>
                <a:r>
                  <a:rPr lang="en-US" sz="2400" b="1" dirty="0"/>
                  <a:t>isothermal</a:t>
                </a:r>
                <a:r>
                  <a:rPr lang="en-US" sz="2400" dirty="0"/>
                  <a:t>, the other is </a:t>
                </a:r>
                <a:r>
                  <a:rPr lang="en-US" sz="2400" b="1" dirty="0"/>
                  <a:t>adiabatic (and reversible, i.e., slow)</a:t>
                </a:r>
                <a:r>
                  <a:rPr lang="en-US" sz="2400" dirty="0"/>
                  <a:t>. Say which is which (and how you know).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239D6-085A-B148-8FC9-5EC67AB5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40" y="1191625"/>
                <a:ext cx="5086350" cy="2677656"/>
              </a:xfrm>
              <a:prstGeom prst="rect">
                <a:avLst/>
              </a:prstGeom>
              <a:blipFill>
                <a:blip r:embed="rId2"/>
                <a:stretch>
                  <a:fillRect l="-1995" t="-1415" r="-2993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8DD9562-B90E-FD0D-7C1B-B3F06044ADDF}"/>
              </a:ext>
            </a:extLst>
          </p:cNvPr>
          <p:cNvGrpSpPr/>
          <p:nvPr/>
        </p:nvGrpSpPr>
        <p:grpSpPr>
          <a:xfrm>
            <a:off x="379973" y="839987"/>
            <a:ext cx="6601707" cy="4953000"/>
            <a:chOff x="379973" y="839987"/>
            <a:chExt cx="6601707" cy="495300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2887145-66F8-8D03-0133-6F35C44A0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973" y="839987"/>
              <a:ext cx="6601707" cy="495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21DF7B-CD6A-9D4D-A358-689F72BCD0C5}"/>
                </a:ext>
              </a:extLst>
            </p:cNvPr>
            <p:cNvSpPr/>
            <p:nvPr/>
          </p:nvSpPr>
          <p:spPr>
            <a:xfrm>
              <a:off x="5970270" y="4953000"/>
              <a:ext cx="251460" cy="2514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FD16E6-C187-E337-8214-2232BA98FB6C}"/>
              </a:ext>
            </a:extLst>
          </p:cNvPr>
          <p:cNvSpPr txBox="1"/>
          <p:nvPr/>
        </p:nvSpPr>
        <p:spPr>
          <a:xfrm>
            <a:off x="0" y="-159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Isothermal vs adiabatic compression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74A8E2-FC8C-FCCC-553A-1ED8B735BCF0}"/>
              </a:ext>
            </a:extLst>
          </p:cNvPr>
          <p:cNvSpPr txBox="1"/>
          <p:nvPr/>
        </p:nvSpPr>
        <p:spPr>
          <a:xfrm>
            <a:off x="6911340" y="4056786"/>
            <a:ext cx="3487537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Gases heat up when compressed adiabatically and reversibly so the pressure would be higher </a:t>
            </a:r>
          </a:p>
        </p:txBody>
      </p:sp>
    </p:spTree>
    <p:extLst>
      <p:ext uri="{BB962C8B-B14F-4D97-AF65-F5344CB8AC3E}">
        <p14:creationId xmlns:p14="http://schemas.microsoft.com/office/powerpoint/2010/main" val="882250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605</Words>
  <Application>Microsoft Macintosh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174</cp:revision>
  <dcterms:created xsi:type="dcterms:W3CDTF">2021-11-02T21:07:57Z</dcterms:created>
  <dcterms:modified xsi:type="dcterms:W3CDTF">2025-12-08T16:22:12Z</dcterms:modified>
</cp:coreProperties>
</file>