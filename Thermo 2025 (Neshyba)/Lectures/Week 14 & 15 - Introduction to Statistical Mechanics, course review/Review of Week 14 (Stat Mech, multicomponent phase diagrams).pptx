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61" r:id="rId3"/>
    <p:sldId id="737" r:id="rId4"/>
    <p:sldId id="735" r:id="rId5"/>
    <p:sldId id="290" r:id="rId6"/>
    <p:sldId id="272" r:id="rId7"/>
    <p:sldId id="736" r:id="rId8"/>
    <p:sldId id="73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05"/>
    <p:restoredTop sz="95976"/>
  </p:normalViewPr>
  <p:slideViewPr>
    <p:cSldViewPr snapToGrid="0" showGuides="1">
      <p:cViewPr varScale="1">
        <p:scale>
          <a:sx n="112" d="100"/>
          <a:sy n="112" d="100"/>
        </p:scale>
        <p:origin x="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D5E88-C46B-F64B-8116-8AEC3C305F3B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890B1-CACD-F34E-AD11-7AC3A0D8F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1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BB0D-435C-2ED1-BE6C-0B1802EEE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955AD-8D45-53D4-6784-45D52DBF7E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D256B-6C07-B197-EB51-BC089099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3BA71-7B66-E22B-4612-F369D33A9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9E8A3-60C2-A7F0-3EFC-2A30B8FC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26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C4ABE-8E5B-30E7-9CEF-DE85430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89F78-F752-5B10-3675-A02FE421A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C1E95-DA0C-8E75-6E91-B47BBCAE8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FFE6D-1866-5089-5659-637A4BA97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C96A1-E748-8D99-5FC8-5DFBCEC69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5B0F-FA13-A37B-A891-07875513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CC5E9-F094-759E-2E62-369C5055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859CA-110C-6993-6101-5164EDB4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83D6F-4C60-94FA-D905-11F8BC45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A4950-B533-B665-4A06-B12E78B3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9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CEB25-A313-D559-293B-327BB370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F9179-B2B4-072C-87C7-5E37FA1CA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4999B-B46C-5C82-9326-AC233752F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5FDEA-64C9-384D-8A57-BDBD3CD05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192B6-4206-18FB-806D-944F3B6A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E590F-2EC0-5D8C-65B7-851BBB60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63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5DB4-4A97-96C3-B1DC-8AF6E884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5923F-05FE-F3F0-7297-2022F9E80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9D151-585A-D252-6886-363A38AB4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C03EBD-F06A-D935-CD83-5A5E2F2ED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904F6-F5E4-E510-2D32-32876176B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963F35-AE71-F78A-0FF2-C6DE2582D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D13B8B-75AF-F689-ED70-AA8774A01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2BAA95-6AF2-D636-6108-C19DF3B3E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3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CD87-AC8F-0BA7-219A-3F18FB3AF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17E775-B719-6799-405B-5B9C84D0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1CA45-1DA0-EB34-EF17-0FDEC5AC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3FD9F-6DAC-FC36-9467-72388FB7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4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C4560-EF66-66B0-5E85-A7A74E8A7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BBD72-E996-2ADF-2CE8-662B899E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3E9D7-53D4-43D2-5BFA-84A25F3FE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07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60E3-5FB8-8426-962F-8A772F5C3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0545D-1741-C7FD-EAC1-EEAA5C477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D99F3-9C84-4F74-1088-93F9133CF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7C480-A55D-B274-0713-85516400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8A521-AC93-44C8-632F-EF232C96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FAA32-140D-C1DF-9721-5C00BDFD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9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57404-0B01-F094-747D-10A3B200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03E523-7803-1819-A12D-38969B2C9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3438B-B98F-E3AA-CDC7-150F769B5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71C9A-9EC3-53BD-B42E-BA9C6582B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A2BD3-EA2F-8937-9159-93B8E25F3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C50B6-DDF9-634D-B6A0-3E869BDB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5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F3779-103C-841A-A051-B50B7E5F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D24D9-948A-147E-526C-4580E186F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FE87D-0E8A-BFC8-7A8A-88B4E7AB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471FA-85B9-2B3F-9060-AACF91CE8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5A650-A4D8-749D-DDD5-DE5094B0E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3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615DAE-191B-4E3E-6BA4-A1D321F27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9E11F-F28F-F507-A1CE-B671386ED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D7382-E92A-CC0A-6B0B-B7112EBA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4338A-9549-9422-E8A8-6DC1802A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466F1-66FF-12F6-EDA3-A455ED16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E4AFB-49BA-D9A7-7555-20B958B9B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6BAE9-22B8-A532-6606-74B4445FB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008A8-3E2D-EA4D-B460-0912DB413A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0830A-3AC1-4A4A-9AB2-5EF32838442E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5AB02-6ADB-C29B-BD10-5332AA325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DC8F4-A103-BA5F-1FF2-47ABC3713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3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471.png"/><Relationship Id="rId1" Type="http://schemas.openxmlformats.org/officeDocument/2006/relationships/slideLayout" Target="../slideLayouts/slideLayout1.xml"/><Relationship Id="rId5" Type="http://schemas.openxmlformats.org/officeDocument/2006/relationships/image" Target="NUL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6" Type="http://schemas.openxmlformats.org/officeDocument/2006/relationships/image" Target="../media/image391.png"/><Relationship Id="rId1" Type="http://schemas.openxmlformats.org/officeDocument/2006/relationships/slideLayout" Target="../slideLayouts/slideLayout1.xml"/><Relationship Id="rId15" Type="http://schemas.openxmlformats.org/officeDocument/2006/relationships/image" Target="../media/image361.png"/><Relationship Id="rId14" Type="http://schemas.openxmlformats.org/officeDocument/2006/relationships/image" Target="../media/image350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8" Type="http://schemas.openxmlformats.org/officeDocument/2006/relationships/image" Target="../media/image17.png"/><Relationship Id="rId7" Type="http://schemas.openxmlformats.org/officeDocument/2006/relationships/image" Target="../media/image12.png"/><Relationship Id="rId17" Type="http://schemas.openxmlformats.org/officeDocument/2006/relationships/image" Target="../media/image16.png"/><Relationship Id="rId2" Type="http://schemas.openxmlformats.org/officeDocument/2006/relationships/image" Target="../media/image1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15" Type="http://schemas.openxmlformats.org/officeDocument/2006/relationships/image" Target="../media/image14.png"/><Relationship Id="rId9" Type="http://schemas.openxmlformats.org/officeDocument/2006/relationships/image" Target="../media/image13.png"/><Relationship Id="rId1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D2ACEF4-CFDC-1140-AD76-70F728B4CBDC}"/>
              </a:ext>
            </a:extLst>
          </p:cNvPr>
          <p:cNvSpPr txBox="1"/>
          <p:nvPr/>
        </p:nvSpPr>
        <p:spPr>
          <a:xfrm>
            <a:off x="0" y="-23751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14 – Thermophoresis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18E039-18FB-5A4E-320B-11BDE1E73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53" y="963295"/>
            <a:ext cx="10132949" cy="44056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5E17E6-A4BE-11A7-448A-FCE88CF96487}"/>
              </a:ext>
            </a:extLst>
          </p:cNvPr>
          <p:cNvSpPr txBox="1"/>
          <p:nvPr/>
        </p:nvSpPr>
        <p:spPr>
          <a:xfrm>
            <a:off x="690753" y="5894306"/>
            <a:ext cx="857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Etymology: </a:t>
            </a:r>
            <a:r>
              <a:rPr lang="en-US" sz="2400" dirty="0" err="1"/>
              <a:t>thermo</a:t>
            </a:r>
            <a:r>
              <a:rPr lang="en-US" sz="2400" dirty="0"/>
              <a:t> (“heat”) + </a:t>
            </a:r>
            <a:r>
              <a:rPr lang="en-US" sz="2400" dirty="0" err="1"/>
              <a:t>phoresis</a:t>
            </a:r>
            <a:r>
              <a:rPr lang="en-US" sz="2400" dirty="0"/>
              <a:t> (“to carry”)</a:t>
            </a:r>
          </a:p>
        </p:txBody>
      </p:sp>
    </p:spTree>
    <p:extLst>
      <p:ext uri="{BB962C8B-B14F-4D97-AF65-F5344CB8AC3E}">
        <p14:creationId xmlns:p14="http://schemas.microsoft.com/office/powerpoint/2010/main" val="803106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CA65C4-946D-70EF-A00F-446ACD4C78CE}"/>
                  </a:ext>
                </a:extLst>
              </p:cNvPr>
              <p:cNvSpPr txBox="1"/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Week 14 – Frequency of the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𝑵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/>
                  <a:t> (scissor) vibrational frequency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CA65C4-946D-70EF-A00F-446ACD4C7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CF6D71BA-6187-4CAA-CE88-97BC5AD5B5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80" r="2490" b="3343"/>
          <a:stretch/>
        </p:blipFill>
        <p:spPr>
          <a:xfrm>
            <a:off x="0" y="1885950"/>
            <a:ext cx="5866130" cy="36594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ECB3A39-9470-7340-9840-9B8D73EE5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579" y="1449685"/>
            <a:ext cx="6344731" cy="336211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F2A6892-2ED4-DFAB-DD97-D4DDE3BFA3E3}"/>
              </a:ext>
            </a:extLst>
          </p:cNvPr>
          <p:cNvGrpSpPr/>
          <p:nvPr/>
        </p:nvGrpSpPr>
        <p:grpSpPr>
          <a:xfrm>
            <a:off x="6492240" y="4317764"/>
            <a:ext cx="4091940" cy="1505811"/>
            <a:chOff x="5612130" y="4800600"/>
            <a:chExt cx="4091940" cy="150581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29F7516-1715-12F6-5E01-4B9799CD31FE}"/>
                </a:ext>
              </a:extLst>
            </p:cNvPr>
            <p:cNvGrpSpPr/>
            <p:nvPr/>
          </p:nvGrpSpPr>
          <p:grpSpPr>
            <a:xfrm>
              <a:off x="7437788" y="4883386"/>
              <a:ext cx="2266282" cy="1423025"/>
              <a:chOff x="1437038" y="4854349"/>
              <a:chExt cx="2266282" cy="14230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482BC470-124E-3A9D-897E-8C2047623D1B}"/>
                      </a:ext>
                    </a:extLst>
                  </p:cNvPr>
                  <p:cNvSpPr txBox="1"/>
                  <p:nvPr/>
                </p:nvSpPr>
                <p:spPr>
                  <a:xfrm>
                    <a:off x="1437038" y="5908042"/>
                    <a:ext cx="1057275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𝜈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482BC470-124E-3A9D-897E-8C2047623D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37038" y="5908042"/>
                    <a:ext cx="105727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FAD05C49-B826-3327-0A89-2A95EFB6C9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94313" y="4854349"/>
                <a:ext cx="1209007" cy="1053693"/>
              </a:xfrm>
              <a:prstGeom prst="straightConnector1">
                <a:avLst/>
              </a:prstGeom>
              <a:ln w="63500">
                <a:solidFill>
                  <a:srgbClr val="002060">
                    <a:alpha val="38000"/>
                  </a:srgb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ADEDE9E-7A3E-F0D4-DAD8-AAE861DAC1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130" y="4800600"/>
              <a:ext cx="1765935" cy="1136479"/>
            </a:xfrm>
            <a:prstGeom prst="straightConnector1">
              <a:avLst/>
            </a:prstGeom>
            <a:ln w="63500">
              <a:solidFill>
                <a:srgbClr val="002060">
                  <a:alpha val="38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2574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CCA65C4-946D-70EF-A00F-446ACD4C78CE}"/>
              </a:ext>
            </a:extLst>
          </p:cNvPr>
          <p:cNvSpPr txBox="1"/>
          <p:nvPr/>
        </p:nvSpPr>
        <p:spPr>
          <a:xfrm>
            <a:off x="0" y="-23751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8CE640-DB4E-1095-ABDA-136CA7F61EDC}"/>
                  </a:ext>
                </a:extLst>
              </p:cNvPr>
              <p:cNvSpPr txBox="1"/>
              <p:nvPr/>
            </p:nvSpPr>
            <p:spPr>
              <a:xfrm>
                <a:off x="258468" y="1621104"/>
                <a:ext cx="5959451" cy="270772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𝑔𝑎𝑝</m:t>
                        </m:r>
                      </m:sub>
                    </m:sSub>
                  </m:oMath>
                </a14:m>
                <a:r>
                  <a:rPr lang="en-US" sz="2400" dirty="0"/>
                  <a:t> is proportional to … (indicate any/all correct responses)</a:t>
                </a:r>
              </a:p>
              <a:p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, the unscaled partition function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sz="2400" dirty="0"/>
                  <a:t>, the frequency of vibrational motion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</m:acc>
                  </m:oMath>
                </a14:m>
                <a:r>
                  <a:rPr lang="en-US" sz="2400" dirty="0"/>
                  <a:t>, the wavenumber of vibrational motion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concentration of the solute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8CE640-DB4E-1095-ABDA-136CA7F61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68" y="1621104"/>
                <a:ext cx="5959451" cy="2707729"/>
              </a:xfrm>
              <a:prstGeom prst="rect">
                <a:avLst/>
              </a:prstGeom>
              <a:blipFill>
                <a:blip r:embed="rId2"/>
                <a:stretch>
                  <a:fillRect l="-1483" t="-1395" b="-372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E5D6C27-51EF-E37F-9DD7-2D6D1388FFDF}"/>
              </a:ext>
            </a:extLst>
          </p:cNvPr>
          <p:cNvGrpSpPr>
            <a:grpSpLocks noChangeAspect="1"/>
          </p:cNvGrpSpPr>
          <p:nvPr/>
        </p:nvGrpSpPr>
        <p:grpSpPr>
          <a:xfrm>
            <a:off x="6983730" y="1271017"/>
            <a:ext cx="4616018" cy="3559928"/>
            <a:chOff x="4449312" y="768707"/>
            <a:chExt cx="7602988" cy="586351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82ADF59-4C19-ED09-D43F-ECE938A9C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49312" y="768707"/>
              <a:ext cx="7602988" cy="5863516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F1D4E2B-1091-D77E-1CB0-963F3F51AFA8}"/>
                </a:ext>
              </a:extLst>
            </p:cNvPr>
            <p:cNvGrpSpPr/>
            <p:nvPr/>
          </p:nvGrpSpPr>
          <p:grpSpPr>
            <a:xfrm>
              <a:off x="6841354" y="2735159"/>
              <a:ext cx="688977" cy="2932436"/>
              <a:chOff x="6841354" y="2735159"/>
              <a:chExt cx="688977" cy="2932436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13D8A79-9CD9-3C79-467B-ACAF03CBC1FE}"/>
                  </a:ext>
                </a:extLst>
              </p:cNvPr>
              <p:cNvGrpSpPr/>
              <p:nvPr/>
            </p:nvGrpSpPr>
            <p:grpSpPr>
              <a:xfrm>
                <a:off x="6841355" y="4009439"/>
                <a:ext cx="688976" cy="1658156"/>
                <a:chOff x="6841355" y="4009439"/>
                <a:chExt cx="688976" cy="1658156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C0EDFC62-7690-9ABF-C5B8-512DEC0770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52003" y="5268189"/>
                      <a:ext cx="678328" cy="39940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𝑔𝑎𝑝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C0EDFC62-7690-9ABF-C5B8-512DEC07705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52003" y="5268189"/>
                      <a:ext cx="678328" cy="39940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4242" r="-63636" b="-9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38DA2A20-4E77-2632-409D-2684973D0D1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52003" y="4664235"/>
                      <a:ext cx="678328" cy="39940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𝑔𝑎𝑝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38DA2A20-4E77-2632-409D-2684973D0D1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52003" y="4664235"/>
                      <a:ext cx="678328" cy="39940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4242" r="-63636" b="-9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CCC563C7-A165-2849-3A42-B70675AB0A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41355" y="4009439"/>
                      <a:ext cx="678327" cy="39940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𝑔𝑎𝑝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CCC563C7-A165-2849-3A42-B70675AB0A4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41355" y="4009439"/>
                      <a:ext cx="678327" cy="39940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4242" r="-63636" b="-9047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8C2F6E9-0521-37B9-FDE2-727124AA329B}"/>
                  </a:ext>
                </a:extLst>
              </p:cNvPr>
              <p:cNvGrpSpPr/>
              <p:nvPr/>
            </p:nvGrpSpPr>
            <p:grpSpPr>
              <a:xfrm>
                <a:off x="6841354" y="2735159"/>
                <a:ext cx="678328" cy="1049940"/>
                <a:chOff x="6852003" y="4602125"/>
                <a:chExt cx="678328" cy="1049940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0710F04D-9DD9-6A28-A756-2F84E31BF0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52004" y="5252660"/>
                      <a:ext cx="678327" cy="39940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𝑔𝑎𝑝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0710F04D-9DD9-6A28-A756-2F84E31BF04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52004" y="5252660"/>
                      <a:ext cx="678327" cy="39940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4242" r="-63636" b="-9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BF9BC654-7413-999C-7AA0-3F3916BC187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52003" y="4602125"/>
                      <a:ext cx="678327" cy="39940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𝑔𝑎𝑝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BF9BC654-7413-999C-7AA0-3F3916BC187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52003" y="4602125"/>
                      <a:ext cx="678327" cy="399404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4242" r="-63636" b="-9047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</p:spTree>
    <p:extLst>
      <p:ext uri="{BB962C8B-B14F-4D97-AF65-F5344CB8AC3E}">
        <p14:creationId xmlns:p14="http://schemas.microsoft.com/office/powerpoint/2010/main" val="385073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CCA65C4-946D-70EF-A00F-446ACD4C78CE}"/>
              </a:ext>
            </a:extLst>
          </p:cNvPr>
          <p:cNvSpPr txBox="1"/>
          <p:nvPr/>
        </p:nvSpPr>
        <p:spPr>
          <a:xfrm>
            <a:off x="0" y="-23751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8CE640-DB4E-1095-ABDA-136CA7F61EDC}"/>
                  </a:ext>
                </a:extLst>
              </p:cNvPr>
              <p:cNvSpPr txBox="1"/>
              <p:nvPr/>
            </p:nvSpPr>
            <p:spPr>
              <a:xfrm>
                <a:off x="506682" y="1172414"/>
                <a:ext cx="5350107" cy="422936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Suppose the temperature is such that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≈4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sz="2400" dirty="0"/>
                  <a:t>. Which statement(s) are compatible with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being significantly greater than 1?</a:t>
                </a:r>
              </a:p>
              <a:p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𝑔𝑎𝑝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=200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𝑔𝑎𝑝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=20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𝑔𝑎𝑝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𝑔𝑎𝑝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=0.2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8CE640-DB4E-1095-ABDA-136CA7F61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82" y="1172414"/>
                <a:ext cx="5350107" cy="4229363"/>
              </a:xfrm>
              <a:prstGeom prst="rect">
                <a:avLst/>
              </a:prstGeom>
              <a:blipFill>
                <a:blip r:embed="rId2"/>
                <a:stretch>
                  <a:fillRect l="-1655" t="-896" b="-29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E5D6C27-51EF-E37F-9DD7-2D6D1388FFDF}"/>
              </a:ext>
            </a:extLst>
          </p:cNvPr>
          <p:cNvGrpSpPr>
            <a:grpSpLocks noChangeAspect="1"/>
          </p:cNvGrpSpPr>
          <p:nvPr/>
        </p:nvGrpSpPr>
        <p:grpSpPr>
          <a:xfrm>
            <a:off x="6003403" y="1271016"/>
            <a:ext cx="5596345" cy="4315968"/>
            <a:chOff x="4449312" y="768707"/>
            <a:chExt cx="7602988" cy="586351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82ADF59-4C19-ED09-D43F-ECE938A9C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49312" y="768707"/>
              <a:ext cx="7602988" cy="5863516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F1D4E2B-1091-D77E-1CB0-963F3F51AFA8}"/>
                </a:ext>
              </a:extLst>
            </p:cNvPr>
            <p:cNvGrpSpPr/>
            <p:nvPr/>
          </p:nvGrpSpPr>
          <p:grpSpPr>
            <a:xfrm>
              <a:off x="6841354" y="2843855"/>
              <a:ext cx="688977" cy="2870326"/>
              <a:chOff x="6841354" y="2843855"/>
              <a:chExt cx="688977" cy="2870326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13D8A79-9CD9-3C79-467B-ACAF03CBC1FE}"/>
                  </a:ext>
                </a:extLst>
              </p:cNvPr>
              <p:cNvGrpSpPr/>
              <p:nvPr/>
            </p:nvGrpSpPr>
            <p:grpSpPr>
              <a:xfrm>
                <a:off x="6841355" y="4009439"/>
                <a:ext cx="688976" cy="1704742"/>
                <a:chOff x="6841355" y="4009439"/>
                <a:chExt cx="688976" cy="170474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C0EDFC62-7690-9ABF-C5B8-512DEC0770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52004" y="5314776"/>
                      <a:ext cx="678327" cy="39940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𝑔𝑎𝑝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" name="TextBox 2">
                      <a:extLst>
                        <a:ext uri="{FF2B5EF4-FFF2-40B4-BE49-F238E27FC236}">
                          <a16:creationId xmlns:a16="http://schemas.microsoft.com/office/drawing/2014/main" id="{70916EC4-3B6C-0EB8-F2D0-C0BFD3829A5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52004" y="5314776"/>
                      <a:ext cx="678327" cy="399405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9259" r="-5556" b="-218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38DA2A20-4E77-2632-409D-2684973D0D1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52003" y="4710821"/>
                      <a:ext cx="678327" cy="39940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𝑔𝑎𝑝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B19A27EB-45B9-6DC0-E9D2-397569879B2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52003" y="4710821"/>
                      <a:ext cx="678327" cy="399405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9259" r="-5556" b="-218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CCC563C7-A165-2849-3A42-B70675AB0A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41355" y="4009439"/>
                      <a:ext cx="678327" cy="39940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𝑔𝑎𝑝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" name="TextBox 4">
                      <a:extLst>
                        <a:ext uri="{FF2B5EF4-FFF2-40B4-BE49-F238E27FC236}">
                          <a16:creationId xmlns:a16="http://schemas.microsoft.com/office/drawing/2014/main" id="{BE666486-05FA-09B6-7422-E7F7CCB44E5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41355" y="4009439"/>
                      <a:ext cx="678327" cy="399405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9091" r="-3636" b="-2121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8C2F6E9-0521-37B9-FDE2-727124AA329B}"/>
                  </a:ext>
                </a:extLst>
              </p:cNvPr>
              <p:cNvGrpSpPr/>
              <p:nvPr/>
            </p:nvGrpSpPr>
            <p:grpSpPr>
              <a:xfrm>
                <a:off x="6841354" y="2843855"/>
                <a:ext cx="678328" cy="1003360"/>
                <a:chOff x="6852003" y="4710821"/>
                <a:chExt cx="678328" cy="1003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0710F04D-9DD9-6A28-A756-2F84E31BF0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52004" y="5314776"/>
                      <a:ext cx="678327" cy="39940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𝑔𝑎𝑝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" name="TextBox 2">
                      <a:extLst>
                        <a:ext uri="{FF2B5EF4-FFF2-40B4-BE49-F238E27FC236}">
                          <a16:creationId xmlns:a16="http://schemas.microsoft.com/office/drawing/2014/main" id="{70916EC4-3B6C-0EB8-F2D0-C0BFD3829A5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52004" y="5314776"/>
                      <a:ext cx="678327" cy="399405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9259" r="-5556" b="-218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BF9BC654-7413-999C-7AA0-3F3916BC187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52003" y="4710821"/>
                      <a:ext cx="678327" cy="39940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𝑔𝑎𝑝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B19A27EB-45B9-6DC0-E9D2-397569879B2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52003" y="4710821"/>
                      <a:ext cx="678327" cy="399405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9259" r="-5556" b="-218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</p:spTree>
    <p:extLst>
      <p:ext uri="{BB962C8B-B14F-4D97-AF65-F5344CB8AC3E}">
        <p14:creationId xmlns:p14="http://schemas.microsoft.com/office/powerpoint/2010/main" val="4270836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9" name="Group 17408">
            <a:extLst>
              <a:ext uri="{FF2B5EF4-FFF2-40B4-BE49-F238E27FC236}">
                <a16:creationId xmlns:a16="http://schemas.microsoft.com/office/drawing/2014/main" id="{9E1C5A14-93CC-5936-B77F-13B84FBB2DDF}"/>
              </a:ext>
            </a:extLst>
          </p:cNvPr>
          <p:cNvGrpSpPr/>
          <p:nvPr/>
        </p:nvGrpSpPr>
        <p:grpSpPr>
          <a:xfrm>
            <a:off x="4598125" y="1027843"/>
            <a:ext cx="3480363" cy="2609112"/>
            <a:chOff x="4598125" y="747623"/>
            <a:chExt cx="3480363" cy="2609112"/>
          </a:xfrm>
        </p:grpSpPr>
        <p:pic>
          <p:nvPicPr>
            <p:cNvPr id="17414" name="Picture 6">
              <a:extLst>
                <a:ext uri="{FF2B5EF4-FFF2-40B4-BE49-F238E27FC236}">
                  <a16:creationId xmlns:a16="http://schemas.microsoft.com/office/drawing/2014/main" id="{35D9EEEE-F4BE-183C-C209-71EB5CF507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29" t="11269"/>
            <a:stretch/>
          </p:blipFill>
          <p:spPr bwMode="auto">
            <a:xfrm>
              <a:off x="4598125" y="747623"/>
              <a:ext cx="3480363" cy="2609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5D9B515-2CF8-F8D7-6E32-4C72D1E87490}"/>
                    </a:ext>
                  </a:extLst>
                </p:cNvPr>
                <p:cNvSpPr txBox="1"/>
                <p:nvPr/>
              </p:nvSpPr>
              <p:spPr>
                <a:xfrm>
                  <a:off x="4598125" y="950112"/>
                  <a:ext cx="107333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𝑠𝑜𝑙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5D9B515-2CF8-F8D7-6E32-4C72D1E87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8125" y="950112"/>
                  <a:ext cx="1073332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B53105F-C03E-C353-E5EA-7D2804FE8414}"/>
              </a:ext>
            </a:extLst>
          </p:cNvPr>
          <p:cNvGrpSpPr/>
          <p:nvPr/>
        </p:nvGrpSpPr>
        <p:grpSpPr>
          <a:xfrm>
            <a:off x="8657520" y="1030671"/>
            <a:ext cx="3480363" cy="2601559"/>
            <a:chOff x="8657520" y="750453"/>
            <a:chExt cx="3480363" cy="2601559"/>
          </a:xfrm>
        </p:grpSpPr>
        <p:pic>
          <p:nvPicPr>
            <p:cNvPr id="17410" name="Picture 2">
              <a:extLst>
                <a:ext uri="{FF2B5EF4-FFF2-40B4-BE49-F238E27FC236}">
                  <a16:creationId xmlns:a16="http://schemas.microsoft.com/office/drawing/2014/main" id="{F42FA136-99C7-01F5-8687-F4727137645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78" t="11575"/>
            <a:stretch/>
          </p:blipFill>
          <p:spPr bwMode="auto">
            <a:xfrm>
              <a:off x="8657520" y="750453"/>
              <a:ext cx="3480363" cy="2601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2CB688B-B26D-8967-7636-93A680FBBB9C}"/>
                    </a:ext>
                  </a:extLst>
                </p:cNvPr>
                <p:cNvSpPr txBox="1"/>
                <p:nvPr/>
              </p:nvSpPr>
              <p:spPr>
                <a:xfrm>
                  <a:off x="9146525" y="1014280"/>
                  <a:ext cx="107333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𝑠𝑜𝑙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2CB688B-B26D-8967-7636-93A680FBB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6525" y="1014280"/>
                  <a:ext cx="1073332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88559D-44A8-CCAE-BDC8-3F322919200F}"/>
              </a:ext>
            </a:extLst>
          </p:cNvPr>
          <p:cNvGrpSpPr/>
          <p:nvPr/>
        </p:nvGrpSpPr>
        <p:grpSpPr>
          <a:xfrm>
            <a:off x="487399" y="1001173"/>
            <a:ext cx="3480363" cy="2609580"/>
            <a:chOff x="487399" y="1001173"/>
            <a:chExt cx="3480363" cy="2609580"/>
          </a:xfrm>
        </p:grpSpPr>
        <p:pic>
          <p:nvPicPr>
            <p:cNvPr id="17412" name="Picture 4">
              <a:extLst>
                <a:ext uri="{FF2B5EF4-FFF2-40B4-BE49-F238E27FC236}">
                  <a16:creationId xmlns:a16="http://schemas.microsoft.com/office/drawing/2014/main" id="{6BEB6B7E-B96A-3D60-B237-492667ADE1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437" t="11461"/>
            <a:stretch/>
          </p:blipFill>
          <p:spPr bwMode="auto">
            <a:xfrm>
              <a:off x="487399" y="1001173"/>
              <a:ext cx="3480363" cy="2609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EB2AA50-CDEC-3057-3AC1-3B1B4141A0CD}"/>
                    </a:ext>
                  </a:extLst>
                </p:cNvPr>
                <p:cNvSpPr txBox="1"/>
                <p:nvPr/>
              </p:nvSpPr>
              <p:spPr>
                <a:xfrm>
                  <a:off x="711988" y="1260214"/>
                  <a:ext cx="107333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𝑠𝑜𝑙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EB2AA50-CDEC-3057-3AC1-3B1B4141A0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988" y="1260214"/>
                  <a:ext cx="1073332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4C3BABB-0C05-C3CC-4BE6-AEBBD04181B6}"/>
              </a:ext>
            </a:extLst>
          </p:cNvPr>
          <p:cNvGrpSpPr/>
          <p:nvPr/>
        </p:nvGrpSpPr>
        <p:grpSpPr>
          <a:xfrm>
            <a:off x="867769" y="4586747"/>
            <a:ext cx="10456463" cy="1945219"/>
            <a:chOff x="867769" y="4586747"/>
            <a:chExt cx="10456463" cy="1945219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43D7793-8CF7-21A9-ECD2-7C16FAA8A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146379" y="4586747"/>
              <a:ext cx="4354914" cy="667898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9F7C2585-4666-423E-7ABC-5B441DEDB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969318" y="5737259"/>
              <a:ext cx="4354914" cy="699999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9C2457DE-F547-2459-8D5B-6BA4DB736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969318" y="4589111"/>
              <a:ext cx="4354914" cy="672082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2F71F4D-CB86-5F49-96BA-DD48BE78E9F3}"/>
                </a:ext>
              </a:extLst>
            </p:cNvPr>
            <p:cNvSpPr txBox="1"/>
            <p:nvPr/>
          </p:nvSpPr>
          <p:spPr>
            <a:xfrm>
              <a:off x="867771" y="4704810"/>
              <a:ext cx="1055064" cy="702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D1C9240-99AE-2C35-22BA-03D63F941871}"/>
                </a:ext>
              </a:extLst>
            </p:cNvPr>
            <p:cNvSpPr txBox="1"/>
            <p:nvPr/>
          </p:nvSpPr>
          <p:spPr>
            <a:xfrm>
              <a:off x="867769" y="5829276"/>
              <a:ext cx="1055064" cy="702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911204F-F363-BFB6-39C4-C14F8F62F97E}"/>
                </a:ext>
              </a:extLst>
            </p:cNvPr>
            <p:cNvSpPr txBox="1"/>
            <p:nvPr/>
          </p:nvSpPr>
          <p:spPr>
            <a:xfrm>
              <a:off x="6690709" y="4700460"/>
              <a:ext cx="1055064" cy="702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BF140C2-C497-F7D1-CE27-AD7EFF040578}"/>
                </a:ext>
              </a:extLst>
            </p:cNvPr>
            <p:cNvSpPr txBox="1"/>
            <p:nvPr/>
          </p:nvSpPr>
          <p:spPr>
            <a:xfrm>
              <a:off x="6690709" y="5829276"/>
              <a:ext cx="1055064" cy="702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7FA3DAE-7668-9346-28E6-6FCFBBD2E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189921" y="5775586"/>
              <a:ext cx="4311371" cy="620169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5503D6B-1234-8D0F-C79B-F488D628975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B8AB0-4E59-6B1E-45B0-A9E8A780614B}"/>
              </a:ext>
            </a:extLst>
          </p:cNvPr>
          <p:cNvSpPr txBox="1"/>
          <p:nvPr/>
        </p:nvSpPr>
        <p:spPr>
          <a:xfrm>
            <a:off x="2691731" y="3871072"/>
            <a:ext cx="595945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Which goes with which?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BFF3F7-463A-34F2-867C-6A5B4356DB04}"/>
              </a:ext>
            </a:extLst>
          </p:cNvPr>
          <p:cNvSpPr txBox="1"/>
          <p:nvPr/>
        </p:nvSpPr>
        <p:spPr>
          <a:xfrm>
            <a:off x="1499531" y="559453"/>
            <a:ext cx="1055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DD24C-332C-85DC-02A0-EDE8AE2A4363}"/>
              </a:ext>
            </a:extLst>
          </p:cNvPr>
          <p:cNvSpPr txBox="1"/>
          <p:nvPr/>
        </p:nvSpPr>
        <p:spPr>
          <a:xfrm>
            <a:off x="5671456" y="562893"/>
            <a:ext cx="1055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FB5C9F-64C8-055B-A6C8-3BCD25222F18}"/>
              </a:ext>
            </a:extLst>
          </p:cNvPr>
          <p:cNvSpPr txBox="1"/>
          <p:nvPr/>
        </p:nvSpPr>
        <p:spPr>
          <a:xfrm>
            <a:off x="9748172" y="554605"/>
            <a:ext cx="1055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5306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BC7B2C-AFE0-1643-B0D8-F5A1F8E08B00}"/>
              </a:ext>
            </a:extLst>
          </p:cNvPr>
          <p:cNvSpPr txBox="1"/>
          <p:nvPr/>
        </p:nvSpPr>
        <p:spPr>
          <a:xfrm>
            <a:off x="0" y="-15410"/>
            <a:ext cx="1142406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15 – Fractional distillation</a:t>
            </a:r>
          </a:p>
        </p:txBody>
      </p:sp>
      <p:sp>
        <p:nvSpPr>
          <p:cNvPr id="3" name="AutoShape 8" descr="Image result for hooch distillation apparatus">
            <a:extLst>
              <a:ext uri="{FF2B5EF4-FFF2-40B4-BE49-F238E27FC236}">
                <a16:creationId xmlns:a16="http://schemas.microsoft.com/office/drawing/2014/main" id="{8DC674D4-4D0C-3F49-BC4D-199D1A28EB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25407" y="3065206"/>
            <a:ext cx="5981700" cy="448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CF97FC-690C-E84F-8378-5EC07B693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056" y="554540"/>
            <a:ext cx="5073101" cy="577161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871974B-6848-5146-ADD4-1299945C7F47}"/>
              </a:ext>
            </a:extLst>
          </p:cNvPr>
          <p:cNvGrpSpPr/>
          <p:nvPr/>
        </p:nvGrpSpPr>
        <p:grpSpPr>
          <a:xfrm>
            <a:off x="261083" y="554540"/>
            <a:ext cx="6089879" cy="6234959"/>
            <a:chOff x="5564337" y="323707"/>
            <a:chExt cx="6089879" cy="623495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E63BC97-2C31-E84E-A417-FB51D2C4DC78}"/>
                </a:ext>
              </a:extLst>
            </p:cNvPr>
            <p:cNvGrpSpPr/>
            <p:nvPr/>
          </p:nvGrpSpPr>
          <p:grpSpPr>
            <a:xfrm>
              <a:off x="5564337" y="323707"/>
              <a:ext cx="6089879" cy="6234959"/>
              <a:chOff x="5650836" y="323707"/>
              <a:chExt cx="6089879" cy="6234959"/>
            </a:xfrm>
          </p:grpSpPr>
          <p:pic>
            <p:nvPicPr>
              <p:cNvPr id="1026" name="Picture 2" descr="Image result for image distillation apparatus">
                <a:extLst>
                  <a:ext uri="{FF2B5EF4-FFF2-40B4-BE49-F238E27FC236}">
                    <a16:creationId xmlns:a16="http://schemas.microsoft.com/office/drawing/2014/main" id="{66CA2667-F188-9D43-9D61-D6E470DEA3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83185" y="323707"/>
                <a:ext cx="5157530" cy="62349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2229CC70-5C40-1248-81A1-25D14E5F5810}"/>
                  </a:ext>
                </a:extLst>
              </p:cNvPr>
              <p:cNvCxnSpPr/>
              <p:nvPr/>
            </p:nvCxnSpPr>
            <p:spPr>
              <a:xfrm flipV="1">
                <a:off x="6445045" y="1177414"/>
                <a:ext cx="0" cy="2713703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9F8AEC-9A96-D246-8399-FEF2940C6A0F}"/>
                  </a:ext>
                </a:extLst>
              </p:cNvPr>
              <p:cNvSpPr txBox="1"/>
              <p:nvPr/>
            </p:nvSpPr>
            <p:spPr>
              <a:xfrm>
                <a:off x="5650836" y="3405960"/>
                <a:ext cx="8155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hot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526465-8A2A-9444-B6C6-A19C6527EC0F}"/>
                  </a:ext>
                </a:extLst>
              </p:cNvPr>
              <p:cNvSpPr txBox="1"/>
              <p:nvPr/>
            </p:nvSpPr>
            <p:spPr>
              <a:xfrm>
                <a:off x="5650836" y="1449302"/>
                <a:ext cx="8155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70C0"/>
                    </a:solidFill>
                  </a:rPr>
                  <a:t>cold</a:t>
                </a: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DE0F76D-3495-C543-A7B1-8E7B1BE501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/>
            </a:blip>
            <a:srcRect t="9181" r="5411"/>
            <a:stretch/>
          </p:blipFill>
          <p:spPr>
            <a:xfrm>
              <a:off x="6834752" y="4564088"/>
              <a:ext cx="274228" cy="3229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C971381-B658-7A46-B448-551E9DCA5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22151" y="4138932"/>
              <a:ext cx="286829" cy="31831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0706C1F-6AD1-1544-AC25-5346D8806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13297" y="2688335"/>
              <a:ext cx="361620" cy="386933"/>
            </a:xfrm>
            <a:prstGeom prst="rect">
              <a:avLst/>
            </a:prstGeom>
          </p:spPr>
        </p:pic>
        <p:cxnSp>
          <p:nvCxnSpPr>
            <p:cNvPr id="19" name="Curved Connector 18">
              <a:extLst>
                <a:ext uri="{FF2B5EF4-FFF2-40B4-BE49-F238E27FC236}">
                  <a16:creationId xmlns:a16="http://schemas.microsoft.com/office/drawing/2014/main" id="{B191D440-978F-3D48-869F-7BED9B80088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254892" y="3428258"/>
              <a:ext cx="1049891" cy="371457"/>
            </a:xfrm>
            <a:prstGeom prst="curvedConnector3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72546B5-EE7A-57C1-589F-0F31FA1E2564}"/>
              </a:ext>
            </a:extLst>
          </p:cNvPr>
          <p:cNvSpPr txBox="1"/>
          <p:nvPr/>
        </p:nvSpPr>
        <p:spPr>
          <a:xfrm>
            <a:off x="8994178" y="1934101"/>
            <a:ext cx="2142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vapor composition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041823-E109-D068-D8B3-FEBFC3E8C493}"/>
              </a:ext>
            </a:extLst>
          </p:cNvPr>
          <p:cNvSpPr txBox="1"/>
          <p:nvPr/>
        </p:nvSpPr>
        <p:spPr>
          <a:xfrm>
            <a:off x="8982289" y="3891117"/>
            <a:ext cx="1918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liquid composition</a:t>
            </a: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345FDF28-9A41-9453-A229-6D14512B7E52}"/>
              </a:ext>
            </a:extLst>
          </p:cNvPr>
          <p:cNvSpPr/>
          <p:nvPr/>
        </p:nvSpPr>
        <p:spPr>
          <a:xfrm>
            <a:off x="7447547" y="2334126"/>
            <a:ext cx="252664" cy="96318"/>
          </a:xfrm>
          <a:custGeom>
            <a:avLst/>
            <a:gdLst>
              <a:gd name="connsiteX0" fmla="*/ 0 w 252664"/>
              <a:gd name="connsiteY0" fmla="*/ 0 h 96318"/>
              <a:gd name="connsiteX1" fmla="*/ 156411 w 252664"/>
              <a:gd name="connsiteY1" fmla="*/ 72190 h 96318"/>
              <a:gd name="connsiteX2" fmla="*/ 252664 w 252664"/>
              <a:gd name="connsiteY2" fmla="*/ 96253 h 96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664" h="96318">
                <a:moveTo>
                  <a:pt x="0" y="0"/>
                </a:moveTo>
                <a:cubicBezTo>
                  <a:pt x="74178" y="37089"/>
                  <a:pt x="87868" y="47265"/>
                  <a:pt x="156411" y="72190"/>
                </a:cubicBezTo>
                <a:cubicBezTo>
                  <a:pt x="229560" y="98790"/>
                  <a:pt x="205338" y="96253"/>
                  <a:pt x="252664" y="9625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04ECEBD-3F55-E96F-0210-23F880586598}"/>
              </a:ext>
            </a:extLst>
          </p:cNvPr>
          <p:cNvSpPr/>
          <p:nvPr/>
        </p:nvSpPr>
        <p:spPr>
          <a:xfrm>
            <a:off x="7435516" y="2334126"/>
            <a:ext cx="372979" cy="132380"/>
          </a:xfrm>
          <a:custGeom>
            <a:avLst/>
            <a:gdLst>
              <a:gd name="connsiteX0" fmla="*/ 0 w 372979"/>
              <a:gd name="connsiteY0" fmla="*/ 0 h 132380"/>
              <a:gd name="connsiteX1" fmla="*/ 84221 w 372979"/>
              <a:gd name="connsiteY1" fmla="*/ 48127 h 132380"/>
              <a:gd name="connsiteX2" fmla="*/ 120316 w 372979"/>
              <a:gd name="connsiteY2" fmla="*/ 60158 h 132380"/>
              <a:gd name="connsiteX3" fmla="*/ 156410 w 372979"/>
              <a:gd name="connsiteY3" fmla="*/ 84221 h 132380"/>
              <a:gd name="connsiteX4" fmla="*/ 252663 w 372979"/>
              <a:gd name="connsiteY4" fmla="*/ 108285 h 132380"/>
              <a:gd name="connsiteX5" fmla="*/ 372979 w 372979"/>
              <a:gd name="connsiteY5" fmla="*/ 132348 h 13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2979" h="132380">
                <a:moveTo>
                  <a:pt x="0" y="0"/>
                </a:moveTo>
                <a:cubicBezTo>
                  <a:pt x="28074" y="16042"/>
                  <a:pt x="55301" y="33667"/>
                  <a:pt x="84221" y="48127"/>
                </a:cubicBezTo>
                <a:cubicBezTo>
                  <a:pt x="95565" y="53799"/>
                  <a:pt x="108972" y="54486"/>
                  <a:pt x="120316" y="60158"/>
                </a:cubicBezTo>
                <a:cubicBezTo>
                  <a:pt x="133249" y="66625"/>
                  <a:pt x="143477" y="77754"/>
                  <a:pt x="156410" y="84221"/>
                </a:cubicBezTo>
                <a:cubicBezTo>
                  <a:pt x="182697" y="97364"/>
                  <a:pt x="227166" y="102401"/>
                  <a:pt x="252663" y="108285"/>
                </a:cubicBezTo>
                <a:cubicBezTo>
                  <a:pt x="365365" y="134293"/>
                  <a:pt x="313742" y="132348"/>
                  <a:pt x="372979" y="13234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BC4C5975-F505-3007-B237-862DFED4E121}"/>
              </a:ext>
            </a:extLst>
          </p:cNvPr>
          <p:cNvSpPr/>
          <p:nvPr/>
        </p:nvSpPr>
        <p:spPr>
          <a:xfrm>
            <a:off x="7447547" y="2322095"/>
            <a:ext cx="3874169" cy="1949116"/>
          </a:xfrm>
          <a:custGeom>
            <a:avLst/>
            <a:gdLst>
              <a:gd name="connsiteX0" fmla="*/ 0 w 3874169"/>
              <a:gd name="connsiteY0" fmla="*/ 0 h 1949116"/>
              <a:gd name="connsiteX1" fmla="*/ 481264 w 3874169"/>
              <a:gd name="connsiteY1" fmla="*/ 156410 h 1949116"/>
              <a:gd name="connsiteX2" fmla="*/ 493295 w 3874169"/>
              <a:gd name="connsiteY2" fmla="*/ 156410 h 1949116"/>
              <a:gd name="connsiteX3" fmla="*/ 902369 w 3874169"/>
              <a:gd name="connsiteY3" fmla="*/ 324852 h 1949116"/>
              <a:gd name="connsiteX4" fmla="*/ 1660358 w 3874169"/>
              <a:gd name="connsiteY4" fmla="*/ 685800 h 1949116"/>
              <a:gd name="connsiteX5" fmla="*/ 2237874 w 3874169"/>
              <a:gd name="connsiteY5" fmla="*/ 986589 h 1949116"/>
              <a:gd name="connsiteX6" fmla="*/ 2586790 w 3874169"/>
              <a:gd name="connsiteY6" fmla="*/ 1203158 h 1949116"/>
              <a:gd name="connsiteX7" fmla="*/ 2971800 w 3874169"/>
              <a:gd name="connsiteY7" fmla="*/ 1431758 h 1949116"/>
              <a:gd name="connsiteX8" fmla="*/ 3356811 w 3874169"/>
              <a:gd name="connsiteY8" fmla="*/ 1612231 h 1949116"/>
              <a:gd name="connsiteX9" fmla="*/ 3693695 w 3874169"/>
              <a:gd name="connsiteY9" fmla="*/ 1804737 h 1949116"/>
              <a:gd name="connsiteX10" fmla="*/ 3874169 w 3874169"/>
              <a:gd name="connsiteY10" fmla="*/ 1949116 h 1949116"/>
              <a:gd name="connsiteX11" fmla="*/ 3874169 w 3874169"/>
              <a:gd name="connsiteY11" fmla="*/ 1949116 h 1949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4169" h="1949116">
                <a:moveTo>
                  <a:pt x="0" y="0"/>
                </a:moveTo>
                <a:lnTo>
                  <a:pt x="481264" y="156410"/>
                </a:lnTo>
                <a:cubicBezTo>
                  <a:pt x="563480" y="182478"/>
                  <a:pt x="423111" y="128336"/>
                  <a:pt x="493295" y="156410"/>
                </a:cubicBezTo>
                <a:cubicBezTo>
                  <a:pt x="563479" y="184484"/>
                  <a:pt x="707859" y="236620"/>
                  <a:pt x="902369" y="324852"/>
                </a:cubicBezTo>
                <a:cubicBezTo>
                  <a:pt x="1096879" y="413084"/>
                  <a:pt x="1437774" y="575511"/>
                  <a:pt x="1660358" y="685800"/>
                </a:cubicBezTo>
                <a:cubicBezTo>
                  <a:pt x="1882942" y="796089"/>
                  <a:pt x="2083469" y="900363"/>
                  <a:pt x="2237874" y="986589"/>
                </a:cubicBezTo>
                <a:cubicBezTo>
                  <a:pt x="2392279" y="1072815"/>
                  <a:pt x="2464469" y="1128963"/>
                  <a:pt x="2586790" y="1203158"/>
                </a:cubicBezTo>
                <a:cubicBezTo>
                  <a:pt x="2709111" y="1277353"/>
                  <a:pt x="2843463" y="1363579"/>
                  <a:pt x="2971800" y="1431758"/>
                </a:cubicBezTo>
                <a:cubicBezTo>
                  <a:pt x="3100137" y="1499937"/>
                  <a:pt x="3236495" y="1550068"/>
                  <a:pt x="3356811" y="1612231"/>
                </a:cubicBezTo>
                <a:cubicBezTo>
                  <a:pt x="3477127" y="1674394"/>
                  <a:pt x="3607469" y="1748590"/>
                  <a:pt x="3693695" y="1804737"/>
                </a:cubicBezTo>
                <a:cubicBezTo>
                  <a:pt x="3779921" y="1860884"/>
                  <a:pt x="3874169" y="1949116"/>
                  <a:pt x="3874169" y="1949116"/>
                </a:cubicBezTo>
                <a:lnTo>
                  <a:pt x="3874169" y="1949116"/>
                </a:lnTo>
              </a:path>
            </a:pathLst>
          </a:custGeom>
          <a:noFill/>
          <a:ln w="1016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7265CF27-DEDD-96F6-6776-6A5164F3D496}"/>
              </a:ext>
            </a:extLst>
          </p:cNvPr>
          <p:cNvSpPr/>
          <p:nvPr/>
        </p:nvSpPr>
        <p:spPr>
          <a:xfrm>
            <a:off x="7447547" y="2334126"/>
            <a:ext cx="3862137" cy="2004371"/>
          </a:xfrm>
          <a:custGeom>
            <a:avLst/>
            <a:gdLst>
              <a:gd name="connsiteX0" fmla="*/ 0 w 3862137"/>
              <a:gd name="connsiteY0" fmla="*/ 0 h 2004371"/>
              <a:gd name="connsiteX1" fmla="*/ 252664 w 3862137"/>
              <a:gd name="connsiteY1" fmla="*/ 312821 h 2004371"/>
              <a:gd name="connsiteX2" fmla="*/ 517358 w 3862137"/>
              <a:gd name="connsiteY2" fmla="*/ 577516 h 2004371"/>
              <a:gd name="connsiteX3" fmla="*/ 830179 w 3862137"/>
              <a:gd name="connsiteY3" fmla="*/ 818148 h 2004371"/>
              <a:gd name="connsiteX4" fmla="*/ 1239253 w 3862137"/>
              <a:gd name="connsiteY4" fmla="*/ 1094874 h 2004371"/>
              <a:gd name="connsiteX5" fmla="*/ 1864895 w 3862137"/>
              <a:gd name="connsiteY5" fmla="*/ 1383632 h 2004371"/>
              <a:gd name="connsiteX6" fmla="*/ 2671011 w 3862137"/>
              <a:gd name="connsiteY6" fmla="*/ 1672390 h 2004371"/>
              <a:gd name="connsiteX7" fmla="*/ 3344779 w 3862137"/>
              <a:gd name="connsiteY7" fmla="*/ 1900990 h 2004371"/>
              <a:gd name="connsiteX8" fmla="*/ 3765885 w 3862137"/>
              <a:gd name="connsiteY8" fmla="*/ 1997242 h 2004371"/>
              <a:gd name="connsiteX9" fmla="*/ 3862137 w 3862137"/>
              <a:gd name="connsiteY9" fmla="*/ 1997242 h 2004371"/>
              <a:gd name="connsiteX10" fmla="*/ 3862137 w 3862137"/>
              <a:gd name="connsiteY10" fmla="*/ 1997242 h 2004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62137" h="2004371">
                <a:moveTo>
                  <a:pt x="0" y="0"/>
                </a:moveTo>
                <a:cubicBezTo>
                  <a:pt x="83219" y="108284"/>
                  <a:pt x="166438" y="216568"/>
                  <a:pt x="252664" y="312821"/>
                </a:cubicBezTo>
                <a:cubicBezTo>
                  <a:pt x="338890" y="409074"/>
                  <a:pt x="421106" y="493295"/>
                  <a:pt x="517358" y="577516"/>
                </a:cubicBezTo>
                <a:cubicBezTo>
                  <a:pt x="613611" y="661737"/>
                  <a:pt x="709863" y="731922"/>
                  <a:pt x="830179" y="818148"/>
                </a:cubicBezTo>
                <a:cubicBezTo>
                  <a:pt x="950495" y="904374"/>
                  <a:pt x="1066800" y="1000627"/>
                  <a:pt x="1239253" y="1094874"/>
                </a:cubicBezTo>
                <a:cubicBezTo>
                  <a:pt x="1411706" y="1189121"/>
                  <a:pt x="1626269" y="1287379"/>
                  <a:pt x="1864895" y="1383632"/>
                </a:cubicBezTo>
                <a:cubicBezTo>
                  <a:pt x="2103521" y="1479885"/>
                  <a:pt x="2424364" y="1586164"/>
                  <a:pt x="2671011" y="1672390"/>
                </a:cubicBezTo>
                <a:cubicBezTo>
                  <a:pt x="2917658" y="1758616"/>
                  <a:pt x="3162300" y="1846848"/>
                  <a:pt x="3344779" y="1900990"/>
                </a:cubicBezTo>
                <a:cubicBezTo>
                  <a:pt x="3527258" y="1955132"/>
                  <a:pt x="3679659" y="1981200"/>
                  <a:pt x="3765885" y="1997242"/>
                </a:cubicBezTo>
                <a:cubicBezTo>
                  <a:pt x="3852111" y="2013284"/>
                  <a:pt x="3862137" y="1997242"/>
                  <a:pt x="3862137" y="1997242"/>
                </a:cubicBezTo>
                <a:lnTo>
                  <a:pt x="3862137" y="1997242"/>
                </a:lnTo>
              </a:path>
            </a:pathLst>
          </a:custGeom>
          <a:noFill/>
          <a:ln w="1016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58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BC7B2C-AFE0-1643-B0D8-F5A1F8E08B00}"/>
              </a:ext>
            </a:extLst>
          </p:cNvPr>
          <p:cNvSpPr txBox="1"/>
          <p:nvPr/>
        </p:nvSpPr>
        <p:spPr>
          <a:xfrm>
            <a:off x="0" y="-456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</a:t>
            </a:r>
          </a:p>
        </p:txBody>
      </p:sp>
      <p:pic>
        <p:nvPicPr>
          <p:cNvPr id="1026" name="Picture 2" descr="Melting And Boiling Point Chart">
            <a:extLst>
              <a:ext uri="{FF2B5EF4-FFF2-40B4-BE49-F238E27FC236}">
                <a16:creationId xmlns:a16="http://schemas.microsoft.com/office/drawing/2014/main" id="{AD799A34-897D-393B-8284-8443AA3E7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77" y="779209"/>
            <a:ext cx="5782923" cy="529958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2387C1-1CD8-16DE-4BBB-AC5538160181}"/>
              </a:ext>
            </a:extLst>
          </p:cNvPr>
          <p:cNvSpPr txBox="1"/>
          <p:nvPr/>
        </p:nvSpPr>
        <p:spPr>
          <a:xfrm>
            <a:off x="6334167" y="982176"/>
            <a:ext cx="5544756" cy="48936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 liquid mixture that is 30% EtOH and 70% water is in equilibrium with its vapor. What’s true about the composition of the vapor?</a:t>
            </a:r>
          </a:p>
          <a:p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It’s less than 30% EtOH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It’s equal to the liquid composition (30% EtOH, 70% water)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It’s greater than 30% EtOH, but not as high as the azeotropic point composition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It’s greater than the azeotropic point composition</a:t>
            </a:r>
          </a:p>
        </p:txBody>
      </p:sp>
    </p:spTree>
    <p:extLst>
      <p:ext uri="{BB962C8B-B14F-4D97-AF65-F5344CB8AC3E}">
        <p14:creationId xmlns:p14="http://schemas.microsoft.com/office/powerpoint/2010/main" val="4287270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BC7B2C-AFE0-1643-B0D8-F5A1F8E08B00}"/>
              </a:ext>
            </a:extLst>
          </p:cNvPr>
          <p:cNvSpPr txBox="1"/>
          <p:nvPr/>
        </p:nvSpPr>
        <p:spPr>
          <a:xfrm>
            <a:off x="0" y="-456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C1D9EA-2CB9-1062-19D4-724229D3153A}"/>
              </a:ext>
            </a:extLst>
          </p:cNvPr>
          <p:cNvSpPr txBox="1"/>
          <p:nvPr/>
        </p:nvSpPr>
        <p:spPr>
          <a:xfrm>
            <a:off x="6766559" y="1536174"/>
            <a:ext cx="4689453" cy="37856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If the liquid in the round bottom flask is 30% EtOH and 70% water, how many theoretical plates are required to yield a vapor having 70% EtOH and 30% water?</a:t>
            </a:r>
          </a:p>
          <a:p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1-2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2-3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3-4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4-5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07DB2D-1AC8-5A5A-DCF2-1A9209AB4D93}"/>
              </a:ext>
            </a:extLst>
          </p:cNvPr>
          <p:cNvGrpSpPr/>
          <p:nvPr/>
        </p:nvGrpSpPr>
        <p:grpSpPr>
          <a:xfrm>
            <a:off x="313077" y="779209"/>
            <a:ext cx="5782923" cy="5299582"/>
            <a:chOff x="313077" y="779209"/>
            <a:chExt cx="5782923" cy="5299582"/>
          </a:xfrm>
        </p:grpSpPr>
        <p:pic>
          <p:nvPicPr>
            <p:cNvPr id="1026" name="Picture 2" descr="Melting And Boiling Point Chart">
              <a:extLst>
                <a:ext uri="{FF2B5EF4-FFF2-40B4-BE49-F238E27FC236}">
                  <a16:creationId xmlns:a16="http://schemas.microsoft.com/office/drawing/2014/main" id="{AD799A34-897D-393B-8284-8443AA3E75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077" y="779209"/>
              <a:ext cx="5782923" cy="529958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2" descr="Image result for image distillation apparatus">
              <a:extLst>
                <a:ext uri="{FF2B5EF4-FFF2-40B4-BE49-F238E27FC236}">
                  <a16:creationId xmlns:a16="http://schemas.microsoft.com/office/drawing/2014/main" id="{2184C5D6-B5D4-1A67-08F3-AD22A49DA3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9129" y="1506144"/>
              <a:ext cx="1426257" cy="1724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809648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304</Words>
  <Application>Microsoft Macintosh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27</cp:revision>
  <dcterms:created xsi:type="dcterms:W3CDTF">2023-12-04T03:00:53Z</dcterms:created>
  <dcterms:modified xsi:type="dcterms:W3CDTF">2025-12-08T04:50:10Z</dcterms:modified>
</cp:coreProperties>
</file>