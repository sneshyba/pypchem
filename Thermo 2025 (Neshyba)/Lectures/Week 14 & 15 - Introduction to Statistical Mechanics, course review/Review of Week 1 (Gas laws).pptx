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35" r:id="rId2"/>
    <p:sldId id="719" r:id="rId3"/>
    <p:sldId id="333" r:id="rId4"/>
    <p:sldId id="373" r:id="rId5"/>
    <p:sldId id="355" r:id="rId6"/>
    <p:sldId id="736" r:id="rId7"/>
    <p:sldId id="773" r:id="rId8"/>
    <p:sldId id="735" r:id="rId9"/>
    <p:sldId id="756" r:id="rId10"/>
    <p:sldId id="772" r:id="rId11"/>
    <p:sldId id="771" r:id="rId12"/>
    <p:sldId id="7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/>
    <p:restoredTop sz="95988"/>
  </p:normalViewPr>
  <p:slideViewPr>
    <p:cSldViewPr snapToGrid="0">
      <p:cViewPr varScale="1">
        <p:scale>
          <a:sx n="107" d="100"/>
          <a:sy n="10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D696F-0323-B948-8D9D-CDC898E7F2D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78BAA-32E4-8A4F-9E01-87FA22A1B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0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Week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Week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7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86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56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18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07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2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30AB-6482-C3A2-1B22-74EBC4A7E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DFFC-9BFB-601F-9C72-DDBBEDE1F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1DA7-747C-9CBA-55CF-08604FEB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68268-FFFC-04F9-B21E-65EC62A4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C3886-C939-1CE1-A8A8-A556876C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5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5097-4D6A-A3CD-9265-FE0211DE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75FE-ADC7-0E2C-1269-8D05E8E98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80C1C-44AF-01F6-41D8-55149182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33074-693D-AAD9-1E19-3F1B3770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FAE3-5AEE-8D54-CFC5-07EE8FD8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9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C596-C613-5524-770F-4FE1EAC9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8BFAA-3C5C-5265-1F2F-E29B38152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0CF6-DFD4-CD9C-B8B1-D2C076DB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34C5A-E8B7-BE20-225D-4823D2A5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E74BE-26B7-5292-C58C-1D636C60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6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E6BEF-56A7-FA77-DC77-5CC63C26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FD63-3255-8806-E498-27F5EBB60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03FBB-FFA3-AFFC-DB19-640CEDBD6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B63A7-6BB9-20CD-A4C2-77D9C041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77A07-8DDD-185B-BBB4-7C8FCE2D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D4884-8C25-A0F5-68E2-3488D978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22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5C18-DB67-61C9-4C72-588037C84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1B288-E889-2E49-5608-3F3ADAF2B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01B24-39C3-997F-2CDA-800AE3731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7D129-5256-3F83-5B2F-1CEABB436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1097F-0BC9-DB35-9D00-DAA7BA9AA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E14A43-6B07-F211-D4D0-E1FD7040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979EE-E2E7-1E8E-EC9A-6673EF64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B38BE-E449-1717-C22F-7A88CA57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5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9303-B09F-E9E1-FB1C-D079979C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EB8F9-5770-1A42-3D2D-B70210C0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8ADCC-A358-4A3B-275D-12283B91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FE41E-9439-4674-5811-322CE178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5B938-EAEF-4524-1792-9A1A5820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E2A9A-2194-FD4E-C1BD-58260D87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87863-DB20-F1AE-3AA2-6C66BDC3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4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3423-ED47-9D15-6765-447F1623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516F-2A78-B768-240C-BE3FD5805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8DC32-4F0D-A591-16CF-172E0FC78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C4401-A3E8-791D-CB44-441A3C6C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C0429-6578-0664-A21B-FF5A3180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71494-6E99-4D23-7D3F-6C2C9545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0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405-6809-174A-2FF1-A259D415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A9117-F402-22FA-9D62-F50AFB0AA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86A4D-3687-1E3A-7DDD-FA367CFE5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29049-9913-DB1C-7EDA-BF01926C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2C027-585B-63DE-07DE-9B95AE48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A07CF-769D-6FFD-F5BF-36E68295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4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DF6C-8049-8CDF-1E0C-C46FF4F7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EB403-DAFB-21EC-EECE-F8CC6A3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A7E10-33BE-AA97-B161-3E8F5CA1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E93F7-1699-2D0A-6AF7-16B480B7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898F-AC3B-4779-93A1-7BAA2657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9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6E304-B41F-D82D-DD1B-1EAF4565D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7AC00-6A23-5431-EB59-9CCD2524D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77692-14B1-2F68-D4CE-D9E9773C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C7FDD-DD2E-41CB-7D28-6296A8BD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2FA7-54AE-C856-71EE-8DD7953E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4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CCEAB-0675-3371-F870-FCD6A3705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187E9-956F-0963-A149-6EE3C1A9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B65CD-E411-19B0-B06D-B303359BD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FF80-0D25-729A-4FFF-A0578265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12E6D-A725-1E49-A23F-942CAF424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2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png"/><Relationship Id="rId7" Type="http://schemas.openxmlformats.org/officeDocument/2006/relationships/hyperlink" Target="https://en.wikipedia.org/wiki/Van_der_Waals_constants_(data_page)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5.png"/><Relationship Id="rId5" Type="http://schemas.openxmlformats.org/officeDocument/2006/relationships/image" Target="../media/image8.png"/><Relationship Id="rId10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 – We learned how to manipulate (add, subtract) entire surfaces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8CFCC75-EADC-4497-B544-5110C0EFFF1C}"/>
              </a:ext>
            </a:extLst>
          </p:cNvPr>
          <p:cNvGrpSpPr/>
          <p:nvPr/>
        </p:nvGrpSpPr>
        <p:grpSpPr>
          <a:xfrm>
            <a:off x="753973" y="1060784"/>
            <a:ext cx="10219717" cy="4736432"/>
            <a:chOff x="-56255" y="629305"/>
            <a:chExt cx="10219717" cy="47364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95CCDD-78B6-CD9A-BB93-25F7EFD709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56255" y="629305"/>
              <a:ext cx="3250868" cy="4736432"/>
              <a:chOff x="1144883" y="640080"/>
              <a:chExt cx="4100332" cy="597408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97597BA-14B8-82D5-EDDB-F06662D3C13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591903" y="640080"/>
                <a:ext cx="3653312" cy="5974080"/>
                <a:chOff x="121920" y="640080"/>
                <a:chExt cx="3653312" cy="597408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92983EA0-8FD0-C3AB-0189-C1D95DB29E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59080" y="3040707"/>
                  <a:ext cx="3516152" cy="3096081"/>
                </a:xfrm>
                <a:prstGeom prst="rect">
                  <a:avLst/>
                </a:prstGeom>
              </p:spPr>
            </p:pic>
            <p:sp>
              <p:nvSpPr>
                <p:cNvPr id="12" name="Frame 11">
                  <a:extLst>
                    <a:ext uri="{FF2B5EF4-FFF2-40B4-BE49-F238E27FC236}">
                      <a16:creationId xmlns:a16="http://schemas.microsoft.com/office/drawing/2014/main" id="{833798D6-8073-2809-6E21-1A6A9D595368}"/>
                    </a:ext>
                  </a:extLst>
                </p:cNvPr>
                <p:cNvSpPr/>
                <p:nvPr/>
              </p:nvSpPr>
              <p:spPr>
                <a:xfrm>
                  <a:off x="121920" y="640080"/>
                  <a:ext cx="3516152" cy="5974080"/>
                </a:xfrm>
                <a:prstGeom prst="frame">
                  <a:avLst>
                    <a:gd name="adj1" fmla="val 219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8CDA7C8-43D7-64F8-5A4E-548BB077F559}"/>
                      </a:ext>
                    </a:extLst>
                  </p:cNvPr>
                  <p:cNvSpPr txBox="1"/>
                  <p:nvPr/>
                </p:nvSpPr>
                <p:spPr>
                  <a:xfrm>
                    <a:off x="1144883" y="1448493"/>
                    <a:ext cx="4100332" cy="84320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𝑖𝑑𝑒𝑎𝑙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𝑛𝑅𝑇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8CDA7C8-43D7-64F8-5A4E-548BB077F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4883" y="1448493"/>
                    <a:ext cx="4100332" cy="84320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0671F5-F7F9-9446-0FBE-BEF40C3AF1D4}"/>
                </a:ext>
              </a:extLst>
            </p:cNvPr>
            <p:cNvSpPr txBox="1"/>
            <p:nvPr/>
          </p:nvSpPr>
          <p:spPr>
            <a:xfrm>
              <a:off x="3194614" y="2532595"/>
              <a:ext cx="267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-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441E20-07F5-832D-5A3D-7768758BFF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10311" y="629305"/>
              <a:ext cx="3139410" cy="4732034"/>
              <a:chOff x="5963812" y="640080"/>
              <a:chExt cx="3963432" cy="597408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2EDE7DD-9871-3EC0-E8BB-1F971344E1C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129877" y="640080"/>
                <a:ext cx="3697029" cy="5974080"/>
                <a:chOff x="3804524" y="640080"/>
                <a:chExt cx="3697029" cy="5974080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5FD7C025-0413-D38B-239F-2CA54A2F61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04524" y="3040707"/>
                  <a:ext cx="3516152" cy="3065960"/>
                </a:xfrm>
                <a:prstGeom prst="rect">
                  <a:avLst/>
                </a:prstGeom>
              </p:spPr>
            </p:pic>
            <p:sp>
              <p:nvSpPr>
                <p:cNvPr id="21" name="Frame 20">
                  <a:extLst>
                    <a:ext uri="{FF2B5EF4-FFF2-40B4-BE49-F238E27FC236}">
                      <a16:creationId xmlns:a16="http://schemas.microsoft.com/office/drawing/2014/main" id="{F200EB6F-153F-B971-3D39-2269900E6A87}"/>
                    </a:ext>
                  </a:extLst>
                </p:cNvPr>
                <p:cNvSpPr/>
                <p:nvPr/>
              </p:nvSpPr>
              <p:spPr>
                <a:xfrm>
                  <a:off x="3890252" y="640080"/>
                  <a:ext cx="3611301" cy="5974080"/>
                </a:xfrm>
                <a:prstGeom prst="frame">
                  <a:avLst>
                    <a:gd name="adj1" fmla="val 219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E466399-302C-6D9D-FB57-A434B5CE3659}"/>
                      </a:ext>
                    </a:extLst>
                  </p:cNvPr>
                  <p:cNvSpPr txBox="1"/>
                  <p:nvPr/>
                </p:nvSpPr>
                <p:spPr>
                  <a:xfrm>
                    <a:off x="5963812" y="1334437"/>
                    <a:ext cx="3963432" cy="89628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𝑣𝑑𝑤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𝑛𝑅𝑇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𝑛𝑏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E466399-302C-6D9D-FB57-A434B5CE36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3812" y="1334437"/>
                    <a:ext cx="3963432" cy="89628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70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B8D83C-EC9D-FA44-5C45-7104B14F47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02972" y="629305"/>
              <a:ext cx="2860490" cy="4732034"/>
              <a:chOff x="8147925" y="629305"/>
              <a:chExt cx="3611300" cy="5974080"/>
            </a:xfrm>
          </p:grpSpPr>
          <p:sp>
            <p:nvSpPr>
              <p:cNvPr id="32" name="Frame 31">
                <a:extLst>
                  <a:ext uri="{FF2B5EF4-FFF2-40B4-BE49-F238E27FC236}">
                    <a16:creationId xmlns:a16="http://schemas.microsoft.com/office/drawing/2014/main" id="{94543BBC-3C09-E884-9FA1-95384B74DB22}"/>
                  </a:ext>
                </a:extLst>
              </p:cNvPr>
              <p:cNvSpPr/>
              <p:nvPr/>
            </p:nvSpPr>
            <p:spPr>
              <a:xfrm>
                <a:off x="8147925" y="629305"/>
                <a:ext cx="3611300" cy="5974080"/>
              </a:xfrm>
              <a:prstGeom prst="frame">
                <a:avLst>
                  <a:gd name="adj1" fmla="val 219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39FCCA37-D166-8594-CFCF-96F22E5C34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755" t="4815" r="13480" b="17416"/>
              <a:stretch/>
            </p:blipFill>
            <p:spPr bwMode="auto">
              <a:xfrm>
                <a:off x="8426370" y="3040707"/>
                <a:ext cx="3165201" cy="28540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8B9F52A-7CCA-E47A-6759-B71716874797}"/>
                      </a:ext>
                    </a:extLst>
                  </p:cNvPr>
                  <p:cNvSpPr txBox="1"/>
                  <p:nvPr/>
                </p:nvSpPr>
                <p:spPr>
                  <a:xfrm>
                    <a:off x="8641600" y="1605755"/>
                    <a:ext cx="2734737" cy="5051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𝑖𝑑𝑒𝑎𝑙</m:t>
                            </m:r>
                          </m:sub>
                        </m:sSub>
                      </m:oMath>
                    </a14:m>
                    <a:r>
                      <a:rPr lang="en-US" sz="2000" dirty="0"/>
                      <a:t>-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𝑣𝑑𝑤</m:t>
                            </m:r>
                          </m:sub>
                        </m:sSub>
                      </m:oMath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8B9F52A-7CCA-E47A-6759-B717168747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1600" y="1605755"/>
                    <a:ext cx="2734737" cy="50512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9091" b="-242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DD7C85-79FB-E6BE-D87A-45596102E08B}"/>
                </a:ext>
              </a:extLst>
            </p:cNvPr>
            <p:cNvSpPr txBox="1"/>
            <p:nvPr/>
          </p:nvSpPr>
          <p:spPr>
            <a:xfrm>
              <a:off x="6675144" y="2497952"/>
              <a:ext cx="267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929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4C3CB-FCB3-2241-AE48-93D0EF93F528}"/>
              </a:ext>
            </a:extLst>
          </p:cNvPr>
          <p:cNvSpPr txBox="1"/>
          <p:nvPr/>
        </p:nvSpPr>
        <p:spPr>
          <a:xfrm>
            <a:off x="-13726" y="-1189"/>
            <a:ext cx="122288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 – How to use visualizations as an analysis tool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834E7-F11B-77C6-E1D5-56F9CA2985EF}"/>
              </a:ext>
            </a:extLst>
          </p:cNvPr>
          <p:cNvSpPr txBox="1"/>
          <p:nvPr/>
        </p:nvSpPr>
        <p:spPr>
          <a:xfrm>
            <a:off x="682906" y="2163627"/>
            <a:ext cx="21181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 pressure is too big (real gases have lower pressure)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8BE07-06C1-4C50-8CCF-74550884B947}"/>
              </a:ext>
            </a:extLst>
          </p:cNvPr>
          <p:cNvSpPr txBox="1"/>
          <p:nvPr/>
        </p:nvSpPr>
        <p:spPr>
          <a:xfrm>
            <a:off x="8740032" y="3429000"/>
            <a:ext cx="3035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 pressure is too low (real gases have higher pressure)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1420B-1AD0-1130-C741-AA168E3D6D1F}"/>
              </a:ext>
            </a:extLst>
          </p:cNvPr>
          <p:cNvSpPr txBox="1"/>
          <p:nvPr/>
        </p:nvSpPr>
        <p:spPr>
          <a:xfrm>
            <a:off x="2882096" y="5600541"/>
            <a:ext cx="475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58DB2CE-DF6E-3F86-6E01-4021C93C368F}"/>
                  </a:ext>
                </a:extLst>
              </p:cNvPr>
              <p:cNvSpPr txBox="1"/>
              <p:nvPr/>
            </p:nvSpPr>
            <p:spPr>
              <a:xfrm>
                <a:off x="682906" y="5035541"/>
                <a:ext cx="8835342" cy="955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At this temperature (the “Boyle temperature”), the ideal gas law has it just right. Thermodynamics (we’ll get to this) predicts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400" dirty="0"/>
                  <a:t> 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58DB2CE-DF6E-3F86-6E01-4021C93C3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06" y="5035541"/>
                <a:ext cx="8835342" cy="955903"/>
              </a:xfrm>
              <a:prstGeom prst="rect">
                <a:avLst/>
              </a:prstGeom>
              <a:blipFill>
                <a:blip r:embed="rId2"/>
                <a:stretch>
                  <a:fillRect l="-1004" t="-5263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966638-0655-F474-05CA-AC4D5F68D79C}"/>
                  </a:ext>
                </a:extLst>
              </p:cNvPr>
              <p:cNvSpPr txBox="1"/>
              <p:nvPr/>
            </p:nvSpPr>
            <p:spPr>
              <a:xfrm>
                <a:off x="120206" y="485449"/>
                <a:ext cx="12071794" cy="1037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Let’s assume </a:t>
                </a:r>
                <a:r>
                  <a:rPr lang="en-US" sz="2400" dirty="0" err="1"/>
                  <a:t>vdw’s</a:t>
                </a:r>
                <a:r>
                  <a:rPr lang="en-US" sz="2400" dirty="0"/>
                  <a:t> equation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 is more accurate than the ideal gas law (a great assumption). Then differences tell us about deficiencies in assumptions of the ideal gas law.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966638-0655-F474-05CA-AC4D5F68D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06" y="485449"/>
                <a:ext cx="12071794" cy="1037848"/>
              </a:xfrm>
              <a:prstGeom prst="rect">
                <a:avLst/>
              </a:prstGeom>
              <a:blipFill>
                <a:blip r:embed="rId3"/>
                <a:stretch>
                  <a:fillRect l="-840" b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953D51C-8ACE-DDD5-D844-72364DD00AF3}"/>
              </a:ext>
            </a:extLst>
          </p:cNvPr>
          <p:cNvGrpSpPr/>
          <p:nvPr/>
        </p:nvGrpSpPr>
        <p:grpSpPr>
          <a:xfrm>
            <a:off x="3568133" y="1632033"/>
            <a:ext cx="4623612" cy="3112123"/>
            <a:chOff x="3568133" y="1632033"/>
            <a:chExt cx="4623612" cy="3112123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386DD13C-27CC-340A-F45F-AB6F617687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755" t="24531" r="13480" b="17416"/>
            <a:stretch/>
          </p:blipFill>
          <p:spPr bwMode="auto">
            <a:xfrm>
              <a:off x="3568133" y="1632033"/>
              <a:ext cx="4623612" cy="31121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C0C1086-CEFF-5C45-824C-B679119938AF}"/>
                    </a:ext>
                  </a:extLst>
                </p:cNvPr>
                <p:cNvSpPr txBox="1"/>
                <p:nvPr/>
              </p:nvSpPr>
              <p:spPr>
                <a:xfrm>
                  <a:off x="4796854" y="1948182"/>
                  <a:ext cx="21661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</m:sub>
                      </m:sSub>
                    </m:oMath>
                  </a14:m>
                  <a:r>
                    <a:rPr lang="en-US" sz="2000" dirty="0"/>
                    <a:t>-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𝑣𝑑𝑤</m:t>
                          </m:r>
                        </m:sub>
                      </m:sSub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C0C1086-CEFF-5C45-824C-B67911993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6854" y="1948182"/>
                  <a:ext cx="2166169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9375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26CD17-46B8-F38A-952E-C34BB7D1D209}"/>
              </a:ext>
            </a:extLst>
          </p:cNvPr>
          <p:cNvCxnSpPr>
            <a:cxnSpLocks/>
          </p:cNvCxnSpPr>
          <p:nvPr/>
        </p:nvCxnSpPr>
        <p:spPr>
          <a:xfrm flipV="1">
            <a:off x="5011838" y="4316199"/>
            <a:ext cx="868100" cy="660915"/>
          </a:xfrm>
          <a:prstGeom prst="straightConnector1">
            <a:avLst/>
          </a:prstGeom>
          <a:ln w="38100">
            <a:solidFill>
              <a:schemeClr val="tx1">
                <a:alpha val="43678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53CBB3-B58F-D27B-5812-5D9BF759DE99}"/>
              </a:ext>
            </a:extLst>
          </p:cNvPr>
          <p:cNvCxnSpPr>
            <a:cxnSpLocks/>
          </p:cNvCxnSpPr>
          <p:nvPr/>
        </p:nvCxnSpPr>
        <p:spPr>
          <a:xfrm flipH="1">
            <a:off x="6551271" y="3964119"/>
            <a:ext cx="2048719" cy="0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6C0D5D-0FDD-B2D5-0346-C81C1D85EEDB}"/>
              </a:ext>
            </a:extLst>
          </p:cNvPr>
          <p:cNvCxnSpPr>
            <a:cxnSpLocks/>
          </p:cNvCxnSpPr>
          <p:nvPr/>
        </p:nvCxnSpPr>
        <p:spPr>
          <a:xfrm>
            <a:off x="2623930" y="2948457"/>
            <a:ext cx="1299888" cy="0"/>
          </a:xfrm>
          <a:prstGeom prst="straightConnector1">
            <a:avLst/>
          </a:prstGeom>
          <a:ln w="38100">
            <a:solidFill>
              <a:schemeClr val="tx1">
                <a:alpha val="4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05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4C3CB-FCB3-2241-AE48-93D0EF93F528}"/>
              </a:ext>
            </a:extLst>
          </p:cNvPr>
          <p:cNvSpPr txBox="1"/>
          <p:nvPr/>
        </p:nvSpPr>
        <p:spPr>
          <a:xfrm>
            <a:off x="-36876" y="-12764"/>
            <a:ext cx="122288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 – How vdw theory thinks about those parameters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C8D2C28-74C3-8EB4-59ED-CAEE6E2FDC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35" t="19315" r="37993" b="47321"/>
          <a:stretch/>
        </p:blipFill>
        <p:spPr>
          <a:xfrm>
            <a:off x="6686403" y="665909"/>
            <a:ext cx="3817147" cy="1309169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99AC993F-02C0-480C-DDAA-9C42C81BC306}"/>
              </a:ext>
            </a:extLst>
          </p:cNvPr>
          <p:cNvGrpSpPr/>
          <p:nvPr/>
        </p:nvGrpSpPr>
        <p:grpSpPr>
          <a:xfrm>
            <a:off x="733989" y="1120804"/>
            <a:ext cx="4771611" cy="4134159"/>
            <a:chOff x="801046" y="1575076"/>
            <a:chExt cx="3618771" cy="3419669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B111F74-103C-81BF-F6AC-062C1ACB30F5}"/>
                </a:ext>
              </a:extLst>
            </p:cNvPr>
            <p:cNvGrpSpPr/>
            <p:nvPr/>
          </p:nvGrpSpPr>
          <p:grpSpPr>
            <a:xfrm>
              <a:off x="801046" y="1575076"/>
              <a:ext cx="3618771" cy="3419669"/>
              <a:chOff x="5651293" y="1334126"/>
              <a:chExt cx="5879719" cy="4774540"/>
            </a:xfrm>
          </p:grpSpPr>
          <p:sp>
            <p:nvSpPr>
              <p:cNvPr id="82" name="Frame 81">
                <a:extLst>
                  <a:ext uri="{FF2B5EF4-FFF2-40B4-BE49-F238E27FC236}">
                    <a16:creationId xmlns:a16="http://schemas.microsoft.com/office/drawing/2014/main" id="{8D2AC521-DD65-3AC5-45C4-925640415861}"/>
                  </a:ext>
                </a:extLst>
              </p:cNvPr>
              <p:cNvSpPr/>
              <p:nvPr/>
            </p:nvSpPr>
            <p:spPr>
              <a:xfrm>
                <a:off x="5651293" y="1334126"/>
                <a:ext cx="5879719" cy="4774540"/>
              </a:xfrm>
              <a:prstGeom prst="frame">
                <a:avLst>
                  <a:gd name="adj1" fmla="val 192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CFFF4CEA-EDC6-D27F-F1E0-97AAC0933564}"/>
                  </a:ext>
                </a:extLst>
              </p:cNvPr>
              <p:cNvGrpSpPr/>
              <p:nvPr/>
            </p:nvGrpSpPr>
            <p:grpSpPr>
              <a:xfrm>
                <a:off x="6016053" y="2083631"/>
                <a:ext cx="4994223" cy="3667594"/>
                <a:chOff x="6016053" y="2083631"/>
                <a:chExt cx="4994223" cy="3667594"/>
              </a:xfrm>
              <a:solidFill>
                <a:srgbClr val="7030A0"/>
              </a:solidFill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EDCE103C-ABC7-AE72-AACF-1B5A11C0FF82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C13DC147-78DA-BBF7-FF09-C0FEC0D83079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719696E1-7728-1CCA-5C75-FB91678DF671}"/>
                    </a:ext>
                  </a:extLst>
                </p:cNvPr>
                <p:cNvSpPr/>
                <p:nvPr/>
              </p:nvSpPr>
              <p:spPr>
                <a:xfrm>
                  <a:off x="8276781" y="3259298"/>
                  <a:ext cx="149903" cy="149902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B2E68B02-7535-C56F-3143-1E1284F81FCD}"/>
                    </a:ext>
                  </a:extLst>
                </p:cNvPr>
                <p:cNvSpPr/>
                <p:nvPr/>
              </p:nvSpPr>
              <p:spPr>
                <a:xfrm>
                  <a:off x="7490085" y="362948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8C18DF8A-C9A1-EED4-AC50-6CF889FBEF84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65DD008F-BFEF-179C-093B-845089DA4BCA}"/>
                    </a:ext>
                  </a:extLst>
                </p:cNvPr>
                <p:cNvSpPr/>
                <p:nvPr/>
              </p:nvSpPr>
              <p:spPr>
                <a:xfrm>
                  <a:off x="10298243" y="2083631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4E709B4D-37C1-988B-BBF5-F995B225510E}"/>
                    </a:ext>
                  </a:extLst>
                </p:cNvPr>
                <p:cNvSpPr/>
                <p:nvPr/>
              </p:nvSpPr>
              <p:spPr>
                <a:xfrm>
                  <a:off x="8446957" y="4774366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DC96846A-3E32-AC27-AA1F-86425ECFF793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52C2DF58-79CF-D9B1-50AC-7B63C754D501}"/>
                    </a:ext>
                  </a:extLst>
                </p:cNvPr>
                <p:cNvSpPr/>
                <p:nvPr/>
              </p:nvSpPr>
              <p:spPr>
                <a:xfrm>
                  <a:off x="10860374" y="46244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8C96D348-454F-9F2D-CF01-58828060C0F1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409F79F4-A985-6F21-D4C6-4155F6460542}"/>
                  </a:ext>
                </a:extLst>
              </p:cNvPr>
              <p:cNvGrpSpPr/>
              <p:nvPr/>
            </p:nvGrpSpPr>
            <p:grpSpPr>
              <a:xfrm>
                <a:off x="6212174" y="1656413"/>
                <a:ext cx="4910528" cy="4094812"/>
                <a:chOff x="6016053" y="2263514"/>
                <a:chExt cx="4087318" cy="3487711"/>
              </a:xfrm>
              <a:solidFill>
                <a:srgbClr val="FF0000"/>
              </a:solidFill>
            </p:grpSpPr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7616E0A2-FCDD-9322-12F0-FF2313DD74E3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FEF0A305-CD85-8E98-AA91-EBC10E04C61C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54A133D6-43CE-06C2-4C7C-E700FC790F99}"/>
                    </a:ext>
                  </a:extLst>
                </p:cNvPr>
                <p:cNvSpPr/>
                <p:nvPr/>
              </p:nvSpPr>
              <p:spPr>
                <a:xfrm>
                  <a:off x="8104543" y="303542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4238662E-4BC7-27DC-FCCD-CD77D623E46A}"/>
                    </a:ext>
                  </a:extLst>
                </p:cNvPr>
                <p:cNvSpPr/>
                <p:nvPr/>
              </p:nvSpPr>
              <p:spPr>
                <a:xfrm>
                  <a:off x="6864246" y="3244729"/>
                  <a:ext cx="149902" cy="14990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6B48AC45-E3F2-1CCE-D62E-269680EF98BE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989C199B-B5C3-E92B-622B-0179D689F0F1}"/>
                    </a:ext>
                  </a:extLst>
                </p:cNvPr>
                <p:cNvSpPr/>
                <p:nvPr/>
              </p:nvSpPr>
              <p:spPr>
                <a:xfrm>
                  <a:off x="9927236" y="26382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028C5C66-ECA6-43EA-5D5A-BDB69A56C25D}"/>
                    </a:ext>
                  </a:extLst>
                </p:cNvPr>
                <p:cNvSpPr/>
                <p:nvPr/>
              </p:nvSpPr>
              <p:spPr>
                <a:xfrm>
                  <a:off x="8446957" y="410294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586B07BB-DF39-3CDA-97CF-D97F955F8961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C7E4EB86-93B8-6A26-8250-7D9258240BC5}"/>
                    </a:ext>
                  </a:extLst>
                </p:cNvPr>
                <p:cNvSpPr/>
                <p:nvPr/>
              </p:nvSpPr>
              <p:spPr>
                <a:xfrm>
                  <a:off x="9953469" y="442310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1845BF85-4A28-E459-9948-83AAD21D1C73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39DF08-1128-1F2C-B2AA-6C953982CF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26243" y="2883377"/>
                <a:ext cx="1291039" cy="29711"/>
              </a:xfrm>
              <a:prstGeom prst="straightConnector1">
                <a:avLst/>
              </a:prstGeom>
              <a:ln w="635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D5836D3-270F-D4B7-45F5-BE384AE97880}"/>
                </a:ext>
              </a:extLst>
            </p:cNvPr>
            <p:cNvCxnSpPr/>
            <p:nvPr/>
          </p:nvCxnSpPr>
          <p:spPr>
            <a:xfrm flipV="1">
              <a:off x="1962710" y="2544966"/>
              <a:ext cx="697363" cy="125716"/>
            </a:xfrm>
            <a:prstGeom prst="straightConnector1">
              <a:avLst/>
            </a:prstGeom>
            <a:ln w="38100"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2A8C1C7-DA5A-2026-6F32-F48A4913E792}"/>
                </a:ext>
              </a:extLst>
            </p:cNvPr>
            <p:cNvCxnSpPr>
              <a:cxnSpLocks/>
            </p:cNvCxnSpPr>
            <p:nvPr/>
          </p:nvCxnSpPr>
          <p:spPr>
            <a:xfrm>
              <a:off x="1905560" y="2776504"/>
              <a:ext cx="514733" cy="191556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A23B0B8-C545-D1DC-3E3E-3738FDF41AD0}"/>
                </a:ext>
              </a:extLst>
            </p:cNvPr>
            <p:cNvSpPr txBox="1"/>
            <p:nvPr/>
          </p:nvSpPr>
          <p:spPr>
            <a:xfrm>
              <a:off x="2578002" y="2553318"/>
              <a:ext cx="18293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Intermolecular forces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E5F958F-F580-9057-46EE-0FF75685C541}"/>
              </a:ext>
            </a:extLst>
          </p:cNvPr>
          <p:cNvSpPr txBox="1"/>
          <p:nvPr/>
        </p:nvSpPr>
        <p:spPr>
          <a:xfrm>
            <a:off x="5542340" y="2159869"/>
            <a:ext cx="66496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“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  <a:r>
              <a:rPr lang="en-US" sz="2400" dirty="0"/>
              <a:t>” is a measure of </a:t>
            </a:r>
            <a:r>
              <a:rPr lang="en-US" sz="2400" b="1" dirty="0">
                <a:solidFill>
                  <a:schemeClr val="accent1"/>
                </a:solidFill>
              </a:rPr>
              <a:t>intermolecular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1"/>
                </a:solidFill>
              </a:rPr>
              <a:t>attraction</a:t>
            </a:r>
            <a:r>
              <a:rPr lang="en-US" sz="2400" dirty="0"/>
              <a:t>. If molecules are attracted to one another, they’ll tend to hit the wall less hard and less often, resulting in </a:t>
            </a:r>
            <a:r>
              <a:rPr lang="en-US" sz="2400" b="1" dirty="0">
                <a:solidFill>
                  <a:schemeClr val="accent1"/>
                </a:solidFill>
              </a:rPr>
              <a:t>lower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b="1" dirty="0">
                <a:solidFill>
                  <a:schemeClr val="accent1"/>
                </a:solidFill>
              </a:rPr>
              <a:t>pressure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“</a:t>
            </a:r>
            <a:r>
              <a:rPr lang="en-US" sz="2400" b="1" dirty="0">
                <a:solidFill>
                  <a:srgbClr val="FF0000"/>
                </a:solidFill>
              </a:rPr>
              <a:t>b</a:t>
            </a:r>
            <a:r>
              <a:rPr lang="en-US" sz="2400" dirty="0"/>
              <a:t>” is a measure of </a:t>
            </a:r>
            <a:r>
              <a:rPr lang="en-US" sz="2400" b="1" dirty="0">
                <a:solidFill>
                  <a:srgbClr val="FF0000"/>
                </a:solidFill>
              </a:rPr>
              <a:t>molecular size</a:t>
            </a:r>
            <a:r>
              <a:rPr lang="en-US" sz="2400" dirty="0"/>
              <a:t>. Big molecules will bump into each other more, and therefore hit the wall harder and more often, resulting in </a:t>
            </a:r>
            <a:r>
              <a:rPr lang="en-US" sz="2400" b="1" dirty="0">
                <a:solidFill>
                  <a:srgbClr val="FF0000"/>
                </a:solidFill>
              </a:rPr>
              <a:t>higher pressure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927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E238128-7832-7C4E-9BD7-7E3C832DD903}"/>
              </a:ext>
            </a:extLst>
          </p:cNvPr>
          <p:cNvSpPr txBox="1"/>
          <p:nvPr/>
        </p:nvSpPr>
        <p:spPr>
          <a:xfrm>
            <a:off x="0" y="-57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 – Relating intermolecular bond strengths to vdw “a” value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0DA4FE-FFB0-3131-2575-5C6FE29CECFF}"/>
              </a:ext>
            </a:extLst>
          </p:cNvPr>
          <p:cNvGrpSpPr/>
          <p:nvPr/>
        </p:nvGrpSpPr>
        <p:grpSpPr>
          <a:xfrm>
            <a:off x="1804885" y="4386135"/>
            <a:ext cx="5079380" cy="2377753"/>
            <a:chOff x="5755663" y="4320595"/>
            <a:chExt cx="5079380" cy="237775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22F1980-2F7E-9E0C-84CD-A69BEE4E011E}"/>
                </a:ext>
              </a:extLst>
            </p:cNvPr>
            <p:cNvGrpSpPr/>
            <p:nvPr/>
          </p:nvGrpSpPr>
          <p:grpSpPr>
            <a:xfrm>
              <a:off x="5755663" y="4320595"/>
              <a:ext cx="5079380" cy="2377753"/>
              <a:chOff x="4572001" y="4317543"/>
              <a:chExt cx="5079380" cy="237775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885674F-21D9-6193-EE8C-5B9F1C10FE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-1" b="84729"/>
              <a:stretch/>
            </p:blipFill>
            <p:spPr>
              <a:xfrm>
                <a:off x="4572001" y="4317543"/>
                <a:ext cx="5079380" cy="567098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A311D26-2273-1162-400E-5B5EF7ABD6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3892" y="4821592"/>
                <a:ext cx="4785150" cy="1873704"/>
              </a:xfrm>
              <a:prstGeom prst="rect">
                <a:avLst/>
              </a:prstGeom>
            </p:spPr>
          </p:pic>
        </p:grpSp>
        <p:sp>
          <p:nvSpPr>
            <p:cNvPr id="16" name="Donut 15">
              <a:extLst>
                <a:ext uri="{FF2B5EF4-FFF2-40B4-BE49-F238E27FC236}">
                  <a16:creationId xmlns:a16="http://schemas.microsoft.com/office/drawing/2014/main" id="{9428ACC1-89CB-2836-0260-7A6E61401A7E}"/>
                </a:ext>
              </a:extLst>
            </p:cNvPr>
            <p:cNvSpPr/>
            <p:nvPr/>
          </p:nvSpPr>
          <p:spPr>
            <a:xfrm>
              <a:off x="7822234" y="4824644"/>
              <a:ext cx="1020975" cy="409093"/>
            </a:xfrm>
            <a:prstGeom prst="donut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Donut 16">
              <a:extLst>
                <a:ext uri="{FF2B5EF4-FFF2-40B4-BE49-F238E27FC236}">
                  <a16:creationId xmlns:a16="http://schemas.microsoft.com/office/drawing/2014/main" id="{944410DA-00A1-12A4-593B-B6884D655235}"/>
                </a:ext>
              </a:extLst>
            </p:cNvPr>
            <p:cNvSpPr/>
            <p:nvPr/>
          </p:nvSpPr>
          <p:spPr>
            <a:xfrm>
              <a:off x="7758666" y="6284445"/>
              <a:ext cx="1020975" cy="409093"/>
            </a:xfrm>
            <a:prstGeom prst="donut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8B696B6-FEB3-F0C1-B4B5-05E3A080B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200" y="1447954"/>
            <a:ext cx="3208329" cy="19810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24AE2A-ACB0-3690-1CFB-72F8D223F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82" y="1541651"/>
            <a:ext cx="3138134" cy="16102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28FF5D-3570-2D89-62C2-53A111889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1456" y="1492655"/>
            <a:ext cx="3522306" cy="23755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5871E7-6B40-4BFF-4CD7-E8327CB10643}"/>
                  </a:ext>
                </a:extLst>
              </p:cNvPr>
              <p:cNvSpPr txBox="1"/>
              <p:nvPr/>
            </p:nvSpPr>
            <p:spPr>
              <a:xfrm>
                <a:off x="8638634" y="3615201"/>
                <a:ext cx="349696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value would you estimate for the vdw a-value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d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? (See </a:t>
                </a:r>
                <a:r>
                  <a:rPr lang="en-US" sz="2400" dirty="0">
                    <a:hlinkClick r:id="rId7"/>
                  </a:rPr>
                  <a:t>this table</a:t>
                </a:r>
                <a:r>
                  <a:rPr lang="en-US" sz="2400" dirty="0"/>
                  <a:t>.)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5871E7-6B40-4BFF-4CD7-E8327CB10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634" y="3615201"/>
                <a:ext cx="3496962" cy="1569660"/>
              </a:xfrm>
              <a:prstGeom prst="rect">
                <a:avLst/>
              </a:prstGeom>
              <a:blipFill>
                <a:blip r:embed="rId8"/>
                <a:stretch>
                  <a:fillRect l="-2899" t="-3200" r="-362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333C17-1BB8-561B-298E-ECA80574F55F}"/>
                  </a:ext>
                </a:extLst>
              </p:cNvPr>
              <p:cNvSpPr txBox="1"/>
              <p:nvPr/>
            </p:nvSpPr>
            <p:spPr>
              <a:xfrm>
                <a:off x="568411" y="896360"/>
                <a:ext cx="1878227" cy="793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~1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333C17-1BB8-561B-298E-ECA80574F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1" y="896360"/>
                <a:ext cx="1878227" cy="793743"/>
              </a:xfrm>
              <a:prstGeom prst="rect">
                <a:avLst/>
              </a:prstGeom>
              <a:blipFill>
                <a:blip r:embed="rId9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F2D1C1-3239-AC59-9152-5401B973EE46}"/>
                  </a:ext>
                </a:extLst>
              </p:cNvPr>
              <p:cNvSpPr txBox="1"/>
              <p:nvPr/>
            </p:nvSpPr>
            <p:spPr>
              <a:xfrm>
                <a:off x="4491370" y="896360"/>
                <a:ext cx="1878227" cy="793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~6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F2D1C1-3239-AC59-9152-5401B973E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370" y="896360"/>
                <a:ext cx="1878227" cy="793743"/>
              </a:xfrm>
              <a:prstGeom prst="rect">
                <a:avLst/>
              </a:prstGeom>
              <a:blipFill>
                <a:blip r:embed="rId10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8192F-EC70-3C17-BFDB-258CD089E963}"/>
                  </a:ext>
                </a:extLst>
              </p:cNvPr>
              <p:cNvSpPr txBox="1"/>
              <p:nvPr/>
            </p:nvSpPr>
            <p:spPr>
              <a:xfrm>
                <a:off x="9141630" y="896360"/>
                <a:ext cx="1878227" cy="793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25−30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8192F-EC70-3C17-BFDB-258CD089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630" y="896360"/>
                <a:ext cx="1878227" cy="793743"/>
              </a:xfrm>
              <a:prstGeom prst="rect">
                <a:avLst/>
              </a:prstGeom>
              <a:blipFill>
                <a:blip r:embed="rId11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583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 – Summary of measurable quantities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6C0CDE2-D165-C8AC-B0B8-B81871D2AF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23207" y="792471"/>
              <a:ext cx="9339232" cy="1787637"/>
            </p:xfrm>
            <a:graphic>
              <a:graphicData uri="http://schemas.openxmlformats.org/drawingml/2006/table">
                <a:tbl>
                  <a:tblPr/>
                  <a:tblGrid>
                    <a:gridCol w="1443473">
                      <a:extLst>
                        <a:ext uri="{9D8B030D-6E8A-4147-A177-3AD203B41FA5}">
                          <a16:colId xmlns:a16="http://schemas.microsoft.com/office/drawing/2014/main" val="1255572873"/>
                        </a:ext>
                      </a:extLst>
                    </a:gridCol>
                    <a:gridCol w="1030811">
                      <a:extLst>
                        <a:ext uri="{9D8B030D-6E8A-4147-A177-3AD203B41FA5}">
                          <a16:colId xmlns:a16="http://schemas.microsoft.com/office/drawing/2014/main" val="3400188206"/>
                        </a:ext>
                      </a:extLst>
                    </a:gridCol>
                    <a:gridCol w="1856135">
                      <a:extLst>
                        <a:ext uri="{9D8B030D-6E8A-4147-A177-3AD203B41FA5}">
                          <a16:colId xmlns:a16="http://schemas.microsoft.com/office/drawing/2014/main" val="3356275290"/>
                        </a:ext>
                      </a:extLst>
                    </a:gridCol>
                    <a:gridCol w="1650994">
                      <a:extLst>
                        <a:ext uri="{9D8B030D-6E8A-4147-A177-3AD203B41FA5}">
                          <a16:colId xmlns:a16="http://schemas.microsoft.com/office/drawing/2014/main" val="3153862936"/>
                        </a:ext>
                      </a:extLst>
                    </a:gridCol>
                    <a:gridCol w="3357819">
                      <a:extLst>
                        <a:ext uri="{9D8B030D-6E8A-4147-A177-3AD203B41FA5}">
                          <a16:colId xmlns:a16="http://schemas.microsoft.com/office/drawing/2014/main" val="2907323714"/>
                        </a:ext>
                      </a:extLst>
                    </a:gridCol>
                  </a:tblGrid>
                  <a:tr h="209199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Name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Symbol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Dimension (SI unit)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Definition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Comment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216992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 coefficient (aka internal pressure)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Pressure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𝑃𝑎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Measured in the Joule experiment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4224044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Isochoric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Energy/Temp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Estimate from equipartition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2284988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Boyle temperature</a:t>
                          </a: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𝐵𝑜𝑦𝑙𝑒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at which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𝑟𝑒𝑎𝑙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vdw: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</m:oMath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83452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6C0CDE2-D165-C8AC-B0B8-B81871D2AF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01802"/>
                  </p:ext>
                </p:extLst>
              </p:nvPr>
            </p:nvGraphicFramePr>
            <p:xfrm>
              <a:off x="1123207" y="792471"/>
              <a:ext cx="9339232" cy="1787637"/>
            </p:xfrm>
            <a:graphic>
              <a:graphicData uri="http://schemas.openxmlformats.org/drawingml/2006/table">
                <a:tbl>
                  <a:tblPr/>
                  <a:tblGrid>
                    <a:gridCol w="1443473">
                      <a:extLst>
                        <a:ext uri="{9D8B030D-6E8A-4147-A177-3AD203B41FA5}">
                          <a16:colId xmlns:a16="http://schemas.microsoft.com/office/drawing/2014/main" val="1255572873"/>
                        </a:ext>
                      </a:extLst>
                    </a:gridCol>
                    <a:gridCol w="1030811">
                      <a:extLst>
                        <a:ext uri="{9D8B030D-6E8A-4147-A177-3AD203B41FA5}">
                          <a16:colId xmlns:a16="http://schemas.microsoft.com/office/drawing/2014/main" val="3400188206"/>
                        </a:ext>
                      </a:extLst>
                    </a:gridCol>
                    <a:gridCol w="1856135">
                      <a:extLst>
                        <a:ext uri="{9D8B030D-6E8A-4147-A177-3AD203B41FA5}">
                          <a16:colId xmlns:a16="http://schemas.microsoft.com/office/drawing/2014/main" val="3356275290"/>
                        </a:ext>
                      </a:extLst>
                    </a:gridCol>
                    <a:gridCol w="1650994">
                      <a:extLst>
                        <a:ext uri="{9D8B030D-6E8A-4147-A177-3AD203B41FA5}">
                          <a16:colId xmlns:a16="http://schemas.microsoft.com/office/drawing/2014/main" val="3153862936"/>
                        </a:ext>
                      </a:extLst>
                    </a:gridCol>
                    <a:gridCol w="3357819">
                      <a:extLst>
                        <a:ext uri="{9D8B030D-6E8A-4147-A177-3AD203B41FA5}">
                          <a16:colId xmlns:a16="http://schemas.microsoft.com/office/drawing/2014/main" val="2907323714"/>
                        </a:ext>
                      </a:extLst>
                    </a:gridCol>
                  </a:tblGrid>
                  <a:tr h="245640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Name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Symbol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Dimension (SI unit)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Definition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Comment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216992"/>
                      </a:ext>
                    </a:extLst>
                  </a:tr>
                  <a:tr h="611400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 coefficient (aka internal pressure)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45833" r="-669136" b="-1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45833" r="-271233" b="-1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45833" r="-204615" b="-1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Measured in the Joule experiment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4224044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Isochoric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175000" r="-669136" b="-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175000" r="-271233" b="-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175000" r="-204615" b="-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Estimate from equipartition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2284988"/>
                      </a:ext>
                    </a:extLst>
                  </a:tr>
                  <a:tr h="42852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Boyle temperature</a:t>
                          </a: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323529" r="-669136" b="-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323529" r="-271233" b="-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323529" r="-204615" b="-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323529" r="-377" b="-1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83452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3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11365604" cy="62427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Use </a:t>
                </a:r>
                <a:r>
                  <a:rPr lang="en-US" sz="2400" dirty="0" err="1"/>
                  <a:t>AssignQuantity</a:t>
                </a:r>
                <a:r>
                  <a:rPr lang="en-US" sz="2400" dirty="0"/>
                  <a:t> to define the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=8.314×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11365604" cy="624273"/>
              </a:xfrm>
              <a:prstGeom prst="rect">
                <a:avLst/>
              </a:prstGeom>
              <a:blipFill>
                <a:blip r:embed="rId3"/>
                <a:stretch>
                  <a:fillRect l="-780" b="-1538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900D014B-8EAA-A519-7205-43991446423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Variables with units (in Python)</a:t>
            </a:r>
          </a:p>
        </p:txBody>
      </p:sp>
    </p:spTree>
    <p:extLst>
      <p:ext uri="{BB962C8B-B14F-4D97-AF65-F5344CB8AC3E}">
        <p14:creationId xmlns:p14="http://schemas.microsoft.com/office/powerpoint/2010/main" val="245722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11365604" cy="62427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Use </a:t>
                </a:r>
                <a:r>
                  <a:rPr lang="en-US" sz="2400" dirty="0" err="1"/>
                  <a:t>AssignQuantity</a:t>
                </a:r>
                <a:r>
                  <a:rPr lang="en-US" sz="2400" dirty="0"/>
                  <a:t> to define the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=8.314×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11365604" cy="624273"/>
              </a:xfrm>
              <a:prstGeom prst="rect">
                <a:avLst/>
              </a:prstGeom>
              <a:blipFill>
                <a:blip r:embed="rId3"/>
                <a:stretch>
                  <a:fillRect l="-780" b="-1538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900D014B-8EAA-A519-7205-43991446423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Variables with units (in Python)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C6DE63-52CE-AF4B-F479-2B7F3F0F6A04}"/>
              </a:ext>
            </a:extLst>
          </p:cNvPr>
          <p:cNvSpPr txBox="1"/>
          <p:nvPr/>
        </p:nvSpPr>
        <p:spPr>
          <a:xfrm>
            <a:off x="3072695" y="2648197"/>
            <a:ext cx="5545776" cy="46166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 = </a:t>
            </a:r>
            <a:r>
              <a:rPr lang="en-US" sz="2400" dirty="0" err="1"/>
              <a:t>AssignQuantity</a:t>
            </a:r>
            <a:r>
              <a:rPr lang="en-US" sz="2400" dirty="0"/>
              <a:t>(8.314e-3,’kJ/(mol K)’)</a:t>
            </a:r>
          </a:p>
        </p:txBody>
      </p:sp>
    </p:spTree>
    <p:extLst>
      <p:ext uri="{BB962C8B-B14F-4D97-AF65-F5344CB8AC3E}">
        <p14:creationId xmlns:p14="http://schemas.microsoft.com/office/powerpoint/2010/main" val="3288481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F9F29B-97C6-E2E1-F6E1-C180ABF5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853" y="1899992"/>
            <a:ext cx="5743251" cy="4171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988790-E08A-143C-366B-69E54A870C46}"/>
                  </a:ext>
                </a:extLst>
              </p:cNvPr>
              <p:cNvSpPr txBox="1"/>
              <p:nvPr/>
            </p:nvSpPr>
            <p:spPr>
              <a:xfrm>
                <a:off x="277792" y="786201"/>
                <a:ext cx="11914208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What’s the meaning of the colors in this electrostatic potential map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988790-E08A-143C-366B-69E54A870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92" y="786201"/>
                <a:ext cx="11914208" cy="461665"/>
              </a:xfrm>
              <a:prstGeom prst="rect">
                <a:avLst/>
              </a:prstGeom>
              <a:blipFill>
                <a:blip r:embed="rId4"/>
                <a:stretch>
                  <a:fillRect l="-745" t="-5263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ECD1CE7A-F8FA-376E-83F2-52476698B6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Intermolecular bond strengths, part 1 (Spartan)</a:t>
            </a:r>
          </a:p>
        </p:txBody>
      </p:sp>
    </p:spTree>
    <p:extLst>
      <p:ext uri="{BB962C8B-B14F-4D97-AF65-F5344CB8AC3E}">
        <p14:creationId xmlns:p14="http://schemas.microsoft.com/office/powerpoint/2010/main" val="252331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6541" y="596196"/>
            <a:ext cx="1191420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How would you use Spartan to get the bond strength holding two water molecules together?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86C97F-5F8D-4E67-59E5-1DAA0A5F13E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Intermolecular bond strengths, part 2 (Spartan)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BD0BAC-E1F1-CB8B-B28D-17E73339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75" y="1247866"/>
            <a:ext cx="3362942" cy="27621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5CA06D-AB1F-F9FA-E459-746FF24CE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700" y="1203037"/>
            <a:ext cx="4618518" cy="285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D86C97F-5F8D-4E67-59E5-1DAA0A5F13E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Intermolecular bond strengths, part 2 (Spartan)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BD0BAC-E1F1-CB8B-B28D-17E73339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75" y="1247866"/>
            <a:ext cx="3362942" cy="27621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5CA06D-AB1F-F9FA-E459-746FF24CE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700" y="1203037"/>
            <a:ext cx="4618518" cy="28517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1D4046-DE0C-592D-9EB1-84F6BBC6D7D5}"/>
                  </a:ext>
                </a:extLst>
              </p:cNvPr>
              <p:cNvSpPr txBox="1"/>
              <p:nvPr/>
            </p:nvSpPr>
            <p:spPr>
              <a:xfrm>
                <a:off x="2992582" y="4536374"/>
                <a:ext cx="5545776" cy="46166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𝑏𝑜𝑛𝑑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𝑚𝑜𝑛𝑜𝑚𝑒𝑟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𝑑𝑖𝑚𝑒𝑟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1D4046-DE0C-592D-9EB1-84F6BBC6D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582" y="4536374"/>
                <a:ext cx="5545776" cy="461665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7FF16BF-C1E4-FC2D-35E4-121DC0685C22}"/>
              </a:ext>
            </a:extLst>
          </p:cNvPr>
          <p:cNvSpPr txBox="1"/>
          <p:nvPr/>
        </p:nvSpPr>
        <p:spPr>
          <a:xfrm>
            <a:off x="206541" y="596196"/>
            <a:ext cx="1191420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How would you use Spartan to get the bond strength holding two water molecules together? </a:t>
            </a:r>
          </a:p>
        </p:txBody>
      </p:sp>
    </p:spTree>
    <p:extLst>
      <p:ext uri="{BB962C8B-B14F-4D97-AF65-F5344CB8AC3E}">
        <p14:creationId xmlns:p14="http://schemas.microsoft.com/office/powerpoint/2010/main" val="1498590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11365604" cy="32538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Imagine an equation of state that says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3/2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. Which formula below gives the correct result with a minimum number of parentheses?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(n*R*T/V-n*b) - n**2*a/V**(3/2)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n*R*T/(V-n*b) - n**2*a/V**3/2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n*R*T/(V-n*b) - (n**2)*a/V**(3/2)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n*R*T/(V-n*b) - n**2*a/V**(3/2)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11365604" cy="3253839"/>
              </a:xfrm>
              <a:prstGeom prst="rect">
                <a:avLst/>
              </a:prstGeom>
              <a:blipFill>
                <a:blip r:embed="rId3"/>
                <a:stretch>
                  <a:fillRect l="-78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477F8678-0BE8-1AF5-56C0-6DAE18A079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Order of operations</a:t>
            </a:r>
          </a:p>
        </p:txBody>
      </p:sp>
    </p:spTree>
    <p:extLst>
      <p:ext uri="{BB962C8B-B14F-4D97-AF65-F5344CB8AC3E}">
        <p14:creationId xmlns:p14="http://schemas.microsoft.com/office/powerpoint/2010/main" val="279386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11365604" cy="32538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Imagine an equation of state that says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3/2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. Which formula below gives the correct result with a minimum number of parentheses?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(n*R*T/V-n*b) - n**2*a/V**(3/2)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n*R*T/(V-n*b) - n**2*a/V**3/2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n*R*T/(V-n*b) - (n**2)*a/V**(3/2)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>
                    <a:highlight>
                      <a:srgbClr val="C0C0C0"/>
                    </a:highlight>
                  </a:rPr>
                  <a:t>n*R*T/(V-n*b) - n**2*a/V**(3/2)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11365604" cy="3253839"/>
              </a:xfrm>
              <a:prstGeom prst="rect">
                <a:avLst/>
              </a:prstGeom>
              <a:blipFill>
                <a:blip r:embed="rId3"/>
                <a:stretch>
                  <a:fillRect l="-78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477F8678-0BE8-1AF5-56C0-6DAE18A079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Order of operations</a:t>
            </a:r>
          </a:p>
        </p:txBody>
      </p:sp>
    </p:spTree>
    <p:extLst>
      <p:ext uri="{BB962C8B-B14F-4D97-AF65-F5344CB8AC3E}">
        <p14:creationId xmlns:p14="http://schemas.microsoft.com/office/powerpoint/2010/main" val="2188213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3953</TotalTime>
  <Words>758</Words>
  <Application>Microsoft Macintosh PowerPoint</Application>
  <PresentationFormat>Widescreen</PresentationFormat>
  <Paragraphs>87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CambriaMath</vt:lpstr>
      <vt:lpstr>Times New Roman</vt:lpstr>
      <vt:lpstr>TimesNewRomanPS</vt:lpstr>
      <vt:lpstr>TimesNewRomanPSMT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38</cp:revision>
  <cp:lastPrinted>2025-09-29T17:02:52Z</cp:lastPrinted>
  <dcterms:created xsi:type="dcterms:W3CDTF">2024-12-17T00:02:43Z</dcterms:created>
  <dcterms:modified xsi:type="dcterms:W3CDTF">2025-12-08T18:31:02Z</dcterms:modified>
</cp:coreProperties>
</file>