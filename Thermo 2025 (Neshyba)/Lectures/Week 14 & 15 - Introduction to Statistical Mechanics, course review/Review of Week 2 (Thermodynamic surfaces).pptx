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16" r:id="rId2"/>
    <p:sldId id="320" r:id="rId3"/>
    <p:sldId id="333" r:id="rId4"/>
    <p:sldId id="709" r:id="rId5"/>
    <p:sldId id="767" r:id="rId6"/>
    <p:sldId id="710" r:id="rId7"/>
    <p:sldId id="766" r:id="rId8"/>
    <p:sldId id="708" r:id="rId9"/>
    <p:sldId id="768" r:id="rId10"/>
    <p:sldId id="7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/>
    <p:restoredTop sz="95988"/>
  </p:normalViewPr>
  <p:slideViewPr>
    <p:cSldViewPr snapToGrid="0">
      <p:cViewPr varScale="1">
        <p:scale>
          <a:sx n="107" d="100"/>
          <a:sy n="10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D696F-0323-B948-8D9D-CDC898E7F2D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78BAA-32E4-8A4F-9E01-87FA22A1B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32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37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16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1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94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2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0AB-6482-C3A2-1B22-74EBC4A7E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DFFC-9BFB-601F-9C72-DDBBEDE1F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1DA7-747C-9CBA-55CF-08604FE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8268-FFFC-04F9-B21E-65EC62A4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3886-C939-1CE1-A8A8-A556876C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5097-4D6A-A3CD-9265-FE0211DE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75FE-ADC7-0E2C-1269-8D05E8E98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0C1C-44AF-01F6-41D8-5514918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3074-693D-AAD9-1E19-3F1B3770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FAE3-5AEE-8D54-CFC5-07EE8FD8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C596-C613-5524-770F-4FE1EAC9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BFAA-3C5C-5265-1F2F-E29B3815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0CF6-DFD4-CD9C-B8B1-D2C076DB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4C5A-E8B7-BE20-225D-4823D2A5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74BE-26B7-5292-C58C-1D636C60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6BEF-56A7-FA77-DC77-5CC63C26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FD63-3255-8806-E498-27F5EBB6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3FBB-FFA3-AFFC-DB19-640CEDBD6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63A7-6BB9-20CD-A4C2-77D9C041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7A07-8DDD-185B-BBB4-7C8FCE2D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D4884-8C25-A0F5-68E2-3488D97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5C18-DB67-61C9-4C72-588037C8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1B288-E889-2E49-5608-3F3ADAF2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01B24-39C3-997F-2CDA-800AE373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7D129-5256-3F83-5B2F-1CEABB43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1097F-0BC9-DB35-9D00-DAA7BA9AA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14A43-6B07-F211-D4D0-E1FD7040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979EE-E2E7-1E8E-EC9A-6673EF64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B38BE-E449-1717-C22F-7A88CA5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9303-B09F-E9E1-FB1C-D079979C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EB8F9-5770-1A42-3D2D-B70210C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8ADCC-A358-4A3B-275D-12283B9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FE41E-9439-4674-5811-322CE178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5B938-EAEF-4524-1792-9A1A5820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E2A9A-2194-FD4E-C1BD-58260D87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7863-DB20-F1AE-3AA2-6C66BDC3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4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3423-ED47-9D15-6765-447F1623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516F-2A78-B768-240C-BE3FD580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8DC32-4F0D-A591-16CF-172E0FC7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4401-A3E8-791D-CB44-441A3C6C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C0429-6578-0664-A21B-FF5A3180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71494-6E99-4D23-7D3F-6C2C9545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405-6809-174A-2FF1-A259D415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A9117-F402-22FA-9D62-F50AFB0AA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86A4D-3687-1E3A-7DDD-FA367CFE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29049-9913-DB1C-7EDA-BF01926C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C027-585B-63DE-07DE-9B95AE48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A07CF-769D-6FFD-F5BF-36E68295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DF6C-8049-8CDF-1E0C-C46FF4F7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B403-DAFB-21EC-EECE-F8CC6A3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7E10-33BE-AA97-B161-3E8F5CA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E93F7-1699-2D0A-6AF7-16B480B7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898F-AC3B-4779-93A1-7BAA2657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6E304-B41F-D82D-DD1B-1EAF4565D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7AC00-6A23-5431-EB59-9CCD2524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7692-14B1-2F68-D4CE-D9E9773C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7FDD-DD2E-41CB-7D28-6296A8B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FA7-54AE-C856-71EE-8DD7953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4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CCEAB-0675-3371-F870-FCD6A370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87E9-956F-0963-A149-6EE3C1A9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65CD-E411-19B0-B06D-B303359BD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FF80-0D25-729A-4FFF-A0578265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12E6D-A725-1E49-A23F-942CAF424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2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25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 – Slopes of thermodynamic surfaces are also thermodynamic surfaces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3"/>
          <a:stretch/>
        </p:blipFill>
        <p:spPr bwMode="auto">
          <a:xfrm>
            <a:off x="0" y="1109472"/>
            <a:ext cx="6448355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02FA2D7-0C46-ED4D-A2D6-56ED806BE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156" y="1426464"/>
            <a:ext cx="6757414" cy="50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rved Left Arrow 34">
            <a:extLst>
              <a:ext uri="{FF2B5EF4-FFF2-40B4-BE49-F238E27FC236}">
                <a16:creationId xmlns:a16="http://schemas.microsoft.com/office/drawing/2014/main" id="{C7CA8443-5A35-4642-9477-FE99FE0994A0}"/>
              </a:ext>
            </a:extLst>
          </p:cNvPr>
          <p:cNvSpPr/>
          <p:nvPr/>
        </p:nvSpPr>
        <p:spPr>
          <a:xfrm rot="16200000">
            <a:off x="5351699" y="1608351"/>
            <a:ext cx="973325" cy="2560851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/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065D9-CC87-E7CF-3544-334BAFBABA77}"/>
              </a:ext>
            </a:extLst>
          </p:cNvPr>
          <p:cNvGrpSpPr/>
          <p:nvPr/>
        </p:nvGrpSpPr>
        <p:grpSpPr>
          <a:xfrm>
            <a:off x="9336538" y="1998790"/>
            <a:ext cx="1680754" cy="3676178"/>
            <a:chOff x="5242560" y="1919950"/>
            <a:chExt cx="1680754" cy="367617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1D5BF4-4F07-7B72-05F2-F9520CEFE735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5FB4F0-BFEF-129D-7873-63059EB12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EE7E097-A429-74A4-4C6F-81517EC5E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5649466-94A0-6716-F1F9-0D1E9CE48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845DF2-94F9-3124-15C4-64F010879A09}"/>
              </a:ext>
            </a:extLst>
          </p:cNvPr>
          <p:cNvGrpSpPr/>
          <p:nvPr/>
        </p:nvGrpSpPr>
        <p:grpSpPr>
          <a:xfrm>
            <a:off x="3561670" y="1956601"/>
            <a:ext cx="1680754" cy="3676178"/>
            <a:chOff x="5242560" y="1919950"/>
            <a:chExt cx="1680754" cy="367617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8DC01A9-91FD-DE6D-DB5E-382BA59B4DE8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8FB807-4343-3107-CEB2-42183E597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3003A7-7F3F-329E-0BA3-27BAABF5C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DC054B4-1779-A793-58CE-799672FD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31AB276-D2EC-74EC-D317-1C6E55CBBFAC}"/>
              </a:ext>
            </a:extLst>
          </p:cNvPr>
          <p:cNvGrpSpPr/>
          <p:nvPr/>
        </p:nvGrpSpPr>
        <p:grpSpPr>
          <a:xfrm>
            <a:off x="847853" y="1683616"/>
            <a:ext cx="1639263" cy="3258167"/>
            <a:chOff x="5153423" y="2337961"/>
            <a:chExt cx="1639263" cy="3258167"/>
          </a:xfrm>
        </p:grpSpPr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DCF3A506-74A7-D63D-6C1C-D9B9BA9D5D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A0ED2E58-2202-41B1-69AD-778D4C4E0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098">
              <a:extLst>
                <a:ext uri="{FF2B5EF4-FFF2-40B4-BE49-F238E27FC236}">
                  <a16:creationId xmlns:a16="http://schemas.microsoft.com/office/drawing/2014/main" id="{A8CA3B35-6AB2-5917-7458-0B890E39C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546A5740-3FBD-6718-EEA4-D920A203B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1" name="Group 4100">
            <a:extLst>
              <a:ext uri="{FF2B5EF4-FFF2-40B4-BE49-F238E27FC236}">
                <a16:creationId xmlns:a16="http://schemas.microsoft.com/office/drawing/2014/main" id="{AD6ECFB2-5453-CB08-0FA9-D9221E6AABBC}"/>
              </a:ext>
            </a:extLst>
          </p:cNvPr>
          <p:cNvGrpSpPr/>
          <p:nvPr/>
        </p:nvGrpSpPr>
        <p:grpSpPr>
          <a:xfrm>
            <a:off x="6801625" y="1799916"/>
            <a:ext cx="1639263" cy="3258167"/>
            <a:chOff x="5153423" y="2337961"/>
            <a:chExt cx="1639263" cy="3258167"/>
          </a:xfrm>
        </p:grpSpPr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51D5985-20C5-8180-49CE-96F6516A8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0030717A-BD59-9464-27DA-6A28279E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038046"/>
              <a:ext cx="865547" cy="558082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401D9946-DE9F-19A9-88B6-8BBA7245F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07CF7548-632C-5966-34BA-880222280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2337962"/>
              <a:ext cx="0" cy="602196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5B4B7B-CBFF-3118-F60B-73485C8E5B58}"/>
                  </a:ext>
                </a:extLst>
              </p:cNvPr>
              <p:cNvSpPr txBox="1"/>
              <p:nvPr/>
            </p:nvSpPr>
            <p:spPr>
              <a:xfrm>
                <a:off x="9046807" y="1820330"/>
                <a:ext cx="1136658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1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5B4B7B-CBFF-3118-F60B-73485C8E5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807" y="1820330"/>
                <a:ext cx="1136658" cy="661015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1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18DE3D2-EA52-7745-9213-69E3132FE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489" y="1567091"/>
            <a:ext cx="6380752" cy="478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592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 – Slopes of thermodynamic surfaces are also thermodynamic surfaces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1"/>
          <a:stretch/>
        </p:blipFill>
        <p:spPr bwMode="auto">
          <a:xfrm>
            <a:off x="0" y="1088136"/>
            <a:ext cx="6446392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rved Left Arrow 26">
            <a:extLst>
              <a:ext uri="{FF2B5EF4-FFF2-40B4-BE49-F238E27FC236}">
                <a16:creationId xmlns:a16="http://schemas.microsoft.com/office/drawing/2014/main" id="{168DB7D2-6DEA-D144-9636-966A979DDA22}"/>
              </a:ext>
            </a:extLst>
          </p:cNvPr>
          <p:cNvSpPr/>
          <p:nvPr/>
        </p:nvSpPr>
        <p:spPr>
          <a:xfrm rot="16463792">
            <a:off x="6058359" y="1028022"/>
            <a:ext cx="1263299" cy="2531805"/>
          </a:xfrm>
          <a:prstGeom prst="curved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02FA29-7BEE-7049-8776-C81E3AEE97D6}"/>
              </a:ext>
            </a:extLst>
          </p:cNvPr>
          <p:cNvGrpSpPr/>
          <p:nvPr/>
        </p:nvGrpSpPr>
        <p:grpSpPr>
          <a:xfrm>
            <a:off x="2456661" y="1990593"/>
            <a:ext cx="2717223" cy="2593872"/>
            <a:chOff x="2621361" y="3024030"/>
            <a:chExt cx="2717223" cy="259387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E1DCA67-3C3E-C09E-6A74-52E52113D325}"/>
                </a:ext>
              </a:extLst>
            </p:cNvPr>
            <p:cNvGrpSpPr/>
            <p:nvPr/>
          </p:nvGrpSpPr>
          <p:grpSpPr>
            <a:xfrm>
              <a:off x="2621361" y="3024030"/>
              <a:ext cx="2691116" cy="2593872"/>
              <a:chOff x="5242562" y="3594151"/>
              <a:chExt cx="2691116" cy="2593872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2B55484-CB56-3A79-E534-902E2FE559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630313"/>
                <a:ext cx="12877" cy="1628262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EA42867-7D83-3A67-C985-4161458526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75764" y="5869617"/>
                <a:ext cx="1437197" cy="318406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ED8B0C4-F26A-7C63-4815-239719763C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90238" y="3594151"/>
                <a:ext cx="2643440" cy="518331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483178-DB1B-C568-3762-6E22D3E3AC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483176"/>
              <a:ext cx="146822" cy="2134726"/>
            </a:xfrm>
            <a:prstGeom prst="line">
              <a:avLst/>
            </a:prstGeom>
            <a:ln w="63500">
              <a:solidFill>
                <a:srgbClr val="C0000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E0274B5-77FF-BD74-8C32-372BA48C0EC2}"/>
              </a:ext>
            </a:extLst>
          </p:cNvPr>
          <p:cNvGrpSpPr/>
          <p:nvPr/>
        </p:nvGrpSpPr>
        <p:grpSpPr>
          <a:xfrm>
            <a:off x="1107243" y="2741603"/>
            <a:ext cx="2621201" cy="2861613"/>
            <a:chOff x="2621359" y="2756289"/>
            <a:chExt cx="2621201" cy="286161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2479F5A-36BD-3DBE-B25A-50A03593F859}"/>
                </a:ext>
              </a:extLst>
            </p:cNvPr>
            <p:cNvGrpSpPr/>
            <p:nvPr/>
          </p:nvGrpSpPr>
          <p:grpSpPr>
            <a:xfrm>
              <a:off x="2621359" y="2756289"/>
              <a:ext cx="2621201" cy="2861613"/>
              <a:chOff x="5242560" y="3326410"/>
              <a:chExt cx="2621201" cy="2861613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E859AF-DA45-6EE2-8760-86C354200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2560" y="3341381"/>
                <a:ext cx="0" cy="2254747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3A51258-794B-0FEC-785F-26C97BC9A7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3" y="5552587"/>
                <a:ext cx="2621198" cy="635436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3F2014E-E0FF-3151-00F5-DEBB0494F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326410"/>
                <a:ext cx="2621199" cy="570121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A18FCDE-2DCF-C6ED-A1A6-810FCC214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326410"/>
              <a:ext cx="50798" cy="2291492"/>
            </a:xfrm>
            <a:prstGeom prst="line">
              <a:avLst/>
            </a:prstGeom>
            <a:ln w="63500">
              <a:solidFill>
                <a:srgbClr val="00B05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9C6DAB1D-D443-DF4B-B011-9570A60FD569}"/>
              </a:ext>
            </a:extLst>
          </p:cNvPr>
          <p:cNvGrpSpPr/>
          <p:nvPr/>
        </p:nvGrpSpPr>
        <p:grpSpPr>
          <a:xfrm>
            <a:off x="7063059" y="2716414"/>
            <a:ext cx="2621201" cy="2861613"/>
            <a:chOff x="2621359" y="2756289"/>
            <a:chExt cx="2621201" cy="2861613"/>
          </a:xfrm>
        </p:grpSpPr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3B869E1-A19E-BE28-B06A-CC18D0D8A9C4}"/>
                </a:ext>
              </a:extLst>
            </p:cNvPr>
            <p:cNvGrpSpPr/>
            <p:nvPr/>
          </p:nvGrpSpPr>
          <p:grpSpPr>
            <a:xfrm>
              <a:off x="2621359" y="2756289"/>
              <a:ext cx="2621201" cy="2861613"/>
              <a:chOff x="5242560" y="3326410"/>
              <a:chExt cx="2621201" cy="2861613"/>
            </a:xfrm>
          </p:grpSpPr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3CCD7385-378B-34F1-D14A-6AEBFAB0A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2560" y="3341381"/>
                <a:ext cx="0" cy="2254747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" name="Straight Connector 1029">
                <a:extLst>
                  <a:ext uri="{FF2B5EF4-FFF2-40B4-BE49-F238E27FC236}">
                    <a16:creationId xmlns:a16="http://schemas.microsoft.com/office/drawing/2014/main" id="{B6D52737-08CA-F72D-2A35-E871193B3E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3" y="5552587"/>
                <a:ext cx="2621198" cy="635436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7CB712E7-CB3E-FC91-9E6D-0FA37408B0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326410"/>
                <a:ext cx="2621199" cy="570121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4C60E746-E38E-FBA3-404F-399E7E111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326410"/>
              <a:ext cx="50798" cy="2291492"/>
            </a:xfrm>
            <a:prstGeom prst="line">
              <a:avLst/>
            </a:prstGeom>
            <a:ln w="63500">
              <a:solidFill>
                <a:srgbClr val="00B05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FA0E19DE-501A-FDB7-362C-5F97AE63BF11}"/>
              </a:ext>
            </a:extLst>
          </p:cNvPr>
          <p:cNvGrpSpPr/>
          <p:nvPr/>
        </p:nvGrpSpPr>
        <p:grpSpPr>
          <a:xfrm>
            <a:off x="8501484" y="2383955"/>
            <a:ext cx="2390234" cy="2236672"/>
            <a:chOff x="2923682" y="3381230"/>
            <a:chExt cx="2390234" cy="2236672"/>
          </a:xfrm>
        </p:grpSpPr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75D07E62-B7EF-4D93-A9BA-8DF42FF85B69}"/>
                </a:ext>
              </a:extLst>
            </p:cNvPr>
            <p:cNvGrpSpPr/>
            <p:nvPr/>
          </p:nvGrpSpPr>
          <p:grpSpPr>
            <a:xfrm>
              <a:off x="2923682" y="3381230"/>
              <a:ext cx="2341491" cy="2236672"/>
              <a:chOff x="5544883" y="3951351"/>
              <a:chExt cx="2341491" cy="2236672"/>
            </a:xfrm>
          </p:grpSpPr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515DF421-E55D-21D4-92F0-96B1B04029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4883" y="3951351"/>
                <a:ext cx="0" cy="1064058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8544727E-9808-03DC-704F-92B36D08B7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75764" y="5869617"/>
                <a:ext cx="1437197" cy="318406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7" name="Straight Connector 1036">
                <a:extLst>
                  <a:ext uri="{FF2B5EF4-FFF2-40B4-BE49-F238E27FC236}">
                    <a16:creationId xmlns:a16="http://schemas.microsoft.com/office/drawing/2014/main" id="{8E80FF13-4BF3-5C23-0E47-42F29AEA88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93627" y="3951351"/>
                <a:ext cx="2292747" cy="396763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4584D5C3-4233-E442-19B0-8FE70A88D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753849"/>
              <a:ext cx="122154" cy="1864053"/>
            </a:xfrm>
            <a:prstGeom prst="line">
              <a:avLst/>
            </a:prstGeom>
            <a:ln w="63500">
              <a:solidFill>
                <a:srgbClr val="C0000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4410CC6F-1779-89BA-D82E-4B48A4E20429}"/>
              </a:ext>
            </a:extLst>
          </p:cNvPr>
          <p:cNvGrpSpPr/>
          <p:nvPr/>
        </p:nvGrpSpPr>
        <p:grpSpPr>
          <a:xfrm>
            <a:off x="6806600" y="5135628"/>
            <a:ext cx="5614517" cy="1168298"/>
            <a:chOff x="6806600" y="5135628"/>
            <a:chExt cx="5614517" cy="1168298"/>
          </a:xfrm>
        </p:grpSpPr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F9CE742C-9FFB-A199-3A09-733BE2B87656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22AF883F-7F6A-5A57-2A79-89534C7C72B9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50 temperatures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85D8AC-DBFF-66D1-0865-C20CDE8A7716}"/>
              </a:ext>
            </a:extLst>
          </p:cNvPr>
          <p:cNvGrpSpPr/>
          <p:nvPr/>
        </p:nvGrpSpPr>
        <p:grpSpPr>
          <a:xfrm>
            <a:off x="1096427" y="5199912"/>
            <a:ext cx="5614517" cy="1168298"/>
            <a:chOff x="6806600" y="5135628"/>
            <a:chExt cx="5614517" cy="11682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7E82B8-CAF4-4D56-B84F-609E1D5D02BA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6753F9-A897-DE04-7068-852F41A9D3B4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03A536-D0E3-88A5-E2C4-8A0EA1D844A9}"/>
                  </a:ext>
                </a:extLst>
              </p:cNvPr>
              <p:cNvSpPr txBox="1"/>
              <p:nvPr/>
            </p:nvSpPr>
            <p:spPr>
              <a:xfrm>
                <a:off x="9046807" y="1820330"/>
                <a:ext cx="1136658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1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18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03A536-D0E3-88A5-E2C4-8A0EA1D84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807" y="1820330"/>
                <a:ext cx="1136658" cy="661015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5B6FF27-9AE9-0B41-8BEE-C1D4F183A8A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2 – We can think of state space variables as thermodynamic surfaces too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85448B0-0197-2CC2-A5E8-2B240DC2932E}"/>
              </a:ext>
            </a:extLst>
          </p:cNvPr>
          <p:cNvGrpSpPr/>
          <p:nvPr/>
        </p:nvGrpSpPr>
        <p:grpSpPr>
          <a:xfrm>
            <a:off x="1481386" y="3598756"/>
            <a:ext cx="3872511" cy="2332219"/>
            <a:chOff x="1481386" y="3598756"/>
            <a:chExt cx="3872511" cy="2332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E8445B7-06F0-4011-689D-BEE8C6BE49CF}"/>
                </a:ext>
              </a:extLst>
            </p:cNvPr>
            <p:cNvSpPr txBox="1"/>
            <p:nvPr/>
          </p:nvSpPr>
          <p:spPr>
            <a:xfrm rot="2794638">
              <a:off x="499942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921FC3-DB84-2464-3D91-6D9C7F4EFE54}"/>
                </a:ext>
              </a:extLst>
            </p:cNvPr>
            <p:cNvSpPr txBox="1"/>
            <p:nvPr/>
          </p:nvSpPr>
          <p:spPr>
            <a:xfrm rot="21238454">
              <a:off x="3021678" y="4911757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3A40FD-54F0-1AAB-FC0D-2D5303D8154A}"/>
              </a:ext>
            </a:extLst>
          </p:cNvPr>
          <p:cNvGrpSpPr/>
          <p:nvPr/>
        </p:nvGrpSpPr>
        <p:grpSpPr>
          <a:xfrm>
            <a:off x="6213455" y="4772427"/>
            <a:ext cx="5116990" cy="369332"/>
            <a:chOff x="685137" y="4580200"/>
            <a:chExt cx="511699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ED0932-5B02-66F2-148E-CC1B24F924A7}"/>
                </a:ext>
              </a:extLst>
            </p:cNvPr>
            <p:cNvSpPr txBox="1"/>
            <p:nvPr/>
          </p:nvSpPr>
          <p:spPr>
            <a:xfrm rot="2096072">
              <a:off x="685137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FFF86-167B-FC24-16F5-4852DB868795}"/>
                </a:ext>
              </a:extLst>
            </p:cNvPr>
            <p:cNvSpPr txBox="1"/>
            <p:nvPr/>
          </p:nvSpPr>
          <p:spPr>
            <a:xfrm rot="20324886">
              <a:off x="3469908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810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4A25AC05-D866-E544-9AAE-C372CF28C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61" y="262080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65105" y="732520"/>
            <a:ext cx="1147583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Assuming grids have been organized in the way we’ve been doing it, which might give you the curve shown on the right?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/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37CF4D1-8A87-0088-3FFE-68382DAF17BC}"/>
              </a:ext>
            </a:extLst>
          </p:cNvPr>
          <p:cNvSpPr/>
          <p:nvPr/>
        </p:nvSpPr>
        <p:spPr>
          <a:xfrm rot="16200000">
            <a:off x="5021227" y="2422833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A4032-5D57-EE6D-7049-89C24957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558" y="2620806"/>
            <a:ext cx="4930385" cy="369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47A04A-B0F2-A4A0-6024-B8852920C50F}"/>
              </a:ext>
            </a:extLst>
          </p:cNvPr>
          <p:cNvSpPr/>
          <p:nvPr/>
        </p:nvSpPr>
        <p:spPr>
          <a:xfrm>
            <a:off x="8887905" y="3313849"/>
            <a:ext cx="205537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[-1,:]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[-1,-1]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[:,:]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9741E3-EE65-09C7-944D-BC8670B375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Slicing</a:t>
            </a:r>
          </a:p>
        </p:txBody>
      </p:sp>
    </p:spTree>
    <p:extLst>
      <p:ext uri="{BB962C8B-B14F-4D97-AF65-F5344CB8AC3E}">
        <p14:creationId xmlns:p14="http://schemas.microsoft.com/office/powerpoint/2010/main" val="229008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4A25AC05-D866-E544-9AAE-C372CF28C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61" y="262080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65105" y="732520"/>
            <a:ext cx="1147583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Assuming grids have been organized in the way we’ve been doing it, which might give you the curve shown on the right?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/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37CF4D1-8A87-0088-3FFE-68382DAF17BC}"/>
              </a:ext>
            </a:extLst>
          </p:cNvPr>
          <p:cNvSpPr/>
          <p:nvPr/>
        </p:nvSpPr>
        <p:spPr>
          <a:xfrm rot="16200000">
            <a:off x="5021227" y="2422833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A4032-5D57-EE6D-7049-89C24957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558" y="2620806"/>
            <a:ext cx="4930385" cy="369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47A04A-B0F2-A4A0-6024-B8852920C50F}"/>
              </a:ext>
            </a:extLst>
          </p:cNvPr>
          <p:cNvSpPr/>
          <p:nvPr/>
        </p:nvSpPr>
        <p:spPr>
          <a:xfrm>
            <a:off x="8887905" y="3313849"/>
            <a:ext cx="205537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highlight>
                  <a:srgbClr val="C0C0C0"/>
                </a:highlight>
              </a:rPr>
              <a:t>Pgrid</a:t>
            </a:r>
            <a:r>
              <a:rPr lang="en-US" sz="2400" dirty="0">
                <a:highlight>
                  <a:srgbClr val="C0C0C0"/>
                </a:highlight>
              </a:rPr>
              <a:t>[-1,:]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[-1,-1]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[:,:]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9741E3-EE65-09C7-944D-BC8670B375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Slicing</a:t>
            </a:r>
          </a:p>
        </p:txBody>
      </p:sp>
    </p:spTree>
    <p:extLst>
      <p:ext uri="{BB962C8B-B14F-4D97-AF65-F5344CB8AC3E}">
        <p14:creationId xmlns:p14="http://schemas.microsoft.com/office/powerpoint/2010/main" val="282758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4FA118B5-7773-9E91-CB6F-B0BF4CA81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79"/>
          <a:stretch/>
        </p:blipFill>
        <p:spPr bwMode="auto">
          <a:xfrm>
            <a:off x="4604901" y="2256840"/>
            <a:ext cx="4247815" cy="375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2565" y="698246"/>
            <a:ext cx="1003794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surface could the one on the right be?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8CF3679-8616-4C95-D410-5D533F7EA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807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rved Left Arrow 10">
            <a:extLst>
              <a:ext uri="{FF2B5EF4-FFF2-40B4-BE49-F238E27FC236}">
                <a16:creationId xmlns:a16="http://schemas.microsoft.com/office/drawing/2014/main" id="{AE0AA0E2-53FF-C478-7909-189B342614B0}"/>
              </a:ext>
            </a:extLst>
          </p:cNvPr>
          <p:cNvSpPr/>
          <p:nvPr/>
        </p:nvSpPr>
        <p:spPr>
          <a:xfrm rot="16200000">
            <a:off x="4705942" y="1485674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4D4B30-6D17-8D25-57C7-2840AC4764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Partial derivatives (slopes) of thermodynamic surfaces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401EE6-B838-F340-F861-D3B69CCC2A78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5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6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7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8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925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4FA118B5-7773-9E91-CB6F-B0BF4CA81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79"/>
          <a:stretch/>
        </p:blipFill>
        <p:spPr bwMode="auto">
          <a:xfrm>
            <a:off x="4604901" y="2256840"/>
            <a:ext cx="4247815" cy="375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2565" y="698246"/>
            <a:ext cx="1003794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surface could the one on the right be?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8CF3679-8616-4C95-D410-5D533F7EA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807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rved Left Arrow 10">
            <a:extLst>
              <a:ext uri="{FF2B5EF4-FFF2-40B4-BE49-F238E27FC236}">
                <a16:creationId xmlns:a16="http://schemas.microsoft.com/office/drawing/2014/main" id="{AE0AA0E2-53FF-C478-7909-189B342614B0}"/>
              </a:ext>
            </a:extLst>
          </p:cNvPr>
          <p:cNvSpPr/>
          <p:nvPr/>
        </p:nvSpPr>
        <p:spPr>
          <a:xfrm rot="16200000">
            <a:off x="4705942" y="1485674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4D4B30-6D17-8D25-57C7-2840AC4764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Partial derivatives (slopes) of thermodynamic surfaces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401EE6-B838-F340-F861-D3B69CCC2A78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5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6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7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8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1040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thermodynamic surface could this be?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AB3795E-68E9-E04E-BD9E-4B70E50D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36"/>
          <a:stretch/>
        </p:blipFill>
        <p:spPr bwMode="auto">
          <a:xfrm>
            <a:off x="1807443" y="1462350"/>
            <a:ext cx="5760419" cy="48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92541-14C9-AE57-D5C8-F085C4E4D9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Partial derivatives (slopes) of thermodynamic surfaces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C823A9-BAF4-9E48-5EF3-60768D22A91E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4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5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6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7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78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thermodynamic surface could this be?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AB3795E-68E9-E04E-BD9E-4B70E50D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36"/>
          <a:stretch/>
        </p:blipFill>
        <p:spPr bwMode="auto">
          <a:xfrm>
            <a:off x="1807443" y="1462350"/>
            <a:ext cx="5760419" cy="48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92541-14C9-AE57-D5C8-F085C4E4D9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Partial derivatives (slopes) of thermodynamic surfaces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C823A9-BAF4-9E48-5EF3-60768D22A91E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4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5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6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7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301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12859" y="739902"/>
                <a:ext cx="11178406" cy="450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𝑛𝑏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. Find the algebraic expression corresponding to one of these (your choice):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9" y="739902"/>
                <a:ext cx="11178406" cy="4505079"/>
              </a:xfrm>
              <a:prstGeom prst="rect">
                <a:avLst/>
              </a:prstGeom>
              <a:blipFill>
                <a:blip r:embed="rId3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4A3991D-CE9E-9C0E-BDA5-4E2AF711265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Calculus of partial derivatives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ADC3CE-D4EE-F510-8DC8-0D9E99D01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6" t="18141" r="16421" b="8125"/>
          <a:stretch/>
        </p:blipFill>
        <p:spPr bwMode="auto">
          <a:xfrm>
            <a:off x="7704038" y="3793953"/>
            <a:ext cx="1856419" cy="164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28B0027-8D4B-2A79-1200-3E2D5D3D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4" t="15477" r="16178" b="5399"/>
          <a:stretch/>
        </p:blipFill>
        <p:spPr bwMode="auto">
          <a:xfrm>
            <a:off x="7672173" y="1416436"/>
            <a:ext cx="1920150" cy="188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32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3958</TotalTime>
  <Words>377</Words>
  <Application>Microsoft Macintosh PowerPoint</Application>
  <PresentationFormat>Widescreen</PresentationFormat>
  <Paragraphs>77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37</cp:revision>
  <cp:lastPrinted>2025-09-29T17:02:52Z</cp:lastPrinted>
  <dcterms:created xsi:type="dcterms:W3CDTF">2024-12-17T00:02:43Z</dcterms:created>
  <dcterms:modified xsi:type="dcterms:W3CDTF">2025-12-08T18:28:16Z</dcterms:modified>
</cp:coreProperties>
</file>