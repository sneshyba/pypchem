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32" r:id="rId2"/>
    <p:sldId id="751" r:id="rId3"/>
    <p:sldId id="344" r:id="rId4"/>
    <p:sldId id="738" r:id="rId5"/>
    <p:sldId id="746" r:id="rId6"/>
    <p:sldId id="747" r:id="rId7"/>
    <p:sldId id="749" r:id="rId8"/>
    <p:sldId id="328" r:id="rId9"/>
    <p:sldId id="750" r:id="rId10"/>
    <p:sldId id="324" r:id="rId11"/>
    <p:sldId id="736" r:id="rId12"/>
    <p:sldId id="73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5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D5E88-C46B-F64B-8116-8AEC3C305F3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890B1-CACD-F34E-AD11-7AC3A0D8F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BB0D-435C-2ED1-BE6C-0B1802EEE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955AD-8D45-53D4-6784-45D52DBF7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D256B-6C07-B197-EB51-BC089099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BA71-7B66-E22B-4612-F369D33A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E8A3-60C2-A7F0-3EFC-2A30B8FC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4ABE-8E5B-30E7-9CEF-DE85430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9F78-F752-5B10-3675-A02FE421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E95-DA0C-8E75-6E91-B47BBCAE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FE6D-1866-5089-5659-637A4BA9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96A1-E748-8D99-5FC8-5DFBCEC6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5B0F-FA13-A37B-A891-07875513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CC5E9-F094-759E-2E62-369C5055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59CA-110C-6993-6101-5164EDB4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83D6F-4C60-94FA-D905-11F8BC4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A4950-B533-B665-4A06-B12E78B3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EB25-A313-D559-293B-327BB370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9179-B2B4-072C-87C7-5E37FA1CA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4999B-B46C-5C82-9326-AC233752F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5FDEA-64C9-384D-8A57-BDBD3CD0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192B6-4206-18FB-806D-944F3B6A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590F-2EC0-5D8C-65B7-851BBB6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DB4-4A97-96C3-B1DC-8AF6E884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923F-05FE-F3F0-7297-2022F9E8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D151-585A-D252-6886-363A38AB4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03EBD-F06A-D935-CD83-5A5E2F2ED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904F6-F5E4-E510-2D32-32876176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3F35-AE71-F78A-0FF2-C6DE2582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13B8B-75AF-F689-ED70-AA8774A0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BAA95-6AF2-D636-6108-C19DF3B3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CD87-AC8F-0BA7-219A-3F18FB3A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7E775-B719-6799-405B-5B9C84D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1CA45-1DA0-EB34-EF17-0FDEC5AC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FD9F-6DAC-FC36-9467-72388FB7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C4560-EF66-66B0-5E85-A7A74E8A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BBD72-E996-2ADF-2CE8-662B899E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E9D7-53D4-43D2-5BFA-84A25F3F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60E3-5FB8-8426-962F-8A772F5C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545D-1741-C7FD-EAC1-EEAA5C47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99F3-9C84-4F74-1088-93F9133C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7C480-A55D-B274-0713-85516400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8A521-AC93-44C8-632F-EF232C96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AA32-140D-C1DF-9721-5C00BDFD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7404-0B01-F094-747D-10A3B20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3E523-7803-1819-A12D-38969B2C9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3438B-B98F-E3AA-CDC7-150F769B5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1C9A-9EC3-53BD-B42E-BA9C6582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A2BD3-EA2F-8937-9159-93B8E25F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50B6-DDF9-634D-B6A0-3E869BDB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3779-103C-841A-A051-B50B7E5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D24D9-948A-147E-526C-4580E186F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E87D-0E8A-BFC8-7A8A-88B4E7AB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71FA-85B9-2B3F-9060-AACF91CE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A650-A4D8-749D-DDD5-DE5094B0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3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15DAE-191B-4E3E-6BA4-A1D321F27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E11F-F28F-F507-A1CE-B671386ED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7382-E92A-CC0A-6B0B-B7112EB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4338A-9549-9422-E8A8-6DC1802A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66F1-66FF-12F6-EDA3-A455ED16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E4AFB-49BA-D9A7-7555-20B958B9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BAE9-22B8-A532-6606-74B4445F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08A8-3E2D-EA4D-B460-0912DB413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AB02-6ADB-C29B-BD10-5332AA325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C8F4-A103-BA5F-1FF2-47ABC3713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0.png"/><Relationship Id="rId7" Type="http://schemas.openxmlformats.org/officeDocument/2006/relationships/image" Target="../media/image5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2.gif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1.png"/><Relationship Id="rId5" Type="http://schemas.openxmlformats.org/officeDocument/2006/relationships/image" Target="../media/image5.png"/><Relationship Id="rId10" Type="http://schemas.openxmlformats.org/officeDocument/2006/relationships/image" Target="../media/image401.png"/><Relationship Id="rId4" Type="http://schemas.openxmlformats.org/officeDocument/2006/relationships/image" Target="../media/image2.gif"/><Relationship Id="rId9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EC487E2D-1071-E040-AA0D-B9FC7D1E715C}"/>
              </a:ext>
            </a:extLst>
          </p:cNvPr>
          <p:cNvSpPr/>
          <p:nvPr/>
        </p:nvSpPr>
        <p:spPr>
          <a:xfrm>
            <a:off x="0" y="-693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Week 9 – A 3D view of phase diagrams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D875FD-3D78-AD94-2FD5-35541D6C56CF}"/>
              </a:ext>
            </a:extLst>
          </p:cNvPr>
          <p:cNvGrpSpPr/>
          <p:nvPr/>
        </p:nvGrpSpPr>
        <p:grpSpPr>
          <a:xfrm>
            <a:off x="3846525" y="1356174"/>
            <a:ext cx="5126901" cy="4422393"/>
            <a:chOff x="6578295" y="2167704"/>
            <a:chExt cx="5126901" cy="442239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085B531-E95F-0646-B35B-C2B2A5DCE8BA}"/>
                </a:ext>
              </a:extLst>
            </p:cNvPr>
            <p:cNvGrpSpPr/>
            <p:nvPr/>
          </p:nvGrpSpPr>
          <p:grpSpPr>
            <a:xfrm>
              <a:off x="6578295" y="2167704"/>
              <a:ext cx="5126901" cy="4422393"/>
              <a:chOff x="5856631" y="304682"/>
              <a:chExt cx="5888240" cy="4954945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D11646A6-A3F9-354E-90D4-8611E7C36A68}"/>
                  </a:ext>
                </a:extLst>
              </p:cNvPr>
              <p:cNvGrpSpPr/>
              <p:nvPr/>
            </p:nvGrpSpPr>
            <p:grpSpPr>
              <a:xfrm>
                <a:off x="5856631" y="304682"/>
                <a:ext cx="5888240" cy="4954945"/>
                <a:chOff x="540356" y="1135901"/>
                <a:chExt cx="5888240" cy="4954945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BE0DB48F-C033-5445-9F04-47A47AD1CE34}"/>
                    </a:ext>
                  </a:extLst>
                </p:cNvPr>
                <p:cNvGrpSpPr/>
                <p:nvPr/>
              </p:nvGrpSpPr>
              <p:grpSpPr>
                <a:xfrm>
                  <a:off x="540356" y="1135901"/>
                  <a:ext cx="5888240" cy="4954945"/>
                  <a:chOff x="3460831" y="243067"/>
                  <a:chExt cx="5888240" cy="4954945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6D8BD395-B11A-014B-B959-4A346AB966C3}"/>
                      </a:ext>
                    </a:extLst>
                  </p:cNvPr>
                  <p:cNvGrpSpPr/>
                  <p:nvPr/>
                </p:nvGrpSpPr>
                <p:grpSpPr>
                  <a:xfrm>
                    <a:off x="3460831" y="243067"/>
                    <a:ext cx="5888240" cy="4954945"/>
                    <a:chOff x="3460831" y="277792"/>
                    <a:chExt cx="5888240" cy="4954945"/>
                  </a:xfrm>
                </p:grpSpPr>
                <p:pic>
                  <p:nvPicPr>
                    <p:cNvPr id="95" name="Picture 94">
                      <a:extLst>
                        <a:ext uri="{FF2B5EF4-FFF2-40B4-BE49-F238E27FC236}">
                          <a16:creationId xmlns:a16="http://schemas.microsoft.com/office/drawing/2014/main" id="{0B462123-7971-C140-A575-ADDE68BC323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3460831" y="277792"/>
                      <a:ext cx="5888240" cy="4954945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EC7EB702-D1D5-AC40-A28C-1EAC8E5ECA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060068" y="2457638"/>
                      <a:ext cx="605127" cy="360270"/>
                    </a:xfrm>
                    <a:prstGeom prst="line">
                      <a:avLst/>
                    </a:prstGeom>
                    <a:ln w="127000">
                      <a:solidFill>
                        <a:srgbClr val="00B050">
                          <a:alpha val="58000"/>
                        </a:srgb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7" name="Freeform 96">
                      <a:extLst>
                        <a:ext uri="{FF2B5EF4-FFF2-40B4-BE49-F238E27FC236}">
                          <a16:creationId xmlns:a16="http://schemas.microsoft.com/office/drawing/2014/main" id="{BE72C929-639B-F14C-A421-8F6954A76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84715" y="1104453"/>
                      <a:ext cx="1265535" cy="2431575"/>
                    </a:xfrm>
                    <a:custGeom>
                      <a:avLst/>
                      <a:gdLst>
                        <a:gd name="connsiteX0" fmla="*/ 1265535 w 1265535"/>
                        <a:gd name="connsiteY0" fmla="*/ 2431575 h 2431575"/>
                        <a:gd name="connsiteX1" fmla="*/ 917193 w 1265535"/>
                        <a:gd name="connsiteY1" fmla="*/ 2039690 h 2431575"/>
                        <a:gd name="connsiteX2" fmla="*/ 670450 w 1265535"/>
                        <a:gd name="connsiteY2" fmla="*/ 1749404 h 2431575"/>
                        <a:gd name="connsiteX3" fmla="*/ 467250 w 1265535"/>
                        <a:gd name="connsiteY3" fmla="*/ 1488147 h 2431575"/>
                        <a:gd name="connsiteX4" fmla="*/ 365650 w 1265535"/>
                        <a:gd name="connsiteY4" fmla="*/ 1299461 h 2431575"/>
                        <a:gd name="connsiteX5" fmla="*/ 307593 w 1265535"/>
                        <a:gd name="connsiteY5" fmla="*/ 1183347 h 2431575"/>
                        <a:gd name="connsiteX6" fmla="*/ 235021 w 1265535"/>
                        <a:gd name="connsiteY6" fmla="*/ 1168832 h 2431575"/>
                        <a:gd name="connsiteX7" fmla="*/ 176964 w 1265535"/>
                        <a:gd name="connsiteY7" fmla="*/ 1154318 h 2431575"/>
                        <a:gd name="connsiteX8" fmla="*/ 118907 w 1265535"/>
                        <a:gd name="connsiteY8" fmla="*/ 1038204 h 2431575"/>
                        <a:gd name="connsiteX9" fmla="*/ 60850 w 1265535"/>
                        <a:gd name="connsiteY9" fmla="*/ 849518 h 2431575"/>
                        <a:gd name="connsiteX10" fmla="*/ 31821 w 1265535"/>
                        <a:gd name="connsiteY10" fmla="*/ 544718 h 2431575"/>
                        <a:gd name="connsiteX11" fmla="*/ 31821 w 1265535"/>
                        <a:gd name="connsiteY11" fmla="*/ 297975 h 2431575"/>
                        <a:gd name="connsiteX12" fmla="*/ 2793 w 1265535"/>
                        <a:gd name="connsiteY12" fmla="*/ 22204 h 2431575"/>
                        <a:gd name="connsiteX13" fmla="*/ 2793 w 1265535"/>
                        <a:gd name="connsiteY13" fmla="*/ 36718 h 2431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1265535" h="2431575">
                          <a:moveTo>
                            <a:pt x="1265535" y="2431575"/>
                          </a:moveTo>
                          <a:lnTo>
                            <a:pt x="917193" y="2039690"/>
                          </a:lnTo>
                          <a:cubicBezTo>
                            <a:pt x="818012" y="1925995"/>
                            <a:pt x="745440" y="1841328"/>
                            <a:pt x="670450" y="1749404"/>
                          </a:cubicBezTo>
                          <a:cubicBezTo>
                            <a:pt x="595460" y="1657480"/>
                            <a:pt x="518050" y="1563138"/>
                            <a:pt x="467250" y="1488147"/>
                          </a:cubicBezTo>
                          <a:cubicBezTo>
                            <a:pt x="416450" y="1413156"/>
                            <a:pt x="392259" y="1350261"/>
                            <a:pt x="365650" y="1299461"/>
                          </a:cubicBezTo>
                          <a:cubicBezTo>
                            <a:pt x="339041" y="1248661"/>
                            <a:pt x="307593" y="1183347"/>
                            <a:pt x="307593" y="1183347"/>
                          </a:cubicBezTo>
                          <a:cubicBezTo>
                            <a:pt x="285822" y="1161576"/>
                            <a:pt x="235021" y="1168832"/>
                            <a:pt x="235021" y="1168832"/>
                          </a:cubicBezTo>
                          <a:cubicBezTo>
                            <a:pt x="213249" y="1163994"/>
                            <a:pt x="196316" y="1176089"/>
                            <a:pt x="176964" y="1154318"/>
                          </a:cubicBezTo>
                          <a:cubicBezTo>
                            <a:pt x="157612" y="1132547"/>
                            <a:pt x="138259" y="1089004"/>
                            <a:pt x="118907" y="1038204"/>
                          </a:cubicBezTo>
                          <a:cubicBezTo>
                            <a:pt x="99555" y="987404"/>
                            <a:pt x="75364" y="931766"/>
                            <a:pt x="60850" y="849518"/>
                          </a:cubicBezTo>
                          <a:cubicBezTo>
                            <a:pt x="46336" y="767270"/>
                            <a:pt x="36659" y="636642"/>
                            <a:pt x="31821" y="544718"/>
                          </a:cubicBezTo>
                          <a:cubicBezTo>
                            <a:pt x="26983" y="452794"/>
                            <a:pt x="36659" y="385061"/>
                            <a:pt x="31821" y="297975"/>
                          </a:cubicBezTo>
                          <a:cubicBezTo>
                            <a:pt x="26983" y="210889"/>
                            <a:pt x="2793" y="22204"/>
                            <a:pt x="2793" y="22204"/>
                          </a:cubicBezTo>
                          <a:cubicBezTo>
                            <a:pt x="-2045" y="-21339"/>
                            <a:pt x="374" y="7689"/>
                            <a:pt x="2793" y="36718"/>
                          </a:cubicBezTo>
                        </a:path>
                      </a:pathLst>
                    </a:custGeom>
                    <a:noFill/>
                    <a:ln w="127000">
                      <a:solidFill>
                        <a:schemeClr val="accent2">
                          <a:alpha val="6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8" name="Freeform 97">
                      <a:extLst>
                        <a:ext uri="{FF2B5EF4-FFF2-40B4-BE49-F238E27FC236}">
                          <a16:creationId xmlns:a16="http://schemas.microsoft.com/office/drawing/2014/main" id="{3229F4C7-BBF4-DE4E-82E6-E00734FB9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8800" y="1027391"/>
                      <a:ext cx="1219200" cy="2017486"/>
                    </a:xfrm>
                    <a:custGeom>
                      <a:avLst/>
                      <a:gdLst>
                        <a:gd name="connsiteX0" fmla="*/ 1219200 w 1219200"/>
                        <a:gd name="connsiteY0" fmla="*/ 2017486 h 2017486"/>
                        <a:gd name="connsiteX1" fmla="*/ 885371 w 1219200"/>
                        <a:gd name="connsiteY1" fmla="*/ 1698171 h 2017486"/>
                        <a:gd name="connsiteX2" fmla="*/ 667657 w 1219200"/>
                        <a:gd name="connsiteY2" fmla="*/ 1451428 h 2017486"/>
                        <a:gd name="connsiteX3" fmla="*/ 406400 w 1219200"/>
                        <a:gd name="connsiteY3" fmla="*/ 1030514 h 2017486"/>
                        <a:gd name="connsiteX4" fmla="*/ 188686 w 1219200"/>
                        <a:gd name="connsiteY4" fmla="*/ 595086 h 2017486"/>
                        <a:gd name="connsiteX5" fmla="*/ 72571 w 1219200"/>
                        <a:gd name="connsiteY5" fmla="*/ 217714 h 2017486"/>
                        <a:gd name="connsiteX6" fmla="*/ 0 w 1219200"/>
                        <a:gd name="connsiteY6" fmla="*/ 0 h 20174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219200" h="2017486">
                          <a:moveTo>
                            <a:pt x="1219200" y="2017486"/>
                          </a:moveTo>
                          <a:cubicBezTo>
                            <a:pt x="1098247" y="1905000"/>
                            <a:pt x="977295" y="1792514"/>
                            <a:pt x="885371" y="1698171"/>
                          </a:cubicBezTo>
                          <a:cubicBezTo>
                            <a:pt x="793447" y="1603828"/>
                            <a:pt x="747485" y="1562704"/>
                            <a:pt x="667657" y="1451428"/>
                          </a:cubicBezTo>
                          <a:cubicBezTo>
                            <a:pt x="587829" y="1340152"/>
                            <a:pt x="486228" y="1173238"/>
                            <a:pt x="406400" y="1030514"/>
                          </a:cubicBezTo>
                          <a:cubicBezTo>
                            <a:pt x="326572" y="887790"/>
                            <a:pt x="244324" y="730553"/>
                            <a:pt x="188686" y="595086"/>
                          </a:cubicBezTo>
                          <a:cubicBezTo>
                            <a:pt x="133048" y="459619"/>
                            <a:pt x="104019" y="316895"/>
                            <a:pt x="72571" y="217714"/>
                          </a:cubicBezTo>
                          <a:cubicBezTo>
                            <a:pt x="41123" y="118533"/>
                            <a:pt x="20561" y="59266"/>
                            <a:pt x="0" y="0"/>
                          </a:cubicBezTo>
                        </a:path>
                      </a:pathLst>
                    </a:custGeom>
                    <a:noFill/>
                    <a:ln w="127000">
                      <a:solidFill>
                        <a:srgbClr val="FF0000">
                          <a:alpha val="46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C2AE7391-85B8-7C4B-B31A-8DCD0C5FBE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68167" y="1272876"/>
                    <a:ext cx="107686" cy="1177658"/>
                  </a:xfrm>
                  <a:prstGeom prst="line">
                    <a:avLst/>
                  </a:prstGeom>
                  <a:ln w="127000">
                    <a:solidFill>
                      <a:srgbClr val="00B050">
                        <a:alpha val="58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D9D826E7-34A2-0247-BCFC-797FF8F35029}"/>
                    </a:ext>
                  </a:extLst>
                </p:cNvPr>
                <p:cNvSpPr/>
                <p:nvPr/>
              </p:nvSpPr>
              <p:spPr>
                <a:xfrm>
                  <a:off x="3676207" y="2127560"/>
                  <a:ext cx="1219200" cy="2017486"/>
                </a:xfrm>
                <a:custGeom>
                  <a:avLst/>
                  <a:gdLst>
                    <a:gd name="connsiteX0" fmla="*/ 1219200 w 1219200"/>
                    <a:gd name="connsiteY0" fmla="*/ 2017486 h 2017486"/>
                    <a:gd name="connsiteX1" fmla="*/ 885371 w 1219200"/>
                    <a:gd name="connsiteY1" fmla="*/ 1698171 h 2017486"/>
                    <a:gd name="connsiteX2" fmla="*/ 667657 w 1219200"/>
                    <a:gd name="connsiteY2" fmla="*/ 1451428 h 2017486"/>
                    <a:gd name="connsiteX3" fmla="*/ 406400 w 1219200"/>
                    <a:gd name="connsiteY3" fmla="*/ 1030514 h 2017486"/>
                    <a:gd name="connsiteX4" fmla="*/ 188686 w 1219200"/>
                    <a:gd name="connsiteY4" fmla="*/ 595086 h 2017486"/>
                    <a:gd name="connsiteX5" fmla="*/ 72571 w 1219200"/>
                    <a:gd name="connsiteY5" fmla="*/ 217714 h 2017486"/>
                    <a:gd name="connsiteX6" fmla="*/ 0 w 1219200"/>
                    <a:gd name="connsiteY6" fmla="*/ 0 h 2017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19200" h="2017486">
                      <a:moveTo>
                        <a:pt x="1219200" y="2017486"/>
                      </a:moveTo>
                      <a:cubicBezTo>
                        <a:pt x="1098247" y="1905000"/>
                        <a:pt x="977295" y="1792514"/>
                        <a:pt x="885371" y="1698171"/>
                      </a:cubicBezTo>
                      <a:cubicBezTo>
                        <a:pt x="793447" y="1603828"/>
                        <a:pt x="747485" y="1562704"/>
                        <a:pt x="667657" y="1451428"/>
                      </a:cubicBezTo>
                      <a:cubicBezTo>
                        <a:pt x="587829" y="1340152"/>
                        <a:pt x="486228" y="1173238"/>
                        <a:pt x="406400" y="1030514"/>
                      </a:cubicBezTo>
                      <a:cubicBezTo>
                        <a:pt x="326572" y="887790"/>
                        <a:pt x="244324" y="730553"/>
                        <a:pt x="188686" y="595086"/>
                      </a:cubicBezTo>
                      <a:cubicBezTo>
                        <a:pt x="133048" y="459619"/>
                        <a:pt x="104019" y="316895"/>
                        <a:pt x="72571" y="217714"/>
                      </a:cubicBezTo>
                      <a:cubicBezTo>
                        <a:pt x="41123" y="118533"/>
                        <a:pt x="20561" y="59266"/>
                        <a:pt x="0" y="0"/>
                      </a:cubicBezTo>
                    </a:path>
                  </a:pathLst>
                </a:custGeom>
                <a:noFill/>
                <a:ln w="127000">
                  <a:solidFill>
                    <a:schemeClr val="accent1">
                      <a:alpha val="46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E2147D5E-70A6-754E-AE63-48E9E1A6C5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70642" y="1054281"/>
                <a:ext cx="1781761" cy="560419"/>
              </a:xfrm>
              <a:prstGeom prst="line">
                <a:avLst/>
              </a:prstGeom>
              <a:ln w="127000">
                <a:solidFill>
                  <a:schemeClr val="tx1">
                    <a:alpha val="5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EF9094-522F-0CE3-AE6F-35CF31BFF8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68340" y="4540057"/>
              <a:ext cx="610050" cy="778883"/>
            </a:xfrm>
            <a:prstGeom prst="line">
              <a:avLst/>
            </a:prstGeom>
            <a:ln w="127000">
              <a:solidFill>
                <a:srgbClr val="00B050">
                  <a:alpha val="5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51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8491C5C1-5FE0-A24D-BAE7-974AEBDF9CE1}"/>
              </a:ext>
            </a:extLst>
          </p:cNvPr>
          <p:cNvGrpSpPr/>
          <p:nvPr/>
        </p:nvGrpSpPr>
        <p:grpSpPr>
          <a:xfrm>
            <a:off x="1387792" y="720166"/>
            <a:ext cx="2894018" cy="2532599"/>
            <a:chOff x="1169015" y="1868552"/>
            <a:chExt cx="3203020" cy="330613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5542074-D6C8-0244-825B-5AE5271620EF}"/>
                </a:ext>
              </a:extLst>
            </p:cNvPr>
            <p:cNvGrpSpPr/>
            <p:nvPr/>
          </p:nvGrpSpPr>
          <p:grpSpPr>
            <a:xfrm>
              <a:off x="1169015" y="1868557"/>
              <a:ext cx="976808" cy="3295547"/>
              <a:chOff x="433910" y="1868557"/>
              <a:chExt cx="976808" cy="3295547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1911386-6185-4249-A23B-8594806CC756}"/>
                  </a:ext>
                </a:extLst>
              </p:cNvPr>
              <p:cNvGrpSpPr/>
              <p:nvPr/>
            </p:nvGrpSpPr>
            <p:grpSpPr>
              <a:xfrm>
                <a:off x="433910" y="1868557"/>
                <a:ext cx="793020" cy="3295547"/>
                <a:chOff x="2470530" y="1868557"/>
                <a:chExt cx="793020" cy="3295547"/>
              </a:xfrm>
            </p:grpSpPr>
            <p:sp>
              <p:nvSpPr>
                <p:cNvPr id="41" name="Can 40">
                  <a:extLst>
                    <a:ext uri="{FF2B5EF4-FFF2-40B4-BE49-F238E27FC236}">
                      <a16:creationId xmlns:a16="http://schemas.microsoft.com/office/drawing/2014/main" id="{D8BC20EF-9849-F14A-8DE5-3EC783CA1ADB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Can 41">
                  <a:extLst>
                    <a:ext uri="{FF2B5EF4-FFF2-40B4-BE49-F238E27FC236}">
                      <a16:creationId xmlns:a16="http://schemas.microsoft.com/office/drawing/2014/main" id="{E0B74EF6-AA60-1548-8E51-924FF3DB5E7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Down Arrow 42">
                  <a:extLst>
                    <a:ext uri="{FF2B5EF4-FFF2-40B4-BE49-F238E27FC236}">
                      <a16:creationId xmlns:a16="http://schemas.microsoft.com/office/drawing/2014/main" id="{954ED917-8D26-1741-9588-A1FE42BE0AB1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1E4740E-BCB7-5E43-A28B-5B59F46F9DB7}"/>
                  </a:ext>
                </a:extLst>
              </p:cNvPr>
              <p:cNvSpPr txBox="1"/>
              <p:nvPr/>
            </p:nvSpPr>
            <p:spPr>
              <a:xfrm>
                <a:off x="482581" y="3865267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F6FE2B-C1F6-C94E-B0A3-8FA2CDB5C689}"/>
                </a:ext>
              </a:extLst>
            </p:cNvPr>
            <p:cNvGrpSpPr/>
            <p:nvPr/>
          </p:nvGrpSpPr>
          <p:grpSpPr>
            <a:xfrm>
              <a:off x="2298294" y="1868552"/>
              <a:ext cx="1071912" cy="3295547"/>
              <a:chOff x="1597695" y="1868552"/>
              <a:chExt cx="1071912" cy="3295547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0E91AE3-B784-E74C-8677-12FF5F2A2644}"/>
                  </a:ext>
                </a:extLst>
              </p:cNvPr>
              <p:cNvGrpSpPr/>
              <p:nvPr/>
            </p:nvGrpSpPr>
            <p:grpSpPr>
              <a:xfrm>
                <a:off x="1597695" y="1868552"/>
                <a:ext cx="1071912" cy="3295547"/>
                <a:chOff x="433910" y="1868557"/>
                <a:chExt cx="1071912" cy="3295547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8A5387BA-5BCC-3047-95AB-E0646468A367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50" name="Can 49">
                    <a:extLst>
                      <a:ext uri="{FF2B5EF4-FFF2-40B4-BE49-F238E27FC236}">
                        <a16:creationId xmlns:a16="http://schemas.microsoft.com/office/drawing/2014/main" id="{807EE12B-0072-3445-9401-8DC0FF07F137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Can 50">
                    <a:extLst>
                      <a:ext uri="{FF2B5EF4-FFF2-40B4-BE49-F238E27FC236}">
                        <a16:creationId xmlns:a16="http://schemas.microsoft.com/office/drawing/2014/main" id="{34D9E0EB-C56F-254F-9E8E-4B31CE8100CE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" name="Down Arrow 51">
                    <a:extLst>
                      <a:ext uri="{FF2B5EF4-FFF2-40B4-BE49-F238E27FC236}">
                        <a16:creationId xmlns:a16="http://schemas.microsoft.com/office/drawing/2014/main" id="{C419BA67-6910-B648-8B2A-1978CD1D3411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076594B-8289-824E-9286-16EC3FDC7D6C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DDF5D38-3FB2-8A4A-A01A-F631016E39C5}"/>
                  </a:ext>
                </a:extLst>
              </p:cNvPr>
              <p:cNvSpPr txBox="1"/>
              <p:nvPr/>
            </p:nvSpPr>
            <p:spPr>
              <a:xfrm>
                <a:off x="1598356" y="4738420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9B4E2E-F18F-A740-A6D0-916CBE15CB1F}"/>
                </a:ext>
              </a:extLst>
            </p:cNvPr>
            <p:cNvGrpSpPr/>
            <p:nvPr/>
          </p:nvGrpSpPr>
          <p:grpSpPr>
            <a:xfrm>
              <a:off x="3435185" y="1868552"/>
              <a:ext cx="936850" cy="3306132"/>
              <a:chOff x="1597695" y="1868552"/>
              <a:chExt cx="936850" cy="3306132"/>
            </a:xfrm>
          </p:grpSpPr>
          <p:sp>
            <p:nvSpPr>
              <p:cNvPr id="59" name="Can 58">
                <a:extLst>
                  <a:ext uri="{FF2B5EF4-FFF2-40B4-BE49-F238E27FC236}">
                    <a16:creationId xmlns:a16="http://schemas.microsoft.com/office/drawing/2014/main" id="{25FA3EAF-8C67-8D4D-B0ED-16619379E3C3}"/>
                  </a:ext>
                </a:extLst>
              </p:cNvPr>
              <p:cNvSpPr/>
              <p:nvPr/>
            </p:nvSpPr>
            <p:spPr>
              <a:xfrm>
                <a:off x="1598006" y="4469430"/>
                <a:ext cx="793020" cy="705254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569154AE-69FA-1349-BA04-58148B656F2F}"/>
                  </a:ext>
                </a:extLst>
              </p:cNvPr>
              <p:cNvGrpSpPr/>
              <p:nvPr/>
            </p:nvGrpSpPr>
            <p:grpSpPr>
              <a:xfrm>
                <a:off x="1597695" y="1868552"/>
                <a:ext cx="793020" cy="3295547"/>
                <a:chOff x="2470530" y="1868557"/>
                <a:chExt cx="793020" cy="3295547"/>
              </a:xfrm>
            </p:grpSpPr>
            <p:sp>
              <p:nvSpPr>
                <p:cNvPr id="62" name="Can 61">
                  <a:extLst>
                    <a:ext uri="{FF2B5EF4-FFF2-40B4-BE49-F238E27FC236}">
                      <a16:creationId xmlns:a16="http://schemas.microsoft.com/office/drawing/2014/main" id="{B8623419-5583-A84E-AF22-AFA5DEAF8B00}"/>
                    </a:ext>
                  </a:extLst>
                </p:cNvPr>
                <p:cNvSpPr/>
                <p:nvPr/>
              </p:nvSpPr>
              <p:spPr>
                <a:xfrm>
                  <a:off x="2470530" y="421204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Can 62">
                  <a:extLst>
                    <a:ext uri="{FF2B5EF4-FFF2-40B4-BE49-F238E27FC236}">
                      <a16:creationId xmlns:a16="http://schemas.microsoft.com/office/drawing/2014/main" id="{216987FE-4162-7A4D-9982-7B1540BEA528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Down Arrow 63">
                  <a:extLst>
                    <a:ext uri="{FF2B5EF4-FFF2-40B4-BE49-F238E27FC236}">
                      <a16:creationId xmlns:a16="http://schemas.microsoft.com/office/drawing/2014/main" id="{E888A141-D6BA-1B4B-BE23-81AE20326D6D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78B4BDF-72F2-5B4A-95BF-BB60EA72F779}"/>
                  </a:ext>
                </a:extLst>
              </p:cNvPr>
              <p:cNvSpPr txBox="1"/>
              <p:nvPr/>
            </p:nvSpPr>
            <p:spPr>
              <a:xfrm>
                <a:off x="1606408" y="4726408"/>
                <a:ext cx="928137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EC487E2D-1071-E040-AA0D-B9FC7D1E715C}"/>
              </a:ext>
            </a:extLst>
          </p:cNvPr>
          <p:cNvSpPr/>
          <p:nvPr/>
        </p:nvSpPr>
        <p:spPr>
          <a:xfrm>
            <a:off x="0" y="-693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The kind of question I might ask – Isotherms in phase diagrams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3D2E0E-3F74-0C4B-B2E0-B5F2024663B2}"/>
              </a:ext>
            </a:extLst>
          </p:cNvPr>
          <p:cNvSpPr txBox="1"/>
          <p:nvPr/>
        </p:nvSpPr>
        <p:spPr>
          <a:xfrm>
            <a:off x="1226224" y="3301067"/>
            <a:ext cx="379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Isothermal compression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85B531-E95F-0646-B35B-C2B2A5DCE8BA}"/>
              </a:ext>
            </a:extLst>
          </p:cNvPr>
          <p:cNvGrpSpPr/>
          <p:nvPr/>
        </p:nvGrpSpPr>
        <p:grpSpPr>
          <a:xfrm>
            <a:off x="6578295" y="2167704"/>
            <a:ext cx="5126901" cy="4422393"/>
            <a:chOff x="5856631" y="304682"/>
            <a:chExt cx="5888240" cy="495494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11646A6-A3F9-354E-90D4-8611E7C36A68}"/>
                </a:ext>
              </a:extLst>
            </p:cNvPr>
            <p:cNvGrpSpPr/>
            <p:nvPr/>
          </p:nvGrpSpPr>
          <p:grpSpPr>
            <a:xfrm>
              <a:off x="5856631" y="304682"/>
              <a:ext cx="5888240" cy="4954945"/>
              <a:chOff x="540356" y="1135901"/>
              <a:chExt cx="5888240" cy="4954945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E0DB48F-C033-5445-9F04-47A47AD1CE34}"/>
                  </a:ext>
                </a:extLst>
              </p:cNvPr>
              <p:cNvGrpSpPr/>
              <p:nvPr/>
            </p:nvGrpSpPr>
            <p:grpSpPr>
              <a:xfrm>
                <a:off x="540356" y="1135901"/>
                <a:ext cx="5888240" cy="4954945"/>
                <a:chOff x="3460831" y="243067"/>
                <a:chExt cx="5888240" cy="4954945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6D8BD395-B11A-014B-B959-4A346AB966C3}"/>
                    </a:ext>
                  </a:extLst>
                </p:cNvPr>
                <p:cNvGrpSpPr/>
                <p:nvPr/>
              </p:nvGrpSpPr>
              <p:grpSpPr>
                <a:xfrm>
                  <a:off x="3460831" y="243067"/>
                  <a:ext cx="5888240" cy="4954945"/>
                  <a:chOff x="3460831" y="277792"/>
                  <a:chExt cx="5888240" cy="4954945"/>
                </a:xfrm>
              </p:grpSpPr>
              <p:pic>
                <p:nvPicPr>
                  <p:cNvPr id="95" name="Picture 94">
                    <a:extLst>
                      <a:ext uri="{FF2B5EF4-FFF2-40B4-BE49-F238E27FC236}">
                        <a16:creationId xmlns:a16="http://schemas.microsoft.com/office/drawing/2014/main" id="{0B462123-7971-C140-A575-ADDE68BC32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460831" y="277792"/>
                    <a:ext cx="5888240" cy="4954945"/>
                  </a:xfrm>
                  <a:prstGeom prst="rect">
                    <a:avLst/>
                  </a:prstGeom>
                </p:spPr>
              </p:pic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EC7EB702-D1D5-AC40-A28C-1EAC8E5ECA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060068" y="2457638"/>
                    <a:ext cx="605127" cy="360270"/>
                  </a:xfrm>
                  <a:prstGeom prst="line">
                    <a:avLst/>
                  </a:prstGeom>
                  <a:ln w="127000">
                    <a:solidFill>
                      <a:srgbClr val="00B050">
                        <a:alpha val="58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7" name="Freeform 96">
                    <a:extLst>
                      <a:ext uri="{FF2B5EF4-FFF2-40B4-BE49-F238E27FC236}">
                        <a16:creationId xmlns:a16="http://schemas.microsoft.com/office/drawing/2014/main" id="{BE72C929-639B-F14C-A421-8F6954A7657D}"/>
                      </a:ext>
                    </a:extLst>
                  </p:cNvPr>
                  <p:cNvSpPr/>
                  <p:nvPr/>
                </p:nvSpPr>
                <p:spPr>
                  <a:xfrm>
                    <a:off x="6284715" y="1104453"/>
                    <a:ext cx="1265535" cy="2431575"/>
                  </a:xfrm>
                  <a:custGeom>
                    <a:avLst/>
                    <a:gdLst>
                      <a:gd name="connsiteX0" fmla="*/ 1265535 w 1265535"/>
                      <a:gd name="connsiteY0" fmla="*/ 2431575 h 2431575"/>
                      <a:gd name="connsiteX1" fmla="*/ 917193 w 1265535"/>
                      <a:gd name="connsiteY1" fmla="*/ 2039690 h 2431575"/>
                      <a:gd name="connsiteX2" fmla="*/ 670450 w 1265535"/>
                      <a:gd name="connsiteY2" fmla="*/ 1749404 h 2431575"/>
                      <a:gd name="connsiteX3" fmla="*/ 467250 w 1265535"/>
                      <a:gd name="connsiteY3" fmla="*/ 1488147 h 2431575"/>
                      <a:gd name="connsiteX4" fmla="*/ 365650 w 1265535"/>
                      <a:gd name="connsiteY4" fmla="*/ 1299461 h 2431575"/>
                      <a:gd name="connsiteX5" fmla="*/ 307593 w 1265535"/>
                      <a:gd name="connsiteY5" fmla="*/ 1183347 h 2431575"/>
                      <a:gd name="connsiteX6" fmla="*/ 235021 w 1265535"/>
                      <a:gd name="connsiteY6" fmla="*/ 1168832 h 2431575"/>
                      <a:gd name="connsiteX7" fmla="*/ 176964 w 1265535"/>
                      <a:gd name="connsiteY7" fmla="*/ 1154318 h 2431575"/>
                      <a:gd name="connsiteX8" fmla="*/ 118907 w 1265535"/>
                      <a:gd name="connsiteY8" fmla="*/ 1038204 h 2431575"/>
                      <a:gd name="connsiteX9" fmla="*/ 60850 w 1265535"/>
                      <a:gd name="connsiteY9" fmla="*/ 849518 h 2431575"/>
                      <a:gd name="connsiteX10" fmla="*/ 31821 w 1265535"/>
                      <a:gd name="connsiteY10" fmla="*/ 544718 h 2431575"/>
                      <a:gd name="connsiteX11" fmla="*/ 31821 w 1265535"/>
                      <a:gd name="connsiteY11" fmla="*/ 297975 h 2431575"/>
                      <a:gd name="connsiteX12" fmla="*/ 2793 w 1265535"/>
                      <a:gd name="connsiteY12" fmla="*/ 22204 h 2431575"/>
                      <a:gd name="connsiteX13" fmla="*/ 2793 w 1265535"/>
                      <a:gd name="connsiteY13" fmla="*/ 36718 h 243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265535" h="2431575">
                        <a:moveTo>
                          <a:pt x="1265535" y="2431575"/>
                        </a:moveTo>
                        <a:lnTo>
                          <a:pt x="917193" y="2039690"/>
                        </a:lnTo>
                        <a:cubicBezTo>
                          <a:pt x="818012" y="1925995"/>
                          <a:pt x="745440" y="1841328"/>
                          <a:pt x="670450" y="1749404"/>
                        </a:cubicBezTo>
                        <a:cubicBezTo>
                          <a:pt x="595460" y="1657480"/>
                          <a:pt x="518050" y="1563138"/>
                          <a:pt x="467250" y="1488147"/>
                        </a:cubicBezTo>
                        <a:cubicBezTo>
                          <a:pt x="416450" y="1413156"/>
                          <a:pt x="392259" y="1350261"/>
                          <a:pt x="365650" y="1299461"/>
                        </a:cubicBezTo>
                        <a:cubicBezTo>
                          <a:pt x="339041" y="1248661"/>
                          <a:pt x="307593" y="1183347"/>
                          <a:pt x="307593" y="1183347"/>
                        </a:cubicBezTo>
                        <a:cubicBezTo>
                          <a:pt x="285822" y="1161576"/>
                          <a:pt x="235021" y="1168832"/>
                          <a:pt x="235021" y="1168832"/>
                        </a:cubicBezTo>
                        <a:cubicBezTo>
                          <a:pt x="213249" y="1163994"/>
                          <a:pt x="196316" y="1176089"/>
                          <a:pt x="176964" y="1154318"/>
                        </a:cubicBezTo>
                        <a:cubicBezTo>
                          <a:pt x="157612" y="1132547"/>
                          <a:pt x="138259" y="1089004"/>
                          <a:pt x="118907" y="1038204"/>
                        </a:cubicBezTo>
                        <a:cubicBezTo>
                          <a:pt x="99555" y="987404"/>
                          <a:pt x="75364" y="931766"/>
                          <a:pt x="60850" y="849518"/>
                        </a:cubicBezTo>
                        <a:cubicBezTo>
                          <a:pt x="46336" y="767270"/>
                          <a:pt x="36659" y="636642"/>
                          <a:pt x="31821" y="544718"/>
                        </a:cubicBezTo>
                        <a:cubicBezTo>
                          <a:pt x="26983" y="452794"/>
                          <a:pt x="36659" y="385061"/>
                          <a:pt x="31821" y="297975"/>
                        </a:cubicBezTo>
                        <a:cubicBezTo>
                          <a:pt x="26983" y="210889"/>
                          <a:pt x="2793" y="22204"/>
                          <a:pt x="2793" y="22204"/>
                        </a:cubicBezTo>
                        <a:cubicBezTo>
                          <a:pt x="-2045" y="-21339"/>
                          <a:pt x="374" y="7689"/>
                          <a:pt x="2793" y="36718"/>
                        </a:cubicBezTo>
                      </a:path>
                    </a:pathLst>
                  </a:custGeom>
                  <a:noFill/>
                  <a:ln w="127000">
                    <a:solidFill>
                      <a:schemeClr val="accent2">
                        <a:alpha val="6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Freeform 97">
                    <a:extLst>
                      <a:ext uri="{FF2B5EF4-FFF2-40B4-BE49-F238E27FC236}">
                        <a16:creationId xmlns:a16="http://schemas.microsoft.com/office/drawing/2014/main" id="{3229F4C7-BBF4-DE4E-82E6-E00734FB9940}"/>
                      </a:ext>
                    </a:extLst>
                  </p:cNvPr>
                  <p:cNvSpPr/>
                  <p:nvPr/>
                </p:nvSpPr>
                <p:spPr>
                  <a:xfrm>
                    <a:off x="6908800" y="1027391"/>
                    <a:ext cx="1219200" cy="2017486"/>
                  </a:xfrm>
                  <a:custGeom>
                    <a:avLst/>
                    <a:gdLst>
                      <a:gd name="connsiteX0" fmla="*/ 1219200 w 1219200"/>
                      <a:gd name="connsiteY0" fmla="*/ 2017486 h 2017486"/>
                      <a:gd name="connsiteX1" fmla="*/ 885371 w 1219200"/>
                      <a:gd name="connsiteY1" fmla="*/ 1698171 h 2017486"/>
                      <a:gd name="connsiteX2" fmla="*/ 667657 w 1219200"/>
                      <a:gd name="connsiteY2" fmla="*/ 1451428 h 2017486"/>
                      <a:gd name="connsiteX3" fmla="*/ 406400 w 1219200"/>
                      <a:gd name="connsiteY3" fmla="*/ 1030514 h 2017486"/>
                      <a:gd name="connsiteX4" fmla="*/ 188686 w 1219200"/>
                      <a:gd name="connsiteY4" fmla="*/ 595086 h 2017486"/>
                      <a:gd name="connsiteX5" fmla="*/ 72571 w 1219200"/>
                      <a:gd name="connsiteY5" fmla="*/ 217714 h 2017486"/>
                      <a:gd name="connsiteX6" fmla="*/ 0 w 1219200"/>
                      <a:gd name="connsiteY6" fmla="*/ 0 h 2017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19200" h="2017486">
                        <a:moveTo>
                          <a:pt x="1219200" y="2017486"/>
                        </a:moveTo>
                        <a:cubicBezTo>
                          <a:pt x="1098247" y="1905000"/>
                          <a:pt x="977295" y="1792514"/>
                          <a:pt x="885371" y="1698171"/>
                        </a:cubicBezTo>
                        <a:cubicBezTo>
                          <a:pt x="793447" y="1603828"/>
                          <a:pt x="747485" y="1562704"/>
                          <a:pt x="667657" y="1451428"/>
                        </a:cubicBezTo>
                        <a:cubicBezTo>
                          <a:pt x="587829" y="1340152"/>
                          <a:pt x="486228" y="1173238"/>
                          <a:pt x="406400" y="1030514"/>
                        </a:cubicBezTo>
                        <a:cubicBezTo>
                          <a:pt x="326572" y="887790"/>
                          <a:pt x="244324" y="730553"/>
                          <a:pt x="188686" y="595086"/>
                        </a:cubicBezTo>
                        <a:cubicBezTo>
                          <a:pt x="133048" y="459619"/>
                          <a:pt x="104019" y="316895"/>
                          <a:pt x="72571" y="217714"/>
                        </a:cubicBezTo>
                        <a:cubicBezTo>
                          <a:pt x="41123" y="118533"/>
                          <a:pt x="20561" y="59266"/>
                          <a:pt x="0" y="0"/>
                        </a:cubicBezTo>
                      </a:path>
                    </a:pathLst>
                  </a:custGeom>
                  <a:noFill/>
                  <a:ln w="127000">
                    <a:solidFill>
                      <a:srgbClr val="FF0000">
                        <a:alpha val="46000"/>
                      </a:srgb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C2AE7391-85B8-7C4B-B31A-8DCD0C5FB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68167" y="1272876"/>
                  <a:ext cx="107686" cy="1177658"/>
                </a:xfrm>
                <a:prstGeom prst="line">
                  <a:avLst/>
                </a:prstGeom>
                <a:ln w="127000">
                  <a:solidFill>
                    <a:srgbClr val="00B050">
                      <a:alpha val="58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9D826E7-34A2-0247-BCFC-797FF8F35029}"/>
                  </a:ext>
                </a:extLst>
              </p:cNvPr>
              <p:cNvSpPr/>
              <p:nvPr/>
            </p:nvSpPr>
            <p:spPr>
              <a:xfrm>
                <a:off x="3676207" y="2127560"/>
                <a:ext cx="1219200" cy="2017486"/>
              </a:xfrm>
              <a:custGeom>
                <a:avLst/>
                <a:gdLst>
                  <a:gd name="connsiteX0" fmla="*/ 1219200 w 1219200"/>
                  <a:gd name="connsiteY0" fmla="*/ 2017486 h 2017486"/>
                  <a:gd name="connsiteX1" fmla="*/ 885371 w 1219200"/>
                  <a:gd name="connsiteY1" fmla="*/ 1698171 h 2017486"/>
                  <a:gd name="connsiteX2" fmla="*/ 667657 w 1219200"/>
                  <a:gd name="connsiteY2" fmla="*/ 1451428 h 2017486"/>
                  <a:gd name="connsiteX3" fmla="*/ 406400 w 1219200"/>
                  <a:gd name="connsiteY3" fmla="*/ 1030514 h 2017486"/>
                  <a:gd name="connsiteX4" fmla="*/ 188686 w 1219200"/>
                  <a:gd name="connsiteY4" fmla="*/ 595086 h 2017486"/>
                  <a:gd name="connsiteX5" fmla="*/ 72571 w 1219200"/>
                  <a:gd name="connsiteY5" fmla="*/ 217714 h 2017486"/>
                  <a:gd name="connsiteX6" fmla="*/ 0 w 1219200"/>
                  <a:gd name="connsiteY6" fmla="*/ 0 h 2017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" h="2017486">
                    <a:moveTo>
                      <a:pt x="1219200" y="2017486"/>
                    </a:moveTo>
                    <a:cubicBezTo>
                      <a:pt x="1098247" y="1905000"/>
                      <a:pt x="977295" y="1792514"/>
                      <a:pt x="885371" y="1698171"/>
                    </a:cubicBezTo>
                    <a:cubicBezTo>
                      <a:pt x="793447" y="1603828"/>
                      <a:pt x="747485" y="1562704"/>
                      <a:pt x="667657" y="1451428"/>
                    </a:cubicBezTo>
                    <a:cubicBezTo>
                      <a:pt x="587829" y="1340152"/>
                      <a:pt x="486228" y="1173238"/>
                      <a:pt x="406400" y="1030514"/>
                    </a:cubicBezTo>
                    <a:cubicBezTo>
                      <a:pt x="326572" y="887790"/>
                      <a:pt x="244324" y="730553"/>
                      <a:pt x="188686" y="595086"/>
                    </a:cubicBezTo>
                    <a:cubicBezTo>
                      <a:pt x="133048" y="459619"/>
                      <a:pt x="104019" y="316895"/>
                      <a:pt x="72571" y="217714"/>
                    </a:cubicBezTo>
                    <a:cubicBezTo>
                      <a:pt x="41123" y="118533"/>
                      <a:pt x="20561" y="59266"/>
                      <a:pt x="0" y="0"/>
                    </a:cubicBezTo>
                  </a:path>
                </a:pathLst>
              </a:custGeom>
              <a:noFill/>
              <a:ln w="127000">
                <a:solidFill>
                  <a:schemeClr val="accent1">
                    <a:alpha val="4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2147D5E-70A6-754E-AE63-48E9E1A6C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70642" y="1054281"/>
              <a:ext cx="1781761" cy="560419"/>
            </a:xfrm>
            <a:prstGeom prst="line">
              <a:avLst/>
            </a:prstGeom>
            <a:ln w="127000">
              <a:solidFill>
                <a:schemeClr val="tx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E26D3487-536B-7040-9786-2A598DB17FBE}"/>
              </a:ext>
            </a:extLst>
          </p:cNvPr>
          <p:cNvSpPr txBox="1"/>
          <p:nvPr/>
        </p:nvSpPr>
        <p:spPr>
          <a:xfrm>
            <a:off x="5645593" y="723332"/>
            <a:ext cx="6223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process at left corresponds to which curve?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</a:rPr>
              <a:t>Red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rgbClr val="0070C0"/>
                </a:solidFill>
              </a:rPr>
              <a:t>Blue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chemeClr val="accent2"/>
                </a:solidFill>
              </a:rPr>
              <a:t>Orange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rgbClr val="00B050"/>
                </a:solidFill>
              </a:rPr>
              <a:t>Green</a:t>
            </a:r>
          </a:p>
        </p:txBody>
      </p:sp>
      <p:sp>
        <p:nvSpPr>
          <p:cNvPr id="39" name="Can 38">
            <a:extLst>
              <a:ext uri="{FF2B5EF4-FFF2-40B4-BE49-F238E27FC236}">
                <a16:creationId xmlns:a16="http://schemas.microsoft.com/office/drawing/2014/main" id="{92C04947-E39E-444D-9641-F6ADF3471D45}"/>
              </a:ext>
            </a:extLst>
          </p:cNvPr>
          <p:cNvSpPr/>
          <p:nvPr/>
        </p:nvSpPr>
        <p:spPr>
          <a:xfrm>
            <a:off x="2408408" y="2836443"/>
            <a:ext cx="716515" cy="404892"/>
          </a:xfrm>
          <a:prstGeom prst="can">
            <a:avLst>
              <a:gd name="adj" fmla="val 38571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FEE23A-C547-204F-872F-1C6183954D8A}"/>
              </a:ext>
            </a:extLst>
          </p:cNvPr>
          <p:cNvCxnSpPr/>
          <p:nvPr/>
        </p:nvCxnSpPr>
        <p:spPr>
          <a:xfrm>
            <a:off x="1431768" y="3762732"/>
            <a:ext cx="2594800" cy="0"/>
          </a:xfrm>
          <a:prstGeom prst="straightConnector1">
            <a:avLst/>
          </a:prstGeom>
          <a:ln w="635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EF9094-522F-0CE3-AE6F-35CF31BFF85A}"/>
              </a:ext>
            </a:extLst>
          </p:cNvPr>
          <p:cNvCxnSpPr>
            <a:cxnSpLocks/>
          </p:cNvCxnSpPr>
          <p:nvPr/>
        </p:nvCxnSpPr>
        <p:spPr>
          <a:xfrm flipH="1" flipV="1">
            <a:off x="9368340" y="4540057"/>
            <a:ext cx="610050" cy="778883"/>
          </a:xfrm>
          <a:prstGeom prst="line">
            <a:avLst/>
          </a:prstGeom>
          <a:ln w="127000">
            <a:solidFill>
              <a:srgbClr val="00B050">
                <a:alpha val="5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8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9 – The Clapeyron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/>
              <p:nvPr/>
            </p:nvSpPr>
            <p:spPr>
              <a:xfrm>
                <a:off x="323446" y="1354182"/>
                <a:ext cx="5287107" cy="3441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The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Clapeyron Equation</a:t>
                </a:r>
                <a:r>
                  <a:rPr lang="en-US" sz="2400" dirty="0">
                    <a:ea typeface="Cambria Math" panose="02040503050406030204" pitchFamily="18" charset="0"/>
                  </a:rPr>
                  <a:t> gives the </a:t>
                </a:r>
                <a:r>
                  <a:rPr lang="en-US" sz="2400" b="1" dirty="0">
                    <a:ea typeface="Cambria Math" panose="02040503050406030204" pitchFamily="18" charset="0"/>
                  </a:rPr>
                  <a:t>slope</a:t>
                </a:r>
                <a:r>
                  <a:rPr lang="en-US" sz="2400" dirty="0">
                    <a:ea typeface="Cambria Math" panose="02040503050406030204" pitchFamily="18" charset="0"/>
                  </a:rPr>
                  <a:t> of the phase boundary lines: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𝑡𝑟𝑠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where </a:t>
                </a:r>
                <a:r>
                  <a:rPr lang="en-US" sz="2400" dirty="0" err="1"/>
                  <a:t>trs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vap</a:t>
                </a:r>
                <a:r>
                  <a:rPr lang="en-US" sz="2400" dirty="0"/>
                  <a:t>, or sub. For example, see the slope of the the liquid/vapor phase  boundary shown at right.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6" y="1354182"/>
                <a:ext cx="5287107" cy="3441327"/>
              </a:xfrm>
              <a:prstGeom prst="rect">
                <a:avLst/>
              </a:prstGeom>
              <a:blipFill>
                <a:blip r:embed="rId2"/>
                <a:stretch>
                  <a:fillRect l="-1918" t="-1471" r="-2638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C61AB64-6751-2BA5-BFD2-89ABC17B21B1}"/>
                  </a:ext>
                </a:extLst>
              </p:cNvPr>
              <p:cNvSpPr/>
              <p:nvPr/>
            </p:nvSpPr>
            <p:spPr>
              <a:xfrm>
                <a:off x="8411047" y="2585877"/>
                <a:ext cx="875496" cy="6960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𝒗𝒂𝒑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𝒗𝒂𝒑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C61AB64-6751-2BA5-BFD2-89ABC17B2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047" y="2585877"/>
                <a:ext cx="875496" cy="696088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1938AE-2256-ECEF-0C03-8CFAAED47CD4}"/>
              </a:ext>
            </a:extLst>
          </p:cNvPr>
          <p:cNvCxnSpPr>
            <a:cxnSpLocks/>
          </p:cNvCxnSpPr>
          <p:nvPr/>
        </p:nvCxnSpPr>
        <p:spPr>
          <a:xfrm flipH="1">
            <a:off x="8848795" y="2585877"/>
            <a:ext cx="677619" cy="977938"/>
          </a:xfrm>
          <a:prstGeom prst="line">
            <a:avLst/>
          </a:prstGeom>
          <a:ln w="635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75E93464-7C09-F65A-AC25-97D996BB61A1}"/>
              </a:ext>
            </a:extLst>
          </p:cNvPr>
          <p:cNvSpPr/>
          <p:nvPr/>
        </p:nvSpPr>
        <p:spPr>
          <a:xfrm>
            <a:off x="8852790" y="2993241"/>
            <a:ext cx="433753" cy="443051"/>
          </a:xfrm>
          <a:prstGeom prst="arc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Image result for phase diagrams">
            <a:extLst>
              <a:ext uri="{FF2B5EF4-FFF2-40B4-BE49-F238E27FC236}">
                <a16:creationId xmlns:a16="http://schemas.microsoft.com/office/drawing/2014/main" id="{9AB3B146-302C-8BA4-6AC1-D2C0C79BAB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3" b="5795"/>
          <a:stretch/>
        </p:blipFill>
        <p:spPr bwMode="auto">
          <a:xfrm>
            <a:off x="6353071" y="1697632"/>
            <a:ext cx="3507902" cy="273976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B305403-AE54-406A-D575-50BCFCE92FAD}"/>
              </a:ext>
            </a:extLst>
          </p:cNvPr>
          <p:cNvGrpSpPr/>
          <p:nvPr/>
        </p:nvGrpSpPr>
        <p:grpSpPr>
          <a:xfrm>
            <a:off x="8478482" y="2351715"/>
            <a:ext cx="1180089" cy="1132877"/>
            <a:chOff x="8478482" y="2351715"/>
            <a:chExt cx="1180089" cy="113287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DE861C-65C2-56D0-206B-D590DEF04526}"/>
                </a:ext>
              </a:extLst>
            </p:cNvPr>
            <p:cNvGrpSpPr/>
            <p:nvPr/>
          </p:nvGrpSpPr>
          <p:grpSpPr>
            <a:xfrm>
              <a:off x="8478482" y="2351715"/>
              <a:ext cx="1004206" cy="906593"/>
              <a:chOff x="7880589" y="2698136"/>
              <a:chExt cx="1004206" cy="9065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530AC56-9DB7-BB71-5B61-23EB7584598C}"/>
                      </a:ext>
                    </a:extLst>
                  </p:cNvPr>
                  <p:cNvSpPr/>
                  <p:nvPr/>
                </p:nvSpPr>
                <p:spPr>
                  <a:xfrm>
                    <a:off x="7880589" y="2698136"/>
                    <a:ext cx="875496" cy="69608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530AC56-9DB7-BB71-5B61-23EB758459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80589" y="2698136"/>
                    <a:ext cx="875496" cy="6960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A873DF6-C035-24E7-2686-37828330A3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3672" y="2909732"/>
                <a:ext cx="361123" cy="69499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5F1C5473-77B0-391F-8172-0F208B6F1F45}"/>
                </a:ext>
              </a:extLst>
            </p:cNvPr>
            <p:cNvSpPr/>
            <p:nvPr/>
          </p:nvSpPr>
          <p:spPr>
            <a:xfrm>
              <a:off x="8584558" y="2788504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rgbClr val="00B05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239DE82-59EA-8E19-7A2B-288C008190D5}"/>
              </a:ext>
            </a:extLst>
          </p:cNvPr>
          <p:cNvGrpSpPr/>
          <p:nvPr/>
        </p:nvGrpSpPr>
        <p:grpSpPr>
          <a:xfrm>
            <a:off x="6852427" y="1697632"/>
            <a:ext cx="1281744" cy="1077289"/>
            <a:chOff x="6852427" y="1697632"/>
            <a:chExt cx="1281744" cy="107728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DB2519B-DE0F-26C7-959B-5F8F34190CBA}"/>
                </a:ext>
              </a:extLst>
            </p:cNvPr>
            <p:cNvGrpSpPr/>
            <p:nvPr/>
          </p:nvGrpSpPr>
          <p:grpSpPr>
            <a:xfrm>
              <a:off x="6852427" y="1697632"/>
              <a:ext cx="977123" cy="865679"/>
              <a:chOff x="7996701" y="2698136"/>
              <a:chExt cx="977123" cy="8656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FA532A51-E5D3-5540-C1A0-1F1B6D940794}"/>
                      </a:ext>
                    </a:extLst>
                  </p:cNvPr>
                  <p:cNvSpPr/>
                  <p:nvPr/>
                </p:nvSpPr>
                <p:spPr>
                  <a:xfrm>
                    <a:off x="7996701" y="2698136"/>
                    <a:ext cx="875496" cy="69608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FA532A51-E5D3-5540-C1A0-1F1B6D9407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6701" y="2698136"/>
                    <a:ext cx="875496" cy="6960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88C65E9-FAB6-5C38-AF39-DBD36274C7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8795" y="2795014"/>
                <a:ext cx="125029" cy="768801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5AAADBAA-F689-94FE-6761-65040EDFB6A0}"/>
                </a:ext>
              </a:extLst>
            </p:cNvPr>
            <p:cNvSpPr/>
            <p:nvPr/>
          </p:nvSpPr>
          <p:spPr>
            <a:xfrm>
              <a:off x="7060158" y="2078833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chemeClr val="accent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BCCBD3-C36E-73D7-539C-39E96CFA3001}"/>
              </a:ext>
            </a:extLst>
          </p:cNvPr>
          <p:cNvGrpSpPr/>
          <p:nvPr/>
        </p:nvGrpSpPr>
        <p:grpSpPr>
          <a:xfrm>
            <a:off x="6144469" y="3520437"/>
            <a:ext cx="1105830" cy="1391681"/>
            <a:chOff x="6144469" y="3520437"/>
            <a:chExt cx="1105830" cy="139168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33BD60A-26EB-887E-1421-0D9A9E94EBDA}"/>
                </a:ext>
              </a:extLst>
            </p:cNvPr>
            <p:cNvGrpSpPr/>
            <p:nvPr/>
          </p:nvGrpSpPr>
          <p:grpSpPr>
            <a:xfrm>
              <a:off x="6374803" y="3520437"/>
              <a:ext cx="875496" cy="890222"/>
              <a:chOff x="7976520" y="2367009"/>
              <a:chExt cx="875496" cy="8902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8C051583-706B-CD0B-7DE7-7AD42A2E322B}"/>
                      </a:ext>
                    </a:extLst>
                  </p:cNvPr>
                  <p:cNvSpPr/>
                  <p:nvPr/>
                </p:nvSpPr>
                <p:spPr>
                  <a:xfrm>
                    <a:off x="7976520" y="2367009"/>
                    <a:ext cx="875496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b="1" i="1" dirty="0">
                      <a:solidFill>
                        <a:schemeClr val="accent2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8C051583-706B-CD0B-7DE7-7AD42A2E3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6520" y="2367009"/>
                    <a:ext cx="875496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70EDC0A-77B0-16BF-40EB-724341903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60858" y="3033740"/>
                <a:ext cx="569426" cy="223491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A0D78E14-E907-4C59-3737-E547F07E9A13}"/>
                </a:ext>
              </a:extLst>
            </p:cNvPr>
            <p:cNvSpPr/>
            <p:nvPr/>
          </p:nvSpPr>
          <p:spPr>
            <a:xfrm rot="2713949">
              <a:off x="5955506" y="4027068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F997B9-81B5-0D66-3015-92FD94B41125}"/>
                  </a:ext>
                </a:extLst>
              </p:cNvPr>
              <p:cNvSpPr txBox="1"/>
              <p:nvPr/>
            </p:nvSpPr>
            <p:spPr>
              <a:xfrm>
                <a:off x="9121565" y="4594860"/>
                <a:ext cx="6510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F997B9-81B5-0D66-3015-92FD94B41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565" y="4594860"/>
                <a:ext cx="651085" cy="461665"/>
              </a:xfrm>
              <a:prstGeom prst="rect">
                <a:avLst/>
              </a:prstGeom>
              <a:blipFill>
                <a:blip r:embed="rId8"/>
                <a:stretch>
                  <a:fillRect l="-1923" r="-11538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27A2C8-24B9-BC19-D8A0-237F5499B31E}"/>
                  </a:ext>
                </a:extLst>
              </p:cNvPr>
              <p:cNvSpPr txBox="1"/>
              <p:nvPr/>
            </p:nvSpPr>
            <p:spPr>
              <a:xfrm>
                <a:off x="9860973" y="4594860"/>
                <a:ext cx="6510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27A2C8-24B9-BC19-D8A0-237F5499B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973" y="4594860"/>
                <a:ext cx="651085" cy="461665"/>
              </a:xfrm>
              <a:prstGeom prst="rect">
                <a:avLst/>
              </a:prstGeom>
              <a:blipFill>
                <a:blip r:embed="rId9"/>
                <a:stretch>
                  <a:fillRect l="-1923" r="-1923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58D32E-BB7A-F59F-86A6-18A02D4940BB}"/>
                  </a:ext>
                </a:extLst>
              </p:cNvPr>
              <p:cNvSpPr txBox="1"/>
              <p:nvPr/>
            </p:nvSpPr>
            <p:spPr>
              <a:xfrm>
                <a:off x="7178465" y="4594860"/>
                <a:ext cx="6510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58D32E-BB7A-F59F-86A6-18A02D494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465" y="4594860"/>
                <a:ext cx="651085" cy="461665"/>
              </a:xfrm>
              <a:prstGeom prst="rect">
                <a:avLst/>
              </a:prstGeom>
              <a:blipFill>
                <a:blip r:embed="rId8"/>
                <a:stretch>
                  <a:fillRect l="-1923" r="-11538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36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5" y="717394"/>
            <a:ext cx="4272107" cy="4812665"/>
            <a:chOff x="523125" y="717394"/>
            <a:chExt cx="4272107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5" y="828967"/>
              <a:ext cx="4272107" cy="4701092"/>
              <a:chOff x="1376696" y="1157097"/>
              <a:chExt cx="4272107" cy="470109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6" y="1157097"/>
                <a:ext cx="4209912" cy="4701092"/>
                <a:chOff x="4270170" y="240930"/>
                <a:chExt cx="2836556" cy="2988982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70" y="240930"/>
                  <a:ext cx="2836556" cy="2988982"/>
                  <a:chOff x="8122016" y="738525"/>
                  <a:chExt cx="3254354" cy="3372641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254354" cy="3372641"/>
                    <a:chOff x="223734" y="1499666"/>
                    <a:chExt cx="2769884" cy="3352100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2" r="9075" b="5795"/>
                    <a:stretch/>
                  </p:blipFill>
                  <p:spPr bwMode="auto">
                    <a:xfrm>
                      <a:off x="406438" y="1828307"/>
                      <a:ext cx="2587180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36DFADF5-BE49-FB4F-AD0D-F64D01A73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598EC8-01A4-D546-9F5E-EA1A4FB9C1D1}"/>
              </a:ext>
            </a:extLst>
          </p:cNvPr>
          <p:cNvSpPr txBox="1"/>
          <p:nvPr/>
        </p:nvSpPr>
        <p:spPr>
          <a:xfrm>
            <a:off x="7003733" y="1331785"/>
            <a:ext cx="45177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Clausius-Clapeyron</a:t>
            </a:r>
          </a:p>
          <a:p>
            <a:r>
              <a:rPr lang="en-US" sz="2400" dirty="0" err="1"/>
              <a:t>Raoult</a:t>
            </a:r>
            <a:endParaRPr lang="en-US" sz="2400" dirty="0"/>
          </a:p>
          <a:p>
            <a:r>
              <a:rPr lang="en-US" sz="2400" dirty="0"/>
              <a:t>Thomson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7030A0"/>
                </a:solidFill>
              </a:rPr>
              <a:t>__________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50"/>
                </a:solidFill>
              </a:rPr>
              <a:t>__________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F0"/>
                </a:solidFill>
              </a:rPr>
              <a:t>__________</a:t>
            </a:r>
          </a:p>
          <a:p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C9C290-AC56-BD4D-86FD-B9C23E802222}"/>
              </a:ext>
            </a:extLst>
          </p:cNvPr>
          <p:cNvCxnSpPr>
            <a:cxnSpLocks/>
          </p:cNvCxnSpPr>
          <p:nvPr/>
        </p:nvCxnSpPr>
        <p:spPr>
          <a:xfrm>
            <a:off x="1879137" y="1380624"/>
            <a:ext cx="312953" cy="2829911"/>
          </a:xfrm>
          <a:prstGeom prst="line">
            <a:avLst/>
          </a:prstGeom>
          <a:ln w="1270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414F2-1723-CC4D-AE95-C9FA2A550C4E}"/>
              </a:ext>
            </a:extLst>
          </p:cNvPr>
          <p:cNvSpPr txBox="1"/>
          <p:nvPr/>
        </p:nvSpPr>
        <p:spPr>
          <a:xfrm>
            <a:off x="1915488" y="1449577"/>
            <a:ext cx="163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B (line)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9F75F0-8AA8-8D48-9F1E-C43A9C6EECD9}"/>
              </a:ext>
            </a:extLst>
          </p:cNvPr>
          <p:cNvSpPr txBox="1"/>
          <p:nvPr/>
        </p:nvSpPr>
        <p:spPr>
          <a:xfrm>
            <a:off x="3383178" y="2409440"/>
            <a:ext cx="1818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 (line)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8051F-4BC7-CB46-ADD3-26C6642BF2D0}"/>
              </a:ext>
            </a:extLst>
          </p:cNvPr>
          <p:cNvSpPr txBox="1"/>
          <p:nvPr/>
        </p:nvSpPr>
        <p:spPr>
          <a:xfrm>
            <a:off x="4616323" y="2886841"/>
            <a:ext cx="159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 (line)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AC838-D922-7EC4-3FE6-73700C2A403C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Phase diagrams</a:t>
            </a:r>
          </a:p>
        </p:txBody>
      </p:sp>
    </p:spTree>
    <p:extLst>
      <p:ext uri="{BB962C8B-B14F-4D97-AF65-F5344CB8AC3E}">
        <p14:creationId xmlns:p14="http://schemas.microsoft.com/office/powerpoint/2010/main" val="243318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5" y="717394"/>
            <a:ext cx="4272107" cy="4812665"/>
            <a:chOff x="523125" y="717394"/>
            <a:chExt cx="4272107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5" y="828967"/>
              <a:ext cx="4272107" cy="4701092"/>
              <a:chOff x="1376696" y="1157097"/>
              <a:chExt cx="4272107" cy="470109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6" y="1157097"/>
                <a:ext cx="4209912" cy="4701092"/>
                <a:chOff x="4270170" y="240930"/>
                <a:chExt cx="2836556" cy="2988982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70" y="240930"/>
                  <a:ext cx="2836556" cy="2988982"/>
                  <a:chOff x="8122016" y="738525"/>
                  <a:chExt cx="3254354" cy="3372641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254354" cy="3372641"/>
                    <a:chOff x="223734" y="1499666"/>
                    <a:chExt cx="2769884" cy="3352100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2" r="9075" b="5795"/>
                    <a:stretch/>
                  </p:blipFill>
                  <p:spPr bwMode="auto">
                    <a:xfrm>
                      <a:off x="406438" y="1828307"/>
                      <a:ext cx="2587180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36DFADF5-BE49-FB4F-AD0D-F64D01A73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598EC8-01A4-D546-9F5E-EA1A4FB9C1D1}"/>
              </a:ext>
            </a:extLst>
          </p:cNvPr>
          <p:cNvSpPr txBox="1"/>
          <p:nvPr/>
        </p:nvSpPr>
        <p:spPr>
          <a:xfrm>
            <a:off x="7003733" y="1331785"/>
            <a:ext cx="45177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Clausius-Clapeyron</a:t>
            </a:r>
          </a:p>
          <a:p>
            <a:r>
              <a:rPr lang="en-US" sz="2400" dirty="0" err="1"/>
              <a:t>Raoult</a:t>
            </a:r>
            <a:endParaRPr lang="en-US" sz="2400" dirty="0"/>
          </a:p>
          <a:p>
            <a:r>
              <a:rPr lang="en-US" sz="2400" dirty="0"/>
              <a:t>Thomson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7030A0"/>
                </a:solidFill>
              </a:rPr>
              <a:t>Thomson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50"/>
                </a:solidFill>
              </a:rPr>
              <a:t>__________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F0"/>
                </a:solidFill>
              </a:rPr>
              <a:t>__________</a:t>
            </a:r>
          </a:p>
          <a:p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C9C290-AC56-BD4D-86FD-B9C23E802222}"/>
              </a:ext>
            </a:extLst>
          </p:cNvPr>
          <p:cNvCxnSpPr>
            <a:cxnSpLocks/>
          </p:cNvCxnSpPr>
          <p:nvPr/>
        </p:nvCxnSpPr>
        <p:spPr>
          <a:xfrm>
            <a:off x="1879137" y="1380624"/>
            <a:ext cx="312953" cy="2829911"/>
          </a:xfrm>
          <a:prstGeom prst="line">
            <a:avLst/>
          </a:prstGeom>
          <a:ln w="1270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414F2-1723-CC4D-AE95-C9FA2A550C4E}"/>
              </a:ext>
            </a:extLst>
          </p:cNvPr>
          <p:cNvSpPr txBox="1"/>
          <p:nvPr/>
        </p:nvSpPr>
        <p:spPr>
          <a:xfrm>
            <a:off x="1915488" y="1449577"/>
            <a:ext cx="163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B (line)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9F75F0-8AA8-8D48-9F1E-C43A9C6EECD9}"/>
              </a:ext>
            </a:extLst>
          </p:cNvPr>
          <p:cNvSpPr txBox="1"/>
          <p:nvPr/>
        </p:nvSpPr>
        <p:spPr>
          <a:xfrm>
            <a:off x="3383178" y="2409440"/>
            <a:ext cx="1818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 (line)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8051F-4BC7-CB46-ADD3-26C6642BF2D0}"/>
              </a:ext>
            </a:extLst>
          </p:cNvPr>
          <p:cNvSpPr txBox="1"/>
          <p:nvPr/>
        </p:nvSpPr>
        <p:spPr>
          <a:xfrm>
            <a:off x="4616323" y="2886841"/>
            <a:ext cx="159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 (line)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AC838-D922-7EC4-3FE6-73700C2A403C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Phase diagrams</a:t>
            </a:r>
          </a:p>
        </p:txBody>
      </p:sp>
    </p:spTree>
    <p:extLst>
      <p:ext uri="{BB962C8B-B14F-4D97-AF65-F5344CB8AC3E}">
        <p14:creationId xmlns:p14="http://schemas.microsoft.com/office/powerpoint/2010/main" val="221558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5" y="717394"/>
            <a:ext cx="4272107" cy="4812665"/>
            <a:chOff x="523125" y="717394"/>
            <a:chExt cx="4272107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5" y="828967"/>
              <a:ext cx="4272107" cy="4701092"/>
              <a:chOff x="1376696" y="1157097"/>
              <a:chExt cx="4272107" cy="470109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6" y="1157097"/>
                <a:ext cx="4209912" cy="4701092"/>
                <a:chOff x="4270170" y="240930"/>
                <a:chExt cx="2836556" cy="2988982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70" y="240930"/>
                  <a:ext cx="2836556" cy="2988982"/>
                  <a:chOff x="8122016" y="738525"/>
                  <a:chExt cx="3254354" cy="3372641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254354" cy="3372641"/>
                    <a:chOff x="223734" y="1499666"/>
                    <a:chExt cx="2769884" cy="3352100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2" r="9075" b="5795"/>
                    <a:stretch/>
                  </p:blipFill>
                  <p:spPr bwMode="auto">
                    <a:xfrm>
                      <a:off x="406438" y="1828307"/>
                      <a:ext cx="2587180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36DFADF5-BE49-FB4F-AD0D-F64D01A73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598EC8-01A4-D546-9F5E-EA1A4FB9C1D1}"/>
              </a:ext>
            </a:extLst>
          </p:cNvPr>
          <p:cNvSpPr txBox="1"/>
          <p:nvPr/>
        </p:nvSpPr>
        <p:spPr>
          <a:xfrm>
            <a:off x="7003733" y="1331785"/>
            <a:ext cx="45177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Clausius-Clapeyron</a:t>
            </a:r>
          </a:p>
          <a:p>
            <a:r>
              <a:rPr lang="en-US" sz="2400" dirty="0" err="1"/>
              <a:t>Raoult</a:t>
            </a:r>
            <a:endParaRPr lang="en-US" sz="2400" dirty="0"/>
          </a:p>
          <a:p>
            <a:r>
              <a:rPr lang="en-US" sz="2400" dirty="0"/>
              <a:t>Thomson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7030A0"/>
                </a:solidFill>
              </a:rPr>
              <a:t>Thomson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50"/>
                </a:solidFill>
              </a:rPr>
              <a:t>Clausius-Clapeyron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F0"/>
                </a:solidFill>
              </a:rPr>
              <a:t>__________</a:t>
            </a:r>
          </a:p>
          <a:p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C9C290-AC56-BD4D-86FD-B9C23E802222}"/>
              </a:ext>
            </a:extLst>
          </p:cNvPr>
          <p:cNvCxnSpPr>
            <a:cxnSpLocks/>
          </p:cNvCxnSpPr>
          <p:nvPr/>
        </p:nvCxnSpPr>
        <p:spPr>
          <a:xfrm>
            <a:off x="1879137" y="1380624"/>
            <a:ext cx="312953" cy="2829911"/>
          </a:xfrm>
          <a:prstGeom prst="line">
            <a:avLst/>
          </a:prstGeom>
          <a:ln w="1270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414F2-1723-CC4D-AE95-C9FA2A550C4E}"/>
              </a:ext>
            </a:extLst>
          </p:cNvPr>
          <p:cNvSpPr txBox="1"/>
          <p:nvPr/>
        </p:nvSpPr>
        <p:spPr>
          <a:xfrm>
            <a:off x="1915488" y="1449577"/>
            <a:ext cx="163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B (line)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9F75F0-8AA8-8D48-9F1E-C43A9C6EECD9}"/>
              </a:ext>
            </a:extLst>
          </p:cNvPr>
          <p:cNvSpPr txBox="1"/>
          <p:nvPr/>
        </p:nvSpPr>
        <p:spPr>
          <a:xfrm>
            <a:off x="3383178" y="2409440"/>
            <a:ext cx="1818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 (line)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8051F-4BC7-CB46-ADD3-26C6642BF2D0}"/>
              </a:ext>
            </a:extLst>
          </p:cNvPr>
          <p:cNvSpPr txBox="1"/>
          <p:nvPr/>
        </p:nvSpPr>
        <p:spPr>
          <a:xfrm>
            <a:off x="4616323" y="2886841"/>
            <a:ext cx="159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 (line)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AC838-D922-7EC4-3FE6-73700C2A403C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Phase diagrams</a:t>
            </a:r>
          </a:p>
        </p:txBody>
      </p:sp>
    </p:spTree>
    <p:extLst>
      <p:ext uri="{BB962C8B-B14F-4D97-AF65-F5344CB8AC3E}">
        <p14:creationId xmlns:p14="http://schemas.microsoft.com/office/powerpoint/2010/main" val="73143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5" y="717394"/>
            <a:ext cx="4272107" cy="4812665"/>
            <a:chOff x="523125" y="717394"/>
            <a:chExt cx="4272107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5" y="828967"/>
              <a:ext cx="4272107" cy="4701092"/>
              <a:chOff x="1376696" y="1157097"/>
              <a:chExt cx="4272107" cy="470109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6" y="1157097"/>
                <a:ext cx="4209912" cy="4701092"/>
                <a:chOff x="4270170" y="240930"/>
                <a:chExt cx="2836556" cy="2988982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70" y="240930"/>
                  <a:ext cx="2836556" cy="2988982"/>
                  <a:chOff x="8122016" y="738525"/>
                  <a:chExt cx="3254354" cy="3372641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254354" cy="3372641"/>
                    <a:chOff x="223734" y="1499666"/>
                    <a:chExt cx="2769884" cy="3352100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2" r="9075" b="5795"/>
                    <a:stretch/>
                  </p:blipFill>
                  <p:spPr bwMode="auto">
                    <a:xfrm>
                      <a:off x="406438" y="1828307"/>
                      <a:ext cx="2587180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36DFADF5-BE49-FB4F-AD0D-F64D01A73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598EC8-01A4-D546-9F5E-EA1A4FB9C1D1}"/>
              </a:ext>
            </a:extLst>
          </p:cNvPr>
          <p:cNvSpPr txBox="1"/>
          <p:nvPr/>
        </p:nvSpPr>
        <p:spPr>
          <a:xfrm>
            <a:off x="7003733" y="1331785"/>
            <a:ext cx="45177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Clausius-Clapeyron</a:t>
            </a:r>
          </a:p>
          <a:p>
            <a:r>
              <a:rPr lang="en-US" sz="2400" dirty="0" err="1"/>
              <a:t>Raoult</a:t>
            </a:r>
            <a:endParaRPr lang="en-US" sz="2400" dirty="0"/>
          </a:p>
          <a:p>
            <a:r>
              <a:rPr lang="en-US" sz="2400" dirty="0"/>
              <a:t>Thomson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7030A0"/>
                </a:solidFill>
              </a:rPr>
              <a:t>Thomson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>
                <a:solidFill>
                  <a:srgbClr val="00B050"/>
                </a:solidFill>
              </a:rPr>
              <a:t>Clausius-Clapeyron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1" dirty="0" err="1">
                <a:solidFill>
                  <a:srgbClr val="00B0F0"/>
                </a:solidFill>
              </a:rPr>
              <a:t>Raoult</a:t>
            </a:r>
            <a:endParaRPr lang="en-US" sz="2400" b="1" dirty="0">
              <a:solidFill>
                <a:srgbClr val="00B0F0"/>
              </a:solidFill>
            </a:endParaRPr>
          </a:p>
          <a:p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C9C290-AC56-BD4D-86FD-B9C23E802222}"/>
              </a:ext>
            </a:extLst>
          </p:cNvPr>
          <p:cNvCxnSpPr>
            <a:cxnSpLocks/>
          </p:cNvCxnSpPr>
          <p:nvPr/>
        </p:nvCxnSpPr>
        <p:spPr>
          <a:xfrm>
            <a:off x="1879137" y="1380624"/>
            <a:ext cx="312953" cy="2829911"/>
          </a:xfrm>
          <a:prstGeom prst="line">
            <a:avLst/>
          </a:prstGeom>
          <a:ln w="1270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414F2-1723-CC4D-AE95-C9FA2A550C4E}"/>
              </a:ext>
            </a:extLst>
          </p:cNvPr>
          <p:cNvSpPr txBox="1"/>
          <p:nvPr/>
        </p:nvSpPr>
        <p:spPr>
          <a:xfrm>
            <a:off x="1915488" y="1449577"/>
            <a:ext cx="163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B (line)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9F75F0-8AA8-8D48-9F1E-C43A9C6EECD9}"/>
              </a:ext>
            </a:extLst>
          </p:cNvPr>
          <p:cNvSpPr txBox="1"/>
          <p:nvPr/>
        </p:nvSpPr>
        <p:spPr>
          <a:xfrm>
            <a:off x="3383178" y="2409440"/>
            <a:ext cx="1818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 (line)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8051F-4BC7-CB46-ADD3-26C6642BF2D0}"/>
              </a:ext>
            </a:extLst>
          </p:cNvPr>
          <p:cNvSpPr txBox="1"/>
          <p:nvPr/>
        </p:nvSpPr>
        <p:spPr>
          <a:xfrm>
            <a:off x="4616323" y="2886841"/>
            <a:ext cx="159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D (line)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AC838-D922-7EC4-3FE6-73700C2A403C}"/>
              </a:ext>
            </a:extLst>
          </p:cNvPr>
          <p:cNvSpPr txBox="1"/>
          <p:nvPr/>
        </p:nvSpPr>
        <p:spPr>
          <a:xfrm>
            <a:off x="0" y="-824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Phase diagrams</a:t>
            </a:r>
          </a:p>
        </p:txBody>
      </p:sp>
    </p:spTree>
    <p:extLst>
      <p:ext uri="{BB962C8B-B14F-4D97-AF65-F5344CB8AC3E}">
        <p14:creationId xmlns:p14="http://schemas.microsoft.com/office/powerpoint/2010/main" val="424334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3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The Thomson equation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/>
              <p:nvPr/>
            </p:nvSpPr>
            <p:spPr>
              <a:xfrm>
                <a:off x="482253" y="1154022"/>
                <a:ext cx="7655907" cy="4361963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Wrapping integrals around Clapeyron on the solid/liquid phase boundary,</a:t>
                </a:r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𝑑𝑃</m:t>
                          </m:r>
                        </m:e>
                      </m:nary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Considering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_______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________</m:t>
                    </m:r>
                  </m:oMath>
                </a14:m>
                <a:r>
                  <a:rPr lang="en-US" sz="2400" dirty="0"/>
                  <a:t> to be constant gave us Thomson: </a:t>
                </a:r>
              </a:p>
              <a:p>
                <a:endParaRPr lang="en-US" sz="2400" b="1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53" y="1154022"/>
                <a:ext cx="7655907" cy="4361963"/>
              </a:xfrm>
              <a:prstGeom prst="rect">
                <a:avLst/>
              </a:prstGeom>
              <a:blipFill>
                <a:blip r:embed="rId2"/>
                <a:stretch>
                  <a:fillRect l="-1157" t="-8986" b="-2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DB517109-574D-577C-F77F-ED0C8C680D1A}"/>
              </a:ext>
            </a:extLst>
          </p:cNvPr>
          <p:cNvGrpSpPr/>
          <p:nvPr/>
        </p:nvGrpSpPr>
        <p:grpSpPr>
          <a:xfrm>
            <a:off x="8442960" y="1154022"/>
            <a:ext cx="2776077" cy="3465966"/>
            <a:chOff x="523125" y="717394"/>
            <a:chExt cx="4209912" cy="48126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F4ED0B6-288D-595E-BCC0-CF944E175D37}"/>
                </a:ext>
              </a:extLst>
            </p:cNvPr>
            <p:cNvGrpSpPr/>
            <p:nvPr/>
          </p:nvGrpSpPr>
          <p:grpSpPr>
            <a:xfrm>
              <a:off x="523125" y="717394"/>
              <a:ext cx="4209912" cy="4812665"/>
              <a:chOff x="523125" y="717394"/>
              <a:chExt cx="4209912" cy="481266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ED537A0-3B66-2A4D-B8A8-EA3666389D35}"/>
                  </a:ext>
                </a:extLst>
              </p:cNvPr>
              <p:cNvGrpSpPr/>
              <p:nvPr/>
            </p:nvGrpSpPr>
            <p:grpSpPr>
              <a:xfrm>
                <a:off x="523125" y="828967"/>
                <a:ext cx="4209912" cy="4701092"/>
                <a:chOff x="223734" y="1499666"/>
                <a:chExt cx="2769884" cy="3352100"/>
              </a:xfrm>
            </p:grpSpPr>
            <p:pic>
              <p:nvPicPr>
                <p:cNvPr id="39" name="Picture 2" descr="Image result for phase diagrams">
                  <a:extLst>
                    <a:ext uri="{FF2B5EF4-FFF2-40B4-BE49-F238E27FC236}">
                      <a16:creationId xmlns:a16="http://schemas.microsoft.com/office/drawing/2014/main" id="{CC21D514-6710-2706-F6DE-54400E32C2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72" r="9075" b="5795"/>
                <a:stretch/>
              </p:blipFill>
              <p:spPr bwMode="auto">
                <a:xfrm>
                  <a:off x="406438" y="1828307"/>
                  <a:ext cx="2587180" cy="26324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0759D7F-2CB4-458D-D7A9-2497C419C72F}"/>
                    </a:ext>
                  </a:extLst>
                </p:cNvPr>
                <p:cNvSpPr/>
                <p:nvPr/>
              </p:nvSpPr>
              <p:spPr>
                <a:xfrm>
                  <a:off x="223734" y="1499666"/>
                  <a:ext cx="34336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P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71E1134A-FF15-E720-C506-F2B822413712}"/>
                    </a:ext>
                  </a:extLst>
                </p:cNvPr>
                <p:cNvSpPr/>
                <p:nvPr/>
              </p:nvSpPr>
              <p:spPr>
                <a:xfrm>
                  <a:off x="2347899" y="4390101"/>
                  <a:ext cx="335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T</a:t>
                  </a:r>
                </a:p>
              </p:txBody>
            </p:sp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41AA047-D8A5-6674-80CA-54E69E07F3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2480" r="8245" b="1865"/>
              <a:stretch/>
            </p:blipFill>
            <p:spPr>
              <a:xfrm rot="20613095">
                <a:off x="1728344" y="1279381"/>
                <a:ext cx="558091" cy="2835686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7CD5113-2C9A-66AC-500E-4BD4DA4879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67578" b="233"/>
              <a:stretch/>
            </p:blipFill>
            <p:spPr>
              <a:xfrm>
                <a:off x="2363350" y="717394"/>
                <a:ext cx="358234" cy="2843355"/>
              </a:xfrm>
              <a:prstGeom prst="rect">
                <a:avLst/>
              </a:prstGeom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DDA8EEE-7C5E-286E-6C68-C65CE2321D40}"/>
                  </a:ext>
                </a:extLst>
              </p:cNvPr>
              <p:cNvSpPr/>
              <p:nvPr/>
            </p:nvSpPr>
            <p:spPr>
              <a:xfrm>
                <a:off x="2121100" y="4187361"/>
                <a:ext cx="163517" cy="1582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377F330-D155-5772-1BC8-532CB3873E37}"/>
                  </a:ext>
                </a:extLst>
              </p:cNvPr>
              <p:cNvCxnSpPr/>
              <p:nvPr/>
            </p:nvCxnSpPr>
            <p:spPr>
              <a:xfrm>
                <a:off x="784060" y="4258638"/>
                <a:ext cx="33582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9573F7-0824-2FC9-DE4D-4EEAB87D8C31}"/>
                </a:ext>
              </a:extLst>
            </p:cNvPr>
            <p:cNvCxnSpPr>
              <a:cxnSpLocks/>
            </p:cNvCxnSpPr>
            <p:nvPr/>
          </p:nvCxnSpPr>
          <p:spPr>
            <a:xfrm>
              <a:off x="1879137" y="1380624"/>
              <a:ext cx="312953" cy="2829911"/>
            </a:xfrm>
            <a:prstGeom prst="line">
              <a:avLst/>
            </a:prstGeom>
            <a:ln w="1270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418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3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The Clausius-Clapeyron equation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/>
              <p:nvPr/>
            </p:nvSpPr>
            <p:spPr>
              <a:xfrm>
                <a:off x="482253" y="1154022"/>
                <a:ext cx="7655907" cy="4508029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Wrapping integrals around Clapeyron on the liquid/vapor phase boundary,</a:t>
                </a:r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𝑑𝑃</m:t>
                          </m:r>
                        </m:e>
                      </m:nary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Considering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_______</m:t>
                    </m:r>
                  </m:oMath>
                </a14:m>
                <a:r>
                  <a:rPr lang="en-US" sz="2400" dirty="0"/>
                  <a:t> to be constant, and treating the vapor as if it were ____ gave us Clausius-Clapeyron:</a:t>
                </a:r>
              </a:p>
              <a:p>
                <a:endParaRPr lang="en-US" sz="2400" b="1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𝑛𝑅</m:t>
                              </m:r>
                            </m:den>
                          </m:f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53" y="1154022"/>
                <a:ext cx="7655907" cy="4508029"/>
              </a:xfrm>
              <a:prstGeom prst="rect">
                <a:avLst/>
              </a:prstGeom>
              <a:blipFill>
                <a:blip r:embed="rId2"/>
                <a:stretch>
                  <a:fillRect l="-1157" t="-8683" r="-115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F4ED0B6-288D-595E-BCC0-CF944E175D37}"/>
              </a:ext>
            </a:extLst>
          </p:cNvPr>
          <p:cNvGrpSpPr/>
          <p:nvPr/>
        </p:nvGrpSpPr>
        <p:grpSpPr>
          <a:xfrm>
            <a:off x="8442960" y="1154022"/>
            <a:ext cx="2776077" cy="3465966"/>
            <a:chOff x="523125" y="717394"/>
            <a:chExt cx="4209912" cy="481266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D537A0-3B66-2A4D-B8A8-EA3666389D35}"/>
                </a:ext>
              </a:extLst>
            </p:cNvPr>
            <p:cNvGrpSpPr/>
            <p:nvPr/>
          </p:nvGrpSpPr>
          <p:grpSpPr>
            <a:xfrm>
              <a:off x="523125" y="828967"/>
              <a:ext cx="4209912" cy="4701092"/>
              <a:chOff x="223734" y="1499666"/>
              <a:chExt cx="2769884" cy="3352100"/>
            </a:xfrm>
          </p:grpSpPr>
          <p:pic>
            <p:nvPicPr>
              <p:cNvPr id="39" name="Picture 2" descr="Image result for phase diagrams">
                <a:extLst>
                  <a:ext uri="{FF2B5EF4-FFF2-40B4-BE49-F238E27FC236}">
                    <a16:creationId xmlns:a16="http://schemas.microsoft.com/office/drawing/2014/main" id="{CC21D514-6710-2706-F6DE-54400E32C2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2" r="9075" b="5795"/>
              <a:stretch/>
            </p:blipFill>
            <p:spPr bwMode="auto">
              <a:xfrm>
                <a:off x="406438" y="1828307"/>
                <a:ext cx="2587180" cy="2632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0759D7F-2CB4-458D-D7A9-2497C419C72F}"/>
                  </a:ext>
                </a:extLst>
              </p:cNvPr>
              <p:cNvSpPr/>
              <p:nvPr/>
            </p:nvSpPr>
            <p:spPr>
              <a:xfrm>
                <a:off x="223734" y="1499666"/>
                <a:ext cx="3433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P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1E1134A-FF15-E720-C506-F2B822413712}"/>
                  </a:ext>
                </a:extLst>
              </p:cNvPr>
              <p:cNvSpPr/>
              <p:nvPr/>
            </p:nvSpPr>
            <p:spPr>
              <a:xfrm>
                <a:off x="2347899" y="4390101"/>
                <a:ext cx="335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41AA047-D8A5-6674-80CA-54E69E07F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7CD5113-2C9A-66AC-500E-4BD4DA4879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DDA8EEE-7C5E-286E-6C68-C65CE2321D4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377F330-D155-5772-1BC8-532CB3873E37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D763125-FBE9-3DEB-DB03-CC800483BEE4}"/>
              </a:ext>
            </a:extLst>
          </p:cNvPr>
          <p:cNvGrpSpPr/>
          <p:nvPr/>
        </p:nvGrpSpPr>
        <p:grpSpPr>
          <a:xfrm>
            <a:off x="9550600" y="2458733"/>
            <a:ext cx="1590771" cy="1245608"/>
            <a:chOff x="2283999" y="2381593"/>
            <a:chExt cx="2449035" cy="1892965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329DE68-C5AA-DD00-1FAA-7F9C23D7D1E7}"/>
                </a:ext>
              </a:extLst>
            </p:cNvPr>
            <p:cNvSpPr/>
            <p:nvPr/>
          </p:nvSpPr>
          <p:spPr>
            <a:xfrm>
              <a:off x="2283999" y="2543413"/>
              <a:ext cx="2358831" cy="1731145"/>
            </a:xfrm>
            <a:custGeom>
              <a:avLst/>
              <a:gdLst>
                <a:gd name="connsiteX0" fmla="*/ 0 w 1823428"/>
                <a:gd name="connsiteY0" fmla="*/ 1241951 h 1241951"/>
                <a:gd name="connsiteX1" fmla="*/ 353961 w 1823428"/>
                <a:gd name="connsiteY1" fmla="*/ 1153461 h 1241951"/>
                <a:gd name="connsiteX2" fmla="*/ 693174 w 1823428"/>
                <a:gd name="connsiteY2" fmla="*/ 1064970 h 1241951"/>
                <a:gd name="connsiteX3" fmla="*/ 988142 w 1823428"/>
                <a:gd name="connsiteY3" fmla="*/ 917486 h 1241951"/>
                <a:gd name="connsiteX4" fmla="*/ 1283110 w 1823428"/>
                <a:gd name="connsiteY4" fmla="*/ 725757 h 1241951"/>
                <a:gd name="connsiteX5" fmla="*/ 1548581 w 1823428"/>
                <a:gd name="connsiteY5" fmla="*/ 460286 h 1241951"/>
                <a:gd name="connsiteX6" fmla="*/ 1799303 w 1823428"/>
                <a:gd name="connsiteY6" fmla="*/ 32583 h 1241951"/>
                <a:gd name="connsiteX7" fmla="*/ 1799303 w 1823428"/>
                <a:gd name="connsiteY7" fmla="*/ 62080 h 124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428" h="1241951">
                  <a:moveTo>
                    <a:pt x="0" y="1241951"/>
                  </a:moveTo>
                  <a:lnTo>
                    <a:pt x="353961" y="1153461"/>
                  </a:lnTo>
                  <a:cubicBezTo>
                    <a:pt x="469490" y="1123964"/>
                    <a:pt x="587477" y="1104299"/>
                    <a:pt x="693174" y="1064970"/>
                  </a:cubicBezTo>
                  <a:cubicBezTo>
                    <a:pt x="798871" y="1025641"/>
                    <a:pt x="889819" y="974021"/>
                    <a:pt x="988142" y="917486"/>
                  </a:cubicBezTo>
                  <a:cubicBezTo>
                    <a:pt x="1086465" y="860950"/>
                    <a:pt x="1189704" y="801957"/>
                    <a:pt x="1283110" y="725757"/>
                  </a:cubicBezTo>
                  <a:cubicBezTo>
                    <a:pt x="1376517" y="649557"/>
                    <a:pt x="1462549" y="575815"/>
                    <a:pt x="1548581" y="460286"/>
                  </a:cubicBezTo>
                  <a:cubicBezTo>
                    <a:pt x="1634613" y="344757"/>
                    <a:pt x="1757516" y="98951"/>
                    <a:pt x="1799303" y="32583"/>
                  </a:cubicBezTo>
                  <a:cubicBezTo>
                    <a:pt x="1841090" y="-33785"/>
                    <a:pt x="1820196" y="14147"/>
                    <a:pt x="1799303" y="62080"/>
                  </a:cubicBezTo>
                </a:path>
              </a:pathLst>
            </a:custGeom>
            <a:noFill/>
            <a:ln w="1016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8E1DBE1-3919-0DCE-F21E-A589ECB5F89A}"/>
                </a:ext>
              </a:extLst>
            </p:cNvPr>
            <p:cNvCxnSpPr>
              <a:cxnSpLocks/>
              <a:stCxn id="3" idx="5"/>
            </p:cNvCxnSpPr>
            <p:nvPr/>
          </p:nvCxnSpPr>
          <p:spPr>
            <a:xfrm flipV="1">
              <a:off x="4287283" y="2381593"/>
              <a:ext cx="445751" cy="803407"/>
            </a:xfrm>
            <a:prstGeom prst="straightConnector1">
              <a:avLst/>
            </a:prstGeom>
            <a:ln w="1016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854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9 – How Raoult’s Law relates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" y="2662"/>
                <a:ext cx="12141377" cy="461665"/>
              </a:xfrm>
              <a:prstGeom prst="rect">
                <a:avLst/>
              </a:prstGeom>
              <a:blipFill>
                <a:blip r:embed="rId2"/>
                <a:stretch>
                  <a:fillRect l="-836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/>
              <p:nvPr/>
            </p:nvSpPr>
            <p:spPr>
              <a:xfrm>
                <a:off x="784060" y="5809154"/>
                <a:ext cx="9891900" cy="630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the mole fraction of solvent A in the solution,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60" y="5809154"/>
                <a:ext cx="9891900" cy="630365"/>
              </a:xfrm>
              <a:prstGeom prst="rect">
                <a:avLst/>
              </a:prstGeom>
              <a:blipFill>
                <a:blip r:embed="rId3"/>
                <a:stretch>
                  <a:fillRect l="-897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27B2E3B6-58D5-944A-9D66-645714CA4414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223734" y="1499666"/>
                <a:chExt cx="3074185" cy="3352100"/>
              </a:xfrm>
            </p:grpSpPr>
            <p:pic>
              <p:nvPicPr>
                <p:cNvPr id="133" name="Picture 2" descr="Image result for phase diagrams">
                  <a:extLst>
                    <a:ext uri="{FF2B5EF4-FFF2-40B4-BE49-F238E27FC236}">
                      <a16:creationId xmlns:a16="http://schemas.microsoft.com/office/drawing/2014/main" id="{33F047FA-E354-3143-B016-CA8A24FC15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73" b="5795"/>
                <a:stretch/>
              </p:blipFill>
              <p:spPr bwMode="auto">
                <a:xfrm>
                  <a:off x="406438" y="1828307"/>
                  <a:ext cx="2891481" cy="26324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8441AD0-8078-A745-9FA6-7DD9B18DB8B9}"/>
                    </a:ext>
                  </a:extLst>
                </p:cNvPr>
                <p:cNvSpPr/>
                <p:nvPr/>
              </p:nvSpPr>
              <p:spPr>
                <a:xfrm>
                  <a:off x="223734" y="1499666"/>
                  <a:ext cx="34336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P</a:t>
                  </a: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36DFADF5-BE49-FB4F-AD0D-F64D01A736F2}"/>
                    </a:ext>
                  </a:extLst>
                </p:cNvPr>
                <p:cNvSpPr/>
                <p:nvPr/>
              </p:nvSpPr>
              <p:spPr>
                <a:xfrm>
                  <a:off x="2347899" y="4390101"/>
                  <a:ext cx="335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T</a:t>
                  </a:r>
                </a:p>
              </p:txBody>
            </p: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7ED191-3E63-114E-38CE-015B2EB91524}"/>
              </a:ext>
            </a:extLst>
          </p:cNvPr>
          <p:cNvGrpSpPr/>
          <p:nvPr/>
        </p:nvGrpSpPr>
        <p:grpSpPr>
          <a:xfrm>
            <a:off x="6696253" y="559807"/>
            <a:ext cx="4148647" cy="4699000"/>
            <a:chOff x="6696253" y="559807"/>
            <a:chExt cx="4148647" cy="4699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9DEC46-A9EC-DBAD-4F30-5EA8576E12D7}"/>
                </a:ext>
              </a:extLst>
            </p:cNvPr>
            <p:cNvSpPr txBox="1"/>
            <p:nvPr/>
          </p:nvSpPr>
          <p:spPr>
            <a:xfrm>
              <a:off x="6772057" y="2777870"/>
              <a:ext cx="3996852" cy="2405114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B5AA7B-20D8-90A8-B76D-6028778F5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1480" y="3099370"/>
              <a:ext cx="0" cy="272494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5590C-55C7-B770-17D0-AF1052B30A78}"/>
                </a:ext>
              </a:extLst>
            </p:cNvPr>
            <p:cNvSpPr txBox="1"/>
            <p:nvPr/>
          </p:nvSpPr>
          <p:spPr>
            <a:xfrm>
              <a:off x="10134383" y="3807238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BD8781-6FE1-B36D-94A6-9ABD6B254560}"/>
                </a:ext>
              </a:extLst>
            </p:cNvPr>
            <p:cNvSpPr txBox="1"/>
            <p:nvPr/>
          </p:nvSpPr>
          <p:spPr>
            <a:xfrm>
              <a:off x="8914669" y="327600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2FBEBD-618B-8A08-E2E2-63E3F19E2504}"/>
                </a:ext>
              </a:extLst>
            </p:cNvPr>
            <p:cNvGrpSpPr/>
            <p:nvPr/>
          </p:nvGrpSpPr>
          <p:grpSpPr>
            <a:xfrm>
              <a:off x="7455775" y="3166456"/>
              <a:ext cx="2986654" cy="1906393"/>
              <a:chOff x="1302280" y="3131991"/>
              <a:chExt cx="2986654" cy="190639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193D0-9BD7-41AF-D0E0-205B965DDFA7}"/>
                  </a:ext>
                </a:extLst>
              </p:cNvPr>
              <p:cNvSpPr txBox="1"/>
              <p:nvPr/>
            </p:nvSpPr>
            <p:spPr>
              <a:xfrm>
                <a:off x="3976092" y="3131991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E372DB-775E-E5E5-785F-2DA18528E0DC}"/>
                  </a:ext>
                </a:extLst>
              </p:cNvPr>
              <p:cNvSpPr txBox="1"/>
              <p:nvPr/>
            </p:nvSpPr>
            <p:spPr>
              <a:xfrm>
                <a:off x="1302280" y="3745143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6A12EE-49A4-97AB-417E-F869A5B329AC}"/>
                  </a:ext>
                </a:extLst>
              </p:cNvPr>
              <p:cNvSpPr txBox="1"/>
              <p:nvPr/>
            </p:nvSpPr>
            <p:spPr>
              <a:xfrm>
                <a:off x="3789028" y="4567816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161D0A-4B17-9482-ED4F-70DEF3486928}"/>
                  </a:ext>
                </a:extLst>
              </p:cNvPr>
              <p:cNvSpPr txBox="1"/>
              <p:nvPr/>
            </p:nvSpPr>
            <p:spPr>
              <a:xfrm>
                <a:off x="1524909" y="4552345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C0B5D5E-95E8-C256-E510-B0BF865F2532}"/>
                </a:ext>
              </a:extLst>
            </p:cNvPr>
            <p:cNvGrpSpPr/>
            <p:nvPr/>
          </p:nvGrpSpPr>
          <p:grpSpPr>
            <a:xfrm>
              <a:off x="6696253" y="559807"/>
              <a:ext cx="4148647" cy="4699000"/>
              <a:chOff x="6696253" y="559807"/>
              <a:chExt cx="4148647" cy="4699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D9AB999-44E1-99BF-A68A-C85A16A773B3}"/>
                  </a:ext>
                </a:extLst>
              </p:cNvPr>
              <p:cNvGrpSpPr/>
              <p:nvPr/>
            </p:nvGrpSpPr>
            <p:grpSpPr>
              <a:xfrm>
                <a:off x="6696253" y="559807"/>
                <a:ext cx="4148647" cy="4699000"/>
                <a:chOff x="6696253" y="1183752"/>
                <a:chExt cx="4148647" cy="4699000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424F6E2-9DC7-DCCA-C536-B16EFD471BCF}"/>
                    </a:ext>
                  </a:extLst>
                </p:cNvPr>
                <p:cNvGrpSpPr/>
                <p:nvPr/>
              </p:nvGrpSpPr>
              <p:grpSpPr>
                <a:xfrm>
                  <a:off x="6696253" y="1183752"/>
                  <a:ext cx="4148647" cy="4699000"/>
                  <a:chOff x="6696253" y="1193800"/>
                  <a:chExt cx="4148647" cy="469900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CF6EFA47-DEBE-BEC0-C938-2E18B532EAA6}"/>
                      </a:ext>
                    </a:extLst>
                  </p:cNvPr>
                  <p:cNvGrpSpPr/>
                  <p:nvPr/>
                </p:nvGrpSpPr>
                <p:grpSpPr>
                  <a:xfrm>
                    <a:off x="6696253" y="1193800"/>
                    <a:ext cx="4148647" cy="4699000"/>
                    <a:chOff x="3009900" y="1244600"/>
                    <a:chExt cx="5740400" cy="4610100"/>
                  </a:xfrm>
                </p:grpSpPr>
                <p:sp>
                  <p:nvSpPr>
                    <p:cNvPr id="20" name="Frame 19">
                      <a:extLst>
                        <a:ext uri="{FF2B5EF4-FFF2-40B4-BE49-F238E27FC236}">
                          <a16:creationId xmlns:a16="http://schemas.microsoft.com/office/drawing/2014/main" id="{71FFBD3F-F406-7C63-6BDE-BEA1EA01DF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9900" y="1244600"/>
                      <a:ext cx="5740400" cy="4610100"/>
                    </a:xfrm>
                    <a:prstGeom prst="frame">
                      <a:avLst>
                        <a:gd name="adj1" fmla="val 1205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C92DFE9D-6F4E-1D02-0B0B-836D9B6261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40200" y="3155950"/>
                      <a:ext cx="0" cy="7874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54995933-DAB7-8AD1-B753-8F779DCEDA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48627" y="2669232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58B3FD-E0E4-6011-3D1E-08B9DE013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01" y="3804506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B1856BD6-4D34-DA27-039B-D8D3979E35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3855" y="3353079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B</a:t>
                      </a:r>
                    </a:p>
                  </p:txBody>
                </p:sp>
                <p:cxnSp>
                  <p:nvCxnSpPr>
                    <p:cNvPr id="26" name="Straight Arrow Connector 25">
                      <a:extLst>
                        <a:ext uri="{FF2B5EF4-FFF2-40B4-BE49-F238E27FC236}">
                          <a16:creationId xmlns:a16="http://schemas.microsoft.com/office/drawing/2014/main" id="{D3E57CF8-C7D9-AB65-DF4F-B901EA0200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486937" y="3080606"/>
                      <a:ext cx="0" cy="7239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978CB537-BE5B-B26A-6D6B-7C9111F4A298}"/>
                      </a:ext>
                    </a:extLst>
                  </p:cNvPr>
                  <p:cNvSpPr/>
                  <p:nvPr/>
                </p:nvSpPr>
                <p:spPr>
                  <a:xfrm>
                    <a:off x="6823857" y="1458187"/>
                    <a:ext cx="707245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A(</a:t>
                    </a:r>
                    <a:r>
                      <a:rPr lang="en-US" sz="2400" i="1" dirty="0"/>
                      <a:t>g</a:t>
                    </a:r>
                    <a:r>
                      <a:rPr lang="en-US" sz="2400" dirty="0"/>
                      <a:t>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5128"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33DD95-2291-9400-16FF-E7048FCEEEF5}"/>
                  </a:ext>
                </a:extLst>
              </p:cNvPr>
              <p:cNvSpPr txBox="1"/>
              <p:nvPr/>
            </p:nvSpPr>
            <p:spPr>
              <a:xfrm>
                <a:off x="7259562" y="1381339"/>
                <a:ext cx="24308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New equilibrium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0CDBAE-8815-8908-B96D-2D609739F6B8}"/>
              </a:ext>
            </a:extLst>
          </p:cNvPr>
          <p:cNvSpPr txBox="1"/>
          <p:nvPr/>
        </p:nvSpPr>
        <p:spPr>
          <a:xfrm>
            <a:off x="8144434" y="3784111"/>
            <a:ext cx="1913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Solvent A with solute 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90FD0C-519A-3F14-FA47-1E51E646BE46}"/>
              </a:ext>
            </a:extLst>
          </p:cNvPr>
          <p:cNvGrpSpPr/>
          <p:nvPr/>
        </p:nvGrpSpPr>
        <p:grpSpPr>
          <a:xfrm>
            <a:off x="2390722" y="3897529"/>
            <a:ext cx="1160916" cy="586329"/>
            <a:chOff x="2390722" y="3897529"/>
            <a:chExt cx="1160916" cy="586329"/>
          </a:xfrm>
        </p:grpSpPr>
        <p:sp>
          <p:nvSpPr>
            <p:cNvPr id="21" name="Down Arrow 20">
              <a:extLst>
                <a:ext uri="{FF2B5EF4-FFF2-40B4-BE49-F238E27FC236}">
                  <a16:creationId xmlns:a16="http://schemas.microsoft.com/office/drawing/2014/main" id="{AA4EA14B-BA79-66B7-F7C1-4FB5F9DE4793}"/>
                </a:ext>
              </a:extLst>
            </p:cNvPr>
            <p:cNvSpPr/>
            <p:nvPr/>
          </p:nvSpPr>
          <p:spPr>
            <a:xfrm>
              <a:off x="2390722" y="4225772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Down Arrow 31">
              <a:extLst>
                <a:ext uri="{FF2B5EF4-FFF2-40B4-BE49-F238E27FC236}">
                  <a16:creationId xmlns:a16="http://schemas.microsoft.com/office/drawing/2014/main" id="{516165A2-BF56-730E-1A31-B5887DEB6684}"/>
                </a:ext>
              </a:extLst>
            </p:cNvPr>
            <p:cNvSpPr/>
            <p:nvPr/>
          </p:nvSpPr>
          <p:spPr>
            <a:xfrm>
              <a:off x="2854619" y="4106868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Down Arrow 32">
              <a:extLst>
                <a:ext uri="{FF2B5EF4-FFF2-40B4-BE49-F238E27FC236}">
                  <a16:creationId xmlns:a16="http://schemas.microsoft.com/office/drawing/2014/main" id="{ADA9EE8B-78CE-44D7-4192-2A6D11A54711}"/>
                </a:ext>
              </a:extLst>
            </p:cNvPr>
            <p:cNvSpPr/>
            <p:nvPr/>
          </p:nvSpPr>
          <p:spPr>
            <a:xfrm>
              <a:off x="3368758" y="3897529"/>
              <a:ext cx="182880" cy="258086"/>
            </a:xfrm>
            <a:prstGeom prst="downArrow">
              <a:avLst/>
            </a:prstGeom>
            <a:solidFill>
              <a:schemeClr val="tx1">
                <a:alpha val="22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5A7330-6832-DF88-02B2-996C1814BB31}"/>
              </a:ext>
            </a:extLst>
          </p:cNvPr>
          <p:cNvGrpSpPr/>
          <p:nvPr/>
        </p:nvGrpSpPr>
        <p:grpSpPr>
          <a:xfrm>
            <a:off x="2283999" y="2381593"/>
            <a:ext cx="2449035" cy="1892965"/>
            <a:chOff x="2283999" y="2381593"/>
            <a:chExt cx="2449035" cy="1892965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D2CFFFA2-A002-41AC-4271-B9FEFDA3BCCA}"/>
                </a:ext>
              </a:extLst>
            </p:cNvPr>
            <p:cNvSpPr/>
            <p:nvPr/>
          </p:nvSpPr>
          <p:spPr>
            <a:xfrm>
              <a:off x="2283999" y="2543413"/>
              <a:ext cx="2358831" cy="1731145"/>
            </a:xfrm>
            <a:custGeom>
              <a:avLst/>
              <a:gdLst>
                <a:gd name="connsiteX0" fmla="*/ 0 w 1823428"/>
                <a:gd name="connsiteY0" fmla="*/ 1241951 h 1241951"/>
                <a:gd name="connsiteX1" fmla="*/ 353961 w 1823428"/>
                <a:gd name="connsiteY1" fmla="*/ 1153461 h 1241951"/>
                <a:gd name="connsiteX2" fmla="*/ 693174 w 1823428"/>
                <a:gd name="connsiteY2" fmla="*/ 1064970 h 1241951"/>
                <a:gd name="connsiteX3" fmla="*/ 988142 w 1823428"/>
                <a:gd name="connsiteY3" fmla="*/ 917486 h 1241951"/>
                <a:gd name="connsiteX4" fmla="*/ 1283110 w 1823428"/>
                <a:gd name="connsiteY4" fmla="*/ 725757 h 1241951"/>
                <a:gd name="connsiteX5" fmla="*/ 1548581 w 1823428"/>
                <a:gd name="connsiteY5" fmla="*/ 460286 h 1241951"/>
                <a:gd name="connsiteX6" fmla="*/ 1799303 w 1823428"/>
                <a:gd name="connsiteY6" fmla="*/ 32583 h 1241951"/>
                <a:gd name="connsiteX7" fmla="*/ 1799303 w 1823428"/>
                <a:gd name="connsiteY7" fmla="*/ 62080 h 124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428" h="1241951">
                  <a:moveTo>
                    <a:pt x="0" y="1241951"/>
                  </a:moveTo>
                  <a:lnTo>
                    <a:pt x="353961" y="1153461"/>
                  </a:lnTo>
                  <a:cubicBezTo>
                    <a:pt x="469490" y="1123964"/>
                    <a:pt x="587477" y="1104299"/>
                    <a:pt x="693174" y="1064970"/>
                  </a:cubicBezTo>
                  <a:cubicBezTo>
                    <a:pt x="798871" y="1025641"/>
                    <a:pt x="889819" y="974021"/>
                    <a:pt x="988142" y="917486"/>
                  </a:cubicBezTo>
                  <a:cubicBezTo>
                    <a:pt x="1086465" y="860950"/>
                    <a:pt x="1189704" y="801957"/>
                    <a:pt x="1283110" y="725757"/>
                  </a:cubicBezTo>
                  <a:cubicBezTo>
                    <a:pt x="1376517" y="649557"/>
                    <a:pt x="1462549" y="575815"/>
                    <a:pt x="1548581" y="460286"/>
                  </a:cubicBezTo>
                  <a:cubicBezTo>
                    <a:pt x="1634613" y="344757"/>
                    <a:pt x="1757516" y="98951"/>
                    <a:pt x="1799303" y="32583"/>
                  </a:cubicBezTo>
                  <a:cubicBezTo>
                    <a:pt x="1841090" y="-33785"/>
                    <a:pt x="1820196" y="14147"/>
                    <a:pt x="1799303" y="62080"/>
                  </a:cubicBezTo>
                </a:path>
              </a:pathLst>
            </a:custGeom>
            <a:noFill/>
            <a:ln w="1016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F47C496-F630-474C-4232-5A6FEBA848F9}"/>
                </a:ext>
              </a:extLst>
            </p:cNvPr>
            <p:cNvCxnSpPr>
              <a:cxnSpLocks/>
              <a:stCxn id="2" idx="5"/>
            </p:cNvCxnSpPr>
            <p:nvPr/>
          </p:nvCxnSpPr>
          <p:spPr>
            <a:xfrm flipV="1">
              <a:off x="4287283" y="2381593"/>
              <a:ext cx="445751" cy="803407"/>
            </a:xfrm>
            <a:prstGeom prst="straightConnector1">
              <a:avLst/>
            </a:prstGeom>
            <a:ln w="1016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702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Isobaric compressibility and isothermal expansivity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3125008" y="637641"/>
                <a:ext cx="5611906" cy="693138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008" y="637641"/>
                <a:ext cx="5611906" cy="693138"/>
              </a:xfrm>
              <a:prstGeom prst="rect">
                <a:avLst/>
              </a:prstGeom>
              <a:blipFill>
                <a:blip r:embed="rId2"/>
                <a:stretch>
                  <a:fillRect b="-17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/>
              <p:nvPr/>
            </p:nvSpPr>
            <p:spPr>
              <a:xfrm>
                <a:off x="89648" y="1365697"/>
                <a:ext cx="11682627" cy="624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In relation to </a:t>
                </a:r>
                <a:r>
                  <a:rPr lang="en-US" sz="2400" b="1" dirty="0"/>
                  <a:t>sea level rise due to climate change</a:t>
                </a:r>
                <a:r>
                  <a:rPr lang="en-US" sz="2400" dirty="0"/>
                  <a:t>, which is the relevant equation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D2CAB4-2A6F-9040-AC7D-FB7E55833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" y="1365697"/>
                <a:ext cx="11682627" cy="624851"/>
              </a:xfrm>
              <a:prstGeom prst="rect">
                <a:avLst/>
              </a:prstGeom>
              <a:blipFill>
                <a:blip r:embed="rId3"/>
                <a:stretch>
                  <a:fillRect l="-87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5485A44-2904-1249-86B0-B270CD23A971}"/>
              </a:ext>
            </a:extLst>
          </p:cNvPr>
          <p:cNvGrpSpPr/>
          <p:nvPr/>
        </p:nvGrpSpPr>
        <p:grpSpPr>
          <a:xfrm>
            <a:off x="8592423" y="2591204"/>
            <a:ext cx="2917588" cy="4114396"/>
            <a:chOff x="7140812" y="1696649"/>
            <a:chExt cx="3503351" cy="50089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CAFFE4-FBB5-3A4D-AC1C-5E03BFC575B2}"/>
                </a:ext>
              </a:extLst>
            </p:cNvPr>
            <p:cNvSpPr/>
            <p:nvPr/>
          </p:nvSpPr>
          <p:spPr>
            <a:xfrm>
              <a:off x="8086165" y="2133600"/>
              <a:ext cx="594697" cy="457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6C1172-E2F3-4C4F-B6B5-0302ACCD8E86}"/>
                </a:ext>
              </a:extLst>
            </p:cNvPr>
            <p:cNvSpPr/>
            <p:nvPr/>
          </p:nvSpPr>
          <p:spPr>
            <a:xfrm>
              <a:off x="9271019" y="1828800"/>
              <a:ext cx="594697" cy="48768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928693B-D9D5-404F-8F62-F41B9484A163}"/>
                    </a:ext>
                  </a:extLst>
                </p:cNvPr>
                <p:cNvSpPr txBox="1"/>
                <p:nvPr/>
              </p:nvSpPr>
              <p:spPr>
                <a:xfrm>
                  <a:off x="7140812" y="3701533"/>
                  <a:ext cx="130054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928693B-D9D5-404F-8F62-F41B9484A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0812" y="3701533"/>
                  <a:ext cx="130054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01C398A-86C9-1248-A6E1-87F37D7DA401}"/>
                    </a:ext>
                  </a:extLst>
                </p:cNvPr>
                <p:cNvSpPr txBox="1"/>
                <p:nvPr/>
              </p:nvSpPr>
              <p:spPr>
                <a:xfrm>
                  <a:off x="9825528" y="1696649"/>
                  <a:ext cx="8186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01C398A-86C9-1248-A6E1-87F37D7DA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5528" y="1696649"/>
                  <a:ext cx="81863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A568C3-66A6-7C4F-B2B0-B9CDC5E18419}"/>
                </a:ext>
              </a:extLst>
            </p:cNvPr>
            <p:cNvCxnSpPr/>
            <p:nvPr/>
          </p:nvCxnSpPr>
          <p:spPr>
            <a:xfrm>
              <a:off x="9106930" y="2133600"/>
              <a:ext cx="96382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9FCF7D-2B65-2540-8183-FD584F807E7D}"/>
                  </a:ext>
                </a:extLst>
              </p:cNvPr>
              <p:cNvSpPr/>
              <p:nvPr/>
            </p:nvSpPr>
            <p:spPr>
              <a:xfrm>
                <a:off x="1918191" y="2970420"/>
                <a:ext cx="558662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9FCF7D-2B65-2540-8183-FD584F807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191" y="2970420"/>
                <a:ext cx="5586627" cy="1938992"/>
              </a:xfrm>
              <a:prstGeom prst="rect">
                <a:avLst/>
              </a:prstGeom>
              <a:blipFill>
                <a:blip r:embed="rId6"/>
                <a:stretch>
                  <a:fillRect l="-1818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973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71E466-1D9E-5BFA-F9DF-DDB9713DA5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26384" y="916657"/>
              <a:ext cx="9339232" cy="5246851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798213402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2934198407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20345858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2108516021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357770747"/>
                        </a:ext>
                      </a:extLst>
                    </a:gridCol>
                  </a:tblGrid>
                  <a:tr h="209199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1976765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Joule-Thomson coefficient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Volume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190867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Adiabatic Joule-Thomson coefficient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Temp/Pressure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𝑃𝑎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Joule- Thomson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6952212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83870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Measure, or approximate as</a:t>
                          </a:r>
                          <a:br>
                            <a:rPr lang="en-US" sz="1200" dirty="0">
                              <a:effectLst/>
                              <a:latin typeface="TimesNewRomanPSMT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𝑛𝑅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93352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Est. from equipartition, or approximate as</a:t>
                          </a:r>
                          <a:br>
                            <a:rPr lang="en-US" sz="1200" dirty="0">
                              <a:effectLst/>
                              <a:latin typeface="TimesNewRomanPSMT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𝑛𝑅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119041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compressibility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1/Pressure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Water density at the ocean floor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570667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thermal expansivity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1/Temp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Sea level rise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525261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Expansivity-to-compressibility ratio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Pressure/Temp 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Pa</m:t>
                              </m:r>
                              <m:r>
                                <a:rPr lang="en-US" sz="12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From Euler chain relation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595308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Inversion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93046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Critical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27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890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71E466-1D9E-5BFA-F9DF-DDB9713DA5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26384" y="916657"/>
              <a:ext cx="9339232" cy="5246851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798213402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2934198407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20345858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2108516021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357770747"/>
                        </a:ext>
                      </a:extLst>
                    </a:gridCol>
                  </a:tblGrid>
                  <a:tr h="245640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1976765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Joule-Thomson coefficient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60000" r="-669136" b="-10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60000" r="-271233" b="-10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60000" r="-204615" b="-10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60000" r="-377" b="-103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190867"/>
                      </a:ext>
                    </a:extLst>
                  </a:tr>
                  <a:tr h="519389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Adiabatic Joule-Thomson coefficient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136585" r="-669136" b="-7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136585" r="-271233" b="-7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136585" r="-204615" b="-7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Joule- Thomson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6952212"/>
                      </a:ext>
                    </a:extLst>
                  </a:tr>
                  <a:tr h="61140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202083" r="-669136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202083" r="-271233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202083" r="-204615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83870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362500" r="-669136" b="-5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362500" r="-271233" b="-5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362500" r="-204615" b="-5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362500" r="-377" b="-5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93352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474359" r="-669136" b="-4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474359" r="-271233" b="-4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474359" r="-204615" b="-4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474359" r="-377" b="-49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119041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compressibility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640000" r="-669136" b="-4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640000" r="-271233" b="-4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640000" r="-204615" b="-4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Water density at the ocean floor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570667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thermal expansivity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740000" r="-669136" b="-3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740000" r="-271233" b="-3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740000" r="-204615" b="-35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Sea level rise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525261"/>
                      </a:ext>
                    </a:extLst>
                  </a:tr>
                  <a:tr h="43918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Expansivity-to-compressibility ratio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864706" r="-669136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864706" r="-271233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864706" r="-204615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From Euler chain relation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595308"/>
                      </a:ext>
                    </a:extLst>
                  </a:tr>
                  <a:tr h="42852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Inversion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964706" r="-669136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964706" r="-271233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964706" r="-204615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964706" r="-377" b="-16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930469"/>
                      </a:ext>
                    </a:extLst>
                  </a:tr>
                  <a:tr h="684044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Critical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670370" r="-669136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670370" r="-2712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670370" r="-204615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670370" r="-377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890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65FA43E-A66D-BB81-5A41-2074BB3363DF}"/>
              </a:ext>
            </a:extLst>
          </p:cNvPr>
          <p:cNvSpPr txBox="1"/>
          <p:nvPr/>
        </p:nvSpPr>
        <p:spPr>
          <a:xfrm>
            <a:off x="0" y="238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Week 9 – What our measurable quantities include now</a:t>
            </a:r>
          </a:p>
        </p:txBody>
      </p:sp>
    </p:spTree>
    <p:extLst>
      <p:ext uri="{BB962C8B-B14F-4D97-AF65-F5344CB8AC3E}">
        <p14:creationId xmlns:p14="http://schemas.microsoft.com/office/powerpoint/2010/main" val="217034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646</Words>
  <Application>Microsoft Macintosh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CambriaMath</vt:lpstr>
      <vt:lpstr>TimesNewRomanPS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33</cp:revision>
  <dcterms:created xsi:type="dcterms:W3CDTF">2023-12-04T03:00:53Z</dcterms:created>
  <dcterms:modified xsi:type="dcterms:W3CDTF">2025-12-10T15:50:09Z</dcterms:modified>
</cp:coreProperties>
</file>