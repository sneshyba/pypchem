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86" r:id="rId8"/>
    <p:sldId id="291" r:id="rId9"/>
    <p:sldId id="292" r:id="rId10"/>
    <p:sldId id="293" r:id="rId11"/>
    <p:sldId id="29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214"/>
    <p:restoredTop sz="96405"/>
  </p:normalViewPr>
  <p:slideViewPr>
    <p:cSldViewPr snapToGrid="0" showGuides="1">
      <p:cViewPr varScale="1">
        <p:scale>
          <a:sx n="90" d="100"/>
          <a:sy n="90" d="100"/>
        </p:scale>
        <p:origin x="240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AFB642-A45F-9946-8052-4DBA043D2424}" type="datetimeFigureOut">
              <a:rPr lang="en-US" smtClean="0"/>
              <a:t>12/2/25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641F0B-B0CE-5D45-84A1-E14B2B39EC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9164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641F0B-B0CE-5D45-84A1-E14B2B39EC1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9902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641F0B-B0CE-5D45-84A1-E14B2B39EC1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9967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641F0B-B0CE-5D45-84A1-E14B2B39EC1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3919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641F0B-B0CE-5D45-84A1-E14B2B39EC1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6828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641F0B-B0CE-5D45-84A1-E14B2B39EC1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3753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641F0B-B0CE-5D45-84A1-E14B2B39EC1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5921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641F0B-B0CE-5D45-84A1-E14B2B39EC1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6737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641F0B-B0CE-5D45-84A1-E14B2B39EC1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7224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641F0B-B0CE-5D45-84A1-E14B2B39EC1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6654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62935-D1DD-1B43-A69E-0771AF57C8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A0D730-49A8-4F42-F0F0-76BBB40920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DB7076-1104-CDD1-10BD-129BDCA72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E5290-2AE0-0843-975F-DE5E780A5CF1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CB9071-D4AE-06FE-8664-61CF3503E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945356-D333-F8B5-CFD9-1D4070C52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230A9-A0A0-6047-BD57-08EF92C04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9430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29054-E61B-C027-2732-0718B650F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04F75-F9FF-7FD5-E1B8-3003137BEE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667A05-D0C4-9328-BA73-8AF2CAA9A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E5290-2AE0-0843-975F-DE5E780A5CF1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8A020C-4069-40BC-7BA9-97A79B9A1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D07359-5C4A-786D-4610-145901041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230A9-A0A0-6047-BD57-08EF92C04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345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87A96-94CD-F914-6674-574FD2151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807BF5-7F03-ECC0-1CCE-324946D882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CCA3D0-C7FA-F1E3-2B0E-D298C0805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E5290-2AE0-0843-975F-DE5E780A5CF1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D57076-9D1D-A468-3B23-D3BB26EC2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30C8C3-61BB-8FCD-F73F-57DAD7A77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230A9-A0A0-6047-BD57-08EF92C04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989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6BA2C-34D3-DF7D-7103-ECD1FF8E5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299644-7317-07C2-C261-B87A307A55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BD0EFF-17A9-3E4B-6778-9DA2D97CF2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CED013-B9B1-6A9F-670A-90D85ED19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E5290-2AE0-0843-975F-DE5E780A5CF1}" type="datetimeFigureOut">
              <a:rPr lang="en-US" smtClean="0"/>
              <a:t>12/2/25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93EFB3-B606-B9AC-4E77-4AF0C00FA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6A9467-B4B5-675B-A8AD-0D254F5FF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230A9-A0A0-6047-BD57-08EF92C04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150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47078-EFBF-A3D7-8C85-F6DAB22B3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EB7AAA-15CA-2948-91B2-DA79DC0996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99B215-84CA-AF6F-B650-03F8BECD31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4FCDE6-85BC-B87B-D9E5-A4715CCA4D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50434D-7D59-4DDD-E3D5-94010B00E6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6E82B2-0FB6-0622-73FD-363639B0D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E5290-2AE0-0843-975F-DE5E780A5CF1}" type="datetimeFigureOut">
              <a:rPr lang="en-US" smtClean="0"/>
              <a:t>12/2/25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86975C-0D6B-613A-B289-1EB495847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638E6B-D681-070F-DF5C-700539148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230A9-A0A0-6047-BD57-08EF92C04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7789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54087-FE8C-B5D9-D41D-3580447B1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7F13C3-3F1D-4C57-14BF-E9AB22214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E5290-2AE0-0843-975F-DE5E780A5CF1}" type="datetimeFigureOut">
              <a:rPr lang="en-US" smtClean="0"/>
              <a:t>12/2/25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492393-0829-43A0-AB65-4F0A8511A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F35C5C-4FA3-5A16-74C1-7BBBB5F83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230A9-A0A0-6047-BD57-08EF92C04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245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A2AC55-9325-1DEE-9EE5-E26AEDA54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E5290-2AE0-0843-975F-DE5E780A5CF1}" type="datetimeFigureOut">
              <a:rPr lang="en-US" smtClean="0"/>
              <a:t>12/2/25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822EB5-2D50-3E04-42F1-B2404EAB7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86487D-B451-00F1-4EF8-70950E1BC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230A9-A0A0-6047-BD57-08EF92C04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286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34B6C-BEA2-7962-7830-D8D9FFB7D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81AC5-A1D1-7F3B-1F33-02E5F7C17B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94C498-C164-C053-5D2C-108E51E330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2F935B-CA2D-056E-B4BB-B33DBF0FC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E5290-2AE0-0843-975F-DE5E780A5CF1}" type="datetimeFigureOut">
              <a:rPr lang="en-US" smtClean="0"/>
              <a:t>12/2/25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B4CD5F-6811-104D-01C1-1AE07B924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8D371F-5737-63D8-6FC3-36570ABCD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230A9-A0A0-6047-BD57-08EF92C04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059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3025E-713B-1D15-D445-6F2598A92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0D4880-3BAB-54C9-A621-98537A7FF8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A40DDF-7328-080F-3C97-9D837343C0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4AEA61-4FF2-10B4-745D-6AAABF769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E5290-2AE0-0843-975F-DE5E780A5CF1}" type="datetimeFigureOut">
              <a:rPr lang="en-US" smtClean="0"/>
              <a:t>12/2/25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0FDF76-7F32-5F29-9B97-2615D97C9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3D2491-29C2-1E4D-DF2D-288102518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230A9-A0A0-6047-BD57-08EF92C04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0482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7EBD7-7852-250E-6E25-F130DEA8D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B90953-DAF5-333B-E6BF-A59469B146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C72AE6-B833-52A1-91C9-4EECBF799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E5290-2AE0-0843-975F-DE5E780A5CF1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C32ADA-29D6-3C55-FE3B-4F87002A5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3960FB-A5B2-973B-BE6A-C0A34C7E3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230A9-A0A0-6047-BD57-08EF92C04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7205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5F6BB7-A8EC-D81F-6207-07BB11A2E1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71DB77-8C80-207A-BCDA-4A73E6E08C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32BE9D-D25C-4B12-183A-AEF7FD642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E5290-2AE0-0843-975F-DE5E780A5CF1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E42BE3-0CBB-982C-31FF-152056AD3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DA4F44-648C-DCF1-A21B-FFDFFDA92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230A9-A0A0-6047-BD57-08EF92C04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239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04574E-DD8C-06A0-C77C-6893DEBC6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70D1C4-3106-C5FB-8534-EE370B555F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C90604-43C6-913F-BE97-63D724DA46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6E5290-2AE0-0843-975F-DE5E780A5CF1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AF7C5D-AA1C-E0F1-532B-645D4AB9A3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E65F7-48B0-A574-7BAF-F3BAF1DEA0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4230A9-A0A0-6047-BD57-08EF92C04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373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0.png"/><Relationship Id="rId9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11" Type="http://schemas.openxmlformats.org/officeDocument/2006/relationships/image" Target="../media/image30.png"/><Relationship Id="rId5" Type="http://schemas.openxmlformats.org/officeDocument/2006/relationships/image" Target="../media/image28.png"/><Relationship Id="rId10" Type="http://schemas.openxmlformats.org/officeDocument/2006/relationships/image" Target="../media/image36.png"/><Relationship Id="rId4" Type="http://schemas.openxmlformats.org/officeDocument/2006/relationships/image" Target="../media/image33.png"/><Relationship Id="rId9" Type="http://schemas.openxmlformats.org/officeDocument/2006/relationships/image" Target="../media/image3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29.png"/><Relationship Id="rId4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29.png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29.png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3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4.png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94E4ADC-FF4C-DFAF-257C-EFB2EEAFF915}"/>
                  </a:ext>
                </a:extLst>
              </p:cNvPr>
              <p:cNvSpPr txBox="1"/>
              <p:nvPr/>
            </p:nvSpPr>
            <p:spPr>
              <a:xfrm>
                <a:off x="0" y="-23751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We construct a “state space” in which one dimension is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400" b="1" dirty="0"/>
                  <a:t>, and the other is quantum number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94E4ADC-FF4C-DFAF-257C-EFB2EEAFF9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23751"/>
                <a:ext cx="12192000" cy="461665"/>
              </a:xfrm>
              <a:prstGeom prst="rect">
                <a:avLst/>
              </a:prstGeom>
              <a:blipFill>
                <a:blip r:embed="rId2"/>
                <a:stretch>
                  <a:fillRect l="-83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F60D32A0-B763-D53F-CFD6-0C5C6326D06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1046"/>
          <a:stretch/>
        </p:blipFill>
        <p:spPr>
          <a:xfrm>
            <a:off x="246208" y="437914"/>
            <a:ext cx="7548494" cy="160487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65FE9EC-D93B-536D-703F-A73836D6B0C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7093" b="18297"/>
          <a:stretch/>
        </p:blipFill>
        <p:spPr>
          <a:xfrm>
            <a:off x="257360" y="2096433"/>
            <a:ext cx="7637703" cy="1025868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F8AFDD55-6D06-8A4F-1165-DEF1CE639511}"/>
              </a:ext>
            </a:extLst>
          </p:cNvPr>
          <p:cNvGrpSpPr/>
          <p:nvPr/>
        </p:nvGrpSpPr>
        <p:grpSpPr>
          <a:xfrm>
            <a:off x="3381063" y="3429000"/>
            <a:ext cx="4242164" cy="2730404"/>
            <a:chOff x="2868597" y="3291041"/>
            <a:chExt cx="4242164" cy="2730404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8677626C-2F76-A656-98F1-E5F1640F2690}"/>
                </a:ext>
              </a:extLst>
            </p:cNvPr>
            <p:cNvGrpSpPr/>
            <p:nvPr/>
          </p:nvGrpSpPr>
          <p:grpSpPr>
            <a:xfrm>
              <a:off x="2868597" y="3429000"/>
              <a:ext cx="4242164" cy="2592445"/>
              <a:chOff x="6383574" y="3275603"/>
              <a:chExt cx="4242164" cy="259244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40FB8813-7A30-B934-4E31-6AF9C72AF036}"/>
                      </a:ext>
                    </a:extLst>
                  </p:cNvPr>
                  <p:cNvSpPr txBox="1"/>
                  <p:nvPr/>
                </p:nvSpPr>
                <p:spPr>
                  <a:xfrm>
                    <a:off x="6383574" y="3860382"/>
                    <a:ext cx="741556" cy="83099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↑</m:t>
                          </m:r>
                        </m:oMath>
                      </m:oMathPara>
                    </a14:m>
                    <a:endParaRPr lang="en-US" sz="2400" b="1" i="1" dirty="0">
                      <a:latin typeface="Cambria Math" panose="02040503050406030204" pitchFamily="18" charset="0"/>
                    </a:endParaRPr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40FB8813-7A30-B934-4E31-6AF9C72AF03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83574" y="3860382"/>
                    <a:ext cx="741556" cy="83099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0F17E016-F899-6510-E165-2D6035D50CE9}"/>
                  </a:ext>
                </a:extLst>
              </p:cNvPr>
              <p:cNvGrpSpPr/>
              <p:nvPr/>
            </p:nvGrpSpPr>
            <p:grpSpPr>
              <a:xfrm>
                <a:off x="7454202" y="5399299"/>
                <a:ext cx="3171536" cy="468749"/>
                <a:chOff x="7420749" y="5912254"/>
                <a:chExt cx="3171536" cy="468749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" name="TextBox 14">
                      <a:extLst>
                        <a:ext uri="{FF2B5EF4-FFF2-40B4-BE49-F238E27FC236}">
                          <a16:creationId xmlns:a16="http://schemas.microsoft.com/office/drawing/2014/main" id="{E67C83FC-DB8A-E9A8-82FE-BDF115B9A87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420749" y="5919338"/>
                      <a:ext cx="2645354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→</m:t>
                            </m:r>
                          </m:oMath>
                        </m:oMathPara>
                      </a14:m>
                      <a:endParaRPr lang="en-US" sz="2400" dirty="0"/>
                    </a:p>
                  </p:txBody>
                </p:sp>
              </mc:Choice>
              <mc:Fallback xmlns="">
                <p:sp>
                  <p:nvSpPr>
                    <p:cNvPr id="15" name="TextBox 14">
                      <a:extLst>
                        <a:ext uri="{FF2B5EF4-FFF2-40B4-BE49-F238E27FC236}">
                          <a16:creationId xmlns:a16="http://schemas.microsoft.com/office/drawing/2014/main" id="{E67C83FC-DB8A-E9A8-82FE-BDF115B9A87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420749" y="5919338"/>
                      <a:ext cx="2645354" cy="461665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2" name="TextBox 21">
                      <a:extLst>
                        <a:ext uri="{FF2B5EF4-FFF2-40B4-BE49-F238E27FC236}">
                          <a16:creationId xmlns:a16="http://schemas.microsoft.com/office/drawing/2014/main" id="{B15B104B-8662-2189-7D3C-5103A2A3951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907141" y="5912254"/>
                      <a:ext cx="685144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oMath>
                        </m:oMathPara>
                      </a14:m>
                      <a:endParaRPr lang="en-US" sz="2400" dirty="0"/>
                    </a:p>
                  </p:txBody>
                </p:sp>
              </mc:Choice>
              <mc:Fallback xmlns="">
                <p:sp>
                  <p:nvSpPr>
                    <p:cNvPr id="22" name="TextBox 21">
                      <a:extLst>
                        <a:ext uri="{FF2B5EF4-FFF2-40B4-BE49-F238E27FC236}">
                          <a16:creationId xmlns:a16="http://schemas.microsoft.com/office/drawing/2014/main" id="{B15B104B-8662-2189-7D3C-5103A2A3951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907141" y="5912254"/>
                      <a:ext cx="685144" cy="461665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8F7724A2-7986-0F3A-F7C6-38A7A176C51B}"/>
                  </a:ext>
                </a:extLst>
              </p:cNvPr>
              <p:cNvGrpSpPr/>
              <p:nvPr/>
            </p:nvGrpSpPr>
            <p:grpSpPr>
              <a:xfrm>
                <a:off x="7048010" y="3275603"/>
                <a:ext cx="3457740" cy="2095080"/>
                <a:chOff x="7249485" y="2932770"/>
                <a:chExt cx="3457740" cy="2095080"/>
              </a:xfrm>
            </p:grpSpPr>
            <p:sp>
              <p:nvSpPr>
                <p:cNvPr id="26" name="Rounded Rectangle 25">
                  <a:extLst>
                    <a:ext uri="{FF2B5EF4-FFF2-40B4-BE49-F238E27FC236}">
                      <a16:creationId xmlns:a16="http://schemas.microsoft.com/office/drawing/2014/main" id="{D48D8B0F-66F1-F959-B1E2-384FEEBB802C}"/>
                    </a:ext>
                  </a:extLst>
                </p:cNvPr>
                <p:cNvSpPr/>
                <p:nvPr/>
              </p:nvSpPr>
              <p:spPr>
                <a:xfrm>
                  <a:off x="7249485" y="2932771"/>
                  <a:ext cx="3457740" cy="2095079"/>
                </a:xfrm>
                <a:prstGeom prst="roundRect">
                  <a:avLst/>
                </a:prstGeom>
                <a:pattFill prst="lgGrid">
                  <a:fgClr>
                    <a:schemeClr val="accent1"/>
                  </a:fgClr>
                  <a:bgClr>
                    <a:schemeClr val="bg1"/>
                  </a:bgClr>
                </a:patt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7" name="Rounded Rectangle 26">
                  <a:extLst>
                    <a:ext uri="{FF2B5EF4-FFF2-40B4-BE49-F238E27FC236}">
                      <a16:creationId xmlns:a16="http://schemas.microsoft.com/office/drawing/2014/main" id="{B3679E57-3C87-4DDA-EAE0-88B95B09AA8B}"/>
                    </a:ext>
                  </a:extLst>
                </p:cNvPr>
                <p:cNvSpPr/>
                <p:nvPr/>
              </p:nvSpPr>
              <p:spPr>
                <a:xfrm rot="16200000" flipH="1">
                  <a:off x="7930815" y="2251440"/>
                  <a:ext cx="2095079" cy="3457739"/>
                </a:xfrm>
                <a:prstGeom prst="roundRect">
                  <a:avLst/>
                </a:prstGeom>
                <a:gradFill>
                  <a:gsLst>
                    <a:gs pos="0">
                      <a:schemeClr val="accent1">
                        <a:lumMod val="17000"/>
                        <a:lumOff val="83000"/>
                        <a:alpha val="0"/>
                      </a:schemeClr>
                    </a:gs>
                    <a:gs pos="100000">
                      <a:srgbClr val="FF0000"/>
                    </a:gs>
                    <a:gs pos="0">
                      <a:srgbClr val="0070C0">
                        <a:alpha val="58000"/>
                      </a:srgb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63E3840B-4975-4426-313A-720566837744}"/>
                    </a:ext>
                  </a:extLst>
                </p:cNvPr>
                <p:cNvSpPr txBox="1"/>
                <p:nvPr/>
              </p:nvSpPr>
              <p:spPr>
                <a:xfrm>
                  <a:off x="2882236" y="3291041"/>
                  <a:ext cx="685144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63E3840B-4975-4426-313A-7205668377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82236" y="3291041"/>
                  <a:ext cx="685144" cy="46166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0CFEFD1-81F6-E2C0-9EC3-19150678C309}"/>
                  </a:ext>
                </a:extLst>
              </p:cNvPr>
              <p:cNvSpPr txBox="1"/>
              <p:nvPr/>
            </p:nvSpPr>
            <p:spPr>
              <a:xfrm>
                <a:off x="3409269" y="5336141"/>
                <a:ext cx="68514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0CFEFD1-81F6-E2C0-9EC3-19150678C3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9269" y="5336141"/>
                <a:ext cx="685144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12935E8-EDE5-4377-E144-9C5078354FBD}"/>
                  </a:ext>
                </a:extLst>
              </p:cNvPr>
              <p:cNvSpPr txBox="1"/>
              <p:nvPr/>
            </p:nvSpPr>
            <p:spPr>
              <a:xfrm>
                <a:off x="3780047" y="5685238"/>
                <a:ext cx="68514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12935E8-EDE5-4377-E144-9C5078354F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0047" y="5685238"/>
                <a:ext cx="685144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4283AD9-17BC-4346-AE30-54A8FF528814}"/>
                  </a:ext>
                </a:extLst>
              </p:cNvPr>
              <p:cNvSpPr txBox="1"/>
              <p:nvPr/>
            </p:nvSpPr>
            <p:spPr>
              <a:xfrm>
                <a:off x="8379880" y="4291332"/>
                <a:ext cx="2456821" cy="646331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1800" dirty="0"/>
                  <a:t>Notice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 </a:t>
                </a:r>
                <a:r>
                  <a:rPr lang="en-US" sz="1800" dirty="0"/>
                  <a:t>depends only on the distance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4283AD9-17BC-4346-AE30-54A8FF5288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9880" y="4291332"/>
                <a:ext cx="2456821" cy="646331"/>
              </a:xfrm>
              <a:prstGeom prst="rect">
                <a:avLst/>
              </a:prstGeom>
              <a:blipFill>
                <a:blip r:embed="rId10"/>
                <a:stretch>
                  <a:fillRect l="-2051" t="-1887" b="-13208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31412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94E4ADC-FF4C-DFAF-257C-EFB2EEAFF915}"/>
              </a:ext>
            </a:extLst>
          </p:cNvPr>
          <p:cNvSpPr txBox="1"/>
          <p:nvPr/>
        </p:nvSpPr>
        <p:spPr>
          <a:xfrm>
            <a:off x="0" y="-23751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Visualizing temperature in that state space</a:t>
            </a:r>
          </a:p>
        </p:txBody>
      </p:sp>
      <p:sp>
        <p:nvSpPr>
          <p:cNvPr id="3" name="Right Arrow 2">
            <a:extLst>
              <a:ext uri="{FF2B5EF4-FFF2-40B4-BE49-F238E27FC236}">
                <a16:creationId xmlns:a16="http://schemas.microsoft.com/office/drawing/2014/main" id="{C4A8FD4B-538C-D8A6-A3FF-67A07F1259BD}"/>
              </a:ext>
            </a:extLst>
          </p:cNvPr>
          <p:cNvSpPr/>
          <p:nvPr/>
        </p:nvSpPr>
        <p:spPr>
          <a:xfrm rot="5400000">
            <a:off x="2131147" y="2410159"/>
            <a:ext cx="744690" cy="35473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80A0803-D20F-0C9A-C1C4-3474A41B44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817" y="1038670"/>
            <a:ext cx="4621698" cy="89190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644CCEC-7636-0E98-08B6-067CD6803C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217" y="2979189"/>
            <a:ext cx="6492871" cy="11449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4CFF149-1A3B-AFB5-C2EA-E4D396E016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2723" y="2215180"/>
            <a:ext cx="4726132" cy="3682700"/>
          </a:xfrm>
          <a:prstGeom prst="rect">
            <a:avLst/>
          </a:prstGeom>
        </p:spPr>
      </p:pic>
      <p:sp>
        <p:nvSpPr>
          <p:cNvPr id="8" name="Right Arrow 7">
            <a:extLst>
              <a:ext uri="{FF2B5EF4-FFF2-40B4-BE49-F238E27FC236}">
                <a16:creationId xmlns:a16="http://schemas.microsoft.com/office/drawing/2014/main" id="{7B714497-C924-74FA-77F1-A86D1FC4C3B3}"/>
              </a:ext>
            </a:extLst>
          </p:cNvPr>
          <p:cNvSpPr/>
          <p:nvPr/>
        </p:nvSpPr>
        <p:spPr>
          <a:xfrm>
            <a:off x="6812226" y="3374279"/>
            <a:ext cx="744690" cy="35473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4B322AD-CD2E-128A-230D-57BE6BC2CE5E}"/>
              </a:ext>
            </a:extLst>
          </p:cNvPr>
          <p:cNvSpPr/>
          <p:nvPr/>
        </p:nvSpPr>
        <p:spPr>
          <a:xfrm>
            <a:off x="2755091" y="3751946"/>
            <a:ext cx="445310" cy="391476"/>
          </a:xfrm>
          <a:prstGeom prst="rect">
            <a:avLst/>
          </a:prstGeom>
          <a:solidFill>
            <a:schemeClr val="accent1">
              <a:alpha val="39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8328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94E4ADC-FF4C-DFAF-257C-EFB2EEAFF915}"/>
                  </a:ext>
                </a:extLst>
              </p:cNvPr>
              <p:cNvSpPr txBox="1"/>
              <p:nvPr/>
            </p:nvSpPr>
            <p:spPr>
              <a:xfrm>
                <a:off x="0" y="-23751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Visualizing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𝝂</m:t>
                        </m:r>
                      </m:e>
                    </m:acc>
                  </m:oMath>
                </a14:m>
                <a:r>
                  <a:rPr lang="en-US" sz="2400" b="1" dirty="0"/>
                  <a:t> (from Spartan) in that state space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94E4ADC-FF4C-DFAF-257C-EFB2EEAFF9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23751"/>
                <a:ext cx="12192000" cy="461665"/>
              </a:xfrm>
              <a:prstGeom prst="rect">
                <a:avLst/>
              </a:prstGeom>
              <a:blipFill>
                <a:blip r:embed="rId3"/>
                <a:stretch>
                  <a:fillRect l="-83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ight Arrow 5">
            <a:extLst>
              <a:ext uri="{FF2B5EF4-FFF2-40B4-BE49-F238E27FC236}">
                <a16:creationId xmlns:a16="http://schemas.microsoft.com/office/drawing/2014/main" id="{64F50C56-0F8A-D6D5-CB87-CC0B069DC8C1}"/>
              </a:ext>
            </a:extLst>
          </p:cNvPr>
          <p:cNvSpPr/>
          <p:nvPr/>
        </p:nvSpPr>
        <p:spPr>
          <a:xfrm rot="5400000">
            <a:off x="4236590" y="2760821"/>
            <a:ext cx="548119" cy="35473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BF04F3-98BE-B1E4-4E14-DCB04A65BA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8903" y="3341772"/>
            <a:ext cx="4113086" cy="32938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9C36BAD-1F31-A894-06C1-4F961C7006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1879" y="616430"/>
            <a:ext cx="11547956" cy="187530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819489B-31E6-8188-07B6-8EC6869A7102}"/>
              </a:ext>
            </a:extLst>
          </p:cNvPr>
          <p:cNvSpPr/>
          <p:nvPr/>
        </p:nvSpPr>
        <p:spPr>
          <a:xfrm>
            <a:off x="4318995" y="2100263"/>
            <a:ext cx="710205" cy="391476"/>
          </a:xfrm>
          <a:prstGeom prst="rect">
            <a:avLst/>
          </a:prstGeom>
          <a:solidFill>
            <a:schemeClr val="accent1">
              <a:alpha val="39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3102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94E4ADC-FF4C-DFAF-257C-EFB2EEAFF915}"/>
                  </a:ext>
                </a:extLst>
              </p:cNvPr>
              <p:cNvSpPr txBox="1"/>
              <p:nvPr/>
            </p:nvSpPr>
            <p:spPr>
              <a:xfrm>
                <a:off x="0" y="-23751"/>
                <a:ext cx="12192000" cy="496611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From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𝝂</m:t>
                        </m:r>
                      </m:e>
                    </m:acc>
                  </m:oMath>
                </a14:m>
                <a:r>
                  <a:rPr lang="en-US" sz="2400" b="1" dirty="0"/>
                  <a:t>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𝒈𝒂𝒑</m:t>
                        </m:r>
                      </m:sub>
                    </m:sSub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94E4ADC-FF4C-DFAF-257C-EFB2EEAFF9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23751"/>
                <a:ext cx="12192000" cy="496611"/>
              </a:xfrm>
              <a:prstGeom prst="rect">
                <a:avLst/>
              </a:prstGeom>
              <a:blipFill>
                <a:blip r:embed="rId3"/>
                <a:stretch>
                  <a:fillRect l="-832" t="-75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CE531E7D-A853-0AAD-640D-C184428556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9152" y="3969101"/>
            <a:ext cx="3289300" cy="2590800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CA17D75A-4695-4995-932B-E52E878B1A3E}"/>
              </a:ext>
            </a:extLst>
          </p:cNvPr>
          <p:cNvGrpSpPr/>
          <p:nvPr/>
        </p:nvGrpSpPr>
        <p:grpSpPr>
          <a:xfrm>
            <a:off x="682316" y="571645"/>
            <a:ext cx="10356039" cy="2811414"/>
            <a:chOff x="682316" y="757384"/>
            <a:chExt cx="10356039" cy="2811414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2FD4342-E286-7258-1A51-80F50F64EE6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75009" y="757384"/>
              <a:ext cx="4359141" cy="496611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sp>
          <p:nvSpPr>
            <p:cNvPr id="11" name="Right Arrow 10">
              <a:extLst>
                <a:ext uri="{FF2B5EF4-FFF2-40B4-BE49-F238E27FC236}">
                  <a16:creationId xmlns:a16="http://schemas.microsoft.com/office/drawing/2014/main" id="{99E0DDB0-F3EF-E06D-58C2-5639E60DC56F}"/>
                </a:ext>
              </a:extLst>
            </p:cNvPr>
            <p:cNvSpPr/>
            <p:nvPr/>
          </p:nvSpPr>
          <p:spPr>
            <a:xfrm rot="5400000">
              <a:off x="3039155" y="1418638"/>
              <a:ext cx="496611" cy="354733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B285CE1-59DF-40C8-17BF-BC131749A1A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82316" y="1914529"/>
              <a:ext cx="10356039" cy="1644919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3DEAADF-D2F6-6BA7-2E0B-591773040D0E}"/>
                </a:ext>
              </a:extLst>
            </p:cNvPr>
            <p:cNvSpPr/>
            <p:nvPr/>
          </p:nvSpPr>
          <p:spPr>
            <a:xfrm>
              <a:off x="4497573" y="3177322"/>
              <a:ext cx="531628" cy="391476"/>
            </a:xfrm>
            <a:prstGeom prst="rect">
              <a:avLst/>
            </a:prstGeom>
            <a:solidFill>
              <a:schemeClr val="accent1">
                <a:alpha val="39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Right Arrow 6">
            <a:extLst>
              <a:ext uri="{FF2B5EF4-FFF2-40B4-BE49-F238E27FC236}">
                <a16:creationId xmlns:a16="http://schemas.microsoft.com/office/drawing/2014/main" id="{77CD8222-7BC0-F809-E4F4-730AFE864BA3}"/>
              </a:ext>
            </a:extLst>
          </p:cNvPr>
          <p:cNvSpPr/>
          <p:nvPr/>
        </p:nvSpPr>
        <p:spPr>
          <a:xfrm rot="5400000">
            <a:off x="4073137" y="3750380"/>
            <a:ext cx="494136" cy="35473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255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94E4ADC-FF4C-DFAF-257C-EFB2EEAFF915}"/>
                  </a:ext>
                </a:extLst>
              </p:cNvPr>
              <p:cNvSpPr txBox="1"/>
              <p:nvPr/>
            </p:nvSpPr>
            <p:spPr>
              <a:xfrm>
                <a:off x="0" y="-23751"/>
                <a:ext cx="12192000" cy="496611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𝒈𝒂𝒑</m:t>
                        </m:r>
                      </m:sub>
                    </m:sSub>
                  </m:oMath>
                </a14:m>
                <a:r>
                  <a:rPr lang="en-US" sz="2400" b="1" dirty="0"/>
                  <a:t>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4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US" sz="2400" b="1" dirty="0"/>
                  <a:t>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4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sz="2400" b="1" i="1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94E4ADC-FF4C-DFAF-257C-EFB2EEAFF9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23751"/>
                <a:ext cx="12192000" cy="496611"/>
              </a:xfrm>
              <a:prstGeom prst="rect">
                <a:avLst/>
              </a:prstGeom>
              <a:blipFill>
                <a:blip r:embed="rId3"/>
                <a:stretch>
                  <a:fillRect l="-832" t="-75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ight Arrow 10">
            <a:extLst>
              <a:ext uri="{FF2B5EF4-FFF2-40B4-BE49-F238E27FC236}">
                <a16:creationId xmlns:a16="http://schemas.microsoft.com/office/drawing/2014/main" id="{99E0DDB0-F3EF-E06D-58C2-5639E60DC56F}"/>
              </a:ext>
            </a:extLst>
          </p:cNvPr>
          <p:cNvSpPr/>
          <p:nvPr/>
        </p:nvSpPr>
        <p:spPr>
          <a:xfrm rot="5400000">
            <a:off x="1091114" y="1487157"/>
            <a:ext cx="1340228" cy="35473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1C3F4FA-BE8D-82C5-0A8B-20271D403A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7027" y="1171978"/>
            <a:ext cx="2251203" cy="54811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10EBAB2-F9C6-158D-C968-AA8984BDA0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5924" y="3178813"/>
            <a:ext cx="2375182" cy="54811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Right Arrow 6">
            <a:extLst>
              <a:ext uri="{FF2B5EF4-FFF2-40B4-BE49-F238E27FC236}">
                <a16:creationId xmlns:a16="http://schemas.microsoft.com/office/drawing/2014/main" id="{409E63C9-A1DF-0A09-F383-9E3ECF18A902}"/>
              </a:ext>
            </a:extLst>
          </p:cNvPr>
          <p:cNvSpPr/>
          <p:nvPr/>
        </p:nvSpPr>
        <p:spPr>
          <a:xfrm>
            <a:off x="4946229" y="3897555"/>
            <a:ext cx="976666" cy="35473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F53211-E76A-686B-C6C1-B89914317E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2270" y="4271769"/>
            <a:ext cx="4221250" cy="3610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33F84ED-11F4-0EE3-8701-8C102B5A0B4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41802" y="1788677"/>
            <a:ext cx="2735938" cy="39300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A0FE578-4906-E4B2-C9CB-4685B13FA4C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032" y="2489264"/>
            <a:ext cx="3635193" cy="28165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A9DEE85-F14E-9F50-187C-326FE1D4E5A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63610" y="2871788"/>
            <a:ext cx="3828137" cy="2830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8511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99" name="Picture 7198">
            <a:extLst>
              <a:ext uri="{FF2B5EF4-FFF2-40B4-BE49-F238E27FC236}">
                <a16:creationId xmlns:a16="http://schemas.microsoft.com/office/drawing/2014/main" id="{52FAF41C-1858-3981-A4A0-A1D9A90524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62" y="2271369"/>
            <a:ext cx="3720203" cy="297329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94E4ADC-FF4C-DFAF-257C-EFB2EEAFF915}"/>
                  </a:ext>
                </a:extLst>
              </p:cNvPr>
              <p:cNvSpPr txBox="1"/>
              <p:nvPr/>
            </p:nvSpPr>
            <p:spPr>
              <a:xfrm>
                <a:off x="0" y="-23751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sz="2400" b="1" i="1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400" b="1" dirty="0"/>
                  <a:t>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 </m:t>
                    </m:r>
                    <m:sSup>
                      <m:sSup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2400" b="1" dirty="0"/>
                  <a:t>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94E4ADC-FF4C-DFAF-257C-EFB2EEAFF9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23751"/>
                <a:ext cx="12192000" cy="461665"/>
              </a:xfrm>
              <a:prstGeom prst="rect">
                <a:avLst/>
              </a:prstGeom>
              <a:blipFill>
                <a:blip r:embed="rId4"/>
                <a:stretch>
                  <a:fillRect l="-83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ight Arrow 6">
            <a:extLst>
              <a:ext uri="{FF2B5EF4-FFF2-40B4-BE49-F238E27FC236}">
                <a16:creationId xmlns:a16="http://schemas.microsoft.com/office/drawing/2014/main" id="{409E63C9-A1DF-0A09-F383-9E3ECF18A902}"/>
              </a:ext>
            </a:extLst>
          </p:cNvPr>
          <p:cNvSpPr/>
          <p:nvPr/>
        </p:nvSpPr>
        <p:spPr>
          <a:xfrm>
            <a:off x="4354145" y="4071718"/>
            <a:ext cx="1811342" cy="35473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2A0E5B09-BA7C-D3C2-A678-84A0DEA0E7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349" y="5159961"/>
            <a:ext cx="5746675" cy="354733"/>
          </a:xfrm>
          <a:prstGeom prst="rect">
            <a:avLst/>
          </a:prstGeom>
        </p:spPr>
      </p:pic>
      <p:grpSp>
        <p:nvGrpSpPr>
          <p:cNvPr id="36" name="Group 35">
            <a:extLst>
              <a:ext uri="{FF2B5EF4-FFF2-40B4-BE49-F238E27FC236}">
                <a16:creationId xmlns:a16="http://schemas.microsoft.com/office/drawing/2014/main" id="{4CC95B29-BB25-7B13-685D-ADB320A9599D}"/>
              </a:ext>
            </a:extLst>
          </p:cNvPr>
          <p:cNvGrpSpPr/>
          <p:nvPr/>
        </p:nvGrpSpPr>
        <p:grpSpPr>
          <a:xfrm rot="170680">
            <a:off x="1179566" y="2546471"/>
            <a:ext cx="1824129" cy="2018090"/>
            <a:chOff x="1174582" y="2545886"/>
            <a:chExt cx="1824129" cy="2018090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9446899D-E771-2E80-3D46-CBBDF430CBF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74582" y="2545886"/>
              <a:ext cx="137160" cy="140505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8BE5D64E-6996-2C66-4C1B-EE3D40FA39E7}"/>
                </a:ext>
              </a:extLst>
            </p:cNvPr>
            <p:cNvGrpSpPr/>
            <p:nvPr/>
          </p:nvGrpSpPr>
          <p:grpSpPr>
            <a:xfrm>
              <a:off x="1703960" y="4248379"/>
              <a:ext cx="967251" cy="260473"/>
              <a:chOff x="1723416" y="4258107"/>
              <a:chExt cx="967251" cy="260473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A7AB225C-C9DA-52EC-2D57-ED77A102768F}"/>
                  </a:ext>
                </a:extLst>
              </p:cNvPr>
              <p:cNvGrpSpPr/>
              <p:nvPr/>
            </p:nvGrpSpPr>
            <p:grpSpPr>
              <a:xfrm>
                <a:off x="1723416" y="4258107"/>
                <a:ext cx="299288" cy="166441"/>
                <a:chOff x="1723416" y="4258107"/>
                <a:chExt cx="299288" cy="166441"/>
              </a:xfrm>
            </p:grpSpPr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DACDCB13-4B02-CA07-2307-213339ADA41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723416" y="4258107"/>
                  <a:ext cx="137160" cy="140505"/>
                </a:xfrm>
                <a:prstGeom prst="ellipse">
                  <a:avLst/>
                </a:prstGeom>
                <a:solidFill>
                  <a:schemeClr val="accent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58A41566-3829-F3E4-9C2C-D435098A5C1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885544" y="4284043"/>
                  <a:ext cx="137160" cy="140505"/>
                </a:xfrm>
                <a:prstGeom prst="ellipse">
                  <a:avLst/>
                </a:prstGeom>
                <a:solidFill>
                  <a:schemeClr val="accent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02A8492D-755E-C250-1641-5F6B57BA24D3}"/>
                  </a:ext>
                </a:extLst>
              </p:cNvPr>
              <p:cNvGrpSpPr/>
              <p:nvPr/>
            </p:nvGrpSpPr>
            <p:grpSpPr>
              <a:xfrm>
                <a:off x="2041184" y="4303513"/>
                <a:ext cx="649483" cy="215067"/>
                <a:chOff x="1363493" y="4190025"/>
                <a:chExt cx="649483" cy="215067"/>
              </a:xfrm>
            </p:grpSpPr>
            <p:sp>
              <p:nvSpPr>
                <p:cNvPr id="43" name="Oval 42">
                  <a:extLst>
                    <a:ext uri="{FF2B5EF4-FFF2-40B4-BE49-F238E27FC236}">
                      <a16:creationId xmlns:a16="http://schemas.microsoft.com/office/drawing/2014/main" id="{3F37D117-3FDF-7478-E4E9-5A5C129BF77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63493" y="4190025"/>
                  <a:ext cx="137160" cy="140505"/>
                </a:xfrm>
                <a:prstGeom prst="ellipse">
                  <a:avLst/>
                </a:prstGeom>
                <a:solidFill>
                  <a:schemeClr val="accent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299B3305-A3F5-3860-D1F6-6D4F1F0D1CD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532105" y="4212715"/>
                  <a:ext cx="137160" cy="140505"/>
                </a:xfrm>
                <a:prstGeom prst="ellipse">
                  <a:avLst/>
                </a:prstGeom>
                <a:solidFill>
                  <a:schemeClr val="accent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1AEB6A5E-2FCF-CD06-9A2C-B800F004AC6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703960" y="4238651"/>
                  <a:ext cx="137160" cy="140505"/>
                </a:xfrm>
                <a:prstGeom prst="ellipse">
                  <a:avLst/>
                </a:prstGeom>
                <a:solidFill>
                  <a:schemeClr val="accent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F4688273-9F9D-2A67-E6A7-00F7728A6F3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875816" y="4264587"/>
                  <a:ext cx="137160" cy="140505"/>
                </a:xfrm>
                <a:prstGeom prst="ellipse">
                  <a:avLst/>
                </a:prstGeom>
                <a:solidFill>
                  <a:schemeClr val="accent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C7B15354-4F44-8AB6-EB14-936F71169C4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689695" y="4397535"/>
              <a:ext cx="137160" cy="140505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C9767126-02B3-B9AD-4074-37112C543A9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61551" y="4423471"/>
              <a:ext cx="137160" cy="140505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E66AEED1-E1C0-7238-4939-150F9F92D00A}"/>
              </a:ext>
            </a:extLst>
          </p:cNvPr>
          <p:cNvGrpSpPr/>
          <p:nvPr/>
        </p:nvGrpSpPr>
        <p:grpSpPr>
          <a:xfrm rot="173061">
            <a:off x="1547022" y="2552479"/>
            <a:ext cx="1570164" cy="1786396"/>
            <a:chOff x="1093875" y="2722456"/>
            <a:chExt cx="1570164" cy="1786396"/>
          </a:xfrm>
        </p:grpSpPr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0BDFC969-E435-1D2F-9E00-C301F02BDD6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93875" y="2722456"/>
              <a:ext cx="137160" cy="140505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03A399CD-E585-810B-B4D2-F13E0B2751BE}"/>
                </a:ext>
              </a:extLst>
            </p:cNvPr>
            <p:cNvGrpSpPr/>
            <p:nvPr/>
          </p:nvGrpSpPr>
          <p:grpSpPr>
            <a:xfrm>
              <a:off x="1515205" y="4222443"/>
              <a:ext cx="1148834" cy="286409"/>
              <a:chOff x="1534661" y="4232171"/>
              <a:chExt cx="1148834" cy="286409"/>
            </a:xfrm>
          </p:grpSpPr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AA5BEAAE-E595-EBA4-438A-6666322396B3}"/>
                  </a:ext>
                </a:extLst>
              </p:cNvPr>
              <p:cNvGrpSpPr/>
              <p:nvPr/>
            </p:nvGrpSpPr>
            <p:grpSpPr>
              <a:xfrm>
                <a:off x="1534661" y="4232171"/>
                <a:ext cx="484457" cy="192377"/>
                <a:chOff x="1534661" y="4232171"/>
                <a:chExt cx="484457" cy="192377"/>
              </a:xfrm>
            </p:grpSpPr>
            <p:sp>
              <p:nvSpPr>
                <p:cNvPr id="63" name="Oval 62">
                  <a:extLst>
                    <a:ext uri="{FF2B5EF4-FFF2-40B4-BE49-F238E27FC236}">
                      <a16:creationId xmlns:a16="http://schemas.microsoft.com/office/drawing/2014/main" id="{3332AADD-D11E-63E1-051A-62AD9FA5541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534661" y="4232171"/>
                  <a:ext cx="137160" cy="140505"/>
                </a:xfrm>
                <a:prstGeom prst="ellipse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168" name="Oval 7167">
                  <a:extLst>
                    <a:ext uri="{FF2B5EF4-FFF2-40B4-BE49-F238E27FC236}">
                      <a16:creationId xmlns:a16="http://schemas.microsoft.com/office/drawing/2014/main" id="{5F16555B-0DD1-992B-1660-000561D236A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712658" y="4258107"/>
                  <a:ext cx="137160" cy="140505"/>
                </a:xfrm>
                <a:prstGeom prst="ellipse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169" name="Oval 7168">
                  <a:extLst>
                    <a:ext uri="{FF2B5EF4-FFF2-40B4-BE49-F238E27FC236}">
                      <a16:creationId xmlns:a16="http://schemas.microsoft.com/office/drawing/2014/main" id="{EC61DE4B-DF27-D1BE-73BB-46C28BA8143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881958" y="4284043"/>
                  <a:ext cx="137160" cy="140505"/>
                </a:xfrm>
                <a:prstGeom prst="ellipse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7B432117-B4A7-16CD-5CC2-91E3723B9AE9}"/>
                  </a:ext>
                </a:extLst>
              </p:cNvPr>
              <p:cNvGrpSpPr/>
              <p:nvPr/>
            </p:nvGrpSpPr>
            <p:grpSpPr>
              <a:xfrm>
                <a:off x="2037598" y="4303513"/>
                <a:ext cx="645897" cy="215067"/>
                <a:chOff x="1359907" y="4190025"/>
                <a:chExt cx="645897" cy="215067"/>
              </a:xfrm>
            </p:grpSpPr>
            <p:sp>
              <p:nvSpPr>
                <p:cNvPr id="58" name="Oval 57">
                  <a:extLst>
                    <a:ext uri="{FF2B5EF4-FFF2-40B4-BE49-F238E27FC236}">
                      <a16:creationId xmlns:a16="http://schemas.microsoft.com/office/drawing/2014/main" id="{EFA2DA29-77DA-40B8-1C01-496C048D705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59907" y="4190025"/>
                  <a:ext cx="137160" cy="140505"/>
                </a:xfrm>
                <a:prstGeom prst="ellipse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9" name="Oval 58">
                  <a:extLst>
                    <a:ext uri="{FF2B5EF4-FFF2-40B4-BE49-F238E27FC236}">
                      <a16:creationId xmlns:a16="http://schemas.microsoft.com/office/drawing/2014/main" id="{181E8378-D354-B290-74A2-407EAF4267F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524933" y="4212715"/>
                  <a:ext cx="137160" cy="140505"/>
                </a:xfrm>
                <a:prstGeom prst="ellipse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60" name="Oval 59">
                  <a:extLst>
                    <a:ext uri="{FF2B5EF4-FFF2-40B4-BE49-F238E27FC236}">
                      <a16:creationId xmlns:a16="http://schemas.microsoft.com/office/drawing/2014/main" id="{6CC7233B-FECF-4310-2930-7855CDE6D7A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696788" y="4238651"/>
                  <a:ext cx="137160" cy="140505"/>
                </a:xfrm>
                <a:prstGeom prst="ellipse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61" name="Oval 60">
                  <a:extLst>
                    <a:ext uri="{FF2B5EF4-FFF2-40B4-BE49-F238E27FC236}">
                      <a16:creationId xmlns:a16="http://schemas.microsoft.com/office/drawing/2014/main" id="{7DF6B1E2-3FC5-7645-E328-D4ED2C30031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868644" y="4264587"/>
                  <a:ext cx="137160" cy="140505"/>
                </a:xfrm>
                <a:prstGeom prst="ellipse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sp>
        <p:nvSpPr>
          <p:cNvPr id="7171" name="Oval 7170">
            <a:extLst>
              <a:ext uri="{FF2B5EF4-FFF2-40B4-BE49-F238E27FC236}">
                <a16:creationId xmlns:a16="http://schemas.microsoft.com/office/drawing/2014/main" id="{1091C482-8488-B83D-43FA-6B1AC1C232A3}"/>
              </a:ext>
            </a:extLst>
          </p:cNvPr>
          <p:cNvSpPr>
            <a:spLocks noChangeAspect="1"/>
          </p:cNvSpPr>
          <p:nvPr/>
        </p:nvSpPr>
        <p:spPr>
          <a:xfrm>
            <a:off x="2110691" y="2541293"/>
            <a:ext cx="137160" cy="14050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173" name="Oval 7172">
            <a:extLst>
              <a:ext uri="{FF2B5EF4-FFF2-40B4-BE49-F238E27FC236}">
                <a16:creationId xmlns:a16="http://schemas.microsoft.com/office/drawing/2014/main" id="{020528ED-2959-40D7-E709-2FDF718BD07A}"/>
              </a:ext>
            </a:extLst>
          </p:cNvPr>
          <p:cNvSpPr>
            <a:spLocks noChangeAspect="1"/>
          </p:cNvSpPr>
          <p:nvPr/>
        </p:nvSpPr>
        <p:spPr>
          <a:xfrm>
            <a:off x="2287380" y="3801743"/>
            <a:ext cx="137160" cy="14050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174" name="Oval 7173">
            <a:extLst>
              <a:ext uri="{FF2B5EF4-FFF2-40B4-BE49-F238E27FC236}">
                <a16:creationId xmlns:a16="http://schemas.microsoft.com/office/drawing/2014/main" id="{A9351145-34CB-2747-DA10-EDFE6C546F9E}"/>
              </a:ext>
            </a:extLst>
          </p:cNvPr>
          <p:cNvSpPr>
            <a:spLocks noChangeAspect="1"/>
          </p:cNvSpPr>
          <p:nvPr/>
        </p:nvSpPr>
        <p:spPr>
          <a:xfrm>
            <a:off x="2465377" y="3827679"/>
            <a:ext cx="137160" cy="14050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175" name="Oval 7174">
            <a:extLst>
              <a:ext uri="{FF2B5EF4-FFF2-40B4-BE49-F238E27FC236}">
                <a16:creationId xmlns:a16="http://schemas.microsoft.com/office/drawing/2014/main" id="{D5D9986D-5734-0882-6276-4BCC0E0D1148}"/>
              </a:ext>
            </a:extLst>
          </p:cNvPr>
          <p:cNvSpPr>
            <a:spLocks noChangeAspect="1"/>
          </p:cNvSpPr>
          <p:nvPr/>
        </p:nvSpPr>
        <p:spPr>
          <a:xfrm>
            <a:off x="2634677" y="3853615"/>
            <a:ext cx="137160" cy="14050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176" name="Oval 7175">
            <a:extLst>
              <a:ext uri="{FF2B5EF4-FFF2-40B4-BE49-F238E27FC236}">
                <a16:creationId xmlns:a16="http://schemas.microsoft.com/office/drawing/2014/main" id="{F11ED1C4-DDAF-C49B-658E-DD74BF30F5FB}"/>
              </a:ext>
            </a:extLst>
          </p:cNvPr>
          <p:cNvSpPr>
            <a:spLocks noChangeAspect="1"/>
          </p:cNvSpPr>
          <p:nvPr/>
        </p:nvSpPr>
        <p:spPr>
          <a:xfrm>
            <a:off x="2790317" y="3873085"/>
            <a:ext cx="137160" cy="14050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177" name="Oval 7176">
            <a:extLst>
              <a:ext uri="{FF2B5EF4-FFF2-40B4-BE49-F238E27FC236}">
                <a16:creationId xmlns:a16="http://schemas.microsoft.com/office/drawing/2014/main" id="{B22AEABA-B14C-7C6C-3FA0-ECE813DD3220}"/>
              </a:ext>
            </a:extLst>
          </p:cNvPr>
          <p:cNvSpPr>
            <a:spLocks noChangeAspect="1"/>
          </p:cNvSpPr>
          <p:nvPr/>
        </p:nvSpPr>
        <p:spPr>
          <a:xfrm>
            <a:off x="2955343" y="3895775"/>
            <a:ext cx="137160" cy="14050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178" name="Oval 7177">
            <a:extLst>
              <a:ext uri="{FF2B5EF4-FFF2-40B4-BE49-F238E27FC236}">
                <a16:creationId xmlns:a16="http://schemas.microsoft.com/office/drawing/2014/main" id="{8950DDE2-B134-22B5-87D3-61D36E598472}"/>
              </a:ext>
            </a:extLst>
          </p:cNvPr>
          <p:cNvSpPr>
            <a:spLocks noChangeAspect="1"/>
          </p:cNvSpPr>
          <p:nvPr/>
        </p:nvSpPr>
        <p:spPr>
          <a:xfrm>
            <a:off x="3127198" y="3921711"/>
            <a:ext cx="137160" cy="14050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179" name="Oval 7178">
            <a:extLst>
              <a:ext uri="{FF2B5EF4-FFF2-40B4-BE49-F238E27FC236}">
                <a16:creationId xmlns:a16="http://schemas.microsoft.com/office/drawing/2014/main" id="{0F6C8E7F-E7EE-871C-3D08-C5733AF2F437}"/>
              </a:ext>
            </a:extLst>
          </p:cNvPr>
          <p:cNvSpPr>
            <a:spLocks noChangeAspect="1"/>
          </p:cNvSpPr>
          <p:nvPr/>
        </p:nvSpPr>
        <p:spPr>
          <a:xfrm>
            <a:off x="3299054" y="3947647"/>
            <a:ext cx="137160" cy="14050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185" name="Group 7184">
            <a:extLst>
              <a:ext uri="{FF2B5EF4-FFF2-40B4-BE49-F238E27FC236}">
                <a16:creationId xmlns:a16="http://schemas.microsoft.com/office/drawing/2014/main" id="{B529DC29-1605-ACF8-3506-DBF729264F35}"/>
              </a:ext>
            </a:extLst>
          </p:cNvPr>
          <p:cNvGrpSpPr>
            <a:grpSpLocks noChangeAspect="1"/>
          </p:cNvGrpSpPr>
          <p:nvPr/>
        </p:nvGrpSpPr>
        <p:grpSpPr>
          <a:xfrm>
            <a:off x="7025332" y="1485901"/>
            <a:ext cx="4707225" cy="3877340"/>
            <a:chOff x="6847401" y="1455836"/>
            <a:chExt cx="5217712" cy="4297828"/>
          </a:xfrm>
        </p:grpSpPr>
        <p:pic>
          <p:nvPicPr>
            <p:cNvPr id="7181" name="Picture 4">
              <a:extLst>
                <a:ext uri="{FF2B5EF4-FFF2-40B4-BE49-F238E27FC236}">
                  <a16:creationId xmlns:a16="http://schemas.microsoft.com/office/drawing/2014/main" id="{3158DE50-EF5E-7269-84FC-960393DCE60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947"/>
            <a:stretch/>
          </p:blipFill>
          <p:spPr bwMode="auto">
            <a:xfrm>
              <a:off x="6847401" y="1455836"/>
              <a:ext cx="5217712" cy="42978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182" name="Oval 7181">
              <a:extLst>
                <a:ext uri="{FF2B5EF4-FFF2-40B4-BE49-F238E27FC236}">
                  <a16:creationId xmlns:a16="http://schemas.microsoft.com/office/drawing/2014/main" id="{CDDE4F26-7F7C-78F9-99F0-2BFE661E9AA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20158" y="5058201"/>
              <a:ext cx="137160" cy="140505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183" name="Oval 7182">
              <a:extLst>
                <a:ext uri="{FF2B5EF4-FFF2-40B4-BE49-F238E27FC236}">
                  <a16:creationId xmlns:a16="http://schemas.microsoft.com/office/drawing/2014/main" id="{BA84A0CE-4555-ED22-5597-B2AF5A9EE3D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731632" y="2064445"/>
              <a:ext cx="137160" cy="140505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184" name="Oval 7183">
              <a:extLst>
                <a:ext uri="{FF2B5EF4-FFF2-40B4-BE49-F238E27FC236}">
                  <a16:creationId xmlns:a16="http://schemas.microsoft.com/office/drawing/2014/main" id="{B3D0C0F0-B60A-7702-83A1-3990051B7EA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759554" y="4146174"/>
              <a:ext cx="137160" cy="140505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186" name="TextBox 7185">
                <a:extLst>
                  <a:ext uri="{FF2B5EF4-FFF2-40B4-BE49-F238E27FC236}">
                    <a16:creationId xmlns:a16="http://schemas.microsoft.com/office/drawing/2014/main" id="{4D04F465-FC49-64D9-C4C1-D7216315AD28}"/>
                  </a:ext>
                </a:extLst>
              </p:cNvPr>
              <p:cNvSpPr txBox="1"/>
              <p:nvPr/>
            </p:nvSpPr>
            <p:spPr>
              <a:xfrm>
                <a:off x="407614" y="2365237"/>
                <a:ext cx="53841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b="0" i="1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7186" name="TextBox 7185">
                <a:extLst>
                  <a:ext uri="{FF2B5EF4-FFF2-40B4-BE49-F238E27FC236}">
                    <a16:creationId xmlns:a16="http://schemas.microsoft.com/office/drawing/2014/main" id="{4D04F465-FC49-64D9-C4C1-D7216315AD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614" y="2365237"/>
                <a:ext cx="538413" cy="461665"/>
              </a:xfrm>
              <a:prstGeom prst="rect">
                <a:avLst/>
              </a:prstGeom>
              <a:blipFill>
                <a:blip r:embed="rId8"/>
                <a:stretch>
                  <a:fillRect l="-2326" r="-16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88" name="TextBox 7187">
                <a:extLst>
                  <a:ext uri="{FF2B5EF4-FFF2-40B4-BE49-F238E27FC236}">
                    <a16:creationId xmlns:a16="http://schemas.microsoft.com/office/drawing/2014/main" id="{16EE59E7-0314-148E-2D21-91F2399BD5DF}"/>
                  </a:ext>
                </a:extLst>
              </p:cNvPr>
              <p:cNvSpPr txBox="1"/>
              <p:nvPr/>
            </p:nvSpPr>
            <p:spPr>
              <a:xfrm>
                <a:off x="7788553" y="2907381"/>
                <a:ext cx="59116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7188" name="TextBox 7187">
                <a:extLst>
                  <a:ext uri="{FF2B5EF4-FFF2-40B4-BE49-F238E27FC236}">
                    <a16:creationId xmlns:a16="http://schemas.microsoft.com/office/drawing/2014/main" id="{16EE59E7-0314-148E-2D21-91F2399BD5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8553" y="2907381"/>
                <a:ext cx="591167" cy="461665"/>
              </a:xfrm>
              <a:prstGeom prst="rect">
                <a:avLst/>
              </a:prstGeom>
              <a:blipFill>
                <a:blip r:embed="rId9"/>
                <a:stretch>
                  <a:fillRect l="-2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89" name="TextBox 7188">
                <a:extLst>
                  <a:ext uri="{FF2B5EF4-FFF2-40B4-BE49-F238E27FC236}">
                    <a16:creationId xmlns:a16="http://schemas.microsoft.com/office/drawing/2014/main" id="{D1234052-8A7E-8F21-1CA5-9B9201752E7E}"/>
                  </a:ext>
                </a:extLst>
              </p:cNvPr>
              <p:cNvSpPr txBox="1"/>
              <p:nvPr/>
            </p:nvSpPr>
            <p:spPr>
              <a:xfrm>
                <a:off x="7292950" y="5712851"/>
                <a:ext cx="4693021" cy="646331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1800" dirty="0"/>
                  <a:t>Notice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dirty="0"/>
                  <a:t>is a function of distance (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1800" dirty="0"/>
                  <a:t>) only, since we’ve summed over quantum numbers (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7189" name="TextBox 7188">
                <a:extLst>
                  <a:ext uri="{FF2B5EF4-FFF2-40B4-BE49-F238E27FC236}">
                    <a16:creationId xmlns:a16="http://schemas.microsoft.com/office/drawing/2014/main" id="{D1234052-8A7E-8F21-1CA5-9B9201752E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2950" y="5712851"/>
                <a:ext cx="4693021" cy="646331"/>
              </a:xfrm>
              <a:prstGeom prst="rect">
                <a:avLst/>
              </a:prstGeom>
              <a:blipFill>
                <a:blip r:embed="rId10"/>
                <a:stretch>
                  <a:fillRect l="-806" t="-3774" r="-806" b="-13208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5AD69B20-7B6F-D6E1-386D-66D19A12F22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14925" y="3207441"/>
            <a:ext cx="2124116" cy="756041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8386832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94E4ADC-FF4C-DFAF-257C-EFB2EEAFF915}"/>
                  </a:ext>
                </a:extLst>
              </p:cNvPr>
              <p:cNvSpPr txBox="1"/>
              <p:nvPr/>
            </p:nvSpPr>
            <p:spPr>
              <a:xfrm>
                <a:off x="0" y="-23751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From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p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2400" b="1" dirty="0"/>
                  <a:t>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400" b="1" dirty="0"/>
                  <a:t>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𝒁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94E4ADC-FF4C-DFAF-257C-EFB2EEAFF9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23751"/>
                <a:ext cx="12192000" cy="461665"/>
              </a:xfrm>
              <a:prstGeom prst="rect">
                <a:avLst/>
              </a:prstGeom>
              <a:blipFill>
                <a:blip r:embed="rId3"/>
                <a:stretch>
                  <a:fillRect l="-83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CCE97E21-3FFC-7FEC-D8A4-490854E07C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443" y="1877513"/>
            <a:ext cx="4438220" cy="95630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22" name="Right Arrow 21">
            <a:extLst>
              <a:ext uri="{FF2B5EF4-FFF2-40B4-BE49-F238E27FC236}">
                <a16:creationId xmlns:a16="http://schemas.microsoft.com/office/drawing/2014/main" id="{4A2B746B-1A71-6B5C-6FC0-D6B4827D5646}"/>
              </a:ext>
            </a:extLst>
          </p:cNvPr>
          <p:cNvSpPr/>
          <p:nvPr/>
        </p:nvSpPr>
        <p:spPr>
          <a:xfrm rot="10800000">
            <a:off x="5670002" y="2178297"/>
            <a:ext cx="582990" cy="35473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4B4CE21-5F3E-ACB2-8578-95C02A5286D0}"/>
              </a:ext>
            </a:extLst>
          </p:cNvPr>
          <p:cNvGrpSpPr>
            <a:grpSpLocks noChangeAspect="1"/>
          </p:cNvGrpSpPr>
          <p:nvPr/>
        </p:nvGrpSpPr>
        <p:grpSpPr>
          <a:xfrm>
            <a:off x="7025332" y="1485901"/>
            <a:ext cx="4707225" cy="3877340"/>
            <a:chOff x="6847401" y="1455836"/>
            <a:chExt cx="5217712" cy="4297828"/>
          </a:xfrm>
        </p:grpSpPr>
        <p:pic>
          <p:nvPicPr>
            <p:cNvPr id="6" name="Picture 4">
              <a:extLst>
                <a:ext uri="{FF2B5EF4-FFF2-40B4-BE49-F238E27FC236}">
                  <a16:creationId xmlns:a16="http://schemas.microsoft.com/office/drawing/2014/main" id="{55841930-4169-207C-4F4C-8475E2667B7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947"/>
            <a:stretch/>
          </p:blipFill>
          <p:spPr bwMode="auto">
            <a:xfrm>
              <a:off x="6847401" y="1455836"/>
              <a:ext cx="5217712" cy="42978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31491B0-66E6-FC45-0B9C-DE04606E40E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20158" y="5058201"/>
              <a:ext cx="137160" cy="140505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B234F796-5426-DDEF-2B8B-E8EA23838B5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731632" y="2064445"/>
              <a:ext cx="137160" cy="140505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06514AF-E567-B65E-C13E-10F8D35B586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759554" y="4146174"/>
              <a:ext cx="137160" cy="140505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1593297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94E4ADC-FF4C-DFAF-257C-EFB2EEAFF915}"/>
                  </a:ext>
                </a:extLst>
              </p:cNvPr>
              <p:cNvSpPr txBox="1"/>
              <p:nvPr/>
            </p:nvSpPr>
            <p:spPr>
              <a:xfrm>
                <a:off x="0" y="-23751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From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p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2400" b="1" dirty="0"/>
                  <a:t>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400" b="1" dirty="0"/>
                  <a:t>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𝒁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94E4ADC-FF4C-DFAF-257C-EFB2EEAFF9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23751"/>
                <a:ext cx="12192000" cy="461665"/>
              </a:xfrm>
              <a:prstGeom prst="rect">
                <a:avLst/>
              </a:prstGeom>
              <a:blipFill>
                <a:blip r:embed="rId3"/>
                <a:stretch>
                  <a:fillRect l="-83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CCE97E21-3FFC-7FEC-D8A4-490854E07C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443" y="1877513"/>
            <a:ext cx="4438220" cy="95630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22" name="Right Arrow 21">
            <a:extLst>
              <a:ext uri="{FF2B5EF4-FFF2-40B4-BE49-F238E27FC236}">
                <a16:creationId xmlns:a16="http://schemas.microsoft.com/office/drawing/2014/main" id="{4A2B746B-1A71-6B5C-6FC0-D6B4827D5646}"/>
              </a:ext>
            </a:extLst>
          </p:cNvPr>
          <p:cNvSpPr/>
          <p:nvPr/>
        </p:nvSpPr>
        <p:spPr>
          <a:xfrm rot="10800000">
            <a:off x="5670002" y="2178297"/>
            <a:ext cx="582990" cy="35473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4B4CE21-5F3E-ACB2-8578-95C02A5286D0}"/>
              </a:ext>
            </a:extLst>
          </p:cNvPr>
          <p:cNvGrpSpPr>
            <a:grpSpLocks noChangeAspect="1"/>
          </p:cNvGrpSpPr>
          <p:nvPr/>
        </p:nvGrpSpPr>
        <p:grpSpPr>
          <a:xfrm>
            <a:off x="7025332" y="1485901"/>
            <a:ext cx="4707225" cy="3877340"/>
            <a:chOff x="6847401" y="1455836"/>
            <a:chExt cx="5217712" cy="4297828"/>
          </a:xfrm>
        </p:grpSpPr>
        <p:pic>
          <p:nvPicPr>
            <p:cNvPr id="6" name="Picture 4">
              <a:extLst>
                <a:ext uri="{FF2B5EF4-FFF2-40B4-BE49-F238E27FC236}">
                  <a16:creationId xmlns:a16="http://schemas.microsoft.com/office/drawing/2014/main" id="{55841930-4169-207C-4F4C-8475E2667B7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947"/>
            <a:stretch/>
          </p:blipFill>
          <p:spPr bwMode="auto">
            <a:xfrm>
              <a:off x="6847401" y="1455836"/>
              <a:ext cx="5217712" cy="42978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31491B0-66E6-FC45-0B9C-DE04606E40E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20158" y="5058201"/>
              <a:ext cx="137160" cy="140505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B234F796-5426-DDEF-2B8B-E8EA23838B5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731632" y="2064445"/>
              <a:ext cx="137160" cy="140505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06514AF-E567-B65E-C13E-10F8D35B586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759554" y="4146174"/>
              <a:ext cx="137160" cy="140505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8674F2CA-35E0-070C-EF84-96B681AF59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1895" y="2989725"/>
            <a:ext cx="6654675" cy="357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9674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94E4ADC-FF4C-DFAF-257C-EFB2EEAFF915}"/>
                  </a:ext>
                </a:extLst>
              </p:cNvPr>
              <p:cNvSpPr txBox="1"/>
              <p:nvPr/>
            </p:nvSpPr>
            <p:spPr>
              <a:xfrm>
                <a:off x="0" y="-23751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From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𝒁</m:t>
                    </m:r>
                  </m:oMath>
                </a14:m>
                <a:r>
                  <a:rPr lang="en-US" sz="2400" b="1" dirty="0"/>
                  <a:t>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400" b="1" dirty="0"/>
                  <a:t>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𝑼</m:t>
                        </m:r>
                      </m:e>
                      <m:sub>
                        <m:r>
                          <a:rPr lang="en-US" sz="24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𝒔𝒐𝒍</m:t>
                        </m:r>
                      </m:sub>
                    </m:sSub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94E4ADC-FF4C-DFAF-257C-EFB2EEAFF9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23751"/>
                <a:ext cx="12192000" cy="461665"/>
              </a:xfrm>
              <a:prstGeom prst="rect">
                <a:avLst/>
              </a:prstGeom>
              <a:blipFill>
                <a:blip r:embed="rId3"/>
                <a:stretch>
                  <a:fillRect l="-83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CCE97E21-3FFC-7FEC-D8A4-490854E07C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443" y="1877513"/>
            <a:ext cx="4438220" cy="95630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22" name="Right Arrow 21">
            <a:extLst>
              <a:ext uri="{FF2B5EF4-FFF2-40B4-BE49-F238E27FC236}">
                <a16:creationId xmlns:a16="http://schemas.microsoft.com/office/drawing/2014/main" id="{4A2B746B-1A71-6B5C-6FC0-D6B4827D5646}"/>
              </a:ext>
            </a:extLst>
          </p:cNvPr>
          <p:cNvSpPr/>
          <p:nvPr/>
        </p:nvSpPr>
        <p:spPr>
          <a:xfrm rot="10800000">
            <a:off x="5670002" y="2178297"/>
            <a:ext cx="582990" cy="35473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4B4CE21-5F3E-ACB2-8578-95C02A5286D0}"/>
              </a:ext>
            </a:extLst>
          </p:cNvPr>
          <p:cNvGrpSpPr>
            <a:grpSpLocks noChangeAspect="1"/>
          </p:cNvGrpSpPr>
          <p:nvPr/>
        </p:nvGrpSpPr>
        <p:grpSpPr>
          <a:xfrm>
            <a:off x="7025332" y="1485901"/>
            <a:ext cx="4707225" cy="3877340"/>
            <a:chOff x="6847401" y="1455836"/>
            <a:chExt cx="5217712" cy="4297828"/>
          </a:xfrm>
        </p:grpSpPr>
        <p:pic>
          <p:nvPicPr>
            <p:cNvPr id="6" name="Picture 4">
              <a:extLst>
                <a:ext uri="{FF2B5EF4-FFF2-40B4-BE49-F238E27FC236}">
                  <a16:creationId xmlns:a16="http://schemas.microsoft.com/office/drawing/2014/main" id="{55841930-4169-207C-4F4C-8475E2667B7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947"/>
            <a:stretch/>
          </p:blipFill>
          <p:spPr bwMode="auto">
            <a:xfrm>
              <a:off x="6847401" y="1455836"/>
              <a:ext cx="5217712" cy="42978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31491B0-66E6-FC45-0B9C-DE04606E40E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20158" y="5058201"/>
              <a:ext cx="137160" cy="140505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B234F796-5426-DDEF-2B8B-E8EA23838B5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731632" y="2064445"/>
              <a:ext cx="137160" cy="140505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06514AF-E567-B65E-C13E-10F8D35B586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759554" y="4146174"/>
              <a:ext cx="137160" cy="140505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D25F0EC7-999A-F883-1B7C-6644E88F1E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443" y="3551923"/>
            <a:ext cx="5060114" cy="97571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9" name="Right Arrow 8">
            <a:extLst>
              <a:ext uri="{FF2B5EF4-FFF2-40B4-BE49-F238E27FC236}">
                <a16:creationId xmlns:a16="http://schemas.microsoft.com/office/drawing/2014/main" id="{0ECE470A-8FFC-7C6A-1FDD-2827B5D8CF61}"/>
              </a:ext>
            </a:extLst>
          </p:cNvPr>
          <p:cNvSpPr/>
          <p:nvPr/>
        </p:nvSpPr>
        <p:spPr>
          <a:xfrm rot="5400000">
            <a:off x="2602881" y="3004951"/>
            <a:ext cx="582990" cy="35473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6932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94E4ADC-FF4C-DFAF-257C-EFB2EEAFF915}"/>
                  </a:ext>
                </a:extLst>
              </p:cNvPr>
              <p:cNvSpPr txBox="1"/>
              <p:nvPr/>
            </p:nvSpPr>
            <p:spPr>
              <a:xfrm>
                <a:off x="0" y="-23751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From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𝒁</m:t>
                    </m:r>
                  </m:oMath>
                </a14:m>
                <a:r>
                  <a:rPr lang="en-US" sz="2400" b="1" dirty="0"/>
                  <a:t>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400" b="1" dirty="0"/>
                  <a:t>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𝑼</m:t>
                        </m:r>
                      </m:e>
                      <m:sub>
                        <m:r>
                          <a:rPr lang="en-US" sz="24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𝒔𝒐𝒍</m:t>
                        </m:r>
                      </m:sub>
                    </m:sSub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94E4ADC-FF4C-DFAF-257C-EFB2EEAFF9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23751"/>
                <a:ext cx="12192000" cy="461665"/>
              </a:xfrm>
              <a:prstGeom prst="rect">
                <a:avLst/>
              </a:prstGeom>
              <a:blipFill>
                <a:blip r:embed="rId3"/>
                <a:stretch>
                  <a:fillRect l="-83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CCE97E21-3FFC-7FEC-D8A4-490854E07C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443" y="1877513"/>
            <a:ext cx="4438220" cy="95630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22" name="Right Arrow 21">
            <a:extLst>
              <a:ext uri="{FF2B5EF4-FFF2-40B4-BE49-F238E27FC236}">
                <a16:creationId xmlns:a16="http://schemas.microsoft.com/office/drawing/2014/main" id="{4A2B746B-1A71-6B5C-6FC0-D6B4827D5646}"/>
              </a:ext>
            </a:extLst>
          </p:cNvPr>
          <p:cNvSpPr/>
          <p:nvPr/>
        </p:nvSpPr>
        <p:spPr>
          <a:xfrm rot="10800000">
            <a:off x="5670002" y="2178297"/>
            <a:ext cx="582990" cy="35473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4B4CE21-5F3E-ACB2-8578-95C02A5286D0}"/>
              </a:ext>
            </a:extLst>
          </p:cNvPr>
          <p:cNvGrpSpPr>
            <a:grpSpLocks noChangeAspect="1"/>
          </p:cNvGrpSpPr>
          <p:nvPr/>
        </p:nvGrpSpPr>
        <p:grpSpPr>
          <a:xfrm>
            <a:off x="7025332" y="1485901"/>
            <a:ext cx="4707225" cy="3877340"/>
            <a:chOff x="6847401" y="1455836"/>
            <a:chExt cx="5217712" cy="4297828"/>
          </a:xfrm>
        </p:grpSpPr>
        <p:pic>
          <p:nvPicPr>
            <p:cNvPr id="6" name="Picture 4">
              <a:extLst>
                <a:ext uri="{FF2B5EF4-FFF2-40B4-BE49-F238E27FC236}">
                  <a16:creationId xmlns:a16="http://schemas.microsoft.com/office/drawing/2014/main" id="{55841930-4169-207C-4F4C-8475E2667B7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947"/>
            <a:stretch/>
          </p:blipFill>
          <p:spPr bwMode="auto">
            <a:xfrm>
              <a:off x="6847401" y="1455836"/>
              <a:ext cx="5217712" cy="42978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31491B0-66E6-FC45-0B9C-DE04606E40E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20158" y="5058201"/>
              <a:ext cx="137160" cy="140505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B234F796-5426-DDEF-2B8B-E8EA23838B5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731632" y="2064445"/>
              <a:ext cx="137160" cy="140505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06514AF-E567-B65E-C13E-10F8D35B586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759554" y="4146174"/>
              <a:ext cx="137160" cy="140505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D25F0EC7-999A-F883-1B7C-6644E88F1E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443" y="3551923"/>
            <a:ext cx="5060114" cy="97571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9" name="Right Arrow 8">
            <a:extLst>
              <a:ext uri="{FF2B5EF4-FFF2-40B4-BE49-F238E27FC236}">
                <a16:creationId xmlns:a16="http://schemas.microsoft.com/office/drawing/2014/main" id="{0ECE470A-8FFC-7C6A-1FDD-2827B5D8CF61}"/>
              </a:ext>
            </a:extLst>
          </p:cNvPr>
          <p:cNvSpPr/>
          <p:nvPr/>
        </p:nvSpPr>
        <p:spPr>
          <a:xfrm rot="5400000">
            <a:off x="2602881" y="3004951"/>
            <a:ext cx="582990" cy="35473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1CD782A-D978-7C9C-949C-94C6DC5876B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8587" y="4757840"/>
            <a:ext cx="6826671" cy="354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866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94E4ADC-FF4C-DFAF-257C-EFB2EEAFF915}"/>
                  </a:ext>
                </a:extLst>
              </p:cNvPr>
              <p:cNvSpPr txBox="1"/>
              <p:nvPr/>
            </p:nvSpPr>
            <p:spPr>
              <a:xfrm>
                <a:off x="0" y="-23751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From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𝒁</m:t>
                    </m:r>
                  </m:oMath>
                </a14:m>
                <a:r>
                  <a:rPr lang="en-US" sz="2400" b="1" dirty="0"/>
                  <a:t>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400" b="1" dirty="0"/>
                  <a:t>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𝑼</m:t>
                        </m:r>
                      </m:e>
                      <m:sub>
                        <m:r>
                          <a:rPr lang="en-US" sz="24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𝒔𝒐𝒍</m:t>
                        </m:r>
                      </m:sub>
                    </m:sSub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94E4ADC-FF4C-DFAF-257C-EFB2EEAFF9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23751"/>
                <a:ext cx="12192000" cy="461665"/>
              </a:xfrm>
              <a:prstGeom prst="rect">
                <a:avLst/>
              </a:prstGeom>
              <a:blipFill>
                <a:blip r:embed="rId3"/>
                <a:stretch>
                  <a:fillRect l="-83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CCE97E21-3FFC-7FEC-D8A4-490854E07C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443" y="1877513"/>
            <a:ext cx="4438220" cy="95630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22" name="Right Arrow 21">
            <a:extLst>
              <a:ext uri="{FF2B5EF4-FFF2-40B4-BE49-F238E27FC236}">
                <a16:creationId xmlns:a16="http://schemas.microsoft.com/office/drawing/2014/main" id="{4A2B746B-1A71-6B5C-6FC0-D6B4827D5646}"/>
              </a:ext>
            </a:extLst>
          </p:cNvPr>
          <p:cNvSpPr/>
          <p:nvPr/>
        </p:nvSpPr>
        <p:spPr>
          <a:xfrm>
            <a:off x="5804505" y="3844275"/>
            <a:ext cx="582990" cy="35473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25F0EC7-999A-F883-1B7C-6644E88F1E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443" y="3551923"/>
            <a:ext cx="5060114" cy="97571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9" name="Right Arrow 8">
            <a:extLst>
              <a:ext uri="{FF2B5EF4-FFF2-40B4-BE49-F238E27FC236}">
                <a16:creationId xmlns:a16="http://schemas.microsoft.com/office/drawing/2014/main" id="{0ECE470A-8FFC-7C6A-1FDD-2827B5D8CF61}"/>
              </a:ext>
            </a:extLst>
          </p:cNvPr>
          <p:cNvSpPr/>
          <p:nvPr/>
        </p:nvSpPr>
        <p:spPr>
          <a:xfrm rot="5400000">
            <a:off x="2602881" y="3004951"/>
            <a:ext cx="582990" cy="35473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617BB97-9A19-0E68-368F-38215447EA67}"/>
              </a:ext>
            </a:extLst>
          </p:cNvPr>
          <p:cNvGrpSpPr/>
          <p:nvPr/>
        </p:nvGrpSpPr>
        <p:grpSpPr>
          <a:xfrm>
            <a:off x="6832225" y="2053566"/>
            <a:ext cx="4576067" cy="3217621"/>
            <a:chOff x="113820" y="1937535"/>
            <a:chExt cx="4576067" cy="3217621"/>
          </a:xfrm>
        </p:grpSpPr>
        <p:pic>
          <p:nvPicPr>
            <p:cNvPr id="11" name="Picture 2">
              <a:extLst>
                <a:ext uri="{FF2B5EF4-FFF2-40B4-BE49-F238E27FC236}">
                  <a16:creationId xmlns:a16="http://schemas.microsoft.com/office/drawing/2014/main" id="{704BEE95-EEC3-90CB-ED24-A1930C6DE43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278" t="11575"/>
            <a:stretch/>
          </p:blipFill>
          <p:spPr bwMode="auto">
            <a:xfrm>
              <a:off x="1209524" y="1937535"/>
              <a:ext cx="3480363" cy="26015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1CA28430-8F50-5263-DEBC-4F94A45DD06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334598" y="4691702"/>
              <a:ext cx="3021875" cy="463454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E75FC7B9-2756-C934-82E3-EA897FB4E26E}"/>
                    </a:ext>
                  </a:extLst>
                </p:cNvPr>
                <p:cNvSpPr txBox="1"/>
                <p:nvPr/>
              </p:nvSpPr>
              <p:spPr>
                <a:xfrm>
                  <a:off x="113820" y="2593053"/>
                  <a:ext cx="997267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𝑼</m:t>
                            </m:r>
                          </m:e>
                          <m:sub>
                            <m:r>
                              <a:rPr lang="en-US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𝒔𝒐𝒍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E75FC7B9-2756-C934-82E3-EA897FB4E2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820" y="2593053"/>
                  <a:ext cx="997267" cy="461665"/>
                </a:xfrm>
                <a:prstGeom prst="rect">
                  <a:avLst/>
                </a:prstGeom>
                <a:blipFill>
                  <a:blip r:embed="rId8"/>
                  <a:stretch>
                    <a:fillRect b="-540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8924578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</TotalTime>
  <Words>130</Words>
  <Application>Microsoft Macintosh PowerPoint</Application>
  <PresentationFormat>Widescreen</PresentationFormat>
  <Paragraphs>32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</dc:creator>
  <cp:lastModifiedBy>Steven</cp:lastModifiedBy>
  <cp:revision>39</cp:revision>
  <dcterms:created xsi:type="dcterms:W3CDTF">2023-11-28T19:38:12Z</dcterms:created>
  <dcterms:modified xsi:type="dcterms:W3CDTF">2025-12-02T18:35:55Z</dcterms:modified>
</cp:coreProperties>
</file>