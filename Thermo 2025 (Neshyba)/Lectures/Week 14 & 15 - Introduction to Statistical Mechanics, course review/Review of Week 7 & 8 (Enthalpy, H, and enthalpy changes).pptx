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15" r:id="rId2"/>
    <p:sldId id="730" r:id="rId3"/>
    <p:sldId id="330" r:id="rId4"/>
    <p:sldId id="721" r:id="rId5"/>
    <p:sldId id="732" r:id="rId6"/>
    <p:sldId id="752" r:id="rId7"/>
    <p:sldId id="720" r:id="rId8"/>
    <p:sldId id="731" r:id="rId9"/>
    <p:sldId id="341" r:id="rId10"/>
    <p:sldId id="72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474"/>
    <p:restoredTop sz="96405"/>
  </p:normalViewPr>
  <p:slideViewPr>
    <p:cSldViewPr snapToGrid="0" snapToObjects="1">
      <p:cViewPr varScale="1">
        <p:scale>
          <a:sx n="97" d="100"/>
          <a:sy n="97" d="100"/>
        </p:scale>
        <p:origin x="21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2C55F-A764-FC44-BEEE-D7C4EE71CF9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BFE5B-39E0-E946-A2B0-503E8D947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6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AEAE-9380-E944-B8FB-BA1C7F70F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B660F-C7FA-FD4B-9125-440DD77CA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70AC7-35E0-804C-83C2-2FCF68B7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12328-6AE1-D649-A994-8ED4E1F7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DA7EC-971F-1841-B9BC-E9CB596E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8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7BB4-0641-4A4B-8296-DDF56F85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00AF-0F67-A34C-BB2B-FDA93BE8D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1FB90-97B5-7941-906A-983BDD56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C833-215A-EB41-84A4-79332BC0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E93B9-C539-8E4D-AD7E-E7C690EA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2408-1BC0-654A-A582-CEAF56CD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11575-C03F-D941-AC7A-1BBA414FD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1C42C-4E2B-134F-902C-08560B4A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76FD7-258A-EB45-BBC8-CCB4BDE3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C9ECD-5699-7D45-8A20-2E0A5F63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2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3DD3-1F11-0243-A23B-38A2A947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EF30-3D4D-544E-9C49-027C76B5F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BA7E-B629-D548-9174-30E9EF4B8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DC3EA-551B-EF47-B5CE-45B806E1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3BE34-6A7D-9243-824B-85C4DBF1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08E7B-A7CF-E647-9BDA-7CE7791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695F-F03B-184F-A2DC-89AE1548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26B73-B2BA-9347-AD61-E1DD60724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A2C09-C6FC-7B47-9E19-AAF4FE677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F706F-D53E-7D4A-9F46-6F41A0EF7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8DF7E-3979-B544-BAB5-3D07852D9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D21FC-F29A-DA4E-9CC4-4E2616B9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B0028-C7C7-0241-8508-51BB5076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BC0A7-4482-C14D-AB22-D8F7920B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6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37ED-3847-6A45-BF4D-1D1D0518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75824-36F6-8849-B482-4C934324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B2867-D5B3-D846-9A26-B1F13048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C2380-C1A3-0C46-9694-6B58E315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C3485-4BBD-094F-9138-E7A0B14C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84B16-F00E-9C48-9288-EFC0740B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47089-8451-3C44-BC05-933A41B8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7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9D60-9420-5645-85FC-6E94DDC6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D5CF-CDFD-504C-BB58-BA1F0B75F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595C8-268C-7148-A4C2-D29D40834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D1EA6-F10C-D34F-9734-31F1E103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6D20A-EB3F-DA46-946B-5ED5FF96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AC6E4-B8F4-3A40-B997-EFCD1D54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6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A9F5-254E-BF49-BCAC-C7180E87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3CCD3-7E1A-D84B-87A8-018BD576A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240E1-FD7E-1E4D-A4E9-F520F8C1B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F3B33-5ED4-1242-8F8D-2BDA6B1E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BA30C-2A0A-CE47-BF09-5EFAB0BF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7664F-57C9-2B44-A85A-52F1F4CA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5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6E2D-2C6E-5B4B-AEE1-7BDAB3DD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3D927-F1E1-1945-8A7D-548A36ADD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2AAA9-DA94-7045-B335-79DBA0ED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22B07-893F-D24F-A5D9-C55A33EA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3E4E8-2A3C-1D4D-BFC0-F4F7ACAF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F7E4D-E1FB-814B-911A-C870A3B29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6E505-7FEA-D54A-9D27-64BA67D7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6782D-1E97-7544-B9FB-BFB3EDF4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12A7C-1E52-0E49-B263-DA729878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475FE-CF97-B941-BE85-FF5708E14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E024D-FD5F-5C4F-BEB6-1FFA516A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E4D0-7211-A941-B8DD-35E7D2F1D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6B5B1-3B7C-E946-9A6C-B4E8E5DE3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8FD4A-6E0D-1944-BA5F-1755D1A7DD7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1E672-1AA3-1342-9A1E-E5B7461BC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60A30-CACC-824C-8AB1-51BF6E363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image" Target="../media/image81.png"/><Relationship Id="rId4" Type="http://schemas.openxmlformats.org/officeDocument/2006/relationships/image" Target="../media/image7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gif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50D2F6-244C-D942-94AA-828045BB7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578" y="756781"/>
            <a:ext cx="5369011" cy="40664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/>
              <p:nvPr/>
            </p:nvSpPr>
            <p:spPr>
              <a:xfrm>
                <a:off x="1483567" y="5035500"/>
                <a:ext cx="83531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𝒅𝑯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𝒅𝑷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567" y="5035500"/>
                <a:ext cx="8353168" cy="461665"/>
              </a:xfrm>
              <a:prstGeom prst="rect">
                <a:avLst/>
              </a:prstGeom>
              <a:blipFill>
                <a:blip r:embed="rId3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4531840" y="1059444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840" y="1059444"/>
                <a:ext cx="6147486" cy="661015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A2CC0B-185B-2341-8BA7-87BD1A7AB4DF}"/>
                  </a:ext>
                </a:extLst>
              </p:cNvPr>
              <p:cNvSpPr txBox="1"/>
              <p:nvPr/>
            </p:nvSpPr>
            <p:spPr>
              <a:xfrm>
                <a:off x="2586408" y="839353"/>
                <a:ext cx="6147486" cy="662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A2CC0B-185B-2341-8BA7-87BD1A7AB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408" y="839353"/>
                <a:ext cx="6147486" cy="662617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4BBAFF0-B041-3B4A-83B0-17F7CBBDF0D4}"/>
              </a:ext>
            </a:extLst>
          </p:cNvPr>
          <p:cNvGrpSpPr/>
          <p:nvPr/>
        </p:nvGrpSpPr>
        <p:grpSpPr>
          <a:xfrm>
            <a:off x="3560594" y="3417393"/>
            <a:ext cx="5221633" cy="2137410"/>
            <a:chOff x="3986792" y="3482553"/>
            <a:chExt cx="5221633" cy="213741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0886DA-CFB6-0F4C-8C23-3A1811EE894B}"/>
                </a:ext>
              </a:extLst>
            </p:cNvPr>
            <p:cNvSpPr txBox="1"/>
            <p:nvPr/>
          </p:nvSpPr>
          <p:spPr>
            <a:xfrm rot="21366508">
              <a:off x="7071015" y="4440734"/>
              <a:ext cx="2137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Temperature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835A7D-4EF3-984E-9769-177447A3813F}"/>
                </a:ext>
              </a:extLst>
            </p:cNvPr>
            <p:cNvSpPr txBox="1"/>
            <p:nvPr/>
          </p:nvSpPr>
          <p:spPr>
            <a:xfrm rot="3436007">
              <a:off x="3102753" y="4366592"/>
              <a:ext cx="2137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Pressure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D93868-C615-1BCF-1141-50DD8DA0D169}"/>
                  </a:ext>
                </a:extLst>
              </p:cNvPr>
              <p:cNvSpPr txBox="1"/>
              <p:nvPr/>
            </p:nvSpPr>
            <p:spPr>
              <a:xfrm>
                <a:off x="0" y="981"/>
                <a:ext cx="11527184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7 –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b="1" dirty="0"/>
                  <a:t>as a thermodynamic surface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D93868-C615-1BCF-1141-50DD8DA0D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1"/>
                <a:ext cx="11527184" cy="461665"/>
              </a:xfrm>
              <a:prstGeom prst="rect">
                <a:avLst/>
              </a:prstGeom>
              <a:blipFill>
                <a:blip r:embed="rId6"/>
                <a:stretch>
                  <a:fillRect l="-881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58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5720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The twist in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d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57200"/>
              </a:xfrm>
              <a:prstGeom prst="rect">
                <a:avLst/>
              </a:prstGeom>
              <a:blipFill>
                <a:blip r:embed="rId2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/>
              <p:nvPr/>
            </p:nvSpPr>
            <p:spPr>
              <a:xfrm>
                <a:off x="584407" y="5614695"/>
                <a:ext cx="43521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𝒅𝑯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𝒅𝑷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07" y="5614695"/>
                <a:ext cx="4352169" cy="461665"/>
              </a:xfrm>
              <a:prstGeom prst="rect">
                <a:avLst/>
              </a:prstGeom>
              <a:blipFill>
                <a:blip r:embed="rId3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482884-EA66-E545-ABD0-9C8B7258130C}"/>
                  </a:ext>
                </a:extLst>
              </p:cNvPr>
              <p:cNvSpPr txBox="1"/>
              <p:nvPr/>
            </p:nvSpPr>
            <p:spPr>
              <a:xfrm>
                <a:off x="6657391" y="1143805"/>
                <a:ext cx="4869792" cy="4397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Which formula could explain the “twist” evident here?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482884-EA66-E545-ABD0-9C8B72581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391" y="1143805"/>
                <a:ext cx="4869792" cy="4397614"/>
              </a:xfrm>
              <a:prstGeom prst="rect">
                <a:avLst/>
              </a:prstGeom>
              <a:blipFill>
                <a:blip r:embed="rId5"/>
                <a:stretch>
                  <a:fillRect l="-2083" t="-1153" b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B10E18F-A7A2-4F93-C357-047231231E46}"/>
              </a:ext>
            </a:extLst>
          </p:cNvPr>
          <p:cNvGrpSpPr/>
          <p:nvPr/>
        </p:nvGrpSpPr>
        <p:grpSpPr>
          <a:xfrm>
            <a:off x="404553" y="531167"/>
            <a:ext cx="5821887" cy="4704760"/>
            <a:chOff x="404553" y="531167"/>
            <a:chExt cx="5821887" cy="470476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86B4EE4-FCFE-7B17-42B1-224F50E5EB02}"/>
                </a:ext>
              </a:extLst>
            </p:cNvPr>
            <p:cNvGrpSpPr/>
            <p:nvPr/>
          </p:nvGrpSpPr>
          <p:grpSpPr>
            <a:xfrm>
              <a:off x="404553" y="531167"/>
              <a:ext cx="5821887" cy="4704760"/>
              <a:chOff x="404553" y="531167"/>
              <a:chExt cx="5821887" cy="4704760"/>
            </a:xfrm>
          </p:grpSpPr>
          <p:pic>
            <p:nvPicPr>
              <p:cNvPr id="7172" name="Picture 4">
                <a:extLst>
                  <a:ext uri="{FF2B5EF4-FFF2-40B4-BE49-F238E27FC236}">
                    <a16:creationId xmlns:a16="http://schemas.microsoft.com/office/drawing/2014/main" id="{1F1C3ED5-1F15-5AC6-FDC6-E71543C683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26" t="20287" r="17045" b="11111"/>
              <a:stretch/>
            </p:blipFill>
            <p:spPr bwMode="auto">
              <a:xfrm>
                <a:off x="404553" y="531167"/>
                <a:ext cx="5691447" cy="47047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B3B832F-BF3C-BD41-8324-0F857F98E139}"/>
                  </a:ext>
                </a:extLst>
              </p:cNvPr>
              <p:cNvGrpSpPr/>
              <p:nvPr/>
            </p:nvGrpSpPr>
            <p:grpSpPr>
              <a:xfrm>
                <a:off x="584407" y="3969755"/>
                <a:ext cx="5642033" cy="485418"/>
                <a:chOff x="3967165" y="4034915"/>
                <a:chExt cx="5642033" cy="485418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E806882-3A0D-6A45-A59C-0DFFEDA95745}"/>
                    </a:ext>
                  </a:extLst>
                </p:cNvPr>
                <p:cNvSpPr txBox="1"/>
                <p:nvPr/>
              </p:nvSpPr>
              <p:spPr>
                <a:xfrm rot="20887029">
                  <a:off x="7471788" y="4151001"/>
                  <a:ext cx="21374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T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CAD908-1793-3448-8976-0DFA73CE5F3D}"/>
                    </a:ext>
                  </a:extLst>
                </p:cNvPr>
                <p:cNvSpPr txBox="1"/>
                <p:nvPr/>
              </p:nvSpPr>
              <p:spPr>
                <a:xfrm>
                  <a:off x="3967165" y="4034915"/>
                  <a:ext cx="330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P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B6A561E-F836-EA16-9F6F-923CB3AC9DCD}"/>
                    </a:ext>
                  </a:extLst>
                </p:cNvPr>
                <p:cNvSpPr txBox="1"/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B6A561E-F836-EA16-9F6F-923CB3AC9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2594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Contours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d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BEB121C-B8F9-254F-A233-562D09992E4C}"/>
              </a:ext>
            </a:extLst>
          </p:cNvPr>
          <p:cNvSpPr txBox="1"/>
          <p:nvPr/>
        </p:nvSpPr>
        <p:spPr>
          <a:xfrm>
            <a:off x="6096000" y="1211057"/>
            <a:ext cx="34785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contours </a:t>
            </a:r>
            <a:r>
              <a:rPr lang="en-US" sz="2400" dirty="0"/>
              <a:t>are called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 err="1"/>
              <a:t>Isentropes</a:t>
            </a:r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Isochores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Isobars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 err="1"/>
              <a:t>Isenthalps</a:t>
            </a:r>
            <a:endParaRPr lang="en-US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Isotherms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694B7C-79EB-2F4B-A10E-701A26939D62}"/>
              </a:ext>
            </a:extLst>
          </p:cNvPr>
          <p:cNvGrpSpPr/>
          <p:nvPr/>
        </p:nvGrpSpPr>
        <p:grpSpPr>
          <a:xfrm>
            <a:off x="404553" y="531167"/>
            <a:ext cx="5821887" cy="4704760"/>
            <a:chOff x="404553" y="531167"/>
            <a:chExt cx="5821887" cy="470476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BE13506-D07F-63A7-74B3-6FE8039665B3}"/>
                </a:ext>
              </a:extLst>
            </p:cNvPr>
            <p:cNvGrpSpPr/>
            <p:nvPr/>
          </p:nvGrpSpPr>
          <p:grpSpPr>
            <a:xfrm>
              <a:off x="404553" y="531167"/>
              <a:ext cx="5821887" cy="4704760"/>
              <a:chOff x="404553" y="531167"/>
              <a:chExt cx="5821887" cy="4704760"/>
            </a:xfrm>
          </p:grpSpPr>
          <p:pic>
            <p:nvPicPr>
              <p:cNvPr id="17" name="Picture 4">
                <a:extLst>
                  <a:ext uri="{FF2B5EF4-FFF2-40B4-BE49-F238E27FC236}">
                    <a16:creationId xmlns:a16="http://schemas.microsoft.com/office/drawing/2014/main" id="{D4F0B7EA-3406-BA9C-BBEC-10F4477F4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26" t="20287" r="17045" b="11111"/>
              <a:stretch/>
            </p:blipFill>
            <p:spPr bwMode="auto">
              <a:xfrm>
                <a:off x="404553" y="531167"/>
                <a:ext cx="5691447" cy="47047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E6A95E7-F189-26D4-E517-7EF4789632C6}"/>
                  </a:ext>
                </a:extLst>
              </p:cNvPr>
              <p:cNvGrpSpPr/>
              <p:nvPr/>
            </p:nvGrpSpPr>
            <p:grpSpPr>
              <a:xfrm>
                <a:off x="584407" y="3969755"/>
                <a:ext cx="5642033" cy="485418"/>
                <a:chOff x="3967165" y="4034915"/>
                <a:chExt cx="5642033" cy="485418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99C6456-3A07-7823-6D88-BB493D80AD31}"/>
                    </a:ext>
                  </a:extLst>
                </p:cNvPr>
                <p:cNvSpPr txBox="1"/>
                <p:nvPr/>
              </p:nvSpPr>
              <p:spPr>
                <a:xfrm rot="20887029">
                  <a:off x="7471788" y="4151001"/>
                  <a:ext cx="21374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T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2FC254A-2096-CE2F-ECC9-EC701841F73F}"/>
                    </a:ext>
                  </a:extLst>
                </p:cNvPr>
                <p:cNvSpPr txBox="1"/>
                <p:nvPr/>
              </p:nvSpPr>
              <p:spPr>
                <a:xfrm>
                  <a:off x="3967165" y="4034915"/>
                  <a:ext cx="330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P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906ED0B-5F27-3BF4-CCEB-DE8B050761CE}"/>
                    </a:ext>
                  </a:extLst>
                </p:cNvPr>
                <p:cNvSpPr txBox="1"/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906ED0B-5F27-3BF4-CCEB-DE8B05076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1719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Characteristic temperatures of gases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EB121C-B8F9-254F-A233-562D09992E4C}"/>
                  </a:ext>
                </a:extLst>
              </p:cNvPr>
              <p:cNvSpPr txBox="1"/>
              <p:nvPr/>
            </p:nvSpPr>
            <p:spPr>
              <a:xfrm>
                <a:off x="6096000" y="1211057"/>
                <a:ext cx="6591300" cy="2337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Looks like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240 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is the</a:t>
                </a:r>
              </a:p>
              <a:p>
                <a:r>
                  <a:rPr lang="en-US" sz="2400" dirty="0"/>
                  <a:t> 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Triple-point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Critical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Boyle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Inversion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EB121C-B8F9-254F-A233-562D09992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11057"/>
                <a:ext cx="6591300" cy="2337499"/>
              </a:xfrm>
              <a:prstGeom prst="rect">
                <a:avLst/>
              </a:prstGeom>
              <a:blipFill>
                <a:blip r:embed="rId2"/>
                <a:stretch>
                  <a:fillRect l="-1541" t="-1622" b="-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1285CE9-50BE-2FF9-BD53-25E9C6F80518}"/>
              </a:ext>
            </a:extLst>
          </p:cNvPr>
          <p:cNvSpPr txBox="1"/>
          <p:nvPr/>
        </p:nvSpPr>
        <p:spPr>
          <a:xfrm>
            <a:off x="2007300" y="1542246"/>
            <a:ext cx="213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6D43B4-3652-BF2A-6E39-02E90FC70E75}"/>
              </a:ext>
            </a:extLst>
          </p:cNvPr>
          <p:cNvGrpSpPr/>
          <p:nvPr/>
        </p:nvGrpSpPr>
        <p:grpSpPr>
          <a:xfrm>
            <a:off x="404553" y="531167"/>
            <a:ext cx="5821887" cy="4704760"/>
            <a:chOff x="404553" y="531167"/>
            <a:chExt cx="5821887" cy="470476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C230C0E-A559-064F-7907-B00E751A8FEB}"/>
                </a:ext>
              </a:extLst>
            </p:cNvPr>
            <p:cNvGrpSpPr/>
            <p:nvPr/>
          </p:nvGrpSpPr>
          <p:grpSpPr>
            <a:xfrm>
              <a:off x="404553" y="531167"/>
              <a:ext cx="5821887" cy="4704760"/>
              <a:chOff x="404553" y="531167"/>
              <a:chExt cx="5821887" cy="4704760"/>
            </a:xfrm>
          </p:grpSpPr>
          <p:pic>
            <p:nvPicPr>
              <p:cNvPr id="19" name="Picture 4">
                <a:extLst>
                  <a:ext uri="{FF2B5EF4-FFF2-40B4-BE49-F238E27FC236}">
                    <a16:creationId xmlns:a16="http://schemas.microsoft.com/office/drawing/2014/main" id="{0F06D0FA-3786-85A3-2436-0E6153AAA1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26" t="20287" r="17045" b="11111"/>
              <a:stretch/>
            </p:blipFill>
            <p:spPr bwMode="auto">
              <a:xfrm>
                <a:off x="404553" y="531167"/>
                <a:ext cx="5691447" cy="47047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91F5CFC-A9DB-F68E-7448-7F30B38AA9BF}"/>
                  </a:ext>
                </a:extLst>
              </p:cNvPr>
              <p:cNvGrpSpPr/>
              <p:nvPr/>
            </p:nvGrpSpPr>
            <p:grpSpPr>
              <a:xfrm>
                <a:off x="584407" y="3969755"/>
                <a:ext cx="5642033" cy="485418"/>
                <a:chOff x="3967165" y="4034915"/>
                <a:chExt cx="5642033" cy="485418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1D6F279-14F2-1137-4728-4914E5BDB74C}"/>
                    </a:ext>
                  </a:extLst>
                </p:cNvPr>
                <p:cNvSpPr txBox="1"/>
                <p:nvPr/>
              </p:nvSpPr>
              <p:spPr>
                <a:xfrm rot="20887029">
                  <a:off x="7471788" y="4151001"/>
                  <a:ext cx="21374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T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CBE2E0-FCA8-692C-509F-EE2569658C26}"/>
                    </a:ext>
                  </a:extLst>
                </p:cNvPr>
                <p:cNvSpPr txBox="1"/>
                <p:nvPr/>
              </p:nvSpPr>
              <p:spPr>
                <a:xfrm>
                  <a:off x="3967165" y="4034915"/>
                  <a:ext cx="330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P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B9358AE-0B08-9228-F133-66CF186E2C1C}"/>
                    </a:ext>
                  </a:extLst>
                </p:cNvPr>
                <p:cNvSpPr txBox="1"/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B9358AE-0B08-9228-F133-66CF186E2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3519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Characteristic temperatures of gases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85CE9-50BE-2FF9-BD53-25E9C6F80518}"/>
              </a:ext>
            </a:extLst>
          </p:cNvPr>
          <p:cNvSpPr txBox="1"/>
          <p:nvPr/>
        </p:nvSpPr>
        <p:spPr>
          <a:xfrm>
            <a:off x="2007300" y="1542246"/>
            <a:ext cx="213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6D43B4-3652-BF2A-6E39-02E90FC70E75}"/>
              </a:ext>
            </a:extLst>
          </p:cNvPr>
          <p:cNvGrpSpPr/>
          <p:nvPr/>
        </p:nvGrpSpPr>
        <p:grpSpPr>
          <a:xfrm>
            <a:off x="404553" y="531167"/>
            <a:ext cx="5821887" cy="4704760"/>
            <a:chOff x="404553" y="531167"/>
            <a:chExt cx="5821887" cy="470476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C230C0E-A559-064F-7907-B00E751A8FEB}"/>
                </a:ext>
              </a:extLst>
            </p:cNvPr>
            <p:cNvGrpSpPr/>
            <p:nvPr/>
          </p:nvGrpSpPr>
          <p:grpSpPr>
            <a:xfrm>
              <a:off x="404553" y="531167"/>
              <a:ext cx="5821887" cy="4704760"/>
              <a:chOff x="404553" y="531167"/>
              <a:chExt cx="5821887" cy="4704760"/>
            </a:xfrm>
          </p:grpSpPr>
          <p:pic>
            <p:nvPicPr>
              <p:cNvPr id="19" name="Picture 4">
                <a:extLst>
                  <a:ext uri="{FF2B5EF4-FFF2-40B4-BE49-F238E27FC236}">
                    <a16:creationId xmlns:a16="http://schemas.microsoft.com/office/drawing/2014/main" id="{0F06D0FA-3786-85A3-2436-0E6153AAA1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26" t="20287" r="17045" b="11111"/>
              <a:stretch/>
            </p:blipFill>
            <p:spPr bwMode="auto">
              <a:xfrm>
                <a:off x="404553" y="531167"/>
                <a:ext cx="5691447" cy="47047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91F5CFC-A9DB-F68E-7448-7F30B38AA9BF}"/>
                  </a:ext>
                </a:extLst>
              </p:cNvPr>
              <p:cNvGrpSpPr/>
              <p:nvPr/>
            </p:nvGrpSpPr>
            <p:grpSpPr>
              <a:xfrm>
                <a:off x="584407" y="3969755"/>
                <a:ext cx="5642033" cy="485418"/>
                <a:chOff x="3967165" y="4034915"/>
                <a:chExt cx="5642033" cy="485418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1D6F279-14F2-1137-4728-4914E5BDB74C}"/>
                    </a:ext>
                  </a:extLst>
                </p:cNvPr>
                <p:cNvSpPr txBox="1"/>
                <p:nvPr/>
              </p:nvSpPr>
              <p:spPr>
                <a:xfrm rot="20887029">
                  <a:off x="7471788" y="4151001"/>
                  <a:ext cx="21374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T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CBE2E0-FCA8-692C-509F-EE2569658C26}"/>
                    </a:ext>
                  </a:extLst>
                </p:cNvPr>
                <p:cNvSpPr txBox="1"/>
                <p:nvPr/>
              </p:nvSpPr>
              <p:spPr>
                <a:xfrm>
                  <a:off x="3967165" y="4034915"/>
                  <a:ext cx="330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P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B9358AE-0B08-9228-F133-66CF186E2C1C}"/>
                    </a:ext>
                  </a:extLst>
                </p:cNvPr>
                <p:cNvSpPr txBox="1"/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B9358AE-0B08-9228-F133-66CF186E2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FC54931-56A1-DCB0-B2DD-2455C1C5E2BA}"/>
              </a:ext>
            </a:extLst>
          </p:cNvPr>
          <p:cNvSpPr/>
          <p:nvPr/>
        </p:nvSpPr>
        <p:spPr>
          <a:xfrm>
            <a:off x="6572160" y="3091746"/>
            <a:ext cx="3618762" cy="431624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EFF8FB-0D58-F7AF-1F90-D76DF895D495}"/>
                  </a:ext>
                </a:extLst>
              </p:cNvPr>
              <p:cNvSpPr txBox="1"/>
              <p:nvPr/>
            </p:nvSpPr>
            <p:spPr>
              <a:xfrm>
                <a:off x="6096000" y="1211057"/>
                <a:ext cx="6591300" cy="2337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Looks like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240 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is the</a:t>
                </a:r>
              </a:p>
              <a:p>
                <a:r>
                  <a:rPr lang="en-US" sz="2400" dirty="0"/>
                  <a:t> 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Triple-point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Critical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Boyle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Inversion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EFF8FB-0D58-F7AF-1F90-D76DF895D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11057"/>
                <a:ext cx="6591300" cy="2337499"/>
              </a:xfrm>
              <a:prstGeom prst="rect">
                <a:avLst/>
              </a:prstGeom>
              <a:blipFill>
                <a:blip r:embed="rId5"/>
                <a:stretch>
                  <a:fillRect l="-1541" t="-1622" b="-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38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4902" y="2663"/>
            <a:ext cx="1218709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9 – How the characteristic temperatures line up in a phase diagram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04E9D4-CDC7-D066-FAEF-50E7E5143A1B}"/>
              </a:ext>
            </a:extLst>
          </p:cNvPr>
          <p:cNvGrpSpPr/>
          <p:nvPr/>
        </p:nvGrpSpPr>
        <p:grpSpPr>
          <a:xfrm>
            <a:off x="3346981" y="1023262"/>
            <a:ext cx="5037136" cy="3388068"/>
            <a:chOff x="6353071" y="1697632"/>
            <a:chExt cx="5037136" cy="33880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C61AB64-6751-2BA5-BFD2-89ABC17B21B1}"/>
                    </a:ext>
                  </a:extLst>
                </p:cNvPr>
                <p:cNvSpPr/>
                <p:nvPr/>
              </p:nvSpPr>
              <p:spPr>
                <a:xfrm>
                  <a:off x="8411047" y="2585877"/>
                  <a:ext cx="875496" cy="6960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B05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C61AB64-6751-2BA5-BFD2-89ABC17B21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1047" y="2585877"/>
                  <a:ext cx="875496" cy="696088"/>
                </a:xfrm>
                <a:prstGeom prst="rect">
                  <a:avLst/>
                </a:prstGeom>
                <a:blipFill>
                  <a:blip r:embed="rId2"/>
                  <a:stretch>
                    <a:fillRect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B1938AE-2256-ECEF-0C03-8CFAAED47C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48795" y="2585877"/>
              <a:ext cx="677619" cy="977938"/>
            </a:xfrm>
            <a:prstGeom prst="line">
              <a:avLst/>
            </a:prstGeom>
            <a:ln w="635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75E93464-7C09-F65A-AC25-97D996BB61A1}"/>
                </a:ext>
              </a:extLst>
            </p:cNvPr>
            <p:cNvSpPr/>
            <p:nvPr/>
          </p:nvSpPr>
          <p:spPr>
            <a:xfrm>
              <a:off x="8852790" y="2993241"/>
              <a:ext cx="433753" cy="443051"/>
            </a:xfrm>
            <a:prstGeom prst="arc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2" descr="Image result for phase diagrams">
              <a:extLst>
                <a:ext uri="{FF2B5EF4-FFF2-40B4-BE49-F238E27FC236}">
                  <a16:creationId xmlns:a16="http://schemas.microsoft.com/office/drawing/2014/main" id="{9AB3B146-302C-8BA4-6AC1-D2C0C79BAB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73" b="5795"/>
            <a:stretch/>
          </p:blipFill>
          <p:spPr bwMode="auto">
            <a:xfrm>
              <a:off x="6353071" y="1697632"/>
              <a:ext cx="3507902" cy="2739762"/>
            </a:xfrm>
            <a:prstGeom prst="rect">
              <a:avLst/>
            </a:prstGeom>
            <a:solidFill>
              <a:schemeClr val="bg1"/>
            </a:solidFill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EF997B9-81B5-0D66-3015-92FD94B41125}"/>
                    </a:ext>
                  </a:extLst>
                </p:cNvPr>
                <p:cNvSpPr txBox="1"/>
                <p:nvPr/>
              </p:nvSpPr>
              <p:spPr>
                <a:xfrm>
                  <a:off x="9121565" y="4594860"/>
                  <a:ext cx="65108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𝑐𝑟𝑖𝑡</m:t>
                            </m:r>
                          </m:sub>
                        </m:sSub>
                      </m:oMath>
                    </m:oMathPara>
                  </a14:m>
                  <a:endParaRPr lang="en-US" sz="2400" b="0" dirty="0"/>
                </a:p>
              </p:txBody>
            </p:sp>
          </mc:Choice>
          <mc:Fallback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EF997B9-81B5-0D66-3015-92FD94B41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1565" y="4594860"/>
                  <a:ext cx="65108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923" r="-11538"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927A2C8-24B9-BC19-D8A0-237F5499B31E}"/>
                    </a:ext>
                  </a:extLst>
                </p:cNvPr>
                <p:cNvSpPr txBox="1"/>
                <p:nvPr/>
              </p:nvSpPr>
              <p:spPr>
                <a:xfrm>
                  <a:off x="10739122" y="4606290"/>
                  <a:ext cx="65108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</m:sub>
                        </m:sSub>
                      </m:oMath>
                    </m:oMathPara>
                  </a14:m>
                  <a:endParaRPr lang="en-US" sz="2400" b="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927A2C8-24B9-BC19-D8A0-237F5499B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9122" y="4606290"/>
                  <a:ext cx="65108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3922" r="-3922"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958D32E-BB7A-F59F-86A6-18A02D4940BB}"/>
                    </a:ext>
                  </a:extLst>
                </p:cNvPr>
                <p:cNvSpPr txBox="1"/>
                <p:nvPr/>
              </p:nvSpPr>
              <p:spPr>
                <a:xfrm>
                  <a:off x="7178465" y="4594860"/>
                  <a:ext cx="65108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b="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958D32E-BB7A-F59F-86A6-18A02D4940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8465" y="4594860"/>
                  <a:ext cx="65108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E97AC6A-501E-E1B2-10A7-D1F200D5DFE2}"/>
                    </a:ext>
                  </a:extLst>
                </p:cNvPr>
                <p:cNvSpPr txBox="1"/>
                <p:nvPr/>
              </p:nvSpPr>
              <p:spPr>
                <a:xfrm>
                  <a:off x="9860973" y="4594860"/>
                  <a:ext cx="651085" cy="490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𝐵𝑜𝑦𝑙𝑒</m:t>
                            </m:r>
                          </m:sub>
                        </m:sSub>
                      </m:oMath>
                    </m:oMathPara>
                  </a14:m>
                  <a:endParaRPr lang="en-US" sz="2400" b="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E97AC6A-501E-E1B2-10A7-D1F200D5D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0973" y="4594860"/>
                  <a:ext cx="651085" cy="490840"/>
                </a:xfrm>
                <a:prstGeom prst="rect">
                  <a:avLst/>
                </a:prstGeom>
                <a:blipFill>
                  <a:blip r:embed="rId7"/>
                  <a:stretch>
                    <a:fillRect l="-1923" r="-48077"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F16B5B-4BF6-F269-5E34-2CBEA129BB79}"/>
                  </a:ext>
                </a:extLst>
              </p:cNvPr>
              <p:cNvSpPr txBox="1"/>
              <p:nvPr/>
            </p:nvSpPr>
            <p:spPr>
              <a:xfrm>
                <a:off x="337527" y="4827546"/>
                <a:ext cx="11555896" cy="14762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According to vdw, all these temperatures are proportional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𝑅𝐵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Example: the Inversion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</m:oMath>
                </a14:m>
                <a:r>
                  <a:rPr lang="en-US" sz="2400" dirty="0"/>
                  <a:t> is the temperature at which that twist is centered,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which solves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𝑅𝐵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F16B5B-4BF6-F269-5E34-2CBEA129B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27" y="4827546"/>
                <a:ext cx="11555896" cy="1476238"/>
              </a:xfrm>
              <a:prstGeom prst="rect">
                <a:avLst/>
              </a:prstGeom>
              <a:blipFill>
                <a:blip r:embed="rId8"/>
                <a:stretch>
                  <a:fillRect l="-658" r="-768" b="-339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36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-1271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8 – The Adiabatic Joule-Thomson experiment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CFF312-85CF-3140-B76B-4E107CED9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943"/>
          <a:stretch/>
        </p:blipFill>
        <p:spPr>
          <a:xfrm>
            <a:off x="6259144" y="887557"/>
            <a:ext cx="3475828" cy="21323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F9EA58-420A-93AD-F8A0-926E752ECBCB}"/>
              </a:ext>
            </a:extLst>
          </p:cNvPr>
          <p:cNvSpPr txBox="1"/>
          <p:nvPr/>
        </p:nvSpPr>
        <p:spPr>
          <a:xfrm>
            <a:off x="2007300" y="1542246"/>
            <a:ext cx="213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183E00-ABC2-C919-A6A3-42C819508A35}"/>
              </a:ext>
            </a:extLst>
          </p:cNvPr>
          <p:cNvGrpSpPr/>
          <p:nvPr/>
        </p:nvGrpSpPr>
        <p:grpSpPr>
          <a:xfrm>
            <a:off x="404553" y="531167"/>
            <a:ext cx="5821887" cy="4704760"/>
            <a:chOff x="404553" y="531167"/>
            <a:chExt cx="5821887" cy="47047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F0F993-7D9A-213D-504A-06068A85D3CF}"/>
                </a:ext>
              </a:extLst>
            </p:cNvPr>
            <p:cNvGrpSpPr/>
            <p:nvPr/>
          </p:nvGrpSpPr>
          <p:grpSpPr>
            <a:xfrm>
              <a:off x="404553" y="531167"/>
              <a:ext cx="5821887" cy="4704760"/>
              <a:chOff x="404553" y="531167"/>
              <a:chExt cx="5821887" cy="4704760"/>
            </a:xfrm>
          </p:grpSpPr>
          <p:pic>
            <p:nvPicPr>
              <p:cNvPr id="8" name="Picture 4">
                <a:extLst>
                  <a:ext uri="{FF2B5EF4-FFF2-40B4-BE49-F238E27FC236}">
                    <a16:creationId xmlns:a16="http://schemas.microsoft.com/office/drawing/2014/main" id="{83B3425C-3F6A-44E2-1A15-3E01139067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26" t="20287" r="17045" b="11111"/>
              <a:stretch/>
            </p:blipFill>
            <p:spPr bwMode="auto">
              <a:xfrm>
                <a:off x="404553" y="531167"/>
                <a:ext cx="5691447" cy="47047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BE8286C-75E8-99DE-3C78-C7D3BC9B5E93}"/>
                  </a:ext>
                </a:extLst>
              </p:cNvPr>
              <p:cNvGrpSpPr/>
              <p:nvPr/>
            </p:nvGrpSpPr>
            <p:grpSpPr>
              <a:xfrm>
                <a:off x="584407" y="3969755"/>
                <a:ext cx="5642033" cy="485418"/>
                <a:chOff x="3967165" y="4034915"/>
                <a:chExt cx="5642033" cy="485418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6D6C7BD-C04D-A668-8310-4ED5D244BA99}"/>
                    </a:ext>
                  </a:extLst>
                </p:cNvPr>
                <p:cNvSpPr txBox="1"/>
                <p:nvPr/>
              </p:nvSpPr>
              <p:spPr>
                <a:xfrm rot="20887029">
                  <a:off x="7471788" y="4151001"/>
                  <a:ext cx="21374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T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B7680B-BCB3-9835-B2BB-84FF9EDE30CE}"/>
                    </a:ext>
                  </a:extLst>
                </p:cNvPr>
                <p:cNvSpPr txBox="1"/>
                <p:nvPr/>
              </p:nvSpPr>
              <p:spPr>
                <a:xfrm>
                  <a:off x="3967165" y="4034915"/>
                  <a:ext cx="330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P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FAE06D7-00EC-3A05-82B5-602F9DCF17AF}"/>
                    </a:ext>
                  </a:extLst>
                </p:cNvPr>
                <p:cNvSpPr txBox="1"/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FAE06D7-00EC-3A05-82B5-602F9DCF1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761ED8-87F7-15D1-1E3A-41862540BB4F}"/>
                  </a:ext>
                </a:extLst>
              </p:cNvPr>
              <p:cNvSpPr txBox="1"/>
              <p:nvPr/>
            </p:nvSpPr>
            <p:spPr>
              <a:xfrm>
                <a:off x="5963478" y="3334521"/>
                <a:ext cx="5936973" cy="23083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key feature of the Adiabatic Joule-Thomson experiment</a:t>
                </a:r>
                <a:r>
                  <a:rPr lang="en-US" sz="2400" b="1" dirty="0"/>
                  <a:t> </a:t>
                </a:r>
                <a:r>
                  <a:rPr lang="en-US" sz="2400" dirty="0"/>
                  <a:t>is that </a:t>
                </a:r>
                <a:r>
                  <a:rPr lang="en-US" sz="2400" b="1" dirty="0"/>
                  <a:t>the gas coming out of the tank follows an </a:t>
                </a:r>
                <a:r>
                  <a:rPr lang="en-US" sz="2400" b="1" dirty="0" err="1"/>
                  <a:t>isenthalp</a:t>
                </a:r>
                <a:r>
                  <a:rPr lang="en-US" sz="2400" dirty="0"/>
                  <a:t> (line of constant enthalpy) on its way out of the tank. That means if the starting temperature is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</m:oMath>
                </a14:m>
                <a:r>
                  <a:rPr lang="en-US" sz="2400" dirty="0"/>
                  <a:t>, (*), the gas will cool on its way out.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761ED8-87F7-15D1-1E3A-41862540B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478" y="3334521"/>
                <a:ext cx="5936973" cy="2308324"/>
              </a:xfrm>
              <a:prstGeom prst="rect">
                <a:avLst/>
              </a:prstGeom>
              <a:blipFill>
                <a:blip r:embed="rId7"/>
                <a:stretch>
                  <a:fillRect l="-1496" t="-2186" r="-427" b="-54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0788756-7023-5C9B-3F09-F2B762A22A7B}"/>
              </a:ext>
            </a:extLst>
          </p:cNvPr>
          <p:cNvSpPr txBox="1"/>
          <p:nvPr/>
        </p:nvSpPr>
        <p:spPr>
          <a:xfrm>
            <a:off x="1563756" y="3021497"/>
            <a:ext cx="456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18415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-1271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Relating the experiment to theory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CFF312-85CF-3140-B76B-4E107CED9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943"/>
          <a:stretch/>
        </p:blipFill>
        <p:spPr>
          <a:xfrm>
            <a:off x="6259144" y="887557"/>
            <a:ext cx="3475828" cy="2132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848477-8755-4842-89E6-A85A34F7B368}"/>
                  </a:ext>
                </a:extLst>
              </p:cNvPr>
              <p:cNvSpPr txBox="1"/>
              <p:nvPr/>
            </p:nvSpPr>
            <p:spPr>
              <a:xfrm>
                <a:off x="6275854" y="3054627"/>
                <a:ext cx="5691446" cy="337207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used the temperature of the gas coming out of the tank to calculate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, which we equated to    </a:t>
                </a: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848477-8755-4842-89E6-A85A34F7B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854" y="3054627"/>
                <a:ext cx="5691446" cy="3372077"/>
              </a:xfrm>
              <a:prstGeom prst="rect">
                <a:avLst/>
              </a:prstGeom>
              <a:blipFill>
                <a:blip r:embed="rId3"/>
                <a:stretch>
                  <a:fillRect l="-1556" t="-1498" r="-155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1F9EA58-420A-93AD-F8A0-926E752ECBCB}"/>
              </a:ext>
            </a:extLst>
          </p:cNvPr>
          <p:cNvSpPr txBox="1"/>
          <p:nvPr/>
        </p:nvSpPr>
        <p:spPr>
          <a:xfrm>
            <a:off x="2007300" y="1542246"/>
            <a:ext cx="213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183E00-ABC2-C919-A6A3-42C819508A35}"/>
              </a:ext>
            </a:extLst>
          </p:cNvPr>
          <p:cNvGrpSpPr/>
          <p:nvPr/>
        </p:nvGrpSpPr>
        <p:grpSpPr>
          <a:xfrm>
            <a:off x="404553" y="531167"/>
            <a:ext cx="5821887" cy="4704760"/>
            <a:chOff x="404553" y="531167"/>
            <a:chExt cx="5821887" cy="47047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F0F993-7D9A-213D-504A-06068A85D3CF}"/>
                </a:ext>
              </a:extLst>
            </p:cNvPr>
            <p:cNvGrpSpPr/>
            <p:nvPr/>
          </p:nvGrpSpPr>
          <p:grpSpPr>
            <a:xfrm>
              <a:off x="404553" y="531167"/>
              <a:ext cx="5821887" cy="4704760"/>
              <a:chOff x="404553" y="531167"/>
              <a:chExt cx="5821887" cy="4704760"/>
            </a:xfrm>
          </p:grpSpPr>
          <p:pic>
            <p:nvPicPr>
              <p:cNvPr id="8" name="Picture 4">
                <a:extLst>
                  <a:ext uri="{FF2B5EF4-FFF2-40B4-BE49-F238E27FC236}">
                    <a16:creationId xmlns:a16="http://schemas.microsoft.com/office/drawing/2014/main" id="{83B3425C-3F6A-44E2-1A15-3E01139067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26" t="20287" r="17045" b="11111"/>
              <a:stretch/>
            </p:blipFill>
            <p:spPr bwMode="auto">
              <a:xfrm>
                <a:off x="404553" y="531167"/>
                <a:ext cx="5691447" cy="47047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BE8286C-75E8-99DE-3C78-C7D3BC9B5E93}"/>
                  </a:ext>
                </a:extLst>
              </p:cNvPr>
              <p:cNvGrpSpPr/>
              <p:nvPr/>
            </p:nvGrpSpPr>
            <p:grpSpPr>
              <a:xfrm>
                <a:off x="584407" y="3969755"/>
                <a:ext cx="5642033" cy="485418"/>
                <a:chOff x="3967165" y="4034915"/>
                <a:chExt cx="5642033" cy="485418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6D6C7BD-C04D-A668-8310-4ED5D244BA99}"/>
                    </a:ext>
                  </a:extLst>
                </p:cNvPr>
                <p:cNvSpPr txBox="1"/>
                <p:nvPr/>
              </p:nvSpPr>
              <p:spPr>
                <a:xfrm rot="20887029">
                  <a:off x="7471788" y="4151001"/>
                  <a:ext cx="21374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T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B7680B-BCB3-9835-B2BB-84FF9EDE30CE}"/>
                    </a:ext>
                  </a:extLst>
                </p:cNvPr>
                <p:cNvSpPr txBox="1"/>
                <p:nvPr/>
              </p:nvSpPr>
              <p:spPr>
                <a:xfrm>
                  <a:off x="3967165" y="4034915"/>
                  <a:ext cx="330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P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FAE06D7-00EC-3A05-82B5-602F9DCF17AF}"/>
                    </a:ext>
                  </a:extLst>
                </p:cNvPr>
                <p:cNvSpPr txBox="1"/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FAE06D7-00EC-3A05-82B5-602F9DCF1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2463" y="1081998"/>
                  <a:ext cx="629674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ABED251-45E7-206A-217A-899B8D32EF87}"/>
              </a:ext>
            </a:extLst>
          </p:cNvPr>
          <p:cNvSpPr txBox="1"/>
          <p:nvPr/>
        </p:nvSpPr>
        <p:spPr>
          <a:xfrm>
            <a:off x="1563756" y="3021497"/>
            <a:ext cx="456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*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F295E5-0444-C4B9-B846-5809D9D62845}"/>
              </a:ext>
            </a:extLst>
          </p:cNvPr>
          <p:cNvCxnSpPr>
            <a:cxnSpLocks/>
          </p:cNvCxnSpPr>
          <p:nvPr/>
        </p:nvCxnSpPr>
        <p:spPr>
          <a:xfrm flipH="1" flipV="1">
            <a:off x="1853292" y="3190623"/>
            <a:ext cx="480085" cy="1358232"/>
          </a:xfrm>
          <a:prstGeom prst="line">
            <a:avLst/>
          </a:prstGeom>
          <a:ln w="76200">
            <a:solidFill>
              <a:schemeClr val="accent1">
                <a:alpha val="53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724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351398-FDBB-8380-C5C1-8CD481BCBCF2}"/>
                  </a:ext>
                </a:extLst>
              </p:cNvPr>
              <p:cNvSpPr txBox="1"/>
              <p:nvPr/>
            </p:nvSpPr>
            <p:spPr>
              <a:xfrm>
                <a:off x="0" y="184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8 –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351398-FDBB-8380-C5C1-8CD481BCB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41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A79F8DE-7EB8-3CEE-A6DA-904CA7CA19C1}"/>
              </a:ext>
            </a:extLst>
          </p:cNvPr>
          <p:cNvGrpSpPr/>
          <p:nvPr/>
        </p:nvGrpSpPr>
        <p:grpSpPr>
          <a:xfrm>
            <a:off x="5086350" y="629583"/>
            <a:ext cx="6879559" cy="5857361"/>
            <a:chOff x="2800350" y="629583"/>
            <a:chExt cx="6879559" cy="585736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180AB0D-FAB4-3275-5AAF-B53379EA49EE}"/>
                </a:ext>
              </a:extLst>
            </p:cNvPr>
            <p:cNvGrpSpPr/>
            <p:nvPr/>
          </p:nvGrpSpPr>
          <p:grpSpPr>
            <a:xfrm>
              <a:off x="2800350" y="629583"/>
              <a:ext cx="6879559" cy="5857361"/>
              <a:chOff x="2800350" y="629583"/>
              <a:chExt cx="6879559" cy="5857361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4327E998-513E-45B7-F8F3-064C7C071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0350" y="629583"/>
                <a:ext cx="6879559" cy="5857361"/>
              </a:xfrm>
              <a:prstGeom prst="rect">
                <a:avLst/>
              </a:prstGeom>
            </p:spPr>
          </p:pic>
          <p:sp>
            <p:nvSpPr>
              <p:cNvPr id="26" name="Up Arrow 25">
                <a:extLst>
                  <a:ext uri="{FF2B5EF4-FFF2-40B4-BE49-F238E27FC236}">
                    <a16:creationId xmlns:a16="http://schemas.microsoft.com/office/drawing/2014/main" id="{6DCEDD9A-06A1-6BB8-58F6-5EC481169AD3}"/>
                  </a:ext>
                </a:extLst>
              </p:cNvPr>
              <p:cNvSpPr/>
              <p:nvPr/>
            </p:nvSpPr>
            <p:spPr>
              <a:xfrm>
                <a:off x="3634091" y="2977236"/>
                <a:ext cx="344392" cy="1818802"/>
              </a:xfrm>
              <a:prstGeom prst="upArrow">
                <a:avLst/>
              </a:prstGeom>
              <a:gradFill>
                <a:gsLst>
                  <a:gs pos="0">
                    <a:schemeClr val="bg1">
                      <a:alpha val="71000"/>
                    </a:schemeClr>
                  </a:gs>
                  <a:gs pos="100000">
                    <a:schemeClr val="bg1"/>
                  </a:gs>
                  <a:gs pos="0">
                    <a:srgbClr val="7030A0"/>
                  </a:gs>
                </a:gsLst>
                <a:lin ang="5400000" scaled="1"/>
              </a:gradFill>
              <a:ln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B7B599D-15B9-9821-ACE4-6AE2F2C08CB8}"/>
                </a:ext>
              </a:extLst>
            </p:cNvPr>
            <p:cNvGrpSpPr/>
            <p:nvPr/>
          </p:nvGrpSpPr>
          <p:grpSpPr>
            <a:xfrm>
              <a:off x="3941276" y="1661160"/>
              <a:ext cx="4716298" cy="2561651"/>
              <a:chOff x="3941276" y="1661160"/>
              <a:chExt cx="4716298" cy="2561651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9343F1C-BEAE-506B-D9EF-9749008EAE20}"/>
                  </a:ext>
                </a:extLst>
              </p:cNvPr>
              <p:cNvSpPr txBox="1"/>
              <p:nvPr/>
            </p:nvSpPr>
            <p:spPr>
              <a:xfrm>
                <a:off x="7045944" y="2380342"/>
                <a:ext cx="16116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liquid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6D614D-ADC0-A599-65CE-12A220F8384F}"/>
                  </a:ext>
                </a:extLst>
              </p:cNvPr>
              <p:cNvSpPr txBox="1"/>
              <p:nvPr/>
            </p:nvSpPr>
            <p:spPr>
              <a:xfrm>
                <a:off x="6392529" y="1661160"/>
                <a:ext cx="16116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gas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807210-0E78-6D9F-36A4-3BE90C5A18D2}"/>
                  </a:ext>
                </a:extLst>
              </p:cNvPr>
              <p:cNvSpPr txBox="1"/>
              <p:nvPr/>
            </p:nvSpPr>
            <p:spPr>
              <a:xfrm>
                <a:off x="6240129" y="3761146"/>
                <a:ext cx="16116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solid 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DE36677-1E3B-CAE9-2E6C-923AF3F2C83D}"/>
                      </a:ext>
                    </a:extLst>
                  </p:cNvPr>
                  <p:cNvSpPr txBox="1"/>
                  <p:nvPr/>
                </p:nvSpPr>
                <p:spPr>
                  <a:xfrm>
                    <a:off x="3941276" y="3219992"/>
                    <a:ext cx="980158" cy="49019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𝑣𝑎𝑝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bSup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DE36677-1E3B-CAE9-2E6C-923AF3F2C8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1276" y="3219992"/>
                    <a:ext cx="980158" cy="4901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82" b="-4878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5" name="Up Arrow 54">
                <a:extLst>
                  <a:ext uri="{FF2B5EF4-FFF2-40B4-BE49-F238E27FC236}">
                    <a16:creationId xmlns:a16="http://schemas.microsoft.com/office/drawing/2014/main" id="{132F0627-38BF-3BDC-387B-0ED84A9619A3}"/>
                  </a:ext>
                </a:extLst>
              </p:cNvPr>
              <p:cNvSpPr/>
              <p:nvPr/>
            </p:nvSpPr>
            <p:spPr>
              <a:xfrm>
                <a:off x="5976687" y="2380342"/>
                <a:ext cx="344392" cy="1204314"/>
              </a:xfrm>
              <a:prstGeom prst="upArrow">
                <a:avLst/>
              </a:prstGeom>
              <a:gradFill>
                <a:gsLst>
                  <a:gs pos="0">
                    <a:schemeClr val="bg1">
                      <a:alpha val="71000"/>
                    </a:schemeClr>
                  </a:gs>
                  <a:gs pos="100000">
                    <a:schemeClr val="bg1"/>
                  </a:gs>
                  <a:gs pos="0">
                    <a:srgbClr val="7030A0"/>
                  </a:gs>
                </a:gsLst>
                <a:lin ang="5400000" scaled="1"/>
              </a:gradFill>
              <a:ln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45BE42-D33C-B5BC-2056-1342E26397EC}"/>
                  </a:ext>
                </a:extLst>
              </p:cNvPr>
              <p:cNvSpPr txBox="1"/>
              <p:nvPr/>
            </p:nvSpPr>
            <p:spPr>
              <a:xfrm>
                <a:off x="111258" y="1368987"/>
                <a:ext cx="5427894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designated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𝚫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dirty="0"/>
                  <a:t> as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at some “standard state,” as a reference point.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Then we designated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as the </a:t>
                </a:r>
                <a:r>
                  <a:rPr lang="en-US" sz="2400" dirty="0">
                    <a:solidFill>
                      <a:schemeClr val="tx1"/>
                    </a:solidFill>
                  </a:rPr>
                  <a:t>change relative to that standard state. 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This was all summed up in the formula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𝒓𝒙𝒏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𝚫</m:t>
                      </m:r>
                      <m:sSubSup>
                        <m:sSub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𝒓𝒙𝒏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p>
                      </m:sSub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𝒓𝒙𝒏</m:t>
                          </m:r>
                        </m:sub>
                      </m:sSub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45BE42-D33C-B5BC-2056-1342E2639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8" y="1368987"/>
                <a:ext cx="5427894" cy="4154984"/>
              </a:xfrm>
              <a:prstGeom prst="rect">
                <a:avLst/>
              </a:prstGeom>
              <a:blipFill>
                <a:blip r:embed="rId5"/>
                <a:stretch>
                  <a:fillRect l="-1632" t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B290F0-F3DF-9993-D031-CBCAA6E6F32A}"/>
                  </a:ext>
                </a:extLst>
              </p:cNvPr>
              <p:cNvSpPr txBox="1"/>
              <p:nvPr/>
            </p:nvSpPr>
            <p:spPr>
              <a:xfrm>
                <a:off x="7127320" y="2666065"/>
                <a:ext cx="980158" cy="490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B290F0-F3DF-9993-D031-CBCAA6E6F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320" y="2666065"/>
                <a:ext cx="980158" cy="490199"/>
              </a:xfrm>
              <a:prstGeom prst="rect">
                <a:avLst/>
              </a:prstGeom>
              <a:blipFill>
                <a:blip r:embed="rId6"/>
                <a:stretch>
                  <a:fillRect b="-2439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500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351398-FDBB-8380-C5C1-8CD481BCBCF2}"/>
                  </a:ext>
                </a:extLst>
              </p:cNvPr>
              <p:cNvSpPr txBox="1"/>
              <p:nvPr/>
            </p:nvSpPr>
            <p:spPr>
              <a:xfrm>
                <a:off x="0" y="184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Physical properties governing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351398-FDBB-8380-C5C1-8CD481BCB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41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A79F8DE-7EB8-3CEE-A6DA-904CA7CA19C1}"/>
              </a:ext>
            </a:extLst>
          </p:cNvPr>
          <p:cNvGrpSpPr/>
          <p:nvPr/>
        </p:nvGrpSpPr>
        <p:grpSpPr>
          <a:xfrm>
            <a:off x="5086350" y="629583"/>
            <a:ext cx="6879559" cy="5857361"/>
            <a:chOff x="2800350" y="629583"/>
            <a:chExt cx="6879559" cy="585736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180AB0D-FAB4-3275-5AAF-B53379EA49EE}"/>
                </a:ext>
              </a:extLst>
            </p:cNvPr>
            <p:cNvGrpSpPr/>
            <p:nvPr/>
          </p:nvGrpSpPr>
          <p:grpSpPr>
            <a:xfrm>
              <a:off x="2800350" y="629583"/>
              <a:ext cx="6879559" cy="5857361"/>
              <a:chOff x="2800350" y="629583"/>
              <a:chExt cx="6879559" cy="5857361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4327E998-513E-45B7-F8F3-064C7C071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0350" y="629583"/>
                <a:ext cx="6879559" cy="5857361"/>
              </a:xfrm>
              <a:prstGeom prst="rect">
                <a:avLst/>
              </a:prstGeom>
            </p:spPr>
          </p:pic>
          <p:sp>
            <p:nvSpPr>
              <p:cNvPr id="26" name="Up Arrow 25">
                <a:extLst>
                  <a:ext uri="{FF2B5EF4-FFF2-40B4-BE49-F238E27FC236}">
                    <a16:creationId xmlns:a16="http://schemas.microsoft.com/office/drawing/2014/main" id="{6DCEDD9A-06A1-6BB8-58F6-5EC481169AD3}"/>
                  </a:ext>
                </a:extLst>
              </p:cNvPr>
              <p:cNvSpPr/>
              <p:nvPr/>
            </p:nvSpPr>
            <p:spPr>
              <a:xfrm>
                <a:off x="3634091" y="2977236"/>
                <a:ext cx="344392" cy="1818802"/>
              </a:xfrm>
              <a:prstGeom prst="upArrow">
                <a:avLst/>
              </a:prstGeom>
              <a:gradFill>
                <a:gsLst>
                  <a:gs pos="0">
                    <a:schemeClr val="bg1">
                      <a:alpha val="71000"/>
                    </a:schemeClr>
                  </a:gs>
                  <a:gs pos="100000">
                    <a:schemeClr val="bg1"/>
                  </a:gs>
                  <a:gs pos="0">
                    <a:srgbClr val="7030A0"/>
                  </a:gs>
                </a:gsLst>
                <a:lin ang="5400000" scaled="1"/>
              </a:gradFill>
              <a:ln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B7B599D-15B9-9821-ACE4-6AE2F2C08CB8}"/>
                </a:ext>
              </a:extLst>
            </p:cNvPr>
            <p:cNvGrpSpPr/>
            <p:nvPr/>
          </p:nvGrpSpPr>
          <p:grpSpPr>
            <a:xfrm>
              <a:off x="3941276" y="1661160"/>
              <a:ext cx="4716298" cy="2561651"/>
              <a:chOff x="3941276" y="1661160"/>
              <a:chExt cx="4716298" cy="2561651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9343F1C-BEAE-506B-D9EF-9749008EAE20}"/>
                  </a:ext>
                </a:extLst>
              </p:cNvPr>
              <p:cNvSpPr txBox="1"/>
              <p:nvPr/>
            </p:nvSpPr>
            <p:spPr>
              <a:xfrm>
                <a:off x="7045944" y="2380342"/>
                <a:ext cx="16116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liquid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6D614D-ADC0-A599-65CE-12A220F8384F}"/>
                  </a:ext>
                </a:extLst>
              </p:cNvPr>
              <p:cNvSpPr txBox="1"/>
              <p:nvPr/>
            </p:nvSpPr>
            <p:spPr>
              <a:xfrm>
                <a:off x="6392529" y="1661160"/>
                <a:ext cx="16116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gas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807210-0E78-6D9F-36A4-3BE90C5A18D2}"/>
                  </a:ext>
                </a:extLst>
              </p:cNvPr>
              <p:cNvSpPr txBox="1"/>
              <p:nvPr/>
            </p:nvSpPr>
            <p:spPr>
              <a:xfrm>
                <a:off x="6240129" y="3761146"/>
                <a:ext cx="16116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solid 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DE36677-1E3B-CAE9-2E6C-923AF3F2C83D}"/>
                      </a:ext>
                    </a:extLst>
                  </p:cNvPr>
                  <p:cNvSpPr txBox="1"/>
                  <p:nvPr/>
                </p:nvSpPr>
                <p:spPr>
                  <a:xfrm>
                    <a:off x="3941276" y="3219992"/>
                    <a:ext cx="980158" cy="49019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𝑣𝑎𝑝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bSup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DE36677-1E3B-CAE9-2E6C-923AF3F2C8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1276" y="3219992"/>
                    <a:ext cx="980158" cy="4901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82" b="-4878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5" name="Up Arrow 54">
                <a:extLst>
                  <a:ext uri="{FF2B5EF4-FFF2-40B4-BE49-F238E27FC236}">
                    <a16:creationId xmlns:a16="http://schemas.microsoft.com/office/drawing/2014/main" id="{132F0627-38BF-3BDC-387B-0ED84A9619A3}"/>
                  </a:ext>
                </a:extLst>
              </p:cNvPr>
              <p:cNvSpPr/>
              <p:nvPr/>
            </p:nvSpPr>
            <p:spPr>
              <a:xfrm>
                <a:off x="5976687" y="2380342"/>
                <a:ext cx="344392" cy="1204314"/>
              </a:xfrm>
              <a:prstGeom prst="upArrow">
                <a:avLst/>
              </a:prstGeom>
              <a:gradFill>
                <a:gsLst>
                  <a:gs pos="0">
                    <a:schemeClr val="bg1">
                      <a:alpha val="71000"/>
                    </a:schemeClr>
                  </a:gs>
                  <a:gs pos="100000">
                    <a:schemeClr val="bg1"/>
                  </a:gs>
                  <a:gs pos="0">
                    <a:srgbClr val="7030A0"/>
                  </a:gs>
                </a:gsLst>
                <a:lin ang="5400000" scaled="1"/>
              </a:gradFill>
              <a:ln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B290F0-F3DF-9993-D031-CBCAA6E6F32A}"/>
                  </a:ext>
                </a:extLst>
              </p:cNvPr>
              <p:cNvSpPr txBox="1"/>
              <p:nvPr/>
            </p:nvSpPr>
            <p:spPr>
              <a:xfrm>
                <a:off x="7127320" y="2666065"/>
                <a:ext cx="980158" cy="490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B290F0-F3DF-9993-D031-CBCAA6E6F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320" y="2666065"/>
                <a:ext cx="980158" cy="490199"/>
              </a:xfrm>
              <a:prstGeom prst="rect">
                <a:avLst/>
              </a:prstGeom>
              <a:blipFill>
                <a:blip r:embed="rId5"/>
                <a:stretch>
                  <a:fillRect b="-2439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04B619-AF09-7C3C-90D7-98C7311A2D10}"/>
                  </a:ext>
                </a:extLst>
              </p:cNvPr>
              <p:cNvSpPr txBox="1"/>
              <p:nvPr/>
            </p:nvSpPr>
            <p:spPr>
              <a:xfrm>
                <a:off x="226144" y="1720840"/>
                <a:ext cx="5122865" cy="34163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The p</a:t>
                </a:r>
                <a:r>
                  <a:rPr lang="en-US" sz="2400" b="0" dirty="0">
                    <a:ea typeface="Cambria Math" panose="02040503050406030204" pitchFamily="18" charset="0"/>
                  </a:rPr>
                  <a:t>hysical property of the liquid and vapor responsible for the reduction in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at higher temperatures can be ascribed to their</a:t>
                </a: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ea typeface="Cambria Math" panose="02040503050406030204" pitchFamily="18" charset="0"/>
                  </a:rPr>
                  <a:t>Deviation from ideal behavior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ea typeface="Cambria Math" panose="02040503050406030204" pitchFamily="18" charset="0"/>
                  </a:rPr>
                  <a:t>Difference in entropies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ea typeface="Cambria Math" panose="02040503050406030204" pitchFamily="18" charset="0"/>
                  </a:rPr>
                  <a:t>Difference in heat capacities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ea typeface="Cambria Math" panose="02040503050406030204" pitchFamily="18" charset="0"/>
                  </a:rPr>
                  <a:t>Difference in Gibbs energies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04B619-AF09-7C3C-90D7-98C7311A2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44" y="1720840"/>
                <a:ext cx="5122865" cy="3416320"/>
              </a:xfrm>
              <a:prstGeom prst="rect">
                <a:avLst/>
              </a:prstGeom>
              <a:blipFill>
                <a:blip r:embed="rId6"/>
                <a:stretch>
                  <a:fillRect l="-1728" t="-1103" b="-257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167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503</Words>
  <Application>Microsoft Macintosh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177</cp:revision>
  <dcterms:created xsi:type="dcterms:W3CDTF">2021-11-02T21:07:57Z</dcterms:created>
  <dcterms:modified xsi:type="dcterms:W3CDTF">2025-12-10T15:45:07Z</dcterms:modified>
</cp:coreProperties>
</file>