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398" r:id="rId3"/>
    <p:sldId id="401" r:id="rId4"/>
    <p:sldId id="402" r:id="rId5"/>
    <p:sldId id="256" r:id="rId6"/>
    <p:sldId id="399" r:id="rId7"/>
    <p:sldId id="351" r:id="rId8"/>
    <p:sldId id="35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74"/>
  </p:normalViewPr>
  <p:slideViewPr>
    <p:cSldViewPr snapToGrid="0" snapToObjects="1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B4EBB-BA25-CE41-9BEC-096D705DC3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B7D0FE-8E9E-0F4D-ABF6-FBA0D52A4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D4BE3-A61D-2F42-B3AB-FE19BCBB9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C99B-AF85-2D43-A0F6-4A0235A8FB2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03557-16BB-9A4E-B8FE-C4F79A96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5899C-2A7F-A645-BC22-EFB51C5FC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94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6EBF0-A8FD-FE4C-A991-108CF98C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5ABA3-1F31-8045-9A41-56041C013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E3AF1-4526-D948-B4A0-7F06C7A83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C99B-AF85-2D43-A0F6-4A0235A8FB2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9A098-DAAB-B44A-8E40-B4B2793CC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310E2-13C2-AC4D-AC7E-3E6127ED5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86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92889-958C-4746-9BE0-335C2092F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7F654-5FF2-1E44-B01D-268E046DE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1EAB0-8798-D242-89D1-7A340706D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C99B-AF85-2D43-A0F6-4A0235A8FB2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373A0-8584-834D-9A93-4CC076937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D0FF5-7E04-164E-83EA-5E40B8FC3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103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8CF9E-D9FD-0446-9D36-04E77B26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7D6BA-456F-1D4D-AEFD-22C634307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F8106-D396-F24E-899E-87726BE9F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4AE80-3C47-6D48-B447-B8F9A8A0F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C99B-AF85-2D43-A0F6-4A0235A8FB2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229F3-68F5-B143-B44A-A385EEC44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7A096-37DA-A949-8E74-543D67C0F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51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84147-CCD2-FD4D-B06A-A022BA0A8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5608B-C85B-A54D-B440-6E167CC5C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EE6E6B-1B09-B240-BC00-78D080E15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2BDD9B-04A7-1B4A-9F08-4E21EA396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13847E-03BF-C840-9474-89020C9BD4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EBACDC-887A-5F4C-A025-93B827B59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C99B-AF85-2D43-A0F6-4A0235A8FB2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D7CB3F-829B-684B-8D52-87A53C074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071F7E-C681-7A45-8341-4890A6213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78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42E28-FB34-214F-9F40-D0FC0FAA6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BA2A7-26F3-0E4E-8761-029E28420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C99B-AF85-2D43-A0F6-4A0235A8FB2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8468B2-4919-3042-87B0-FF820D558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24B7B2-27DD-2746-8CED-61A69EA7A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66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6A4B0-DBC1-5B4E-B42D-B71DD7FDD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C99B-AF85-2D43-A0F6-4A0235A8FB2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80BE5E-FB22-9D4B-A99E-43A9045CE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B405A-4C31-2447-A331-221D8A85A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68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55EDE-E33D-C849-AC04-F073F292F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92732-7012-5843-8F6E-28DF39A1B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CCE04-6EB4-704D-A9FA-CFAE914CA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3B206-69A5-1D4F-9C5F-7F5F04916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C99B-AF85-2D43-A0F6-4A0235A8FB2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671E5-DBC7-F54B-BC67-F2D5C3BF4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623E6-A0D4-5B48-A278-6F39E4E2A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302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7A3A9-1FA6-8941-8243-42DE26655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DB7EEF-E57B-844A-BDDB-568B1ACA9C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2F442-FFEA-F441-A685-3C92F93AD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9C7C8-DCD4-F145-94F4-788CDF00E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C99B-AF85-2D43-A0F6-4A0235A8FB2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BAE9B-ACAF-3243-8DA1-E11624CD6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B3A58-8B9A-D345-AAAE-3C153CBCD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8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6ABB5-8927-284B-B4C0-E5C4DE4B6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EDDFC8-BA8C-C54C-A298-17D3132F2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47303-B8BB-A548-922F-AC4FAD443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C99B-AF85-2D43-A0F6-4A0235A8FB2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7E1CA-B254-AA4D-A129-843A9E423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4B712-373F-9646-832F-05B85722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80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4A96D7-EB31-5743-A43C-23BD4182CB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875EF8-095C-0A4E-8C36-7B7D9BC1F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6A0C3-4338-9A4E-B56E-0A14587EB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C99B-AF85-2D43-A0F6-4A0235A8FB2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C7361-A591-234B-BC3B-1DD6606FA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1D5F0-3624-D542-9346-74E112F70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93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512649-CF17-6B43-83E6-959F5B681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88523-1CDF-3949-BC48-BC590C1DC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ECAA0-B24F-CC42-80AA-D3BEAF712E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8C99B-AF85-2D43-A0F6-4A0235A8FB2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4F1E7-8B62-5D4E-9E8D-12BB2E683E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CBD39-C206-A140-80A1-DD66C3909C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911EE-2818-1F4C-B370-64460839B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998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741E2E-CA7B-6044-8BED-5446B8E9C454}"/>
              </a:ext>
            </a:extLst>
          </p:cNvPr>
          <p:cNvSpPr txBox="1"/>
          <p:nvPr/>
        </p:nvSpPr>
        <p:spPr>
          <a:xfrm>
            <a:off x="0" y="0"/>
            <a:ext cx="1142406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Today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AB3279-A717-674C-A450-C4BF9E7FAC17}"/>
                  </a:ext>
                </a:extLst>
              </p:cNvPr>
              <p:cNvSpPr txBox="1"/>
              <p:nvPr/>
            </p:nvSpPr>
            <p:spPr>
              <a:xfrm>
                <a:off x="204536" y="1239253"/>
                <a:ext cx="11622505" cy="24279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/>
                  <a:t>Look at a derivation of the </a:t>
                </a:r>
                <a:r>
                  <a:rPr lang="en-US" sz="2400" b="1" dirty="0"/>
                  <a:t>CPF</a:t>
                </a:r>
                <a:r>
                  <a:rPr lang="en-US" sz="2400" dirty="0"/>
                  <a:t> formula: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𝑮</m:t>
                                </m:r>
                              </m:num>
                              <m:den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sSub>
                                  <m:sSubPr>
                                    <m:ctrlP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  <m:sup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</m:t>
                        </m:r>
                      </m:sup>
                    </m:sSubSup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𝑹𝑻</m:t>
                    </m:r>
                    <m:func>
                      <m:func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𝒍𝒏</m:t>
                        </m:r>
                      </m:fName>
                      <m:e>
                        <m:d>
                          <m:d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</m:t>
                                </m:r>
                              </m:sub>
                            </m:s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𝒐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sz="2400" dirty="0"/>
                  <a:t>.</a:t>
                </a:r>
                <a:endParaRPr lang="en-US" sz="2400" b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/>
                  <a:t>Derive the Clapeyron equation in both forms,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𝒅𝑷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𝒅𝑻</m:t>
                        </m:r>
                      </m:den>
                    </m:f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den>
                    </m:f>
                    <m:r>
                      <a:rPr lang="en-US" sz="24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/>
                  <a:t>Generalize all this to more complex stoichiometries (which will lead to familiar expressions like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  <m:sup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→2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).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AB3279-A717-674C-A450-C4BF9E7FA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36" y="1239253"/>
                <a:ext cx="11622505" cy="2427909"/>
              </a:xfrm>
              <a:prstGeom prst="rect">
                <a:avLst/>
              </a:prstGeom>
              <a:blipFill>
                <a:blip r:embed="rId2"/>
                <a:stretch>
                  <a:fillRect l="-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9865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/>
              <p:nvPr/>
            </p:nvSpPr>
            <p:spPr>
              <a:xfrm>
                <a:off x="0" y="-16967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CPF: we presented an algebraic expression for the slopes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16967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4FFF20ED-4523-AC61-9549-8BEFC57A5853}"/>
              </a:ext>
            </a:extLst>
          </p:cNvPr>
          <p:cNvGrpSpPr/>
          <p:nvPr/>
        </p:nvGrpSpPr>
        <p:grpSpPr>
          <a:xfrm>
            <a:off x="6315919" y="719974"/>
            <a:ext cx="5418559" cy="4498389"/>
            <a:chOff x="6315919" y="1229261"/>
            <a:chExt cx="5418559" cy="449838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F9093A4-165F-87FE-7E26-F5798AB08EDB}"/>
                </a:ext>
              </a:extLst>
            </p:cNvPr>
            <p:cNvGrpSpPr/>
            <p:nvPr/>
          </p:nvGrpSpPr>
          <p:grpSpPr>
            <a:xfrm>
              <a:off x="6315919" y="1570188"/>
              <a:ext cx="5418559" cy="4157462"/>
              <a:chOff x="6096000" y="1350269"/>
              <a:chExt cx="5418559" cy="4157462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8A1F7733-AC40-58CB-E339-6F73CD0B5C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96000" y="1350269"/>
                <a:ext cx="5418559" cy="4157462"/>
              </a:xfrm>
              <a:prstGeom prst="rect">
                <a:avLst/>
              </a:prstGeom>
            </p:spPr>
          </p:pic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DCA933E-7B3D-AE95-AF27-67F806F4397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47682" y="4021236"/>
                <a:ext cx="182880" cy="18230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5A6404EF-11F1-F06A-C652-121D1FE8878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777268" y="1940148"/>
                <a:ext cx="182880" cy="182302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7379D78-371D-7FC7-3047-20CDC4CD24A5}"/>
                    </a:ext>
                  </a:extLst>
                </p:cNvPr>
                <p:cNvSpPr txBox="1"/>
                <p:nvPr/>
              </p:nvSpPr>
              <p:spPr>
                <a:xfrm>
                  <a:off x="8376496" y="1229261"/>
                  <a:ext cx="124138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7379D78-371D-7FC7-3047-20CDC4CD2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6496" y="1229261"/>
                  <a:ext cx="1241381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010" r="-28283" b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B0D0D9A-CF7C-0B4E-4322-63089FBCFD87}"/>
              </a:ext>
            </a:extLst>
          </p:cNvPr>
          <p:cNvGrpSpPr/>
          <p:nvPr/>
        </p:nvGrpSpPr>
        <p:grpSpPr>
          <a:xfrm>
            <a:off x="274336" y="696827"/>
            <a:ext cx="5821664" cy="4655587"/>
            <a:chOff x="274336" y="1229262"/>
            <a:chExt cx="5821664" cy="465558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B6EFB6F-53EE-E1B4-EFE7-51907EB46451}"/>
                </a:ext>
              </a:extLst>
            </p:cNvPr>
            <p:cNvGrpSpPr/>
            <p:nvPr/>
          </p:nvGrpSpPr>
          <p:grpSpPr>
            <a:xfrm>
              <a:off x="274336" y="1389838"/>
              <a:ext cx="5821664" cy="4495011"/>
              <a:chOff x="274336" y="857403"/>
              <a:chExt cx="5821664" cy="4495011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3CC211DF-A4BD-FD57-564E-37B9DA9DF4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4336" y="857403"/>
                <a:ext cx="5821664" cy="4495011"/>
              </a:xfrm>
              <a:prstGeom prst="rect">
                <a:avLst/>
              </a:prstGeom>
            </p:spPr>
          </p:pic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9E3D241-30A0-7D5F-14CF-89F270A6BE70}"/>
                  </a:ext>
                </a:extLst>
              </p:cNvPr>
              <p:cNvGrpSpPr/>
              <p:nvPr/>
            </p:nvGrpSpPr>
            <p:grpSpPr>
              <a:xfrm>
                <a:off x="2814095" y="1766703"/>
                <a:ext cx="2190510" cy="1138543"/>
                <a:chOff x="2814095" y="1766703"/>
                <a:chExt cx="2190510" cy="113854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E663E9A4-35E6-9E9E-A3A4-EC40F3A50D9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14095" y="1766703"/>
                      <a:ext cx="2190510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oMath>
                      </a14:m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here</a:t>
                      </a:r>
                    </a:p>
                  </p:txBody>
                </p:sp>
              </mc:Choice>
              <mc:Fallback xmlns="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E663E9A4-35E6-9E9E-A3A4-EC40F3A50D9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14095" y="1766703"/>
                      <a:ext cx="2190510" cy="46166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575" t="-8108" b="-2973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22FBF3EA-B6C7-8862-E776-35BCEFA8C6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73593" y="2268638"/>
                  <a:ext cx="310387" cy="636608"/>
                </a:xfrm>
                <a:prstGeom prst="straightConnector1">
                  <a:avLst/>
                </a:prstGeom>
                <a:ln w="76200">
                  <a:solidFill>
                    <a:schemeClr val="tx1">
                      <a:alpha val="43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C27C2A3-9214-B0F8-950D-967FF81A6894}"/>
                  </a:ext>
                </a:extLst>
              </p:cNvPr>
              <p:cNvGrpSpPr/>
              <p:nvPr/>
            </p:nvGrpSpPr>
            <p:grpSpPr>
              <a:xfrm>
                <a:off x="1244857" y="2017671"/>
                <a:ext cx="2190510" cy="1318729"/>
                <a:chOff x="2689764" y="2554075"/>
                <a:chExt cx="2190510" cy="131872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20AE8469-17E5-2F7C-3FB3-5B5646ECB82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89764" y="2554075"/>
                      <a:ext cx="2190510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&lt;0</m:t>
                          </m:r>
                        </m:oMath>
                      </a14:m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here</a:t>
                      </a:r>
                    </a:p>
                  </p:txBody>
                </p:sp>
              </mc:Choice>
              <mc:Fallback xmlns="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20AE8469-17E5-2F7C-3FB3-5B5646ECB82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89764" y="2554075"/>
                      <a:ext cx="2190510" cy="4616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575" t="-5263" b="-2894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9D4DDCE3-A9B5-644A-CA61-DFB1CC8D59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69420" y="3123346"/>
                  <a:ext cx="0" cy="749458"/>
                </a:xfrm>
                <a:prstGeom prst="straightConnector1">
                  <a:avLst/>
                </a:prstGeom>
                <a:ln w="76200">
                  <a:solidFill>
                    <a:schemeClr val="tx1">
                      <a:alpha val="43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E3BBDF57-81DA-1531-2842-1458CFB845A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39434" y="3359550"/>
                <a:ext cx="182880" cy="18230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9F3B8BF-D596-93A7-384B-1276B7C0165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96027" y="2891200"/>
                <a:ext cx="182880" cy="182302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AF42AA1-9879-A3EC-675B-006F2A16103F}"/>
                    </a:ext>
                  </a:extLst>
                </p:cNvPr>
                <p:cNvSpPr txBox="1"/>
                <p:nvPr/>
              </p:nvSpPr>
              <p:spPr>
                <a:xfrm>
                  <a:off x="2340112" y="1229262"/>
                  <a:ext cx="124138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AF42AA1-9879-A3EC-675B-006F2A1610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0112" y="1229262"/>
                  <a:ext cx="1241381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1010" r="-17172" b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39D2A70-069E-7597-8112-7545A860F827}"/>
                  </a:ext>
                </a:extLst>
              </p:cNvPr>
              <p:cNvSpPr txBox="1"/>
              <p:nvPr/>
            </p:nvSpPr>
            <p:spPr>
              <a:xfrm>
                <a:off x="702247" y="5415920"/>
                <a:ext cx="11622505" cy="1142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chemical potential formula (CPF):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𝑮</m:t>
                                </m:r>
                              </m:num>
                              <m:den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sSub>
                                  <m:sSubPr>
                                    <m:ctrlP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  <m:sup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</m:t>
                        </m:r>
                      </m:sup>
                    </m:sSubSup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𝑹𝑻</m:t>
                    </m:r>
                    <m:func>
                      <m:func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𝒍𝒏</m:t>
                        </m:r>
                      </m:fName>
                      <m:e>
                        <m:d>
                          <m:d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</m:t>
                                </m:r>
                              </m:sub>
                            </m:s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𝒐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But how did we get that formula?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39D2A70-069E-7597-8112-7545A860F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247" y="5415920"/>
                <a:ext cx="11622505" cy="1142877"/>
              </a:xfrm>
              <a:prstGeom prst="rect">
                <a:avLst/>
              </a:prstGeom>
              <a:blipFill>
                <a:blip r:embed="rId9"/>
                <a:stretch>
                  <a:fillRect l="-873" b="-10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2278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0" y="-1696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1. A look at a derivation of the CPF formula focusing on solutes (</a:t>
            </a:r>
            <a:r>
              <a:rPr lang="en-US" sz="2400" b="1" dirty="0" err="1"/>
              <a:t>Nesh’s</a:t>
            </a:r>
            <a:r>
              <a:rPr lang="en-US" sz="2400" b="1" dirty="0"/>
              <a:t> solution)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94D979-6A9B-69C7-30AA-56E413462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47" y="521814"/>
            <a:ext cx="9644411" cy="624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236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0" y="-1696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1. A look at a derivation of the CPF formula focusing on solutes (Daniel’s solution)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781820-9FE9-8872-AA61-A92000D2B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935" y="465454"/>
            <a:ext cx="8083865" cy="628240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B9E16CE-9FCE-B651-F111-B55C8C3218F6}"/>
              </a:ext>
            </a:extLst>
          </p:cNvPr>
          <p:cNvSpPr/>
          <p:nvPr/>
        </p:nvSpPr>
        <p:spPr>
          <a:xfrm>
            <a:off x="1840230" y="6160770"/>
            <a:ext cx="1954530" cy="587089"/>
          </a:xfrm>
          <a:prstGeom prst="rect">
            <a:avLst/>
          </a:prstGeom>
          <a:solidFill>
            <a:schemeClr val="accent1">
              <a:alpha val="3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03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39620E-EB7C-6C42-8118-FFA18C8C7D39}"/>
              </a:ext>
            </a:extLst>
          </p:cNvPr>
          <p:cNvSpPr txBox="1"/>
          <p:nvPr/>
        </p:nvSpPr>
        <p:spPr>
          <a:xfrm>
            <a:off x="-4010" y="0"/>
            <a:ext cx="12196010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2. Deriving the Clapeyron equation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FF67302-C72F-6ABF-0AB7-0CA9BC2CECEC}"/>
              </a:ext>
            </a:extLst>
          </p:cNvPr>
          <p:cNvGrpSpPr/>
          <p:nvPr/>
        </p:nvGrpSpPr>
        <p:grpSpPr>
          <a:xfrm>
            <a:off x="6336712" y="569669"/>
            <a:ext cx="2962816" cy="2873349"/>
            <a:chOff x="7279105" y="119079"/>
            <a:chExt cx="4404801" cy="407251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5FDF843-205B-F840-BA40-846418932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79105" y="119079"/>
              <a:ext cx="4404801" cy="4072510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0E9EC13-BF96-1E4B-BF4F-04B5328F8915}"/>
                </a:ext>
              </a:extLst>
            </p:cNvPr>
            <p:cNvGrpSpPr/>
            <p:nvPr/>
          </p:nvGrpSpPr>
          <p:grpSpPr>
            <a:xfrm>
              <a:off x="9599651" y="1412805"/>
              <a:ext cx="625642" cy="1014102"/>
              <a:chOff x="7727031" y="3134725"/>
              <a:chExt cx="625642" cy="1014102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52CE9BD5-78D8-4143-A596-DA90EAD01E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952032" y="3470949"/>
                <a:ext cx="175640" cy="34165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CD5B8A-5329-8448-905C-51E31E9061CE}"/>
                  </a:ext>
                </a:extLst>
              </p:cNvPr>
              <p:cNvSpPr txBox="1"/>
              <p:nvPr/>
            </p:nvSpPr>
            <p:spPr>
              <a:xfrm>
                <a:off x="8039852" y="3781705"/>
                <a:ext cx="312821" cy="3671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51CEA7-BFA3-774B-AA67-1A8F13E5C566}"/>
                  </a:ext>
                </a:extLst>
              </p:cNvPr>
              <p:cNvSpPr txBox="1"/>
              <p:nvPr/>
            </p:nvSpPr>
            <p:spPr>
              <a:xfrm>
                <a:off x="7727031" y="3134725"/>
                <a:ext cx="312821" cy="3671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A4A9B2-AB9A-054F-91B5-F0B5A97413DA}"/>
                  </a:ext>
                </a:extLst>
              </p:cNvPr>
              <p:cNvSpPr txBox="1"/>
              <p:nvPr/>
            </p:nvSpPr>
            <p:spPr>
              <a:xfrm>
                <a:off x="352425" y="3535934"/>
                <a:ext cx="11438843" cy="2207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Along a phase boundary, Gibbs energies of two phases in equilibrium (like point A) have to change the same amount to remain in equilibrium (at point B). </a:t>
                </a:r>
              </a:p>
              <a:p>
                <a:endParaRPr lang="en-US" sz="2400" dirty="0"/>
              </a:p>
              <a:p>
                <a:r>
                  <a:rPr lang="en-US" sz="2400" b="1" dirty="0"/>
                  <a:t>Your task</a:t>
                </a:r>
                <a:r>
                  <a:rPr lang="en-US" sz="2400" dirty="0"/>
                  <a:t>: </a:t>
                </a:r>
              </a:p>
              <a:p>
                <a:r>
                  <a:rPr lang="en-US" sz="2400" dirty="0"/>
                  <a:t>Solve for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𝒅𝑷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𝒅𝑻</m:t>
                        </m:r>
                      </m:den>
                    </m:f>
                  </m:oMath>
                </a14:m>
                <a:r>
                  <a:rPr lang="en-US" sz="2400" dirty="0"/>
                  <a:t> and show how how this leads to Clapeyron,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𝒅𝑷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𝒅𝑻</m:t>
                        </m:r>
                      </m:den>
                    </m:f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A4A9B2-AB9A-054F-91B5-F0B5A9741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25" y="3535934"/>
                <a:ext cx="11438843" cy="2207977"/>
              </a:xfrm>
              <a:prstGeom prst="rect">
                <a:avLst/>
              </a:prstGeom>
              <a:blipFill>
                <a:blip r:embed="rId3"/>
                <a:stretch>
                  <a:fillRect l="-776" t="-2286" r="-4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6C9A0C-D57D-7E34-2473-0D247930D659}"/>
                  </a:ext>
                </a:extLst>
              </p:cNvPr>
              <p:cNvSpPr txBox="1"/>
              <p:nvPr/>
            </p:nvSpPr>
            <p:spPr>
              <a:xfrm>
                <a:off x="1652138" y="1007544"/>
                <a:ext cx="5570220" cy="19975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𝑑𝑇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𝑑𝑃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</a:p>
              <a:p>
                <a:r>
                  <a:rPr lang="en-US" sz="240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𝑙𝑖𝑞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𝑙𝑖𝑞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𝑑𝑇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𝑙𝑖𝑞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𝑑𝑃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</a:p>
              <a:p>
                <a:endParaRPr lang="en-US" sz="24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𝑠𝑜𝑙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𝑠𝑜𝑙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𝑑𝑇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𝑠𝑜𝑙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𝑑𝑃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6C9A0C-D57D-7E34-2473-0D247930D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138" y="1007544"/>
                <a:ext cx="5570220" cy="1997598"/>
              </a:xfrm>
              <a:prstGeom prst="rect">
                <a:avLst/>
              </a:prstGeom>
              <a:blipFill>
                <a:blip r:embed="rId4"/>
                <a:stretch>
                  <a:fillRect l="-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0569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39620E-EB7C-6C42-8118-FFA18C8C7D39}"/>
              </a:ext>
            </a:extLst>
          </p:cNvPr>
          <p:cNvSpPr txBox="1"/>
          <p:nvPr/>
        </p:nvSpPr>
        <p:spPr>
          <a:xfrm>
            <a:off x="-4010" y="0"/>
            <a:ext cx="12196010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2. Deriving the Clapeyron equation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FF67302-C72F-6ABF-0AB7-0CA9BC2CECEC}"/>
              </a:ext>
            </a:extLst>
          </p:cNvPr>
          <p:cNvGrpSpPr/>
          <p:nvPr/>
        </p:nvGrpSpPr>
        <p:grpSpPr>
          <a:xfrm>
            <a:off x="6336712" y="569669"/>
            <a:ext cx="2962816" cy="2873349"/>
            <a:chOff x="7279105" y="119079"/>
            <a:chExt cx="4404801" cy="407251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5FDF843-205B-F840-BA40-846418932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79105" y="119079"/>
              <a:ext cx="4404801" cy="4072510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0E9EC13-BF96-1E4B-BF4F-04B5328F8915}"/>
                </a:ext>
              </a:extLst>
            </p:cNvPr>
            <p:cNvGrpSpPr/>
            <p:nvPr/>
          </p:nvGrpSpPr>
          <p:grpSpPr>
            <a:xfrm>
              <a:off x="9599651" y="1412805"/>
              <a:ext cx="625642" cy="1014102"/>
              <a:chOff x="7727031" y="3134725"/>
              <a:chExt cx="625642" cy="1014102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52CE9BD5-78D8-4143-A596-DA90EAD01E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952032" y="3470949"/>
                <a:ext cx="175640" cy="34165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CD5B8A-5329-8448-905C-51E31E9061CE}"/>
                  </a:ext>
                </a:extLst>
              </p:cNvPr>
              <p:cNvSpPr txBox="1"/>
              <p:nvPr/>
            </p:nvSpPr>
            <p:spPr>
              <a:xfrm>
                <a:off x="8039852" y="3781705"/>
                <a:ext cx="312821" cy="3671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51CEA7-BFA3-774B-AA67-1A8F13E5C566}"/>
                  </a:ext>
                </a:extLst>
              </p:cNvPr>
              <p:cNvSpPr txBox="1"/>
              <p:nvPr/>
            </p:nvSpPr>
            <p:spPr>
              <a:xfrm>
                <a:off x="7727031" y="3134725"/>
                <a:ext cx="312821" cy="3671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A4A9B2-AB9A-054F-91B5-F0B5A97413DA}"/>
                  </a:ext>
                </a:extLst>
              </p:cNvPr>
              <p:cNvSpPr txBox="1"/>
              <p:nvPr/>
            </p:nvSpPr>
            <p:spPr>
              <a:xfrm>
                <a:off x="352425" y="3535934"/>
                <a:ext cx="11438843" cy="28089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Along a phase boundary, Gibbs energies of two phases in equilibrium (like point A) have to change the same amount to remain in equilibrium (at point B). </a:t>
                </a:r>
              </a:p>
              <a:p>
                <a:endParaRPr lang="en-US" sz="2400" dirty="0"/>
              </a:p>
              <a:p>
                <a:r>
                  <a:rPr lang="en-US" sz="2400" b="1" dirty="0"/>
                  <a:t>Your task</a:t>
                </a:r>
                <a:r>
                  <a:rPr lang="en-US" sz="2400" dirty="0"/>
                  <a:t>: </a:t>
                </a:r>
              </a:p>
              <a:p>
                <a:r>
                  <a:rPr lang="en-US" sz="2400" dirty="0"/>
                  <a:t>Solve for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𝒅𝑷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𝒅𝑻</m:t>
                        </m:r>
                      </m:den>
                    </m:f>
                  </m:oMath>
                </a14:m>
                <a:r>
                  <a:rPr lang="en-US" sz="2400" dirty="0"/>
                  <a:t> and show how how this leads to Clapeyron,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𝒅𝑷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𝒅𝑻</m:t>
                        </m:r>
                      </m:den>
                    </m:f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Also remember the TDE: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𝒔𝒖𝒓𝒓</m:t>
                            </m:r>
                          </m:sub>
                        </m:sSub>
                      </m:den>
                    </m:f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b="1" dirty="0">
                    <a:solidFill>
                      <a:srgbClr val="7030A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num>
                      <m:den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den>
                    </m:f>
                  </m:oMath>
                </a14:m>
                <a:r>
                  <a:rPr lang="en-US" sz="2400" dirty="0"/>
                  <a:t> (assuming thermal equilibrium)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A4A9B2-AB9A-054F-91B5-F0B5A9741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25" y="3535934"/>
                <a:ext cx="11438843" cy="2808974"/>
              </a:xfrm>
              <a:prstGeom prst="rect">
                <a:avLst/>
              </a:prstGeom>
              <a:blipFill>
                <a:blip r:embed="rId3"/>
                <a:stretch>
                  <a:fillRect l="-776" t="-1802" r="-4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6C9A0C-D57D-7E34-2473-0D247930D659}"/>
                  </a:ext>
                </a:extLst>
              </p:cNvPr>
              <p:cNvSpPr txBox="1"/>
              <p:nvPr/>
            </p:nvSpPr>
            <p:spPr>
              <a:xfrm>
                <a:off x="1652138" y="1007544"/>
                <a:ext cx="5570220" cy="19975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𝑑𝑇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𝑑𝑃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</a:p>
              <a:p>
                <a:r>
                  <a:rPr lang="en-US" sz="240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𝑙𝑖𝑞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𝑙𝑖𝑞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𝑑𝑇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𝑙𝑖𝑞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𝑑𝑃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</a:p>
              <a:p>
                <a:endParaRPr lang="en-US" sz="24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𝑠𝑜𝑙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𝑠𝑜𝑙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𝑑𝑇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𝑠𝑜𝑙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𝑑𝑃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6C9A0C-D57D-7E34-2473-0D247930D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138" y="1007544"/>
                <a:ext cx="5570220" cy="1997598"/>
              </a:xfrm>
              <a:prstGeom prst="rect">
                <a:avLst/>
              </a:prstGeom>
              <a:blipFill>
                <a:blip r:embed="rId4"/>
                <a:stretch>
                  <a:fillRect l="-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58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/>
              <p:nvPr/>
            </p:nvSpPr>
            <p:spPr>
              <a:xfrm>
                <a:off x="137160" y="694870"/>
                <a:ext cx="11876208" cy="58616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What if the reaction stoichiometry were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→2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? Now we’re producing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two </a:t>
                </a:r>
                <a:r>
                  <a:rPr lang="en-US" sz="2400" dirty="0">
                    <a:solidFill>
                      <a:schemeClr val="tx1"/>
                    </a:solidFill>
                  </a:rPr>
                  <a:t>B molecules for every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one</a:t>
                </a:r>
                <a:r>
                  <a:rPr lang="en-US" sz="2400" dirty="0">
                    <a:solidFill>
                      <a:schemeClr val="tx1"/>
                    </a:solidFill>
                  </a:rPr>
                  <a:t> molecule of A that disappears: 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 So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And </a:t>
                </a:r>
                <a:r>
                  <a:rPr lang="en-US" sz="2400" i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that</a:t>
                </a:r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means </a:t>
                </a:r>
                <a:r>
                  <a:rPr lang="en-US" sz="2400" dirty="0">
                    <a:solidFill>
                      <a:schemeClr val="tx1"/>
                    </a:solidFill>
                  </a:rPr>
                  <a:t>that 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slope</a:t>
                </a:r>
                <a:r>
                  <a:rPr lang="en-US" sz="2400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along the reaction path is given by</a:t>
                </a:r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𝜕𝜀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b="1" dirty="0">
                    <a:solidFill>
                      <a:schemeClr val="tx1"/>
                    </a:solidFill>
                  </a:rPr>
                  <a:t>Your task</a:t>
                </a:r>
              </a:p>
              <a:p>
                <a:r>
                  <a:rPr lang="en-US" sz="24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Assuming </a:t>
                </a:r>
                <a14:m>
                  <m:oMath xmlns:m="http://schemas.openxmlformats.org/officeDocument/2006/math"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  <m:sup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show that at equilibrium,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therefore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sSubSup>
                                  <m:sSubSup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𝑟𝑥𝑛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𝑅𝑇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694870"/>
                <a:ext cx="11876208" cy="5861669"/>
              </a:xfrm>
              <a:prstGeom prst="rect">
                <a:avLst/>
              </a:prstGeom>
              <a:blipFill>
                <a:blip r:embed="rId2"/>
                <a:stretch>
                  <a:fillRect l="-855" t="-6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/>
              <p:nvPr/>
            </p:nvSpPr>
            <p:spPr>
              <a:xfrm>
                <a:off x="6012" y="0"/>
                <a:ext cx="12185987" cy="69487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3. Generalizing the connection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sz="24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sz="2400" b="1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𝑮</m:t>
                                </m:r>
                              </m:num>
                              <m:den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𝝏𝜺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𝒓𝒙𝒏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≡∆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𝒓𝒙𝒏</m:t>
                        </m:r>
                      </m:sub>
                    </m:sSub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</m:d>
                  </m:oMath>
                </a14:m>
                <a:r>
                  <a:rPr lang="en-US" sz="2400" b="1" dirty="0"/>
                  <a:t>, 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sz="2400" b="1" dirty="0"/>
                  <a:t>, and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DC344-EAD8-BF4B-A330-01755797D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" y="0"/>
                <a:ext cx="12185987" cy="694870"/>
              </a:xfrm>
              <a:prstGeom prst="rect">
                <a:avLst/>
              </a:prstGeom>
              <a:blipFill>
                <a:blip r:embed="rId3"/>
                <a:stretch>
                  <a:fillRect l="-8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7D2C2E8E-491A-E8C7-7FE4-A7C2535FE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2308130"/>
            <a:ext cx="2918460" cy="232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41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048A83-533A-7B40-782D-DDCC0135925F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last part of the CGI associated with this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C0D763-2C17-2E5E-55F4-D1422883B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79" y="776826"/>
            <a:ext cx="7997893" cy="32627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AFE71C-50AA-FDD4-FF9C-39848CC4D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79" y="4370300"/>
            <a:ext cx="7592883" cy="1741797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372CD4-0491-BED2-0DBD-DD6D314F37F7}"/>
                  </a:ext>
                </a:extLst>
              </p:cNvPr>
              <p:cNvSpPr txBox="1"/>
              <p:nvPr/>
            </p:nvSpPr>
            <p:spPr>
              <a:xfrm>
                <a:off x="8715737" y="1351508"/>
                <a:ext cx="328721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Item 5 is about equilibrium constants and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</m:oMath>
                </a14:m>
                <a:r>
                  <a:rPr lang="en-US" sz="2400" dirty="0"/>
                  <a:t> (which we just derived)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372CD4-0491-BED2-0DBD-DD6D314F3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737" y="1351508"/>
                <a:ext cx="3287210" cy="1569660"/>
              </a:xfrm>
              <a:prstGeom prst="rect">
                <a:avLst/>
              </a:prstGeom>
              <a:blipFill>
                <a:blip r:embed="rId4"/>
                <a:stretch>
                  <a:fillRect l="-3077" t="-3226"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461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2610</TotalTime>
  <Words>494</Words>
  <Application>Microsoft Macintosh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65</cp:revision>
  <cp:lastPrinted>2022-11-18T16:43:56Z</cp:lastPrinted>
  <dcterms:created xsi:type="dcterms:W3CDTF">2018-09-17T04:21:57Z</dcterms:created>
  <dcterms:modified xsi:type="dcterms:W3CDTF">2025-11-21T18:48:38Z</dcterms:modified>
</cp:coreProperties>
</file>