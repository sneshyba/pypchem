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2"/>
    <p:sldId id="328" r:id="rId3"/>
    <p:sldId id="327" r:id="rId4"/>
    <p:sldId id="355" r:id="rId5"/>
    <p:sldId id="338" r:id="rId6"/>
    <p:sldId id="344" r:id="rId7"/>
    <p:sldId id="346" r:id="rId8"/>
    <p:sldId id="353" r:id="rId9"/>
    <p:sldId id="313" r:id="rId10"/>
    <p:sldId id="349" r:id="rId11"/>
    <p:sldId id="35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78"/>
    <p:restoredTop sz="95964"/>
  </p:normalViewPr>
  <p:slideViewPr>
    <p:cSldViewPr snapToGrid="0" snapToObjects="1">
      <p:cViewPr varScale="1">
        <p:scale>
          <a:sx n="105" d="100"/>
          <a:sy n="105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85CDD-8423-FB46-9063-1F8D8465A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006FD-A646-EC40-86EF-7127A53FD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AEADE-3B9B-D246-8ECE-3258EC02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72B9F-7B5C-E047-B6C3-E980F7D5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77486-B356-464A-98A6-7888579E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86F9-2DF2-344F-8091-EFD2D9AD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10FB-ED4A-A44B-B9A3-EACD1873B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EA41-98E5-DE4D-9313-2C4FA6C4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D8F0-9689-1649-86A5-D7FEF3077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A5271-2E03-D045-8D8C-482D2A48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7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D20D-FE84-294E-BD12-9F2CC0D24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4342E-5FC1-654C-BC0C-C14D25A1F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6538C-A417-DD4A-8EB2-2E71772E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1D7EF-3B87-AD40-BDBB-E8A08B75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15C84-7097-EA41-8764-D53C6618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1A83-5537-844B-93BF-288C60E6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7F1E2-22F6-8E44-920A-6D302F74F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7767D-0DCD-9F4F-AF7F-84A800636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FDD4D-FA62-4A47-8E63-AA6BED1F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23573-7CEE-F44C-BE2C-B755FFB1B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D1ED0-AD3A-9D43-AFF2-5C1350A4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7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DDAA-BFA1-B34F-849B-19C9C588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332EE-F990-724B-90A2-F0636F967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142FB-3A4C-2347-BCB7-F752E3864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71DC7-A211-1A44-9A58-83D1ED1AA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2A2C2-CB64-A543-B6DC-D673D27D9B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4ECE2-4832-1F49-BAA5-E0274DD50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E2546-6EEF-9847-A0F7-9B4B5198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8FAEA-65E8-2643-924E-5AC42B1F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0F98-15A0-DC4B-AD82-4834AFEC1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91628-54A8-BA47-B101-8FEFEAD3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0094E-0D19-ED40-BAFB-6504997A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923CC-AE73-CF45-AEDD-48D013EF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9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95D33-CF4C-ED41-9121-2243C45F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FB66E-DA11-454A-A823-854C9FAE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025A-872C-0F45-819C-40FCD82A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6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E9BA-5586-634A-ACD3-278F047D2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6B49F-92B0-5343-97E6-EF1BA7462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57ED8-E163-FB48-9F29-395E47B6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5E710-AE99-4C42-AC8F-7F50AE39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4638E-2661-754A-88CD-8B0B25F7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A1632-B8F2-F446-B9F0-6E0BD955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3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F563-C4BB-714D-803E-CBC797AB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AEC68-3766-B341-931D-6F5DEA7E9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946E1-BB3D-0F46-AFC7-17700FAD6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BB128-0B2E-0E4C-9AC9-9CBF6A25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8C8B9-6588-3647-98BE-177541FA5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E1BAC-5BC9-E943-8416-D74A84D7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175C-46DC-384F-89BB-7369D7B0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0C98E-62FC-7C43-A0B2-9C8C75F1F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F6509-CC82-3345-9E7A-2B234B7DC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98285-D8E6-8046-8AD3-CA63FC41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2252-0B04-D642-BAF5-CAFC7F893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5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D4D6FD-36FF-C44E-9E58-0B7B2275A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D96E1-AF1D-7747-9D6F-5D06892AB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CFA86-96A0-C54F-A0B5-D81A9DA13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F46DA-7268-9547-94C4-F76F8BCB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171E9-E91A-B743-B822-DD6AB168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0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60582-3CA5-9542-8776-6059F078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1DDDE-9DCE-A641-9036-6EA0FFB87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88CB-D608-574A-BADA-B6A0A088C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A919C-F3E3-7543-A7A8-6F0F918CD69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60677-54C4-004D-8931-CEA95FE5D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BF80C-4FA5-CD42-9336-8D7ABFDD9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A929C-40D6-6A4C-9936-58C985A4E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1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12" Type="http://schemas.openxmlformats.org/officeDocument/2006/relationships/image" Target="../media/image1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61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1.png"/><Relationship Id="rId9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gif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gif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jpeg"/><Relationship Id="rId7" Type="http://schemas.openxmlformats.org/officeDocument/2006/relationships/image" Target="../media/image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5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4902" y="2663"/>
            <a:ext cx="12187098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The Clapeyron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989B1EB-29D9-C849-B9DF-06B279169A66}"/>
                  </a:ext>
                </a:extLst>
              </p:cNvPr>
              <p:cNvSpPr/>
              <p:nvPr/>
            </p:nvSpPr>
            <p:spPr>
              <a:xfrm>
                <a:off x="457008" y="1561301"/>
                <a:ext cx="5287107" cy="2702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The</a:t>
                </a:r>
                <a:r>
                  <a:rPr lang="en-US" sz="2400" b="1" dirty="0">
                    <a:ea typeface="Cambria Math" panose="02040503050406030204" pitchFamily="18" charset="0"/>
                  </a:rPr>
                  <a:t> Clapeyron Equation</a:t>
                </a:r>
                <a:r>
                  <a:rPr lang="en-US" sz="2400" dirty="0">
                    <a:ea typeface="Cambria Math" panose="02040503050406030204" pitchFamily="18" charset="0"/>
                  </a:rPr>
                  <a:t> gives the </a:t>
                </a:r>
                <a:r>
                  <a:rPr lang="en-US" sz="2400" b="1" dirty="0">
                    <a:ea typeface="Cambria Math" panose="02040503050406030204" pitchFamily="18" charset="0"/>
                  </a:rPr>
                  <a:t>slope</a:t>
                </a:r>
                <a:r>
                  <a:rPr lang="en-US" sz="2400" dirty="0">
                    <a:ea typeface="Cambria Math" panose="02040503050406030204" pitchFamily="18" charset="0"/>
                  </a:rPr>
                  <a:t> of the phase boundary lines:</a:t>
                </a: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𝒅𝑷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𝒅𝑻</m:t>
                          </m:r>
                        </m:den>
                      </m:f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𝒕𝒓𝒔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𝒕𝒓𝒔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where </a:t>
                </a:r>
                <a:r>
                  <a:rPr lang="en-US" sz="2400" dirty="0" err="1"/>
                  <a:t>trs</a:t>
                </a:r>
                <a:r>
                  <a:rPr lang="en-US" sz="2400" dirty="0"/>
                  <a:t> = </a:t>
                </a:r>
                <a:r>
                  <a:rPr lang="en-US" sz="2400" dirty="0" err="1"/>
                  <a:t>fus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vap</a:t>
                </a:r>
                <a:r>
                  <a:rPr lang="en-US" sz="2400" dirty="0"/>
                  <a:t>, or sub.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989B1EB-29D9-C849-B9DF-06B279169A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08" y="1561301"/>
                <a:ext cx="5287107" cy="2702663"/>
              </a:xfrm>
              <a:prstGeom prst="rect">
                <a:avLst/>
              </a:prstGeom>
              <a:blipFill>
                <a:blip r:embed="rId2"/>
                <a:stretch>
                  <a:fillRect l="-1918" t="-1402" b="-4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8E0F608-29AE-D61A-1761-590ABF70E79D}"/>
              </a:ext>
            </a:extLst>
          </p:cNvPr>
          <p:cNvGrpSpPr/>
          <p:nvPr/>
        </p:nvGrpSpPr>
        <p:grpSpPr>
          <a:xfrm>
            <a:off x="6815029" y="1674721"/>
            <a:ext cx="3716504" cy="3214486"/>
            <a:chOff x="6144469" y="1697632"/>
            <a:chExt cx="3716504" cy="32144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C61AB64-6751-2BA5-BFD2-89ABC17B21B1}"/>
                    </a:ext>
                  </a:extLst>
                </p:cNvPr>
                <p:cNvSpPr/>
                <p:nvPr/>
              </p:nvSpPr>
              <p:spPr>
                <a:xfrm>
                  <a:off x="8411047" y="2585877"/>
                  <a:ext cx="875496" cy="6960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B05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C61AB64-6751-2BA5-BFD2-89ABC17B21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1047" y="2585877"/>
                  <a:ext cx="875496" cy="696088"/>
                </a:xfrm>
                <a:prstGeom prst="rect">
                  <a:avLst/>
                </a:prstGeom>
                <a:blipFill>
                  <a:blip r:embed="rId3"/>
                  <a:stretch>
                    <a:fillRect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B1938AE-2256-ECEF-0C03-8CFAAED47C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48795" y="2585877"/>
              <a:ext cx="677619" cy="977938"/>
            </a:xfrm>
            <a:prstGeom prst="line">
              <a:avLst/>
            </a:prstGeom>
            <a:ln w="635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75E93464-7C09-F65A-AC25-97D996BB61A1}"/>
                </a:ext>
              </a:extLst>
            </p:cNvPr>
            <p:cNvSpPr/>
            <p:nvPr/>
          </p:nvSpPr>
          <p:spPr>
            <a:xfrm>
              <a:off x="8852790" y="2993241"/>
              <a:ext cx="433753" cy="443051"/>
            </a:xfrm>
            <a:prstGeom prst="arc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2" descr="Image result for phase diagrams">
              <a:extLst>
                <a:ext uri="{FF2B5EF4-FFF2-40B4-BE49-F238E27FC236}">
                  <a16:creationId xmlns:a16="http://schemas.microsoft.com/office/drawing/2014/main" id="{9AB3B146-302C-8BA4-6AC1-D2C0C79BAB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73" b="5795"/>
            <a:stretch/>
          </p:blipFill>
          <p:spPr bwMode="auto">
            <a:xfrm>
              <a:off x="6353071" y="1697632"/>
              <a:ext cx="3507902" cy="2739762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B305403-AE54-406A-D575-50BCFCE92FAD}"/>
                </a:ext>
              </a:extLst>
            </p:cNvPr>
            <p:cNvGrpSpPr/>
            <p:nvPr/>
          </p:nvGrpSpPr>
          <p:grpSpPr>
            <a:xfrm>
              <a:off x="8478482" y="2351715"/>
              <a:ext cx="1180089" cy="1132877"/>
              <a:chOff x="8478482" y="2351715"/>
              <a:chExt cx="1180089" cy="1132877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7DE861C-65C2-56D0-206B-D590DEF04526}"/>
                  </a:ext>
                </a:extLst>
              </p:cNvPr>
              <p:cNvGrpSpPr/>
              <p:nvPr/>
            </p:nvGrpSpPr>
            <p:grpSpPr>
              <a:xfrm>
                <a:off x="8478482" y="2351715"/>
                <a:ext cx="1004206" cy="906593"/>
                <a:chOff x="7880589" y="2698136"/>
                <a:chExt cx="1004206" cy="9065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1530AC56-9DB7-BB71-5B61-23EB75845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80589" y="2698136"/>
                      <a:ext cx="875496" cy="696088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B050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1530AC56-9DB7-BB71-5B61-23EB7584598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0589" y="2698136"/>
                      <a:ext cx="875496" cy="6960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A873DF6-C035-24E7-2686-37828330A3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23672" y="2909732"/>
                  <a:ext cx="361123" cy="69499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5F1C5473-77B0-391F-8172-0F208B6F1F45}"/>
                  </a:ext>
                </a:extLst>
              </p:cNvPr>
              <p:cNvSpPr/>
              <p:nvPr/>
            </p:nvSpPr>
            <p:spPr>
              <a:xfrm>
                <a:off x="8584558" y="2788504"/>
                <a:ext cx="1074013" cy="696088"/>
              </a:xfrm>
              <a:prstGeom prst="arc">
                <a:avLst>
                  <a:gd name="adj1" fmla="val 16200000"/>
                  <a:gd name="adj2" fmla="val 20283306"/>
                </a:avLst>
              </a:prstGeom>
              <a:noFill/>
              <a:ln w="25400">
                <a:solidFill>
                  <a:srgbClr val="00B05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239DE82-59EA-8E19-7A2B-288C008190D5}"/>
                </a:ext>
              </a:extLst>
            </p:cNvPr>
            <p:cNvGrpSpPr/>
            <p:nvPr/>
          </p:nvGrpSpPr>
          <p:grpSpPr>
            <a:xfrm>
              <a:off x="6852427" y="1697632"/>
              <a:ext cx="1281744" cy="1077289"/>
              <a:chOff x="6852427" y="1697632"/>
              <a:chExt cx="1281744" cy="1077289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DB2519B-DE0F-26C7-959B-5F8F34190CBA}"/>
                  </a:ext>
                </a:extLst>
              </p:cNvPr>
              <p:cNvGrpSpPr/>
              <p:nvPr/>
            </p:nvGrpSpPr>
            <p:grpSpPr>
              <a:xfrm>
                <a:off x="6852427" y="1697632"/>
                <a:ext cx="977123" cy="865679"/>
                <a:chOff x="7996701" y="2698136"/>
                <a:chExt cx="977123" cy="86567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FA532A51-E5D3-5540-C1A0-1F1B6D9407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6701" y="2698136"/>
                      <a:ext cx="875496" cy="696088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𝒇𝒖𝒔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accent1"/>
                        </a:solidFill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𝒇𝒖𝒔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FA532A51-E5D3-5540-C1A0-1F1B6D94079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6701" y="2698136"/>
                      <a:ext cx="875496" cy="6960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53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88C65E9-FAB6-5C38-AF39-DBD36274C7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848795" y="2795014"/>
                  <a:ext cx="125029" cy="768801"/>
                </a:xfrm>
                <a:prstGeom prst="line">
                  <a:avLst/>
                </a:prstGeom>
                <a:ln w="635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5AAADBAA-F689-94FE-6761-65040EDFB6A0}"/>
                  </a:ext>
                </a:extLst>
              </p:cNvPr>
              <p:cNvSpPr/>
              <p:nvPr/>
            </p:nvSpPr>
            <p:spPr>
              <a:xfrm>
                <a:off x="7060158" y="2078833"/>
                <a:ext cx="1074013" cy="696088"/>
              </a:xfrm>
              <a:prstGeom prst="arc">
                <a:avLst>
                  <a:gd name="adj1" fmla="val 16200000"/>
                  <a:gd name="adj2" fmla="val 20283306"/>
                </a:avLst>
              </a:prstGeom>
              <a:noFill/>
              <a:ln w="25400">
                <a:solidFill>
                  <a:schemeClr val="accent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0BCCBD3-C36E-73D7-539C-39E96CFA3001}"/>
                </a:ext>
              </a:extLst>
            </p:cNvPr>
            <p:cNvGrpSpPr/>
            <p:nvPr/>
          </p:nvGrpSpPr>
          <p:grpSpPr>
            <a:xfrm>
              <a:off x="6144469" y="3520437"/>
              <a:ext cx="1105830" cy="1391681"/>
              <a:chOff x="6144469" y="3520437"/>
              <a:chExt cx="1105830" cy="1391681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33BD60A-26EB-887E-1421-0D9A9E94EBDA}"/>
                  </a:ext>
                </a:extLst>
              </p:cNvPr>
              <p:cNvGrpSpPr/>
              <p:nvPr/>
            </p:nvGrpSpPr>
            <p:grpSpPr>
              <a:xfrm>
                <a:off x="6374803" y="3520437"/>
                <a:ext cx="875496" cy="890222"/>
                <a:chOff x="7976520" y="2367009"/>
                <a:chExt cx="875496" cy="89022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8C051583-706B-CD0B-7DE7-7AD42A2E32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6520" y="2367009"/>
                      <a:ext cx="875496" cy="646331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𝒔𝒖𝒃</m:t>
                                </m:r>
                              </m:sub>
                            </m:sSub>
                          </m:oMath>
                        </m:oMathPara>
                      </a14:m>
                      <a:endParaRPr lang="en-US" b="1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𝒔𝒖𝒃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8C051583-706B-CD0B-7DE7-7AD42A2E322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76520" y="2367009"/>
                      <a:ext cx="875496" cy="64633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D70EDC0A-77B0-16BF-40EB-7243419036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60858" y="3033740"/>
                  <a:ext cx="569426" cy="223491"/>
                </a:xfrm>
                <a:prstGeom prst="line">
                  <a:avLst/>
                </a:prstGeom>
                <a:ln w="635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A0D78E14-E907-4C59-3737-E547F07E9A13}"/>
                  </a:ext>
                </a:extLst>
              </p:cNvPr>
              <p:cNvSpPr/>
              <p:nvPr/>
            </p:nvSpPr>
            <p:spPr>
              <a:xfrm rot="2713949">
                <a:off x="5955506" y="4027068"/>
                <a:ext cx="1074013" cy="696088"/>
              </a:xfrm>
              <a:prstGeom prst="arc">
                <a:avLst>
                  <a:gd name="adj1" fmla="val 16200000"/>
                  <a:gd name="adj2" fmla="val 20283306"/>
                </a:avLst>
              </a:prstGeom>
              <a:noFill/>
              <a:ln w="25400">
                <a:solidFill>
                  <a:schemeClr val="accent2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C703255-BD30-5245-FFE2-9D3C0BCFEC3E}"/>
              </a:ext>
            </a:extLst>
          </p:cNvPr>
          <p:cNvSpPr txBox="1"/>
          <p:nvPr/>
        </p:nvSpPr>
        <p:spPr>
          <a:xfrm>
            <a:off x="8500110" y="4608576"/>
            <a:ext cx="755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36233-58EC-43AD-CE56-5F990E210000}"/>
              </a:ext>
            </a:extLst>
          </p:cNvPr>
          <p:cNvSpPr txBox="1"/>
          <p:nvPr/>
        </p:nvSpPr>
        <p:spPr>
          <a:xfrm>
            <a:off x="6591085" y="2298221"/>
            <a:ext cx="755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88291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6528" y="2663"/>
            <a:ext cx="1219852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How Clapeyron integrated to Thomson and Clausius-Clapeyron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C34C6-721C-4D4D-A442-6FFD024C4D47}"/>
              </a:ext>
            </a:extLst>
          </p:cNvPr>
          <p:cNvSpPr/>
          <p:nvPr/>
        </p:nvSpPr>
        <p:spPr>
          <a:xfrm>
            <a:off x="50623" y="738524"/>
            <a:ext cx="8175648" cy="830997"/>
          </a:xfrm>
          <a:prstGeom prst="rect">
            <a:avLst/>
          </a:prstGeom>
          <a:ln w="25400"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 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/>
              <p:nvPr/>
            </p:nvSpPr>
            <p:spPr>
              <a:xfrm>
                <a:off x="139352" y="481914"/>
                <a:ext cx="11980739" cy="6377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𝑑𝑃</m:t>
                        </m:r>
                      </m:e>
                    </m:nary>
                    <m:r>
                      <a:rPr lang="en-US" sz="2400" b="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𝑓𝑢𝑠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𝑓𝑢𝑠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𝑑𝑇</m:t>
                        </m:r>
                      </m:e>
                    </m:nary>
                  </m:oMath>
                </a14:m>
                <a:r>
                  <a:rPr lang="en-US" sz="2400" dirty="0"/>
                  <a:t> (considering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</m:oMath>
                </a14:m>
                <a:r>
                  <a:rPr lang="en-US" sz="2400" dirty="0"/>
                  <a:t> to be constant) gave us </a:t>
                </a:r>
                <a:endParaRPr lang="en-US" sz="2400" b="1" i="1" dirty="0">
                  <a:solidFill>
                    <a:schemeClr val="accent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𝑷</m:t>
                    </m:r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  <m:r>
                      <a:rPr lang="en-US" sz="2400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𝐥𝐧</m:t>
                    </m:r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den>
                    </m:f>
                    <m:r>
                      <a:rPr lang="en-US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AKA the </a:t>
                </a:r>
                <a:r>
                  <a:rPr lang="en-US" sz="2400" b="1" dirty="0"/>
                  <a:t>Thomson Equation</a:t>
                </a:r>
                <a:r>
                  <a:rPr lang="en-US" sz="2400" dirty="0"/>
                  <a:t> for the </a:t>
                </a:r>
                <a:r>
                  <a:rPr lang="en-US" sz="2400" b="1" dirty="0"/>
                  <a:t>solid-liquid phase boundary 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en-US" sz="24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𝑑𝑃</m:t>
                            </m:r>
                          </m:num>
                          <m:den>
                            <m:r>
                              <a:rPr lang="en-US" sz="24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nary>
                    <m:r>
                      <a:rPr lang="en-US" sz="24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en-US" sz="24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𝑣𝑎𝑝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𝑛𝑅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sz="2400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𝑑𝑇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(considering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</m:oMath>
                </a14:m>
                <a:r>
                  <a:rPr lang="en-US" sz="2400" dirty="0"/>
                  <a:t> to be constant) gave us 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𝐞𝐱𝐩</m:t>
                    </m:r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𝒗𝒂𝒑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𝒏𝑹</m:t>
                            </m:r>
                          </m:den>
                        </m:f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, AKA the </a:t>
                </a:r>
                <a:r>
                  <a:rPr lang="en-US" sz="2400" b="1" dirty="0"/>
                  <a:t>Clausius-Clapeyron equation </a:t>
                </a:r>
                <a:r>
                  <a:rPr lang="en-US" sz="2400" dirty="0"/>
                  <a:t>for the </a:t>
                </a:r>
                <a:r>
                  <a:rPr lang="en-US" sz="2400" b="1" dirty="0"/>
                  <a:t>liquid-vapor phase boundary</a:t>
                </a:r>
                <a:r>
                  <a:rPr lang="en-US" sz="2400" dirty="0"/>
                  <a:t>.</a:t>
                </a:r>
                <a:endParaRPr lang="en-US" sz="2400" dirty="0">
                  <a:solidFill>
                    <a:srgbClr val="00B050"/>
                  </a:solidFill>
                </a:endParaRPr>
              </a:p>
              <a:p>
                <a:endParaRPr lang="en-US" sz="2400" b="1" dirty="0">
                  <a:solidFill>
                    <a:srgbClr val="00B050"/>
                  </a:solidFill>
                </a:endParaRPr>
              </a:p>
              <a:p>
                <a:endParaRPr lang="en-US" sz="2400" b="1" dirty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en-US" sz="2400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𝑑𝑃</m:t>
                            </m:r>
                          </m:num>
                          <m:den>
                            <m:r>
                              <a:rPr lang="en-US" sz="2400" b="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nary>
                    <m:r>
                      <a:rPr lang="en-US" sz="2400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400" b="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en-US" sz="2400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𝑠𝑢𝑏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𝑛𝑅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sz="2400" b="0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𝑑𝑇</m:t>
                        </m:r>
                      </m:e>
                    </m:nary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(considering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𝑠𝑢𝑏</m:t>
                        </m:r>
                      </m:sub>
                    </m:sSub>
                  </m:oMath>
                </a14:m>
                <a:r>
                  <a:rPr lang="en-US" sz="2400" dirty="0"/>
                  <a:t> to be constant) gave us 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𝐞𝐱𝐩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𝒔𝒖𝒃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𝒏𝑹</m:t>
                            </m:r>
                          </m:den>
                        </m:f>
                        <m:r>
                          <a:rPr lang="en-US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den>
                            </m:f>
                            <m:r>
                              <a:rPr lang="en-US" sz="24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, AKA the </a:t>
                </a:r>
                <a:r>
                  <a:rPr lang="en-US" sz="2400" b="1" dirty="0"/>
                  <a:t>Clausius-Clapeyron equation </a:t>
                </a:r>
                <a:r>
                  <a:rPr lang="en-US" sz="2400" dirty="0"/>
                  <a:t>for the </a:t>
                </a:r>
                <a:r>
                  <a:rPr lang="en-US" sz="2400" b="1" dirty="0"/>
                  <a:t>solid-vapor phase boundary</a:t>
                </a:r>
                <a:r>
                  <a:rPr lang="en-US" sz="2400" dirty="0"/>
                  <a:t>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D93F2F-525F-434F-9EA5-E3EA80852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52" y="481914"/>
                <a:ext cx="11980739" cy="6377643"/>
              </a:xfrm>
              <a:prstGeom prst="rect">
                <a:avLst/>
              </a:prstGeom>
              <a:blipFill>
                <a:blip r:embed="rId2"/>
                <a:stretch>
                  <a:fillRect l="-4873" t="-9940" b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50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0" y="-9008"/>
                <a:ext cx="11772275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Recap: T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he </a:t>
                </a:r>
                <a:r>
                  <a:rPr lang="en-US" sz="2400" b="1" dirty="0"/>
                  <a:t>“Isobaric expansivity”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sz="2400" b="1" dirty="0"/>
                  <a:t>) and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“Isothermal compressibility”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9008"/>
                <a:ext cx="11772275" cy="461665"/>
              </a:xfrm>
              <a:prstGeom prst="rect">
                <a:avLst/>
              </a:prstGeom>
              <a:blipFill>
                <a:blip r:embed="rId2"/>
                <a:stretch>
                  <a:fillRect l="-86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/>
              <p:nvPr/>
            </p:nvSpPr>
            <p:spPr>
              <a:xfrm>
                <a:off x="190769" y="2255280"/>
                <a:ext cx="3515600" cy="2347437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𝜿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sSub>
                        <m:sSub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  <m:sSub>
                        <m:sSubPr>
                          <m:ctrlP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3C8ABB6-B1AB-F144-A138-B03D987BC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69" y="2255280"/>
                <a:ext cx="3515600" cy="2347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07676D0-8D74-E8A5-FD2A-D27B9B7B5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704" y="1453741"/>
            <a:ext cx="7663571" cy="395051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DA274D-4247-B9A2-AD81-FFB74E2EA454}"/>
              </a:ext>
            </a:extLst>
          </p:cNvPr>
          <p:cNvCxnSpPr/>
          <p:nvPr/>
        </p:nvCxnSpPr>
        <p:spPr>
          <a:xfrm>
            <a:off x="3108960" y="3828288"/>
            <a:ext cx="8046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82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4902" y="2662"/>
            <a:ext cx="1214137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Why water boils at a lower temperature on Mt. Rainier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1" y="717394"/>
            <a:ext cx="4672413" cy="4264347"/>
            <a:chOff x="523121" y="717394"/>
            <a:chExt cx="4672413" cy="4264347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58F5859A-CC48-0A4F-80AF-D3C4BC0DD843}"/>
                </a:ext>
              </a:extLst>
            </p:cNvPr>
            <p:cNvGrpSpPr/>
            <p:nvPr/>
          </p:nvGrpSpPr>
          <p:grpSpPr>
            <a:xfrm>
              <a:off x="523121" y="828967"/>
              <a:ext cx="4672413" cy="4152774"/>
              <a:chOff x="4270167" y="240930"/>
              <a:chExt cx="3148180" cy="2640358"/>
            </a:xfrm>
          </p:grpSpPr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4FE1D576-C15D-C245-9B22-35165BF3A9AC}"/>
                  </a:ext>
                </a:extLst>
              </p:cNvPr>
              <p:cNvGrpSpPr/>
              <p:nvPr/>
            </p:nvGrpSpPr>
            <p:grpSpPr>
              <a:xfrm>
                <a:off x="4270167" y="240930"/>
                <a:ext cx="3148180" cy="2640358"/>
                <a:chOff x="8122016" y="738525"/>
                <a:chExt cx="3611879" cy="2979268"/>
              </a:xfrm>
            </p:grpSpPr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27B2E3B6-58D5-944A-9D66-645714CA4414}"/>
                    </a:ext>
                  </a:extLst>
                </p:cNvPr>
                <p:cNvGrpSpPr/>
                <p:nvPr/>
              </p:nvGrpSpPr>
              <p:grpSpPr>
                <a:xfrm>
                  <a:off x="8122016" y="738525"/>
                  <a:ext cx="3611879" cy="2979268"/>
                  <a:chOff x="223734" y="1499666"/>
                  <a:chExt cx="3074185" cy="2961123"/>
                </a:xfrm>
              </p:grpSpPr>
              <p:pic>
                <p:nvPicPr>
                  <p:cNvPr id="133" name="Picture 2" descr="Image result for phase diagrams">
                    <a:extLst>
                      <a:ext uri="{FF2B5EF4-FFF2-40B4-BE49-F238E27FC236}">
                        <a16:creationId xmlns:a16="http://schemas.microsoft.com/office/drawing/2014/main" id="{33F047FA-E354-3143-B016-CA8A24FC157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773" b="5795"/>
                  <a:stretch/>
                </p:blipFill>
                <p:spPr bwMode="auto">
                  <a:xfrm>
                    <a:off x="406438" y="1828307"/>
                    <a:ext cx="2891481" cy="263248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A8441AD0-8078-A745-9FA6-7DD9B18DB8B9}"/>
                      </a:ext>
                    </a:extLst>
                  </p:cNvPr>
                  <p:cNvSpPr/>
                  <p:nvPr/>
                </p:nvSpPr>
                <p:spPr>
                  <a:xfrm>
                    <a:off x="223734" y="1499666"/>
                    <a:ext cx="34336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</p:grpSp>
            <p:sp>
              <p:nvSpPr>
                <p:cNvPr id="132" name="Freeform 131">
                  <a:extLst>
                    <a:ext uri="{FF2B5EF4-FFF2-40B4-BE49-F238E27FC236}">
                      <a16:creationId xmlns:a16="http://schemas.microsoft.com/office/drawing/2014/main" id="{052925E9-5A9D-4B46-8554-057BF5AA15F9}"/>
                    </a:ext>
                  </a:extLst>
                </p:cNvPr>
                <p:cNvSpPr/>
                <p:nvPr/>
              </p:nvSpPr>
              <p:spPr>
                <a:xfrm>
                  <a:off x="9483213" y="1968497"/>
                  <a:ext cx="1823428" cy="1241951"/>
                </a:xfrm>
                <a:custGeom>
                  <a:avLst/>
                  <a:gdLst>
                    <a:gd name="connsiteX0" fmla="*/ 0 w 1823428"/>
                    <a:gd name="connsiteY0" fmla="*/ 1241951 h 1241951"/>
                    <a:gd name="connsiteX1" fmla="*/ 353961 w 1823428"/>
                    <a:gd name="connsiteY1" fmla="*/ 1153461 h 1241951"/>
                    <a:gd name="connsiteX2" fmla="*/ 693174 w 1823428"/>
                    <a:gd name="connsiteY2" fmla="*/ 1064970 h 1241951"/>
                    <a:gd name="connsiteX3" fmla="*/ 988142 w 1823428"/>
                    <a:gd name="connsiteY3" fmla="*/ 917486 h 1241951"/>
                    <a:gd name="connsiteX4" fmla="*/ 1283110 w 1823428"/>
                    <a:gd name="connsiteY4" fmla="*/ 725757 h 1241951"/>
                    <a:gd name="connsiteX5" fmla="*/ 1548581 w 1823428"/>
                    <a:gd name="connsiteY5" fmla="*/ 460286 h 1241951"/>
                    <a:gd name="connsiteX6" fmla="*/ 1799303 w 1823428"/>
                    <a:gd name="connsiteY6" fmla="*/ 32583 h 1241951"/>
                    <a:gd name="connsiteX7" fmla="*/ 1799303 w 1823428"/>
                    <a:gd name="connsiteY7" fmla="*/ 62080 h 1241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3428" h="1241951">
                      <a:moveTo>
                        <a:pt x="0" y="1241951"/>
                      </a:moveTo>
                      <a:lnTo>
                        <a:pt x="353961" y="1153461"/>
                      </a:lnTo>
                      <a:cubicBezTo>
                        <a:pt x="469490" y="1123964"/>
                        <a:pt x="587477" y="1104299"/>
                        <a:pt x="693174" y="1064970"/>
                      </a:cubicBezTo>
                      <a:cubicBezTo>
                        <a:pt x="798871" y="1025641"/>
                        <a:pt x="889819" y="974021"/>
                        <a:pt x="988142" y="917486"/>
                      </a:cubicBezTo>
                      <a:cubicBezTo>
                        <a:pt x="1086465" y="860950"/>
                        <a:pt x="1189704" y="801957"/>
                        <a:pt x="1283110" y="725757"/>
                      </a:cubicBezTo>
                      <a:cubicBezTo>
                        <a:pt x="1376517" y="649557"/>
                        <a:pt x="1462549" y="575815"/>
                        <a:pt x="1548581" y="460286"/>
                      </a:cubicBezTo>
                      <a:cubicBezTo>
                        <a:pt x="1634613" y="344757"/>
                        <a:pt x="1757516" y="98951"/>
                        <a:pt x="1799303" y="32583"/>
                      </a:cubicBezTo>
                      <a:cubicBezTo>
                        <a:pt x="1841090" y="-33785"/>
                        <a:pt x="1820196" y="14147"/>
                        <a:pt x="1799303" y="62080"/>
                      </a:cubicBezTo>
                    </a:path>
                  </a:pathLst>
                </a:custGeom>
                <a:noFill/>
                <a:ln w="1016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98F1B4F3-46FC-084F-B42C-7003876AF998}"/>
                  </a:ext>
                </a:extLst>
              </p:cNvPr>
              <p:cNvCxnSpPr>
                <a:cxnSpLocks/>
                <a:stCxn id="132" idx="5"/>
              </p:cNvCxnSpPr>
              <p:nvPr/>
            </p:nvCxnSpPr>
            <p:spPr>
              <a:xfrm flipV="1">
                <a:off x="6806386" y="1228099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BE45568-7AB6-C449-B369-077EE1392D1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A5B9DA0-10B5-8F48-A590-1004AE64D09C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1ABD4B4-73C8-FECE-BD58-26F723109F71}"/>
              </a:ext>
            </a:extLst>
          </p:cNvPr>
          <p:cNvSpPr txBox="1"/>
          <p:nvPr/>
        </p:nvSpPr>
        <p:spPr>
          <a:xfrm>
            <a:off x="7897339" y="4418866"/>
            <a:ext cx="39463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Boiling happens at a lower temperature on Mt. Rainier because atmospheric pressure is lower there. </a:t>
            </a:r>
          </a:p>
        </p:txBody>
      </p:sp>
      <p:pic>
        <p:nvPicPr>
          <p:cNvPr id="3" name="Picture 2" descr="Camping Food Safety Tips : TripHobo Travel Blog">
            <a:extLst>
              <a:ext uri="{FF2B5EF4-FFF2-40B4-BE49-F238E27FC236}">
                <a16:creationId xmlns:a16="http://schemas.microsoft.com/office/drawing/2014/main" id="{87968551-CD30-DEF8-3107-702E82834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824" y="869474"/>
            <a:ext cx="4033711" cy="3025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5B76DB-82DC-82BB-1FB8-314FA3FAAD17}"/>
              </a:ext>
            </a:extLst>
          </p:cNvPr>
          <p:cNvCxnSpPr>
            <a:cxnSpLocks/>
          </p:cNvCxnSpPr>
          <p:nvPr/>
        </p:nvCxnSpPr>
        <p:spPr>
          <a:xfrm>
            <a:off x="2133292" y="3453384"/>
            <a:ext cx="1829108" cy="0"/>
          </a:xfrm>
          <a:prstGeom prst="line">
            <a:avLst/>
          </a:prstGeom>
          <a:ln w="63500">
            <a:solidFill>
              <a:srgbClr val="FF0000">
                <a:alpha val="46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93DA79E-339C-B7EC-C3CE-A80F885BB48B}"/>
              </a:ext>
            </a:extLst>
          </p:cNvPr>
          <p:cNvSpPr txBox="1"/>
          <p:nvPr/>
        </p:nvSpPr>
        <p:spPr>
          <a:xfrm>
            <a:off x="102335" y="3319920"/>
            <a:ext cx="1937316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FF0000"/>
                </a:solidFill>
              </a:rPr>
              <a:t>Atmospheric pressure on Mt. Rainier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16C07D-C7D4-2F8F-334B-978D6C57F486}"/>
              </a:ext>
            </a:extLst>
          </p:cNvPr>
          <p:cNvCxnSpPr>
            <a:cxnSpLocks/>
          </p:cNvCxnSpPr>
          <p:nvPr/>
        </p:nvCxnSpPr>
        <p:spPr>
          <a:xfrm flipV="1">
            <a:off x="4102683" y="3385594"/>
            <a:ext cx="0" cy="1596147"/>
          </a:xfrm>
          <a:prstGeom prst="line">
            <a:avLst/>
          </a:prstGeom>
          <a:ln w="63500">
            <a:solidFill>
              <a:srgbClr val="FF0000">
                <a:alpha val="4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27AA4E8-D269-5C3D-E433-D9CD8DBDF244}"/>
              </a:ext>
            </a:extLst>
          </p:cNvPr>
          <p:cNvSpPr txBox="1"/>
          <p:nvPr/>
        </p:nvSpPr>
        <p:spPr>
          <a:xfrm>
            <a:off x="4850258" y="2408115"/>
            <a:ext cx="218540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Standard atmospheric pressure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EF67CC-71E5-43AE-CFA6-60EADE696D30}"/>
              </a:ext>
            </a:extLst>
          </p:cNvPr>
          <p:cNvCxnSpPr>
            <a:cxnSpLocks/>
          </p:cNvCxnSpPr>
          <p:nvPr/>
        </p:nvCxnSpPr>
        <p:spPr>
          <a:xfrm>
            <a:off x="2083618" y="2694176"/>
            <a:ext cx="2426541" cy="3048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937852-B0B6-D298-C04A-2308D55ACA17}"/>
              </a:ext>
            </a:extLst>
          </p:cNvPr>
          <p:cNvCxnSpPr>
            <a:cxnSpLocks/>
          </p:cNvCxnSpPr>
          <p:nvPr/>
        </p:nvCxnSpPr>
        <p:spPr>
          <a:xfrm flipV="1">
            <a:off x="4561709" y="2694176"/>
            <a:ext cx="0" cy="2239204"/>
          </a:xfrm>
          <a:prstGeom prst="line">
            <a:avLst/>
          </a:prstGeom>
          <a:ln w="63500">
            <a:solidFill>
              <a:srgbClr val="FF0000">
                <a:alpha val="4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1254C8-6584-98FE-784E-9C94FE3F8A92}"/>
                  </a:ext>
                </a:extLst>
              </p:cNvPr>
              <p:cNvSpPr txBox="1"/>
              <p:nvPr/>
            </p:nvSpPr>
            <p:spPr>
              <a:xfrm>
                <a:off x="4273559" y="4959711"/>
                <a:ext cx="548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F1254C8-6584-98FE-784E-9C94FE3F8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559" y="4959711"/>
                <a:ext cx="548848" cy="400110"/>
              </a:xfrm>
              <a:prstGeom prst="rect">
                <a:avLst/>
              </a:prstGeom>
              <a:blipFill>
                <a:blip r:embed="rId5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8B7D6B1-FA4E-45AB-1756-93B8D06508D6}"/>
                  </a:ext>
                </a:extLst>
              </p:cNvPr>
              <p:cNvSpPr txBox="1"/>
              <p:nvPr/>
            </p:nvSpPr>
            <p:spPr>
              <a:xfrm>
                <a:off x="3296888" y="4959711"/>
                <a:ext cx="11690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&lt;100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8B7D6B1-FA4E-45AB-1756-93B8D0650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888" y="4959711"/>
                <a:ext cx="116901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5C72DAA-2AE7-A3FA-A0F1-C9C891E134D9}"/>
                  </a:ext>
                </a:extLst>
              </p:cNvPr>
              <p:cNvSpPr/>
              <p:nvPr/>
            </p:nvSpPr>
            <p:spPr>
              <a:xfrm>
                <a:off x="5399712" y="4720112"/>
                <a:ext cx="8691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T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5C72DAA-2AE7-A3FA-A0F1-C9C891E13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712" y="4720112"/>
                <a:ext cx="869149" cy="461665"/>
              </a:xfrm>
              <a:prstGeom prst="rect">
                <a:avLst/>
              </a:prstGeom>
              <a:blipFill>
                <a:blip r:embed="rId7"/>
                <a:stretch>
                  <a:fillRect l="-11594" t="-7895" r="-101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028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4902" y="2662"/>
            <a:ext cx="12141377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Raoult’s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8D311C-098B-A243-B842-BD9C11793DC5}"/>
                  </a:ext>
                </a:extLst>
              </p:cNvPr>
              <p:cNvSpPr txBox="1"/>
              <p:nvPr/>
            </p:nvSpPr>
            <p:spPr>
              <a:xfrm>
                <a:off x="50623" y="5522739"/>
                <a:ext cx="12019457" cy="1047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mole fraction of solvent A in the solution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A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handy formula</a:t>
                </a:r>
                <a:r>
                  <a:rPr lang="en-US" sz="24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𝒎𝒐𝒍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𝒌𝒈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the solute’s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molality</a:t>
                </a:r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98D311C-098B-A243-B842-BD9C11793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3" y="5522739"/>
                <a:ext cx="12019457" cy="1047979"/>
              </a:xfrm>
              <a:prstGeom prst="rect">
                <a:avLst/>
              </a:prstGeom>
              <a:blipFill>
                <a:blip r:embed="rId2"/>
                <a:stretch>
                  <a:fillRect l="-738" t="-2381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CB99CD9-472E-274C-B6AC-2D88E1B4392D}"/>
              </a:ext>
            </a:extLst>
          </p:cNvPr>
          <p:cNvGrpSpPr/>
          <p:nvPr/>
        </p:nvGrpSpPr>
        <p:grpSpPr>
          <a:xfrm>
            <a:off x="523121" y="717394"/>
            <a:ext cx="4928723" cy="4264347"/>
            <a:chOff x="523121" y="717394"/>
            <a:chExt cx="4928723" cy="426434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2B46F46-EDDD-C84F-9CDC-FFFA6278BD52}"/>
                </a:ext>
              </a:extLst>
            </p:cNvPr>
            <p:cNvGrpSpPr/>
            <p:nvPr/>
          </p:nvGrpSpPr>
          <p:grpSpPr>
            <a:xfrm>
              <a:off x="523121" y="828967"/>
              <a:ext cx="4672413" cy="4152774"/>
              <a:chOff x="1376692" y="1157097"/>
              <a:chExt cx="4672413" cy="4152774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58F5859A-CC48-0A4F-80AF-D3C4BC0DD843}"/>
                  </a:ext>
                </a:extLst>
              </p:cNvPr>
              <p:cNvGrpSpPr/>
              <p:nvPr/>
            </p:nvGrpSpPr>
            <p:grpSpPr>
              <a:xfrm>
                <a:off x="1376692" y="1157097"/>
                <a:ext cx="4672413" cy="4152774"/>
                <a:chOff x="4270167" y="240930"/>
                <a:chExt cx="3148180" cy="2640358"/>
              </a:xfrm>
            </p:grpSpPr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4FE1D576-C15D-C245-9B22-35165BF3A9AC}"/>
                    </a:ext>
                  </a:extLst>
                </p:cNvPr>
                <p:cNvGrpSpPr/>
                <p:nvPr/>
              </p:nvGrpSpPr>
              <p:grpSpPr>
                <a:xfrm>
                  <a:off x="4270167" y="240930"/>
                  <a:ext cx="3148180" cy="2640358"/>
                  <a:chOff x="8122016" y="738525"/>
                  <a:chExt cx="3611879" cy="2979268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27B2E3B6-58D5-944A-9D66-645714CA4414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2979268"/>
                    <a:chOff x="223734" y="1499666"/>
                    <a:chExt cx="3074185" cy="2961123"/>
                  </a:xfrm>
                </p:grpSpPr>
                <p:pic>
                  <p:nvPicPr>
                    <p:cNvPr id="13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33F047FA-E354-3143-B016-CA8A24FC15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A8441AD0-8078-A745-9FA6-7DD9B18DB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</p:grpSp>
              <p:sp>
                <p:nvSpPr>
                  <p:cNvPr id="132" name="Freeform 131">
                    <a:extLst>
                      <a:ext uri="{FF2B5EF4-FFF2-40B4-BE49-F238E27FC236}">
                        <a16:creationId xmlns:a16="http://schemas.microsoft.com/office/drawing/2014/main" id="{052925E9-5A9D-4B46-8554-057BF5AA15F9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98F1B4F3-46FC-084F-B42C-7003876AF998}"/>
                    </a:ext>
                  </a:extLst>
                </p:cNvPr>
                <p:cNvCxnSpPr>
                  <a:cxnSpLocks/>
                  <a:stCxn id="13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F68C923-0EC1-FB4D-B3F7-CEE70C840068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549BC4-8DCE-3548-80D4-ECEB4912B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4E633502-EB70-DB48-9FD7-1DC05D1542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2979B83-6E8C-A640-9AF5-4DDCDA11EE7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92979B83-6E8C-A640-9AF5-4DDCDA11E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BE45568-7AB6-C449-B369-077EE1392D10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A5B9DA0-10B5-8F48-A590-1004AE64D09C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57C505D-8FA1-FF4E-ADB8-C9E2DFA194F3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57C505D-8FA1-FF4E-ADB8-C9E2DFA19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Down Arrow 4">
            <a:extLst>
              <a:ext uri="{FF2B5EF4-FFF2-40B4-BE49-F238E27FC236}">
                <a16:creationId xmlns:a16="http://schemas.microsoft.com/office/drawing/2014/main" id="{EC480F24-E8C6-D86C-0692-A0B6B983BC35}"/>
              </a:ext>
            </a:extLst>
          </p:cNvPr>
          <p:cNvSpPr/>
          <p:nvPr/>
        </p:nvSpPr>
        <p:spPr>
          <a:xfrm>
            <a:off x="2684080" y="4101747"/>
            <a:ext cx="179091" cy="258086"/>
          </a:xfrm>
          <a:prstGeom prst="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7ED191-3E63-114E-38CE-015B2EB91524}"/>
              </a:ext>
            </a:extLst>
          </p:cNvPr>
          <p:cNvGrpSpPr/>
          <p:nvPr/>
        </p:nvGrpSpPr>
        <p:grpSpPr>
          <a:xfrm>
            <a:off x="6696253" y="559807"/>
            <a:ext cx="4148647" cy="4699000"/>
            <a:chOff x="6696253" y="559807"/>
            <a:chExt cx="4148647" cy="46990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9DEC46-A9EC-DBAD-4F30-5EA8576E12D7}"/>
                </a:ext>
              </a:extLst>
            </p:cNvPr>
            <p:cNvSpPr txBox="1"/>
            <p:nvPr/>
          </p:nvSpPr>
          <p:spPr>
            <a:xfrm>
              <a:off x="6772057" y="2777870"/>
              <a:ext cx="3996852" cy="2405114"/>
            </a:xfrm>
            <a:prstGeom prst="rect">
              <a:avLst/>
            </a:prstGeom>
            <a:pattFill prst="pct60">
              <a:fgClr>
                <a:schemeClr val="accent1"/>
              </a:fgClr>
              <a:bgClr>
                <a:schemeClr val="bg1"/>
              </a:bgClr>
            </a:patt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B5AA7B-20D8-90A8-B76D-6028778F5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1480" y="3099370"/>
              <a:ext cx="0" cy="272494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F5590C-55C7-B770-17D0-AF1052B30A78}"/>
                </a:ext>
              </a:extLst>
            </p:cNvPr>
            <p:cNvSpPr txBox="1"/>
            <p:nvPr/>
          </p:nvSpPr>
          <p:spPr>
            <a:xfrm>
              <a:off x="10134383" y="3807238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BD8781-6FE1-B36D-94A6-9ABD6B254560}"/>
                </a:ext>
              </a:extLst>
            </p:cNvPr>
            <p:cNvSpPr txBox="1"/>
            <p:nvPr/>
          </p:nvSpPr>
          <p:spPr>
            <a:xfrm>
              <a:off x="8914669" y="3276003"/>
              <a:ext cx="312842" cy="470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2FBEBD-618B-8A08-E2E2-63E3F19E2504}"/>
                </a:ext>
              </a:extLst>
            </p:cNvPr>
            <p:cNvGrpSpPr/>
            <p:nvPr/>
          </p:nvGrpSpPr>
          <p:grpSpPr>
            <a:xfrm>
              <a:off x="7455775" y="3166456"/>
              <a:ext cx="2986654" cy="1906393"/>
              <a:chOff x="1302280" y="3131991"/>
              <a:chExt cx="2986654" cy="1906393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9193D0-9BD7-41AF-D0E0-205B965DDFA7}"/>
                  </a:ext>
                </a:extLst>
              </p:cNvPr>
              <p:cNvSpPr txBox="1"/>
              <p:nvPr/>
            </p:nvSpPr>
            <p:spPr>
              <a:xfrm>
                <a:off x="3976092" y="3131991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E372DB-775E-E5E5-785F-2DA18528E0DC}"/>
                  </a:ext>
                </a:extLst>
              </p:cNvPr>
              <p:cNvSpPr txBox="1"/>
              <p:nvPr/>
            </p:nvSpPr>
            <p:spPr>
              <a:xfrm>
                <a:off x="1302280" y="3745143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76A12EE-49A4-97AB-417E-F869A5B329AC}"/>
                  </a:ext>
                </a:extLst>
              </p:cNvPr>
              <p:cNvSpPr txBox="1"/>
              <p:nvPr/>
            </p:nvSpPr>
            <p:spPr>
              <a:xfrm>
                <a:off x="3789028" y="4567816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161D0A-4B17-9482-ED4F-70DEF3486928}"/>
                  </a:ext>
                </a:extLst>
              </p:cNvPr>
              <p:cNvSpPr txBox="1"/>
              <p:nvPr/>
            </p:nvSpPr>
            <p:spPr>
              <a:xfrm>
                <a:off x="1524909" y="4552345"/>
                <a:ext cx="312842" cy="4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C0B5D5E-95E8-C256-E510-B0BF865F2532}"/>
                </a:ext>
              </a:extLst>
            </p:cNvPr>
            <p:cNvGrpSpPr/>
            <p:nvPr/>
          </p:nvGrpSpPr>
          <p:grpSpPr>
            <a:xfrm>
              <a:off x="6696253" y="559807"/>
              <a:ext cx="4148647" cy="4699000"/>
              <a:chOff x="6696253" y="559807"/>
              <a:chExt cx="4148647" cy="4699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D9AB999-44E1-99BF-A68A-C85A16A773B3}"/>
                  </a:ext>
                </a:extLst>
              </p:cNvPr>
              <p:cNvGrpSpPr/>
              <p:nvPr/>
            </p:nvGrpSpPr>
            <p:grpSpPr>
              <a:xfrm>
                <a:off x="6696253" y="559807"/>
                <a:ext cx="4148647" cy="4699000"/>
                <a:chOff x="6696253" y="1183752"/>
                <a:chExt cx="4148647" cy="4699000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E424F6E2-9DC7-DCCA-C536-B16EFD471BCF}"/>
                    </a:ext>
                  </a:extLst>
                </p:cNvPr>
                <p:cNvGrpSpPr/>
                <p:nvPr/>
              </p:nvGrpSpPr>
              <p:grpSpPr>
                <a:xfrm>
                  <a:off x="6696253" y="1183752"/>
                  <a:ext cx="4148647" cy="4699000"/>
                  <a:chOff x="6696253" y="1193800"/>
                  <a:chExt cx="4148647" cy="4699000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CF6EFA47-DEBE-BEC0-C938-2E18B532EAA6}"/>
                      </a:ext>
                    </a:extLst>
                  </p:cNvPr>
                  <p:cNvGrpSpPr/>
                  <p:nvPr/>
                </p:nvGrpSpPr>
                <p:grpSpPr>
                  <a:xfrm>
                    <a:off x="6696253" y="1193800"/>
                    <a:ext cx="4148647" cy="4699000"/>
                    <a:chOff x="3009900" y="1244600"/>
                    <a:chExt cx="5740400" cy="4610100"/>
                  </a:xfrm>
                </p:grpSpPr>
                <p:sp>
                  <p:nvSpPr>
                    <p:cNvPr id="20" name="Frame 19">
                      <a:extLst>
                        <a:ext uri="{FF2B5EF4-FFF2-40B4-BE49-F238E27FC236}">
                          <a16:creationId xmlns:a16="http://schemas.microsoft.com/office/drawing/2014/main" id="{71FFBD3F-F406-7C63-6BDE-BEA1EA01DF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9900" y="1244600"/>
                      <a:ext cx="5740400" cy="4610100"/>
                    </a:xfrm>
                    <a:prstGeom prst="frame">
                      <a:avLst>
                        <a:gd name="adj1" fmla="val 1205"/>
                      </a:avLst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2" name="Straight Arrow Connector 21">
                      <a:extLst>
                        <a:ext uri="{FF2B5EF4-FFF2-40B4-BE49-F238E27FC236}">
                          <a16:creationId xmlns:a16="http://schemas.microsoft.com/office/drawing/2014/main" id="{C92DFE9D-6F4E-1D02-0B0B-836D9B6261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40200" y="3155950"/>
                      <a:ext cx="0" cy="787400"/>
                    </a:xfrm>
                    <a:prstGeom prst="straightConnector1">
                      <a:avLst/>
                    </a:prstGeom>
                    <a:ln w="635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54995933-DAB7-8AD1-B753-8F779DCEDA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48627" y="2669232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A</a:t>
                      </a:r>
                    </a:p>
                  </p:txBody>
                </p:sp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6258B3FD-E0E4-6011-3D1E-08B9DE0133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70501" y="3804506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A</a:t>
                      </a:r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B1856BD6-4D34-DA27-039B-D8D3979E35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3855" y="3353079"/>
                      <a:ext cx="43287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400" dirty="0"/>
                        <a:t>B</a:t>
                      </a:r>
                    </a:p>
                  </p:txBody>
                </p:sp>
                <p:cxnSp>
                  <p:nvCxnSpPr>
                    <p:cNvPr id="26" name="Straight Arrow Connector 25">
                      <a:extLst>
                        <a:ext uri="{FF2B5EF4-FFF2-40B4-BE49-F238E27FC236}">
                          <a16:creationId xmlns:a16="http://schemas.microsoft.com/office/drawing/2014/main" id="{D3E57CF8-C7D9-AB65-DF4F-B901EA0200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486937" y="3080606"/>
                      <a:ext cx="0" cy="723900"/>
                    </a:xfrm>
                    <a:prstGeom prst="straightConnector1">
                      <a:avLst/>
                    </a:prstGeom>
                    <a:ln w="63500"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978CB537-BE5B-B26A-6D6B-7C9111F4A298}"/>
                      </a:ext>
                    </a:extLst>
                  </p:cNvPr>
                  <p:cNvSpPr/>
                  <p:nvPr/>
                </p:nvSpPr>
                <p:spPr>
                  <a:xfrm>
                    <a:off x="6823857" y="1458187"/>
                    <a:ext cx="707245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A(</a:t>
                    </a:r>
                    <a:r>
                      <a:rPr lang="en-US" sz="2400" i="1" dirty="0"/>
                      <a:t>g</a:t>
                    </a:r>
                    <a:r>
                      <a:rPr lang="en-US" sz="2400" dirty="0"/>
                      <a:t>)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FA95DAC-36BE-1760-3029-198831D7B3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33563" y="1573136"/>
                      <a:ext cx="1976920" cy="470568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accent1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a14:m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FA95DAC-36BE-1760-3029-198831D7B3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33563" y="1573136"/>
                      <a:ext cx="1976920" cy="47056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5128"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33DD95-2291-9400-16FF-E7048FCEEEF5}"/>
                  </a:ext>
                </a:extLst>
              </p:cNvPr>
              <p:cNvSpPr txBox="1"/>
              <p:nvPr/>
            </p:nvSpPr>
            <p:spPr>
              <a:xfrm>
                <a:off x="7259562" y="1381339"/>
                <a:ext cx="24308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New equilibrium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80CDBAE-8815-8908-B96D-2D609739F6B8}"/>
              </a:ext>
            </a:extLst>
          </p:cNvPr>
          <p:cNvSpPr txBox="1"/>
          <p:nvPr/>
        </p:nvSpPr>
        <p:spPr>
          <a:xfrm>
            <a:off x="8144434" y="3784111"/>
            <a:ext cx="19139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Solvent A with solute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8C64F43-27AA-04C3-A8F2-C331821C6AC2}"/>
                  </a:ext>
                </a:extLst>
              </p:cNvPr>
              <p:cNvSpPr/>
              <p:nvPr/>
            </p:nvSpPr>
            <p:spPr>
              <a:xfrm>
                <a:off x="5399712" y="4720112"/>
                <a:ext cx="8691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T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8C64F43-27AA-04C3-A8F2-C331821C6A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712" y="4720112"/>
                <a:ext cx="869149" cy="461665"/>
              </a:xfrm>
              <a:prstGeom prst="rect">
                <a:avLst/>
              </a:prstGeom>
              <a:blipFill>
                <a:blip r:embed="rId12"/>
                <a:stretch>
                  <a:fillRect l="-11594" t="-7895" r="-101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02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26C3BD5-3566-7E42-8A7A-20CEF27BD32F}"/>
              </a:ext>
            </a:extLst>
          </p:cNvPr>
          <p:cNvGrpSpPr/>
          <p:nvPr/>
        </p:nvGrpSpPr>
        <p:grpSpPr>
          <a:xfrm>
            <a:off x="523123" y="717394"/>
            <a:ext cx="4928721" cy="4812665"/>
            <a:chOff x="523123" y="717394"/>
            <a:chExt cx="4928721" cy="481266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5139C9B-6C82-D94C-BA08-60C7290D8678}"/>
                </a:ext>
              </a:extLst>
            </p:cNvPr>
            <p:cNvGrpSpPr/>
            <p:nvPr/>
          </p:nvGrpSpPr>
          <p:grpSpPr>
            <a:xfrm>
              <a:off x="523123" y="828967"/>
              <a:ext cx="4672414" cy="4701092"/>
              <a:chOff x="1376694" y="1157097"/>
              <a:chExt cx="4672414" cy="4701092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2DA82CD-7BB6-9D4E-B0BB-83C93B7EDDD5}"/>
                  </a:ext>
                </a:extLst>
              </p:cNvPr>
              <p:cNvGrpSpPr/>
              <p:nvPr/>
            </p:nvGrpSpPr>
            <p:grpSpPr>
              <a:xfrm>
                <a:off x="1376694" y="1157097"/>
                <a:ext cx="4672414" cy="4701092"/>
                <a:chOff x="4270169" y="240930"/>
                <a:chExt cx="3148181" cy="2988982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060CFEB7-0152-294B-A6AF-1F8A68EB63E6}"/>
                    </a:ext>
                  </a:extLst>
                </p:cNvPr>
                <p:cNvGrpSpPr/>
                <p:nvPr/>
              </p:nvGrpSpPr>
              <p:grpSpPr>
                <a:xfrm>
                  <a:off x="4270169" y="240930"/>
                  <a:ext cx="3148181" cy="2988982"/>
                  <a:chOff x="8122016" y="738525"/>
                  <a:chExt cx="3611879" cy="3372641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8F0689FF-CFA8-754D-B30C-4DAE66DFA942}"/>
                      </a:ext>
                    </a:extLst>
                  </p:cNvPr>
                  <p:cNvGrpSpPr/>
                  <p:nvPr/>
                </p:nvGrpSpPr>
                <p:grpSpPr>
                  <a:xfrm>
                    <a:off x="8122016" y="738525"/>
                    <a:ext cx="3611879" cy="3372641"/>
                    <a:chOff x="223734" y="1499666"/>
                    <a:chExt cx="3074185" cy="3352100"/>
                  </a:xfrm>
                </p:grpSpPr>
                <p:pic>
                  <p:nvPicPr>
                    <p:cNvPr id="93" name="Picture 2" descr="Image result for phase diagrams">
                      <a:extLst>
                        <a:ext uri="{FF2B5EF4-FFF2-40B4-BE49-F238E27FC236}">
                          <a16:creationId xmlns:a16="http://schemas.microsoft.com/office/drawing/2014/main" id="{1FECCFD2-CD0B-174F-AB62-C5A6D6E086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773" b="5795"/>
                    <a:stretch/>
                  </p:blipFill>
                  <p:spPr bwMode="auto">
                    <a:xfrm>
                      <a:off x="406438" y="1828307"/>
                      <a:ext cx="2891481" cy="263248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5E65EF78-AAB1-494F-BA4A-21AB5106D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734" y="1499666"/>
                      <a:ext cx="3433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P</a:t>
                      </a: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1A50B93-6533-F040-B8A0-9AFDA1027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47899" y="4390101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</p:grpSp>
              <p:sp>
                <p:nvSpPr>
                  <p:cNvPr id="92" name="Freeform 91">
                    <a:extLst>
                      <a:ext uri="{FF2B5EF4-FFF2-40B4-BE49-F238E27FC236}">
                        <a16:creationId xmlns:a16="http://schemas.microsoft.com/office/drawing/2014/main" id="{98AEC7CB-3ACB-BC48-8895-D9B8AEC8FC1F}"/>
                      </a:ext>
                    </a:extLst>
                  </p:cNvPr>
                  <p:cNvSpPr/>
                  <p:nvPr/>
                </p:nvSpPr>
                <p:spPr>
                  <a:xfrm>
                    <a:off x="9483213" y="1968497"/>
                    <a:ext cx="1823428" cy="1241951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38EFA2E7-3E58-1047-82A6-6123154DD24E}"/>
                    </a:ext>
                  </a:extLst>
                </p:cNvPr>
                <p:cNvCxnSpPr>
                  <a:cxnSpLocks/>
                  <a:stCxn id="92" idx="5"/>
                </p:cNvCxnSpPr>
                <p:nvPr/>
              </p:nvCxnSpPr>
              <p:spPr>
                <a:xfrm flipV="1">
                  <a:off x="6806386" y="1228099"/>
                  <a:ext cx="300338" cy="510811"/>
                </a:xfrm>
                <a:prstGeom prst="straightConnector1">
                  <a:avLst/>
                </a:prstGeom>
                <a:ln w="1016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DA5BBA2A-3DE6-D546-BFB0-103CB086D8F2}"/>
                  </a:ext>
                </a:extLst>
              </p:cNvPr>
              <p:cNvSpPr/>
              <p:nvPr/>
            </p:nvSpPr>
            <p:spPr>
              <a:xfrm>
                <a:off x="2679701" y="3023942"/>
                <a:ext cx="2969102" cy="1929057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185879C-B659-924E-8D94-9467E251AA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480" r="8245" b="1865"/>
            <a:stretch/>
          </p:blipFill>
          <p:spPr>
            <a:xfrm rot="20613095">
              <a:off x="1728344" y="1279381"/>
              <a:ext cx="558091" cy="283568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133EA9E-D40A-9B4C-923A-A3BF55CC7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7578" b="233"/>
            <a:stretch/>
          </p:blipFill>
          <p:spPr>
            <a:xfrm>
              <a:off x="2363350" y="717394"/>
              <a:ext cx="358234" cy="284335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/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955AE40E-8EF2-1F44-BFD5-88AC43CDC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350" y="2563911"/>
                  <a:ext cx="1234146" cy="469809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6672F10-E54B-394F-B364-B57097700487}"/>
                </a:ext>
              </a:extLst>
            </p:cNvPr>
            <p:cNvSpPr/>
            <p:nvPr/>
          </p:nvSpPr>
          <p:spPr>
            <a:xfrm>
              <a:off x="2121100" y="4187361"/>
              <a:ext cx="163517" cy="15824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A88327-EF5C-6441-886D-F4FDBEE09B55}"/>
                </a:ext>
              </a:extLst>
            </p:cNvPr>
            <p:cNvCxnSpPr/>
            <p:nvPr/>
          </p:nvCxnSpPr>
          <p:spPr>
            <a:xfrm>
              <a:off x="784060" y="4258638"/>
              <a:ext cx="335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/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B5BBA53-5828-7B47-B6FC-BFD16B4C7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821" y="3944793"/>
                  <a:ext cx="245702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>
            <a:extLst>
              <a:ext uri="{FF2B5EF4-FFF2-40B4-BE49-F238E27FC236}">
                <a16:creationId xmlns:a16="http://schemas.microsoft.com/office/drawing/2014/main" id="{07332187-258B-4B49-9977-CC01457FE985}"/>
              </a:ext>
            </a:extLst>
          </p:cNvPr>
          <p:cNvSpPr/>
          <p:nvPr/>
        </p:nvSpPr>
        <p:spPr>
          <a:xfrm>
            <a:off x="1770580" y="4545501"/>
            <a:ext cx="163517" cy="158243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D5629C2-24D4-B049-8CD5-2547DC70BBEE}"/>
              </a:ext>
            </a:extLst>
          </p:cNvPr>
          <p:cNvCxnSpPr>
            <a:cxnSpLocks/>
          </p:cNvCxnSpPr>
          <p:nvPr/>
        </p:nvCxnSpPr>
        <p:spPr>
          <a:xfrm flipH="1" flipV="1">
            <a:off x="1812490" y="4619453"/>
            <a:ext cx="390368" cy="51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805F36-1E94-5E4B-B161-9944AC1071E2}"/>
              </a:ext>
            </a:extLst>
          </p:cNvPr>
          <p:cNvCxnSpPr/>
          <p:nvPr/>
        </p:nvCxnSpPr>
        <p:spPr>
          <a:xfrm>
            <a:off x="2202858" y="3794760"/>
            <a:ext cx="0" cy="1087845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own Arrow 2">
            <a:extLst>
              <a:ext uri="{FF2B5EF4-FFF2-40B4-BE49-F238E27FC236}">
                <a16:creationId xmlns:a16="http://schemas.microsoft.com/office/drawing/2014/main" id="{C61952E3-3133-A960-648D-E9BCA4090CC6}"/>
              </a:ext>
            </a:extLst>
          </p:cNvPr>
          <p:cNvSpPr/>
          <p:nvPr/>
        </p:nvSpPr>
        <p:spPr>
          <a:xfrm>
            <a:off x="2684080" y="4101747"/>
            <a:ext cx="179091" cy="258086"/>
          </a:xfrm>
          <a:prstGeom prst="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F8771-5DEE-9465-94CB-CA9AFE0CA93A}"/>
                  </a:ext>
                </a:extLst>
              </p:cNvPr>
              <p:cNvSpPr txBox="1"/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F8771-5DEE-9465-94CB-CA9AFE0CA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8" y="5013212"/>
                <a:ext cx="9801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1073BBC-6042-4E6C-ABBF-71C3F629C5E9}"/>
              </a:ext>
            </a:extLst>
          </p:cNvPr>
          <p:cNvSpPr txBox="1"/>
          <p:nvPr/>
        </p:nvSpPr>
        <p:spPr>
          <a:xfrm>
            <a:off x="-8052" y="2662"/>
            <a:ext cx="1220005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How </a:t>
            </a:r>
            <a:r>
              <a:rPr lang="en-US" sz="2400" b="1" dirty="0" err="1"/>
              <a:t>Raoult</a:t>
            </a:r>
            <a:r>
              <a:rPr lang="en-US" sz="2400" b="1" dirty="0"/>
              <a:t> explains freezing point depression</a:t>
            </a:r>
          </a:p>
        </p:txBody>
      </p:sp>
      <p:pic>
        <p:nvPicPr>
          <p:cNvPr id="1026" name="Picture 2" descr="Wallpaper : iceberg, Arctic, Freezing, melting, sea ice, arctic ocean, polar ice cap, ice cap ...">
            <a:extLst>
              <a:ext uri="{FF2B5EF4-FFF2-40B4-BE49-F238E27FC236}">
                <a16:creationId xmlns:a16="http://schemas.microsoft.com/office/drawing/2014/main" id="{140E8954-605C-E215-CFD2-2F64561CD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449" y="1609083"/>
            <a:ext cx="5624891" cy="363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817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073BBC-6042-4E6C-ABBF-71C3F629C5E9}"/>
              </a:ext>
            </a:extLst>
          </p:cNvPr>
          <p:cNvSpPr txBox="1"/>
          <p:nvPr/>
        </p:nvSpPr>
        <p:spPr>
          <a:xfrm>
            <a:off x="-8052" y="2662"/>
            <a:ext cx="1220005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The connection between </a:t>
            </a:r>
            <a:r>
              <a:rPr lang="en-US" sz="2400" b="1" dirty="0" err="1"/>
              <a:t>Raoult</a:t>
            </a:r>
            <a:r>
              <a:rPr lang="en-US" sz="2400" b="1" dirty="0"/>
              <a:t> and Blagden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2A9AD3-76CC-0FB1-2F01-5D50575B01E5}"/>
              </a:ext>
            </a:extLst>
          </p:cNvPr>
          <p:cNvGrpSpPr/>
          <p:nvPr/>
        </p:nvGrpSpPr>
        <p:grpSpPr>
          <a:xfrm>
            <a:off x="6265964" y="2074670"/>
            <a:ext cx="4865332" cy="1990316"/>
            <a:chOff x="720130" y="4601670"/>
            <a:chExt cx="4865332" cy="19903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4C44C4D-C9AD-54BC-BE84-4FC14CE79370}"/>
                </a:ext>
              </a:extLst>
            </p:cNvPr>
            <p:cNvGrpSpPr/>
            <p:nvPr/>
          </p:nvGrpSpPr>
          <p:grpSpPr>
            <a:xfrm>
              <a:off x="720130" y="4700489"/>
              <a:ext cx="3128858" cy="1891497"/>
              <a:chOff x="6594134" y="3406843"/>
              <a:chExt cx="4086660" cy="285983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B3AB8A3-9254-C52F-2CC3-C8B28D67F80C}"/>
                  </a:ext>
                </a:extLst>
              </p:cNvPr>
              <p:cNvGrpSpPr/>
              <p:nvPr/>
            </p:nvGrpSpPr>
            <p:grpSpPr>
              <a:xfrm>
                <a:off x="6594134" y="3406843"/>
                <a:ext cx="4086660" cy="2859837"/>
                <a:chOff x="6308476" y="3897886"/>
                <a:chExt cx="4086660" cy="285983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D864083-64A0-1E4E-12D3-AC80AF5FDFDF}"/>
                    </a:ext>
                  </a:extLst>
                </p:cNvPr>
                <p:cNvGrpSpPr/>
                <p:nvPr/>
              </p:nvGrpSpPr>
              <p:grpSpPr>
                <a:xfrm>
                  <a:off x="6668396" y="4643304"/>
                  <a:ext cx="2845474" cy="1732125"/>
                  <a:chOff x="6626831" y="4463192"/>
                  <a:chExt cx="2845474" cy="1732125"/>
                </a:xfrm>
              </p:grpSpPr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C1E781D8-A88A-B77F-289D-C73FD1851DA9}"/>
                      </a:ext>
                    </a:extLst>
                  </p:cNvPr>
                  <p:cNvCxnSpPr/>
                  <p:nvPr/>
                </p:nvCxnSpPr>
                <p:spPr>
                  <a:xfrm>
                    <a:off x="6626831" y="4463192"/>
                    <a:ext cx="0" cy="17321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AEAC2AED-C4C8-0F3C-7336-18C38707BB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26832" y="6184945"/>
                    <a:ext cx="2845473" cy="1037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F28A06-D715-24EC-2ADF-968BB6A395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1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200" b="1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b="1" dirty="0"/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F28A06-D715-24EC-2ADF-968BB6A395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CF27EAB7-CF28-21ED-4827-86421A1D80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08476" y="3897886"/>
                      <a:ext cx="711116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a14:m>
                      <a:r>
                        <a:rPr lang="en-US" sz="2200" dirty="0">
                          <a:solidFill>
                            <a:srgbClr val="7030A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CF27EAB7-CF28-21ED-4827-86421A1D80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08476" y="3897886"/>
                      <a:ext cx="711116" cy="6234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273" r="-6818" b="-606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C8A425A7-8AE9-66DB-2225-1DD1BC42F2AC}"/>
                    </a:ext>
                  </a:extLst>
                </p:cNvPr>
                <p:cNvSpPr/>
                <p:nvPr/>
              </p:nvSpPr>
              <p:spPr>
                <a:xfrm>
                  <a:off x="7038109" y="5985162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721D772-2BBE-C193-4B9C-1DFCFEFEDF15}"/>
                    </a:ext>
                  </a:extLst>
                </p:cNvPr>
                <p:cNvSpPr/>
                <p:nvPr/>
              </p:nvSpPr>
              <p:spPr>
                <a:xfrm>
                  <a:off x="6594762" y="6289967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62B1AB7-A4D6-EF35-7B5D-067CF77F22C6}"/>
                    </a:ext>
                  </a:extLst>
                </p:cNvPr>
                <p:cNvSpPr/>
                <p:nvPr/>
              </p:nvSpPr>
              <p:spPr>
                <a:xfrm>
                  <a:off x="7620002" y="5694214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C0DDF029-27ED-C59B-59A1-4309EFB8AA00}"/>
                    </a:ext>
                  </a:extLst>
                </p:cNvPr>
                <p:cNvSpPr/>
                <p:nvPr/>
              </p:nvSpPr>
              <p:spPr>
                <a:xfrm>
                  <a:off x="8077202" y="5472540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DA87DC3-64B6-78DE-3077-68BC82187802}"/>
                    </a:ext>
                  </a:extLst>
                </p:cNvPr>
                <p:cNvSpPr/>
                <p:nvPr/>
              </p:nvSpPr>
              <p:spPr>
                <a:xfrm>
                  <a:off x="8589820" y="5250866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6D3A59D-52DD-2048-C75D-3CB3A162A0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2110" y="4644900"/>
                <a:ext cx="2364192" cy="12667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84AA29-AB6A-03E7-149D-2A6646F50469}"/>
                    </a:ext>
                  </a:extLst>
                </p:cNvPr>
                <p:cNvSpPr txBox="1"/>
                <p:nvPr/>
              </p:nvSpPr>
              <p:spPr>
                <a:xfrm>
                  <a:off x="1558997" y="4601670"/>
                  <a:ext cx="402646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tx1"/>
                      </a:solidFill>
                    </a:rPr>
                    <a:t>Blagden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a14:m>
                  <a:endPara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84AA29-AB6A-03E7-149D-2A6646F5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997" y="4601670"/>
                  <a:ext cx="402646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201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7D8D2E-2278-3B71-CFB2-7158DC51AB37}"/>
              </a:ext>
            </a:extLst>
          </p:cNvPr>
          <p:cNvGrpSpPr/>
          <p:nvPr/>
        </p:nvGrpSpPr>
        <p:grpSpPr>
          <a:xfrm>
            <a:off x="956066" y="1495868"/>
            <a:ext cx="4153703" cy="3414339"/>
            <a:chOff x="523124" y="717394"/>
            <a:chExt cx="4153703" cy="341433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6322B5E-D756-669F-D92B-59CE0ABE7D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3124" y="717394"/>
              <a:ext cx="3496674" cy="3414339"/>
              <a:chOff x="523123" y="717394"/>
              <a:chExt cx="4928721" cy="481266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C26C3BD5-3566-7E42-8A7A-20CEF27BD32F}"/>
                  </a:ext>
                </a:extLst>
              </p:cNvPr>
              <p:cNvGrpSpPr/>
              <p:nvPr/>
            </p:nvGrpSpPr>
            <p:grpSpPr>
              <a:xfrm>
                <a:off x="523123" y="717394"/>
                <a:ext cx="4928721" cy="4812665"/>
                <a:chOff x="523123" y="717394"/>
                <a:chExt cx="4928721" cy="4812665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B5139C9B-6C82-D94C-BA08-60C7290D8678}"/>
                    </a:ext>
                  </a:extLst>
                </p:cNvPr>
                <p:cNvGrpSpPr/>
                <p:nvPr/>
              </p:nvGrpSpPr>
              <p:grpSpPr>
                <a:xfrm>
                  <a:off x="523123" y="828967"/>
                  <a:ext cx="4672414" cy="4701092"/>
                  <a:chOff x="1376694" y="1157097"/>
                  <a:chExt cx="4672414" cy="4701092"/>
                </a:xfrm>
              </p:grpSpPr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82DA82CD-7BB6-9D4E-B0BB-83C93B7EDDD5}"/>
                      </a:ext>
                    </a:extLst>
                  </p:cNvPr>
                  <p:cNvGrpSpPr/>
                  <p:nvPr/>
                </p:nvGrpSpPr>
                <p:grpSpPr>
                  <a:xfrm>
                    <a:off x="1376694" y="1157097"/>
                    <a:ext cx="4672414" cy="4701092"/>
                    <a:chOff x="4270169" y="240930"/>
                    <a:chExt cx="3148181" cy="2988982"/>
                  </a:xfrm>
                </p:grpSpPr>
                <p:grpSp>
                  <p:nvGrpSpPr>
                    <p:cNvPr id="89" name="Group 88">
                      <a:extLst>
                        <a:ext uri="{FF2B5EF4-FFF2-40B4-BE49-F238E27FC236}">
                          <a16:creationId xmlns:a16="http://schemas.microsoft.com/office/drawing/2014/main" id="{060CFEB7-0152-294B-A6AF-1F8A68EB63E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70169" y="240930"/>
                      <a:ext cx="3148181" cy="2988982"/>
                      <a:chOff x="8122016" y="738525"/>
                      <a:chExt cx="3611879" cy="3372641"/>
                    </a:xfrm>
                  </p:grpSpPr>
                  <p:grpSp>
                    <p:nvGrpSpPr>
                      <p:cNvPr id="91" name="Group 90">
                        <a:extLst>
                          <a:ext uri="{FF2B5EF4-FFF2-40B4-BE49-F238E27FC236}">
                            <a16:creationId xmlns:a16="http://schemas.microsoft.com/office/drawing/2014/main" id="{8F0689FF-CFA8-754D-B30C-4DAE66DFA94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122016" y="738525"/>
                        <a:ext cx="3611879" cy="3372641"/>
                        <a:chOff x="223734" y="1499666"/>
                        <a:chExt cx="3074185" cy="3352100"/>
                      </a:xfrm>
                    </p:grpSpPr>
                    <p:pic>
                      <p:nvPicPr>
                        <p:cNvPr id="93" name="Picture 2" descr="Image result for phase diagrams">
                          <a:extLst>
                            <a:ext uri="{FF2B5EF4-FFF2-40B4-BE49-F238E27FC236}">
                              <a16:creationId xmlns:a16="http://schemas.microsoft.com/office/drawing/2014/main" id="{1FECCFD2-CD0B-174F-AB62-C5A6D6E086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 rotWithShape="1"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3773" b="5795"/>
                        <a:stretch/>
                      </p:blipFill>
                      <p:spPr bwMode="auto">
                        <a:xfrm>
                          <a:off x="406438" y="1828307"/>
                          <a:ext cx="2891481" cy="26324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94" name="Rectangle 93">
                          <a:extLst>
                            <a:ext uri="{FF2B5EF4-FFF2-40B4-BE49-F238E27FC236}">
                              <a16:creationId xmlns:a16="http://schemas.microsoft.com/office/drawing/2014/main" id="{5E65EF78-AAB1-494F-BA4A-21AB5106DC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734" y="1499666"/>
                          <a:ext cx="343364" cy="461665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2400" dirty="0"/>
                            <a:t>P</a:t>
                          </a:r>
                        </a:p>
                      </p:txBody>
                    </p:sp>
                    <p:sp>
                      <p:nvSpPr>
                        <p:cNvPr id="95" name="Rectangle 94">
                          <a:extLst>
                            <a:ext uri="{FF2B5EF4-FFF2-40B4-BE49-F238E27FC236}">
                              <a16:creationId xmlns:a16="http://schemas.microsoft.com/office/drawing/2014/main" id="{31A50B93-6533-F040-B8A0-9AFDA10275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47899" y="4390101"/>
                          <a:ext cx="335348" cy="461665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2400" dirty="0"/>
                            <a:t>T</a:t>
                          </a:r>
                        </a:p>
                      </p:txBody>
                    </p:sp>
                  </p:grpSp>
                  <p:sp>
                    <p:nvSpPr>
                      <p:cNvPr id="92" name="Freeform 91">
                        <a:extLst>
                          <a:ext uri="{FF2B5EF4-FFF2-40B4-BE49-F238E27FC236}">
                            <a16:creationId xmlns:a16="http://schemas.microsoft.com/office/drawing/2014/main" id="{98AEC7CB-3ACB-BC48-8895-D9B8AEC8FC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83213" y="1968497"/>
                        <a:ext cx="1823428" cy="1241951"/>
                      </a:xfrm>
                      <a:custGeom>
                        <a:avLst/>
                        <a:gdLst>
                          <a:gd name="connsiteX0" fmla="*/ 0 w 1823428"/>
                          <a:gd name="connsiteY0" fmla="*/ 1241951 h 1241951"/>
                          <a:gd name="connsiteX1" fmla="*/ 353961 w 1823428"/>
                          <a:gd name="connsiteY1" fmla="*/ 1153461 h 1241951"/>
                          <a:gd name="connsiteX2" fmla="*/ 693174 w 1823428"/>
                          <a:gd name="connsiteY2" fmla="*/ 1064970 h 1241951"/>
                          <a:gd name="connsiteX3" fmla="*/ 988142 w 1823428"/>
                          <a:gd name="connsiteY3" fmla="*/ 917486 h 1241951"/>
                          <a:gd name="connsiteX4" fmla="*/ 1283110 w 1823428"/>
                          <a:gd name="connsiteY4" fmla="*/ 725757 h 1241951"/>
                          <a:gd name="connsiteX5" fmla="*/ 1548581 w 1823428"/>
                          <a:gd name="connsiteY5" fmla="*/ 460286 h 1241951"/>
                          <a:gd name="connsiteX6" fmla="*/ 1799303 w 1823428"/>
                          <a:gd name="connsiteY6" fmla="*/ 32583 h 1241951"/>
                          <a:gd name="connsiteX7" fmla="*/ 1799303 w 1823428"/>
                          <a:gd name="connsiteY7" fmla="*/ 62080 h 12419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823428" h="1241951">
                            <a:moveTo>
                              <a:pt x="0" y="1241951"/>
                            </a:moveTo>
                            <a:lnTo>
                              <a:pt x="353961" y="1153461"/>
                            </a:lnTo>
                            <a:cubicBezTo>
                              <a:pt x="469490" y="1123964"/>
                              <a:pt x="587477" y="1104299"/>
                              <a:pt x="693174" y="1064970"/>
                            </a:cubicBezTo>
                            <a:cubicBezTo>
                              <a:pt x="798871" y="1025641"/>
                              <a:pt x="889819" y="974021"/>
                              <a:pt x="988142" y="917486"/>
                            </a:cubicBezTo>
                            <a:cubicBezTo>
                              <a:pt x="1086465" y="860950"/>
                              <a:pt x="1189704" y="801957"/>
                              <a:pt x="1283110" y="725757"/>
                            </a:cubicBezTo>
                            <a:cubicBezTo>
                              <a:pt x="1376517" y="649557"/>
                              <a:pt x="1462549" y="575815"/>
                              <a:pt x="1548581" y="460286"/>
                            </a:cubicBezTo>
                            <a:cubicBezTo>
                              <a:pt x="1634613" y="344757"/>
                              <a:pt x="1757516" y="98951"/>
                              <a:pt x="1799303" y="32583"/>
                            </a:cubicBezTo>
                            <a:cubicBezTo>
                              <a:pt x="1841090" y="-33785"/>
                              <a:pt x="1820196" y="14147"/>
                              <a:pt x="1799303" y="62080"/>
                            </a:cubicBezTo>
                          </a:path>
                        </a:pathLst>
                      </a:custGeom>
                      <a:noFill/>
                      <a:ln w="101600">
                        <a:solidFill>
                          <a:srgbClr val="00B05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90" name="Straight Arrow Connector 89">
                      <a:extLst>
                        <a:ext uri="{FF2B5EF4-FFF2-40B4-BE49-F238E27FC236}">
                          <a16:creationId xmlns:a16="http://schemas.microsoft.com/office/drawing/2014/main" id="{38EFA2E7-3E58-1047-82A6-6123154DD24E}"/>
                        </a:ext>
                      </a:extLst>
                    </p:cNvPr>
                    <p:cNvCxnSpPr>
                      <a:cxnSpLocks/>
                      <a:stCxn id="92" idx="5"/>
                    </p:cNvCxnSpPr>
                    <p:nvPr/>
                  </p:nvCxnSpPr>
                  <p:spPr>
                    <a:xfrm flipV="1">
                      <a:off x="6806386" y="1228099"/>
                      <a:ext cx="300338" cy="510811"/>
                    </a:xfrm>
                    <a:prstGeom prst="straightConnector1">
                      <a:avLst/>
                    </a:prstGeom>
                    <a:ln w="1016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8" name="Freeform 87">
                    <a:extLst>
                      <a:ext uri="{FF2B5EF4-FFF2-40B4-BE49-F238E27FC236}">
                        <a16:creationId xmlns:a16="http://schemas.microsoft.com/office/drawing/2014/main" id="{DA5BBA2A-3DE6-D546-BFB0-103CB086D8F2}"/>
                      </a:ext>
                    </a:extLst>
                  </p:cNvPr>
                  <p:cNvSpPr/>
                  <p:nvPr/>
                </p:nvSpPr>
                <p:spPr>
                  <a:xfrm>
                    <a:off x="2679701" y="3023942"/>
                    <a:ext cx="2969102" cy="1929057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7030A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7185879C-B659-924E-8D94-9467E251AA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32480" r="8245" b="1865"/>
                <a:stretch/>
              </p:blipFill>
              <p:spPr>
                <a:xfrm rot="20613095">
                  <a:off x="1728344" y="1279381"/>
                  <a:ext cx="558091" cy="2835686"/>
                </a:xfrm>
                <a:prstGeom prst="rect">
                  <a:avLst/>
                </a:prstGeom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D133EA9E-D40A-9B4C-923A-A3BF55CC7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r="67578" b="233"/>
                <a:stretch/>
              </p:blipFill>
              <p:spPr>
                <a:xfrm>
                  <a:off x="2363350" y="717394"/>
                  <a:ext cx="358234" cy="2843355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955AE40E-8EF2-1F44-BFD5-88AC43CDC8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1350" y="2563911"/>
                      <a:ext cx="1234146" cy="4698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955AE40E-8EF2-1F44-BFD5-88AC43CDC8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1350" y="2563911"/>
                      <a:ext cx="1234146" cy="46980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4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56672F10-E54B-394F-B364-B57097700487}"/>
                    </a:ext>
                  </a:extLst>
                </p:cNvPr>
                <p:cNvSpPr/>
                <p:nvPr/>
              </p:nvSpPr>
              <p:spPr>
                <a:xfrm>
                  <a:off x="2121100" y="4187361"/>
                  <a:ext cx="163517" cy="15824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6BA88327-EF5C-6441-886D-F4FDBEE09B55}"/>
                    </a:ext>
                  </a:extLst>
                </p:cNvPr>
                <p:cNvCxnSpPr/>
                <p:nvPr/>
              </p:nvCxnSpPr>
              <p:spPr>
                <a:xfrm>
                  <a:off x="784060" y="4258638"/>
                  <a:ext cx="335823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7B5BBA53-5828-7B47-B6FC-BFD16B4C7B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94821" y="3944793"/>
                      <a:ext cx="245702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7B5BBA53-5828-7B47-B6FC-BFD16B4C7B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4821" y="3944793"/>
                      <a:ext cx="2457023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461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07332187-258B-4B49-9977-CC01457FE985}"/>
                  </a:ext>
                </a:extLst>
              </p:cNvPr>
              <p:cNvSpPr/>
              <p:nvPr/>
            </p:nvSpPr>
            <p:spPr>
              <a:xfrm>
                <a:off x="1770580" y="4545501"/>
                <a:ext cx="163517" cy="158243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3D5629C2-24D4-B049-8CD5-2547DC70BB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12490" y="4619453"/>
                <a:ext cx="390368" cy="516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2805F36-1E94-5E4B-B161-9944AC1071E2}"/>
                  </a:ext>
                </a:extLst>
              </p:cNvPr>
              <p:cNvCxnSpPr/>
              <p:nvPr/>
            </p:nvCxnSpPr>
            <p:spPr>
              <a:xfrm>
                <a:off x="2202858" y="3794760"/>
                <a:ext cx="0" cy="1087845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Down Arrow 2">
                <a:extLst>
                  <a:ext uri="{FF2B5EF4-FFF2-40B4-BE49-F238E27FC236}">
                    <a16:creationId xmlns:a16="http://schemas.microsoft.com/office/drawing/2014/main" id="{C61952E3-3133-A960-648D-E9BCA4090CC6}"/>
                  </a:ext>
                </a:extLst>
              </p:cNvPr>
              <p:cNvSpPr/>
              <p:nvPr/>
            </p:nvSpPr>
            <p:spPr>
              <a:xfrm>
                <a:off x="2684080" y="4101747"/>
                <a:ext cx="179091" cy="258086"/>
              </a:xfrm>
              <a:prstGeom prst="downArrow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6AF8771-5DEE-9465-94CB-CA9AFE0CA93A}"/>
                      </a:ext>
                    </a:extLst>
                  </p:cNvPr>
                  <p:cNvSpPr txBox="1"/>
                  <p:nvPr/>
                </p:nvSpPr>
                <p:spPr>
                  <a:xfrm>
                    <a:off x="1493148" y="5013212"/>
                    <a:ext cx="98017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6AF8771-5DEE-9465-94CB-CA9AFE0CA9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93148" y="5013212"/>
                    <a:ext cx="98017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6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E48B7CC-E6AF-E26F-BB39-70C523101153}"/>
                    </a:ext>
                  </a:extLst>
                </p:cNvPr>
                <p:cNvSpPr txBox="1"/>
                <p:nvPr/>
              </p:nvSpPr>
              <p:spPr>
                <a:xfrm>
                  <a:off x="1558996" y="730045"/>
                  <a:ext cx="3117831" cy="4934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tx1"/>
                      </a:solidFill>
                    </a:rPr>
                    <a:t>Raoult: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</m:t>
                          </m:r>
                        </m:sub>
                      </m:sSub>
                    </m:oMath>
                  </a14:m>
                  <a:endPara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E48B7CC-E6AF-E26F-BB39-70C523101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996" y="730045"/>
                  <a:ext cx="3117831" cy="493405"/>
                </a:xfrm>
                <a:prstGeom prst="rect">
                  <a:avLst/>
                </a:prstGeom>
                <a:blipFill>
                  <a:blip r:embed="rId10"/>
                  <a:stretch>
                    <a:fillRect l="-2834" t="-7500" b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1187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073BBC-6042-4E6C-ABBF-71C3F629C5E9}"/>
                  </a:ext>
                </a:extLst>
              </p:cNvPr>
              <p:cNvSpPr txBox="1"/>
              <p:nvPr/>
            </p:nvSpPr>
            <p:spPr>
              <a:xfrm>
                <a:off x="-8052" y="2662"/>
                <a:ext cx="12200052" cy="7067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Recap: Why it’s reasonable to guess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𝒇𝒖𝒔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073BBC-6042-4E6C-ABBF-71C3F629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52" y="2662"/>
                <a:ext cx="12200052" cy="706797"/>
              </a:xfrm>
              <a:prstGeom prst="rect">
                <a:avLst/>
              </a:prstGeom>
              <a:blipFill>
                <a:blip r:embed="rId2"/>
                <a:stretch>
                  <a:fillRect l="-832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3A2A9AD3-76CC-0FB1-2F01-5D50575B01E5}"/>
              </a:ext>
            </a:extLst>
          </p:cNvPr>
          <p:cNvGrpSpPr/>
          <p:nvPr/>
        </p:nvGrpSpPr>
        <p:grpSpPr>
          <a:xfrm>
            <a:off x="6265964" y="2074670"/>
            <a:ext cx="5194509" cy="1990316"/>
            <a:chOff x="720130" y="4601670"/>
            <a:chExt cx="5194509" cy="19903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4C44C4D-C9AD-54BC-BE84-4FC14CE79370}"/>
                </a:ext>
              </a:extLst>
            </p:cNvPr>
            <p:cNvGrpSpPr/>
            <p:nvPr/>
          </p:nvGrpSpPr>
          <p:grpSpPr>
            <a:xfrm>
              <a:off x="720130" y="4700489"/>
              <a:ext cx="3128858" cy="1891497"/>
              <a:chOff x="6594134" y="3406843"/>
              <a:chExt cx="4086660" cy="285983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B3AB8A3-9254-C52F-2CC3-C8B28D67F80C}"/>
                  </a:ext>
                </a:extLst>
              </p:cNvPr>
              <p:cNvGrpSpPr/>
              <p:nvPr/>
            </p:nvGrpSpPr>
            <p:grpSpPr>
              <a:xfrm>
                <a:off x="6594134" y="3406843"/>
                <a:ext cx="4086660" cy="2859837"/>
                <a:chOff x="6308476" y="3897886"/>
                <a:chExt cx="4086660" cy="285983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D864083-64A0-1E4E-12D3-AC80AF5FDFDF}"/>
                    </a:ext>
                  </a:extLst>
                </p:cNvPr>
                <p:cNvGrpSpPr/>
                <p:nvPr/>
              </p:nvGrpSpPr>
              <p:grpSpPr>
                <a:xfrm>
                  <a:off x="6668396" y="4643304"/>
                  <a:ext cx="2845474" cy="1732125"/>
                  <a:chOff x="6626831" y="4463192"/>
                  <a:chExt cx="2845474" cy="1732125"/>
                </a:xfrm>
              </p:grpSpPr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C1E781D8-A88A-B77F-289D-C73FD1851DA9}"/>
                      </a:ext>
                    </a:extLst>
                  </p:cNvPr>
                  <p:cNvCxnSpPr/>
                  <p:nvPr/>
                </p:nvCxnSpPr>
                <p:spPr>
                  <a:xfrm>
                    <a:off x="6626831" y="4463192"/>
                    <a:ext cx="0" cy="1732125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AEAC2AED-C4C8-0F3C-7336-18C38707BB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26832" y="6184945"/>
                    <a:ext cx="2845473" cy="10372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F28A06-D715-24EC-2ADF-968BB6A395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200" b="1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200" b="1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200" b="1" dirty="0"/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F28A06-D715-24EC-2ADF-968BB6A395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2027" y="6134224"/>
                      <a:ext cx="1023109" cy="6234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CF27EAB7-CF28-21ED-4827-86421A1D80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08476" y="3897886"/>
                      <a:ext cx="711116" cy="623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2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a14:m>
                      <a:r>
                        <a:rPr lang="en-US" sz="2200" dirty="0">
                          <a:solidFill>
                            <a:srgbClr val="7030A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CF27EAB7-CF28-21ED-4827-86421A1D80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08476" y="3897886"/>
                      <a:ext cx="711116" cy="6234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273" r="-6818" b="-606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C8A425A7-8AE9-66DB-2225-1DD1BC42F2AC}"/>
                    </a:ext>
                  </a:extLst>
                </p:cNvPr>
                <p:cNvSpPr/>
                <p:nvPr/>
              </p:nvSpPr>
              <p:spPr>
                <a:xfrm>
                  <a:off x="7038109" y="5985162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721D772-2BBE-C193-4B9C-1DFCFEFEDF15}"/>
                    </a:ext>
                  </a:extLst>
                </p:cNvPr>
                <p:cNvSpPr/>
                <p:nvPr/>
              </p:nvSpPr>
              <p:spPr>
                <a:xfrm>
                  <a:off x="6594762" y="6289967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62B1AB7-A4D6-EF35-7B5D-067CF77F22C6}"/>
                    </a:ext>
                  </a:extLst>
                </p:cNvPr>
                <p:cNvSpPr/>
                <p:nvPr/>
              </p:nvSpPr>
              <p:spPr>
                <a:xfrm>
                  <a:off x="7620002" y="5694214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C0DDF029-27ED-C59B-59A1-4309EFB8AA00}"/>
                    </a:ext>
                  </a:extLst>
                </p:cNvPr>
                <p:cNvSpPr/>
                <p:nvPr/>
              </p:nvSpPr>
              <p:spPr>
                <a:xfrm>
                  <a:off x="8077202" y="5472540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DA87DC3-64B6-78DE-3077-68BC82187802}"/>
                    </a:ext>
                  </a:extLst>
                </p:cNvPr>
                <p:cNvSpPr/>
                <p:nvPr/>
              </p:nvSpPr>
              <p:spPr>
                <a:xfrm>
                  <a:off x="8589820" y="5250866"/>
                  <a:ext cx="138546" cy="15018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6D3A59D-52DD-2048-C75D-3CB3A162A0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2110" y="4644900"/>
                <a:ext cx="2364192" cy="12667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84AA29-AB6A-03E7-149D-2A6646F50469}"/>
                    </a:ext>
                  </a:extLst>
                </p:cNvPr>
                <p:cNvSpPr txBox="1"/>
                <p:nvPr/>
              </p:nvSpPr>
              <p:spPr>
                <a:xfrm>
                  <a:off x="1558996" y="4601670"/>
                  <a:ext cx="435564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tx1"/>
                      </a:solidFill>
                    </a:rPr>
                    <a:t>Blagden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a14:m>
                  <a:endPara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584AA29-AB6A-03E7-149D-2A6646F5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996" y="4601670"/>
                  <a:ext cx="435564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35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7D8D2E-2278-3B71-CFB2-7158DC51AB37}"/>
              </a:ext>
            </a:extLst>
          </p:cNvPr>
          <p:cNvGrpSpPr/>
          <p:nvPr/>
        </p:nvGrpSpPr>
        <p:grpSpPr>
          <a:xfrm>
            <a:off x="956066" y="1495868"/>
            <a:ext cx="4153703" cy="3414339"/>
            <a:chOff x="523124" y="717394"/>
            <a:chExt cx="4153703" cy="341433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6322B5E-D756-669F-D92B-59CE0ABE7D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3124" y="717394"/>
              <a:ext cx="3496674" cy="3414339"/>
              <a:chOff x="523123" y="717394"/>
              <a:chExt cx="4928721" cy="481266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C26C3BD5-3566-7E42-8A7A-20CEF27BD32F}"/>
                  </a:ext>
                </a:extLst>
              </p:cNvPr>
              <p:cNvGrpSpPr/>
              <p:nvPr/>
            </p:nvGrpSpPr>
            <p:grpSpPr>
              <a:xfrm>
                <a:off x="523123" y="717394"/>
                <a:ext cx="4928721" cy="4812665"/>
                <a:chOff x="523123" y="717394"/>
                <a:chExt cx="4928721" cy="4812665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B5139C9B-6C82-D94C-BA08-60C7290D8678}"/>
                    </a:ext>
                  </a:extLst>
                </p:cNvPr>
                <p:cNvGrpSpPr/>
                <p:nvPr/>
              </p:nvGrpSpPr>
              <p:grpSpPr>
                <a:xfrm>
                  <a:off x="523123" y="828967"/>
                  <a:ext cx="4672414" cy="4701092"/>
                  <a:chOff x="1376694" y="1157097"/>
                  <a:chExt cx="4672414" cy="4701092"/>
                </a:xfrm>
              </p:grpSpPr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82DA82CD-7BB6-9D4E-B0BB-83C93B7EDDD5}"/>
                      </a:ext>
                    </a:extLst>
                  </p:cNvPr>
                  <p:cNvGrpSpPr/>
                  <p:nvPr/>
                </p:nvGrpSpPr>
                <p:grpSpPr>
                  <a:xfrm>
                    <a:off x="1376694" y="1157097"/>
                    <a:ext cx="4672414" cy="4701092"/>
                    <a:chOff x="4270169" y="240930"/>
                    <a:chExt cx="3148181" cy="2988982"/>
                  </a:xfrm>
                </p:grpSpPr>
                <p:grpSp>
                  <p:nvGrpSpPr>
                    <p:cNvPr id="89" name="Group 88">
                      <a:extLst>
                        <a:ext uri="{FF2B5EF4-FFF2-40B4-BE49-F238E27FC236}">
                          <a16:creationId xmlns:a16="http://schemas.microsoft.com/office/drawing/2014/main" id="{060CFEB7-0152-294B-A6AF-1F8A68EB63E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70169" y="240930"/>
                      <a:ext cx="3148181" cy="2988982"/>
                      <a:chOff x="8122016" y="738525"/>
                      <a:chExt cx="3611879" cy="3372641"/>
                    </a:xfrm>
                  </p:grpSpPr>
                  <p:grpSp>
                    <p:nvGrpSpPr>
                      <p:cNvPr id="91" name="Group 90">
                        <a:extLst>
                          <a:ext uri="{FF2B5EF4-FFF2-40B4-BE49-F238E27FC236}">
                            <a16:creationId xmlns:a16="http://schemas.microsoft.com/office/drawing/2014/main" id="{8F0689FF-CFA8-754D-B30C-4DAE66DFA94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122016" y="738525"/>
                        <a:ext cx="3611879" cy="3372641"/>
                        <a:chOff x="223734" y="1499666"/>
                        <a:chExt cx="3074185" cy="3352100"/>
                      </a:xfrm>
                    </p:grpSpPr>
                    <p:pic>
                      <p:nvPicPr>
                        <p:cNvPr id="93" name="Picture 2" descr="Image result for phase diagrams">
                          <a:extLst>
                            <a:ext uri="{FF2B5EF4-FFF2-40B4-BE49-F238E27FC236}">
                              <a16:creationId xmlns:a16="http://schemas.microsoft.com/office/drawing/2014/main" id="{1FECCFD2-CD0B-174F-AB62-C5A6D6E086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 rotWithShape="1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3773" b="5795"/>
                        <a:stretch/>
                      </p:blipFill>
                      <p:spPr bwMode="auto">
                        <a:xfrm>
                          <a:off x="406438" y="1828307"/>
                          <a:ext cx="2891481" cy="26324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94" name="Rectangle 93">
                          <a:extLst>
                            <a:ext uri="{FF2B5EF4-FFF2-40B4-BE49-F238E27FC236}">
                              <a16:creationId xmlns:a16="http://schemas.microsoft.com/office/drawing/2014/main" id="{5E65EF78-AAB1-494F-BA4A-21AB5106DC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734" y="1499666"/>
                          <a:ext cx="343364" cy="461665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2400" dirty="0"/>
                            <a:t>P</a:t>
                          </a:r>
                        </a:p>
                      </p:txBody>
                    </p:sp>
                    <p:sp>
                      <p:nvSpPr>
                        <p:cNvPr id="95" name="Rectangle 94">
                          <a:extLst>
                            <a:ext uri="{FF2B5EF4-FFF2-40B4-BE49-F238E27FC236}">
                              <a16:creationId xmlns:a16="http://schemas.microsoft.com/office/drawing/2014/main" id="{31A50B93-6533-F040-B8A0-9AFDA10275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347899" y="4390101"/>
                          <a:ext cx="335348" cy="461665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2400" dirty="0"/>
                            <a:t>T</a:t>
                          </a:r>
                        </a:p>
                      </p:txBody>
                    </p:sp>
                  </p:grpSp>
                  <p:sp>
                    <p:nvSpPr>
                      <p:cNvPr id="92" name="Freeform 91">
                        <a:extLst>
                          <a:ext uri="{FF2B5EF4-FFF2-40B4-BE49-F238E27FC236}">
                            <a16:creationId xmlns:a16="http://schemas.microsoft.com/office/drawing/2014/main" id="{98AEC7CB-3ACB-BC48-8895-D9B8AEC8FC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83213" y="1968497"/>
                        <a:ext cx="1823428" cy="1241951"/>
                      </a:xfrm>
                      <a:custGeom>
                        <a:avLst/>
                        <a:gdLst>
                          <a:gd name="connsiteX0" fmla="*/ 0 w 1823428"/>
                          <a:gd name="connsiteY0" fmla="*/ 1241951 h 1241951"/>
                          <a:gd name="connsiteX1" fmla="*/ 353961 w 1823428"/>
                          <a:gd name="connsiteY1" fmla="*/ 1153461 h 1241951"/>
                          <a:gd name="connsiteX2" fmla="*/ 693174 w 1823428"/>
                          <a:gd name="connsiteY2" fmla="*/ 1064970 h 1241951"/>
                          <a:gd name="connsiteX3" fmla="*/ 988142 w 1823428"/>
                          <a:gd name="connsiteY3" fmla="*/ 917486 h 1241951"/>
                          <a:gd name="connsiteX4" fmla="*/ 1283110 w 1823428"/>
                          <a:gd name="connsiteY4" fmla="*/ 725757 h 1241951"/>
                          <a:gd name="connsiteX5" fmla="*/ 1548581 w 1823428"/>
                          <a:gd name="connsiteY5" fmla="*/ 460286 h 1241951"/>
                          <a:gd name="connsiteX6" fmla="*/ 1799303 w 1823428"/>
                          <a:gd name="connsiteY6" fmla="*/ 32583 h 1241951"/>
                          <a:gd name="connsiteX7" fmla="*/ 1799303 w 1823428"/>
                          <a:gd name="connsiteY7" fmla="*/ 62080 h 12419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823428" h="1241951">
                            <a:moveTo>
                              <a:pt x="0" y="1241951"/>
                            </a:moveTo>
                            <a:lnTo>
                              <a:pt x="353961" y="1153461"/>
                            </a:lnTo>
                            <a:cubicBezTo>
                              <a:pt x="469490" y="1123964"/>
                              <a:pt x="587477" y="1104299"/>
                              <a:pt x="693174" y="1064970"/>
                            </a:cubicBezTo>
                            <a:cubicBezTo>
                              <a:pt x="798871" y="1025641"/>
                              <a:pt x="889819" y="974021"/>
                              <a:pt x="988142" y="917486"/>
                            </a:cubicBezTo>
                            <a:cubicBezTo>
                              <a:pt x="1086465" y="860950"/>
                              <a:pt x="1189704" y="801957"/>
                              <a:pt x="1283110" y="725757"/>
                            </a:cubicBezTo>
                            <a:cubicBezTo>
                              <a:pt x="1376517" y="649557"/>
                              <a:pt x="1462549" y="575815"/>
                              <a:pt x="1548581" y="460286"/>
                            </a:cubicBezTo>
                            <a:cubicBezTo>
                              <a:pt x="1634613" y="344757"/>
                              <a:pt x="1757516" y="98951"/>
                              <a:pt x="1799303" y="32583"/>
                            </a:cubicBezTo>
                            <a:cubicBezTo>
                              <a:pt x="1841090" y="-33785"/>
                              <a:pt x="1820196" y="14147"/>
                              <a:pt x="1799303" y="62080"/>
                            </a:cubicBezTo>
                          </a:path>
                        </a:pathLst>
                      </a:custGeom>
                      <a:noFill/>
                      <a:ln w="101600">
                        <a:solidFill>
                          <a:srgbClr val="00B05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cxnSp>
                  <p:nvCxnSpPr>
                    <p:cNvPr id="90" name="Straight Arrow Connector 89">
                      <a:extLst>
                        <a:ext uri="{FF2B5EF4-FFF2-40B4-BE49-F238E27FC236}">
                          <a16:creationId xmlns:a16="http://schemas.microsoft.com/office/drawing/2014/main" id="{38EFA2E7-3E58-1047-82A6-6123154DD24E}"/>
                        </a:ext>
                      </a:extLst>
                    </p:cNvPr>
                    <p:cNvCxnSpPr>
                      <a:cxnSpLocks/>
                      <a:stCxn id="92" idx="5"/>
                    </p:cNvCxnSpPr>
                    <p:nvPr/>
                  </p:nvCxnSpPr>
                  <p:spPr>
                    <a:xfrm flipV="1">
                      <a:off x="6806386" y="1228099"/>
                      <a:ext cx="300338" cy="510811"/>
                    </a:xfrm>
                    <a:prstGeom prst="straightConnector1">
                      <a:avLst/>
                    </a:prstGeom>
                    <a:ln w="1016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8" name="Freeform 87">
                    <a:extLst>
                      <a:ext uri="{FF2B5EF4-FFF2-40B4-BE49-F238E27FC236}">
                        <a16:creationId xmlns:a16="http://schemas.microsoft.com/office/drawing/2014/main" id="{DA5BBA2A-3DE6-D546-BFB0-103CB086D8F2}"/>
                      </a:ext>
                    </a:extLst>
                  </p:cNvPr>
                  <p:cNvSpPr/>
                  <p:nvPr/>
                </p:nvSpPr>
                <p:spPr>
                  <a:xfrm>
                    <a:off x="2679701" y="3023942"/>
                    <a:ext cx="2969102" cy="1929057"/>
                  </a:xfrm>
                  <a:custGeom>
                    <a:avLst/>
                    <a:gdLst>
                      <a:gd name="connsiteX0" fmla="*/ 0 w 1823428"/>
                      <a:gd name="connsiteY0" fmla="*/ 1241951 h 1241951"/>
                      <a:gd name="connsiteX1" fmla="*/ 353961 w 1823428"/>
                      <a:gd name="connsiteY1" fmla="*/ 1153461 h 1241951"/>
                      <a:gd name="connsiteX2" fmla="*/ 693174 w 1823428"/>
                      <a:gd name="connsiteY2" fmla="*/ 1064970 h 1241951"/>
                      <a:gd name="connsiteX3" fmla="*/ 988142 w 1823428"/>
                      <a:gd name="connsiteY3" fmla="*/ 917486 h 1241951"/>
                      <a:gd name="connsiteX4" fmla="*/ 1283110 w 1823428"/>
                      <a:gd name="connsiteY4" fmla="*/ 725757 h 1241951"/>
                      <a:gd name="connsiteX5" fmla="*/ 1548581 w 1823428"/>
                      <a:gd name="connsiteY5" fmla="*/ 460286 h 1241951"/>
                      <a:gd name="connsiteX6" fmla="*/ 1799303 w 1823428"/>
                      <a:gd name="connsiteY6" fmla="*/ 32583 h 1241951"/>
                      <a:gd name="connsiteX7" fmla="*/ 1799303 w 1823428"/>
                      <a:gd name="connsiteY7" fmla="*/ 62080 h 1241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23428" h="1241951">
                        <a:moveTo>
                          <a:pt x="0" y="1241951"/>
                        </a:moveTo>
                        <a:lnTo>
                          <a:pt x="353961" y="1153461"/>
                        </a:lnTo>
                        <a:cubicBezTo>
                          <a:pt x="469490" y="1123964"/>
                          <a:pt x="587477" y="1104299"/>
                          <a:pt x="693174" y="1064970"/>
                        </a:cubicBezTo>
                        <a:cubicBezTo>
                          <a:pt x="798871" y="1025641"/>
                          <a:pt x="889819" y="974021"/>
                          <a:pt x="988142" y="917486"/>
                        </a:cubicBezTo>
                        <a:cubicBezTo>
                          <a:pt x="1086465" y="860950"/>
                          <a:pt x="1189704" y="801957"/>
                          <a:pt x="1283110" y="725757"/>
                        </a:cubicBezTo>
                        <a:cubicBezTo>
                          <a:pt x="1376517" y="649557"/>
                          <a:pt x="1462549" y="575815"/>
                          <a:pt x="1548581" y="460286"/>
                        </a:cubicBezTo>
                        <a:cubicBezTo>
                          <a:pt x="1634613" y="344757"/>
                          <a:pt x="1757516" y="98951"/>
                          <a:pt x="1799303" y="32583"/>
                        </a:cubicBezTo>
                        <a:cubicBezTo>
                          <a:pt x="1841090" y="-33785"/>
                          <a:pt x="1820196" y="14147"/>
                          <a:pt x="1799303" y="62080"/>
                        </a:cubicBezTo>
                      </a:path>
                    </a:pathLst>
                  </a:custGeom>
                  <a:noFill/>
                  <a:ln w="101600">
                    <a:solidFill>
                      <a:srgbClr val="7030A0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7185879C-B659-924E-8D94-9467E251AA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32480" r="8245" b="1865"/>
                <a:stretch/>
              </p:blipFill>
              <p:spPr>
                <a:xfrm rot="20613095">
                  <a:off x="1728344" y="1279381"/>
                  <a:ext cx="558091" cy="2835686"/>
                </a:xfrm>
                <a:prstGeom prst="rect">
                  <a:avLst/>
                </a:prstGeom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D133EA9E-D40A-9B4C-923A-A3BF55CC7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r="67578" b="233"/>
                <a:stretch/>
              </p:blipFill>
              <p:spPr>
                <a:xfrm>
                  <a:off x="2363350" y="717394"/>
                  <a:ext cx="358234" cy="2843355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955AE40E-8EF2-1F44-BFD5-88AC43CDC8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1350" y="2563911"/>
                      <a:ext cx="1234146" cy="4698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955AE40E-8EF2-1F44-BFD5-88AC43CDC8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1350" y="2563911"/>
                      <a:ext cx="1234146" cy="46980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4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56672F10-E54B-394F-B364-B57097700487}"/>
                    </a:ext>
                  </a:extLst>
                </p:cNvPr>
                <p:cNvSpPr/>
                <p:nvPr/>
              </p:nvSpPr>
              <p:spPr>
                <a:xfrm>
                  <a:off x="2121100" y="4187361"/>
                  <a:ext cx="163517" cy="158243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6BA88327-EF5C-6441-886D-F4FDBEE09B55}"/>
                    </a:ext>
                  </a:extLst>
                </p:cNvPr>
                <p:cNvCxnSpPr/>
                <p:nvPr/>
              </p:nvCxnSpPr>
              <p:spPr>
                <a:xfrm>
                  <a:off x="784060" y="4258638"/>
                  <a:ext cx="335823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7B5BBA53-5828-7B47-B6FC-BFD16B4C7B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94821" y="3944793"/>
                      <a:ext cx="245702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7B5BBA53-5828-7B47-B6FC-BFD16B4C7B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94821" y="3944793"/>
                      <a:ext cx="2457023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461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07332187-258B-4B49-9977-CC01457FE985}"/>
                  </a:ext>
                </a:extLst>
              </p:cNvPr>
              <p:cNvSpPr/>
              <p:nvPr/>
            </p:nvSpPr>
            <p:spPr>
              <a:xfrm>
                <a:off x="1770580" y="4545501"/>
                <a:ext cx="163517" cy="158243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3D5629C2-24D4-B049-8CD5-2547DC70BB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12490" y="4619453"/>
                <a:ext cx="390368" cy="516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2805F36-1E94-5E4B-B161-9944AC1071E2}"/>
                  </a:ext>
                </a:extLst>
              </p:cNvPr>
              <p:cNvCxnSpPr/>
              <p:nvPr/>
            </p:nvCxnSpPr>
            <p:spPr>
              <a:xfrm>
                <a:off x="2202858" y="3794760"/>
                <a:ext cx="0" cy="1087845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Down Arrow 2">
                <a:extLst>
                  <a:ext uri="{FF2B5EF4-FFF2-40B4-BE49-F238E27FC236}">
                    <a16:creationId xmlns:a16="http://schemas.microsoft.com/office/drawing/2014/main" id="{C61952E3-3133-A960-648D-E9BCA4090CC6}"/>
                  </a:ext>
                </a:extLst>
              </p:cNvPr>
              <p:cNvSpPr/>
              <p:nvPr/>
            </p:nvSpPr>
            <p:spPr>
              <a:xfrm>
                <a:off x="2684080" y="4101747"/>
                <a:ext cx="179091" cy="258086"/>
              </a:xfrm>
              <a:prstGeom prst="downArrow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6AF8771-5DEE-9465-94CB-CA9AFE0CA93A}"/>
                      </a:ext>
                    </a:extLst>
                  </p:cNvPr>
                  <p:cNvSpPr txBox="1"/>
                  <p:nvPr/>
                </p:nvSpPr>
                <p:spPr>
                  <a:xfrm>
                    <a:off x="1493148" y="5013212"/>
                    <a:ext cx="98017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6AF8771-5DEE-9465-94CB-CA9AFE0CA9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93148" y="5013212"/>
                    <a:ext cx="98017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3636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E48B7CC-E6AF-E26F-BB39-70C523101153}"/>
                    </a:ext>
                  </a:extLst>
                </p:cNvPr>
                <p:cNvSpPr txBox="1"/>
                <p:nvPr/>
              </p:nvSpPr>
              <p:spPr>
                <a:xfrm>
                  <a:off x="1558996" y="730045"/>
                  <a:ext cx="3117831" cy="4934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tx1"/>
                      </a:solidFill>
                    </a:rPr>
                    <a:t>Raoult: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</m:t>
                          </m:r>
                        </m:sub>
                      </m:sSub>
                    </m:oMath>
                  </a14:m>
                  <a:endParaRPr lang="en-US" sz="2400" b="1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E48B7CC-E6AF-E26F-BB39-70C523101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996" y="730045"/>
                  <a:ext cx="3117831" cy="493405"/>
                </a:xfrm>
                <a:prstGeom prst="rect">
                  <a:avLst/>
                </a:prstGeom>
                <a:blipFill>
                  <a:blip r:embed="rId11"/>
                  <a:stretch>
                    <a:fillRect l="-2834" t="-7500" b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4312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6">
            <a:extLst>
              <a:ext uri="{FF2B5EF4-FFF2-40B4-BE49-F238E27FC236}">
                <a16:creationId xmlns:a16="http://schemas.microsoft.com/office/drawing/2014/main" id="{5CD4677F-2A3D-7041-AF62-99AB06B3A94E}"/>
              </a:ext>
            </a:extLst>
          </p:cNvPr>
          <p:cNvSpPr txBox="1"/>
          <p:nvPr/>
        </p:nvSpPr>
        <p:spPr>
          <a:xfrm>
            <a:off x="3730" y="2076"/>
            <a:ext cx="1218827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Blackboard work #1 for today: Explain why salty water boils at a higher temperature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823A2C-9067-CC4A-A8BA-03AA04C2061B}"/>
              </a:ext>
            </a:extLst>
          </p:cNvPr>
          <p:cNvCxnSpPr>
            <a:cxnSpLocks/>
          </p:cNvCxnSpPr>
          <p:nvPr/>
        </p:nvCxnSpPr>
        <p:spPr>
          <a:xfrm>
            <a:off x="6194096" y="5236709"/>
            <a:ext cx="35829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C88CF01-924A-B541-8280-0485F61AEFC1}"/>
              </a:ext>
            </a:extLst>
          </p:cNvPr>
          <p:cNvSpPr txBox="1"/>
          <p:nvPr/>
        </p:nvSpPr>
        <p:spPr>
          <a:xfrm>
            <a:off x="159516" y="5470672"/>
            <a:ext cx="11863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you add salt to boiling water, it’ll stop boiling (for a moment, anyway).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With the burner on, the </a:t>
            </a:r>
            <a:r>
              <a:rPr lang="en-US" sz="2000" b="1" dirty="0"/>
              <a:t>temperature will go up </a:t>
            </a:r>
            <a:r>
              <a:rPr lang="en-US" sz="2000" dirty="0"/>
              <a:t>until it starts to boil again.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BEFB79-1C0D-3E4A-AE41-E3F3CF208DD3}"/>
              </a:ext>
            </a:extLst>
          </p:cNvPr>
          <p:cNvGrpSpPr/>
          <p:nvPr/>
        </p:nvGrpSpPr>
        <p:grpSpPr>
          <a:xfrm>
            <a:off x="2436855" y="487187"/>
            <a:ext cx="4567675" cy="5242177"/>
            <a:chOff x="4270169" y="240930"/>
            <a:chExt cx="3148181" cy="298898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4F845E6-0F97-7E4B-90C0-7192EE1008C9}"/>
                </a:ext>
              </a:extLst>
            </p:cNvPr>
            <p:cNvGrpSpPr/>
            <p:nvPr/>
          </p:nvGrpSpPr>
          <p:grpSpPr>
            <a:xfrm>
              <a:off x="4270169" y="240930"/>
              <a:ext cx="3148181" cy="2988982"/>
              <a:chOff x="8122016" y="738525"/>
              <a:chExt cx="3611879" cy="3372641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6125C1BE-00EE-3142-903C-A8DFAC7A27C5}"/>
                  </a:ext>
                </a:extLst>
              </p:cNvPr>
              <p:cNvGrpSpPr/>
              <p:nvPr/>
            </p:nvGrpSpPr>
            <p:grpSpPr>
              <a:xfrm>
                <a:off x="8122016" y="738525"/>
                <a:ext cx="3611879" cy="3372641"/>
                <a:chOff x="223734" y="1499666"/>
                <a:chExt cx="3074185" cy="3352100"/>
              </a:xfrm>
            </p:grpSpPr>
            <p:pic>
              <p:nvPicPr>
                <p:cNvPr id="64" name="Picture 2" descr="Image result for phase diagrams">
                  <a:extLst>
                    <a:ext uri="{FF2B5EF4-FFF2-40B4-BE49-F238E27FC236}">
                      <a16:creationId xmlns:a16="http://schemas.microsoft.com/office/drawing/2014/main" id="{8F07B9DE-311E-714A-BF11-6544EABF38A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773" b="5795"/>
                <a:stretch/>
              </p:blipFill>
              <p:spPr bwMode="auto">
                <a:xfrm>
                  <a:off x="406438" y="1828307"/>
                  <a:ext cx="2891481" cy="26324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889A7E48-05D9-A34F-894D-1AA4B40FD707}"/>
                    </a:ext>
                  </a:extLst>
                </p:cNvPr>
                <p:cNvSpPr/>
                <p:nvPr/>
              </p:nvSpPr>
              <p:spPr>
                <a:xfrm>
                  <a:off x="223734" y="1499666"/>
                  <a:ext cx="34336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P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E5AF975-7037-9A4B-BACB-4359625B0BE4}"/>
                    </a:ext>
                  </a:extLst>
                </p:cNvPr>
                <p:cNvSpPr/>
                <p:nvPr/>
              </p:nvSpPr>
              <p:spPr>
                <a:xfrm>
                  <a:off x="2347899" y="4390101"/>
                  <a:ext cx="33534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T</a:t>
                  </a:r>
                </a:p>
              </p:txBody>
            </p:sp>
          </p:grp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7C73C1BD-831B-9B40-A50E-84FC2DE5A2A1}"/>
                  </a:ext>
                </a:extLst>
              </p:cNvPr>
              <p:cNvSpPr/>
              <p:nvPr/>
            </p:nvSpPr>
            <p:spPr>
              <a:xfrm>
                <a:off x="9483213" y="1968497"/>
                <a:ext cx="1823428" cy="1241951"/>
              </a:xfrm>
              <a:custGeom>
                <a:avLst/>
                <a:gdLst>
                  <a:gd name="connsiteX0" fmla="*/ 0 w 1823428"/>
                  <a:gd name="connsiteY0" fmla="*/ 1241951 h 1241951"/>
                  <a:gd name="connsiteX1" fmla="*/ 353961 w 1823428"/>
                  <a:gd name="connsiteY1" fmla="*/ 1153461 h 1241951"/>
                  <a:gd name="connsiteX2" fmla="*/ 693174 w 1823428"/>
                  <a:gd name="connsiteY2" fmla="*/ 1064970 h 1241951"/>
                  <a:gd name="connsiteX3" fmla="*/ 988142 w 1823428"/>
                  <a:gd name="connsiteY3" fmla="*/ 917486 h 1241951"/>
                  <a:gd name="connsiteX4" fmla="*/ 1283110 w 1823428"/>
                  <a:gd name="connsiteY4" fmla="*/ 725757 h 1241951"/>
                  <a:gd name="connsiteX5" fmla="*/ 1548581 w 1823428"/>
                  <a:gd name="connsiteY5" fmla="*/ 460286 h 1241951"/>
                  <a:gd name="connsiteX6" fmla="*/ 1799303 w 1823428"/>
                  <a:gd name="connsiteY6" fmla="*/ 32583 h 1241951"/>
                  <a:gd name="connsiteX7" fmla="*/ 1799303 w 1823428"/>
                  <a:gd name="connsiteY7" fmla="*/ 62080 h 124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3428" h="1241951">
                    <a:moveTo>
                      <a:pt x="0" y="1241951"/>
                    </a:moveTo>
                    <a:lnTo>
                      <a:pt x="353961" y="1153461"/>
                    </a:lnTo>
                    <a:cubicBezTo>
                      <a:pt x="469490" y="1123964"/>
                      <a:pt x="587477" y="1104299"/>
                      <a:pt x="693174" y="1064970"/>
                    </a:cubicBezTo>
                    <a:cubicBezTo>
                      <a:pt x="798871" y="1025641"/>
                      <a:pt x="889819" y="974021"/>
                      <a:pt x="988142" y="917486"/>
                    </a:cubicBezTo>
                    <a:cubicBezTo>
                      <a:pt x="1086465" y="860950"/>
                      <a:pt x="1189704" y="801957"/>
                      <a:pt x="1283110" y="725757"/>
                    </a:cubicBezTo>
                    <a:cubicBezTo>
                      <a:pt x="1376517" y="649557"/>
                      <a:pt x="1462549" y="575815"/>
                      <a:pt x="1548581" y="460286"/>
                    </a:cubicBezTo>
                    <a:cubicBezTo>
                      <a:pt x="1634613" y="344757"/>
                      <a:pt x="1757516" y="98951"/>
                      <a:pt x="1799303" y="32583"/>
                    </a:cubicBezTo>
                    <a:cubicBezTo>
                      <a:pt x="1841090" y="-33785"/>
                      <a:pt x="1820196" y="14147"/>
                      <a:pt x="1799303" y="62080"/>
                    </a:cubicBezTo>
                  </a:path>
                </a:pathLst>
              </a:custGeom>
              <a:noFill/>
              <a:ln w="1016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3A53E11-778B-F943-B64C-0805AD05AF47}"/>
                </a:ext>
              </a:extLst>
            </p:cNvPr>
            <p:cNvCxnSpPr>
              <a:cxnSpLocks/>
              <a:stCxn id="63" idx="5"/>
            </p:cNvCxnSpPr>
            <p:nvPr/>
          </p:nvCxnSpPr>
          <p:spPr>
            <a:xfrm flipV="1">
              <a:off x="6806386" y="1228099"/>
              <a:ext cx="300338" cy="510811"/>
            </a:xfrm>
            <a:prstGeom prst="straightConnector1">
              <a:avLst/>
            </a:prstGeom>
            <a:ln w="1016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44A4FC-EDFA-0442-9D10-4E6CC325A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202" y="1725361"/>
            <a:ext cx="4551521" cy="260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4176F2D-B36F-5B4F-8047-E5B85FF61262}"/>
              </a:ext>
            </a:extLst>
          </p:cNvPr>
          <p:cNvSpPr txBox="1"/>
          <p:nvPr/>
        </p:nvSpPr>
        <p:spPr>
          <a:xfrm>
            <a:off x="295660" y="2574706"/>
            <a:ext cx="2519239" cy="707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Standard atmospheric pressure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C59A62-9005-364E-8C88-6B02680CA431}"/>
              </a:ext>
            </a:extLst>
          </p:cNvPr>
          <p:cNvSpPr txBox="1"/>
          <p:nvPr/>
        </p:nvSpPr>
        <p:spPr>
          <a:xfrm>
            <a:off x="8422589" y="2810161"/>
            <a:ext cx="21731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i="1" dirty="0"/>
              <a:t>NaCl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1DFB579-B048-7841-9413-CC04DF21685E}"/>
                  </a:ext>
                </a:extLst>
              </p:cNvPr>
              <p:cNvSpPr txBox="1"/>
              <p:nvPr/>
            </p:nvSpPr>
            <p:spPr>
              <a:xfrm>
                <a:off x="4033817" y="2412429"/>
                <a:ext cx="3616581" cy="43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1DFB579-B048-7841-9413-CC04DF216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17" y="2412429"/>
                <a:ext cx="3616581" cy="4353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74736DB-C131-D11B-EE00-42E18E48A23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2480" r="8245" b="1865"/>
          <a:stretch/>
        </p:blipFill>
        <p:spPr>
          <a:xfrm rot="20613095">
            <a:off x="3599366" y="1450474"/>
            <a:ext cx="558091" cy="28356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48C55D-7C7A-B961-B08F-88ADF996FD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6541" y="1092965"/>
            <a:ext cx="495300" cy="214567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CC5943-0894-D50C-6C44-53A135B49F59}"/>
              </a:ext>
            </a:extLst>
          </p:cNvPr>
          <p:cNvCxnSpPr>
            <a:cxnSpLocks/>
          </p:cNvCxnSpPr>
          <p:nvPr/>
        </p:nvCxnSpPr>
        <p:spPr>
          <a:xfrm>
            <a:off x="2774718" y="2901702"/>
            <a:ext cx="3510745" cy="0"/>
          </a:xfrm>
          <a:prstGeom prst="line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887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073BBC-6042-4E6C-ABBF-71C3F629C5E9}"/>
                  </a:ext>
                </a:extLst>
              </p:cNvPr>
              <p:cNvSpPr txBox="1"/>
              <p:nvPr/>
            </p:nvSpPr>
            <p:spPr>
              <a:xfrm>
                <a:off x="-8052" y="2662"/>
                <a:ext cx="12200052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 work #2 for today: Explain why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/>
                  <a:t> in the adiabatic Joule-Thomson experiment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1073BBC-6042-4E6C-ABBF-71C3F629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52" y="2662"/>
                <a:ext cx="12200052" cy="461665"/>
              </a:xfrm>
              <a:prstGeom prst="rect">
                <a:avLst/>
              </a:prstGeom>
              <a:blipFill>
                <a:blip r:embed="rId2"/>
                <a:stretch>
                  <a:fillRect l="-832" t="-8108" r="-62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4BA5D9-5452-3E38-49B6-172B3D908CE8}"/>
                  </a:ext>
                </a:extLst>
              </p:cNvPr>
              <p:cNvSpPr txBox="1"/>
              <p:nvPr/>
            </p:nvSpPr>
            <p:spPr>
              <a:xfrm>
                <a:off x="487680" y="4487464"/>
                <a:ext cx="11106912" cy="19389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Hint #1: use the 1</a:t>
                </a:r>
                <a:r>
                  <a:rPr lang="en-US" sz="2400" u="sng" baseline="30000" dirty="0"/>
                  <a:t>st</a:t>
                </a:r>
                <a:r>
                  <a:rPr lang="en-US" sz="2400" u="sng" dirty="0"/>
                  <a:t> Law to write down </a:t>
                </a:r>
                <a14:m>
                  <m:oMath xmlns:m="http://schemas.openxmlformats.org/officeDocument/2006/math">
                    <m:r>
                      <a:rPr lang="en-US" sz="240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u="sng" dirty="0"/>
                  <a:t> for an adiabatic process</a:t>
                </a:r>
              </a:p>
              <a:p>
                <a:endParaRPr lang="en-US" sz="2400" u="sng" dirty="0"/>
              </a:p>
              <a:p>
                <a:r>
                  <a:rPr lang="en-US" sz="2400" u="sng" dirty="0"/>
                  <a:t>Hint #2: Write the work inside and outside the tank, assuming </a:t>
                </a:r>
                <a:r>
                  <a:rPr lang="en-US" sz="2400" b="0" u="sng" dirty="0">
                    <a:ea typeface="Cambria Math" panose="02040503050406030204" pitchFamily="18" charset="0"/>
                  </a:rPr>
                  <a:t>mechanical reversibility</a:t>
                </a:r>
                <a:endParaRPr lang="en-US" sz="2400" u="sng" dirty="0"/>
              </a:p>
              <a:p>
                <a:endParaRPr lang="en-US" sz="2400" dirty="0"/>
              </a:p>
              <a:p>
                <a:r>
                  <a:rPr lang="en-US" sz="2400" u="sng" dirty="0"/>
                  <a:t>Hint #3: Use the definition of enthalpy to write down </a:t>
                </a:r>
                <a14:m>
                  <m:oMath xmlns:m="http://schemas.openxmlformats.org/officeDocument/2006/math">
                    <m:r>
                      <a:rPr lang="en-US" sz="240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endParaRPr lang="en-US" sz="2400" u="sng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4BA5D9-5452-3E38-49B6-172B3D908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4487464"/>
                <a:ext cx="11106912" cy="1938992"/>
              </a:xfrm>
              <a:prstGeom prst="rect">
                <a:avLst/>
              </a:prstGeom>
              <a:blipFill>
                <a:blip r:embed="rId3"/>
                <a:stretch>
                  <a:fillRect l="-798" t="-1290" b="-580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8B2AF023-F047-BBD8-DAB3-123BF3139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986" y="542369"/>
            <a:ext cx="4733036" cy="3584726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4DD8BAFD-912B-1107-7493-7098C86BCD04}"/>
              </a:ext>
            </a:extLst>
          </p:cNvPr>
          <p:cNvGrpSpPr/>
          <p:nvPr/>
        </p:nvGrpSpPr>
        <p:grpSpPr>
          <a:xfrm>
            <a:off x="41402" y="542369"/>
            <a:ext cx="6103366" cy="3371263"/>
            <a:chOff x="41402" y="542369"/>
            <a:chExt cx="6103366" cy="3371263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0DD5938-0770-D565-99C8-EF039D30CC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14460"/>
            <a:stretch/>
          </p:blipFill>
          <p:spPr>
            <a:xfrm>
              <a:off x="487680" y="542369"/>
              <a:ext cx="5657088" cy="337126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9DC52F9-11D6-FC2D-37E2-2EEAED026E41}"/>
                    </a:ext>
                  </a:extLst>
                </p:cNvPr>
                <p:cNvSpPr txBox="1"/>
                <p:nvPr/>
              </p:nvSpPr>
              <p:spPr>
                <a:xfrm>
                  <a:off x="41402" y="824696"/>
                  <a:ext cx="1597152" cy="461665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&amp;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9DC52F9-11D6-FC2D-37E2-2EEAED026E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2" y="824696"/>
                  <a:ext cx="1597152" cy="461665"/>
                </a:xfrm>
                <a:prstGeom prst="rect">
                  <a:avLst/>
                </a:prstGeom>
                <a:blipFill>
                  <a:blip r:embed="rId6"/>
                  <a:stretch>
                    <a:fillRect t="-7895" b="-28947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C7C7E73-5D22-4461-DE50-9B43F704BC04}"/>
                    </a:ext>
                  </a:extLst>
                </p:cNvPr>
                <p:cNvSpPr txBox="1"/>
                <p:nvPr/>
              </p:nvSpPr>
              <p:spPr>
                <a:xfrm>
                  <a:off x="4096512" y="958809"/>
                  <a:ext cx="1853184" cy="4616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&amp;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C7C7E73-5D22-4461-DE50-9B43F704B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512" y="958809"/>
                  <a:ext cx="1853184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5128" b="-25641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09B27C0-0D2E-FF25-EDA1-868915F8F3CB}"/>
                </a:ext>
              </a:extLst>
            </p:cNvPr>
            <p:cNvCxnSpPr/>
            <p:nvPr/>
          </p:nvCxnSpPr>
          <p:spPr>
            <a:xfrm flipH="1">
              <a:off x="4291584" y="1420474"/>
              <a:ext cx="207264" cy="10179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DF63AE0-15CB-79D5-03B7-9E5455FFC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89932" y="1425120"/>
              <a:ext cx="559943" cy="322391"/>
            </a:xfrm>
            <a:prstGeom prst="rect">
              <a:avLst/>
            </a:prstGeom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B1EBA31-DD34-E729-B049-D221731EDEC2}"/>
                </a:ext>
              </a:extLst>
            </p:cNvPr>
            <p:cNvCxnSpPr>
              <a:cxnSpLocks/>
            </p:cNvCxnSpPr>
            <p:nvPr/>
          </p:nvCxnSpPr>
          <p:spPr>
            <a:xfrm>
              <a:off x="1336548" y="1290855"/>
              <a:ext cx="923798" cy="124914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444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9FBAAA-4269-CC70-47FB-B426FE065372}"/>
              </a:ext>
            </a:extLst>
          </p:cNvPr>
          <p:cNvSpPr txBox="1"/>
          <p:nvPr/>
        </p:nvSpPr>
        <p:spPr>
          <a:xfrm>
            <a:off x="-8051" y="2662"/>
            <a:ext cx="3092628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Wrapping up any remaining CGIs from this week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01E8E-15DA-0418-7913-A93F93C41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" y="2356090"/>
            <a:ext cx="4697503" cy="43339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BD8628-81A1-38C0-7EAB-3A097738AF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941"/>
          <a:stretch/>
        </p:blipFill>
        <p:spPr>
          <a:xfrm>
            <a:off x="3387792" y="167961"/>
            <a:ext cx="8393744" cy="19554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911208-52B8-2DE0-7200-52DD7FECA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219" y="3196462"/>
            <a:ext cx="7033477" cy="217210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3266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4541</TotalTime>
  <Words>514</Words>
  <Application>Microsoft Macintosh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84</cp:revision>
  <dcterms:created xsi:type="dcterms:W3CDTF">2021-10-25T15:06:30Z</dcterms:created>
  <dcterms:modified xsi:type="dcterms:W3CDTF">2025-10-31T12:58:28Z</dcterms:modified>
</cp:coreProperties>
</file>