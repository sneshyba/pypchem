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323" r:id="rId2"/>
    <p:sldId id="344" r:id="rId3"/>
    <p:sldId id="309" r:id="rId4"/>
    <p:sldId id="301" r:id="rId5"/>
    <p:sldId id="351" r:id="rId6"/>
    <p:sldId id="354" r:id="rId7"/>
    <p:sldId id="337" r:id="rId8"/>
    <p:sldId id="355" r:id="rId9"/>
    <p:sldId id="358" r:id="rId10"/>
    <p:sldId id="305" r:id="rId11"/>
    <p:sldId id="342" r:id="rId12"/>
    <p:sldId id="331" r:id="rId13"/>
    <p:sldId id="308" r:id="rId14"/>
    <p:sldId id="348" r:id="rId15"/>
    <p:sldId id="349" r:id="rId16"/>
    <p:sldId id="347" r:id="rId17"/>
    <p:sldId id="34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19"/>
    <p:restoredTop sz="94671"/>
  </p:normalViewPr>
  <p:slideViewPr>
    <p:cSldViewPr snapToGrid="0" snapToObjects="1">
      <p:cViewPr>
        <p:scale>
          <a:sx n="110" d="100"/>
          <a:sy n="110" d="100"/>
        </p:scale>
        <p:origin x="36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4424C8-5B70-D045-8B39-9FC283295F8D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3945F-F427-474F-B6AF-8DAE1BEEB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601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DCEC1-D8B7-A949-A40F-F2765644EC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FB5154-1BAD-E040-BA12-D388FCF0A8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985DA-AA3E-E644-B676-C9278206F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211C7-1182-A140-A568-86E17CB74BE3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395A1-3E5A-6E44-8913-AFC54FC0C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6EE64-726A-2445-928D-2A9D56CF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0BDA4-80EB-3045-91AC-D103F54C7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306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287D2-F0FE-9844-A747-813895CFD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884E4-2B1E-FE41-8F83-B717181B0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BA450-419A-A945-B721-80234A997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211C7-1182-A140-A568-86E17CB74BE3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6ED82-C883-F743-8D98-C49734CBE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AF40B-657A-DF4D-B1A8-3EC3B2993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0BDA4-80EB-3045-91AC-D103F54C7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31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8C6A1-E02C-C941-9C11-1B809103B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ABA23-64A6-7E4E-B423-6652BEE46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A4B27-0397-624D-89CE-3960F13E3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211C7-1182-A140-A568-86E17CB74BE3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244B4-B0C6-EE45-A531-3F6D33E3D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880AC-0D0C-804B-959C-478CBA102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0BDA4-80EB-3045-91AC-D103F54C7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091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7DF77-2F68-0249-A620-F58C29AF9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8B8B4-0B97-C244-A42B-7C8608BFD7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CCEB11-5722-244A-92BF-B1F90D773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44023A-2772-4043-8ED2-CE69603DE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211C7-1182-A140-A568-86E17CB74BE3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811D0-FE5D-DD43-907E-11A5E5B56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41D55-9234-3243-BB68-309AA60E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0BDA4-80EB-3045-91AC-D103F54C7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11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60E71-FB9D-DA4A-AB96-FCCCEFB58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98CB0-BFD3-A84C-92FD-3EB731501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80E551-0864-2C47-9122-C5E7DB361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91760-5D92-2B4F-B62D-0FB548289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49469B-7678-8441-AF6D-5532BAD100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B22BCD-46A8-214D-BDB7-F73260DB2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211C7-1182-A140-A568-86E17CB74BE3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97BA03-A99B-ED4F-B80A-D5208C7EA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3C1D44-16A2-6447-B44F-3AEA33C71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0BDA4-80EB-3045-91AC-D103F54C7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09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D50CD-3247-C041-922B-4DEBC6F6B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8B5866-9B7B-8F42-96FD-47E321B8B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211C7-1182-A140-A568-86E17CB74BE3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7B47FB-8322-5B48-9AC9-708914139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4970C0-8FD5-084B-A295-49FD5E1B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0BDA4-80EB-3045-91AC-D103F54C7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517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159C44-7E46-334A-956E-44AFED782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211C7-1182-A140-A568-86E17CB74BE3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E10B1F-5D42-574B-B0E3-12D1ED6BB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A902F-5C62-184E-9422-9D9528598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0BDA4-80EB-3045-91AC-D103F54C7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76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2E8D-A0A7-BC44-B298-3BB553E22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A084-A2C2-9249-B882-8139D8A87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A41E-355F-614A-9F8E-A00E9DC886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0696BE-8FFC-7D4C-B4F6-5592D54EA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211C7-1182-A140-A568-86E17CB74BE3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27F40-DCEA-9745-85E3-B2BB0A21E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EC47C-207F-674D-AF2A-27E8D7760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0BDA4-80EB-3045-91AC-D103F54C7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4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EDCA9-ECB1-EA4F-9BBA-E4A0C5C7D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9A7F5E-571D-D74E-97DE-9CD6A5FF37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FB81D-CEBA-0A4F-ABE3-E3D084903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3A6198-631E-D24E-9ADA-0425E9ECC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211C7-1182-A140-A568-86E17CB74BE3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449B8-5137-3344-A99D-9C5311B79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C02A7-0B23-B847-8394-76696510C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0BDA4-80EB-3045-91AC-D103F54C7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701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6EDCF-7385-CE4B-8178-8EEDF329B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05E97B-2830-484D-A450-F72325611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9A841-58A3-D743-83E4-9A1E5A1C6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211C7-1182-A140-A568-86E17CB74BE3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BFFC2-BB6A-3B4F-AD1D-2F0F6FE40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D786D-17EB-6648-840B-37CDFE54D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0BDA4-80EB-3045-91AC-D103F54C7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934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6C5EFC-826F-0149-8CB7-B9DB039C7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59FE0-EFFB-924F-A055-5AD46D268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696B9-2D78-BF4C-A2B0-B7A3619EA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211C7-1182-A140-A568-86E17CB74BE3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79AAA-1B14-1447-826B-4C7243BAE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ED9E2-4761-EE4E-82A1-63AD0423D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0BDA4-80EB-3045-91AC-D103F54C7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856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F4CFA0-617D-1C46-ADB4-0F41E54F1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0157E-EC3A-AC45-A681-6EE77E889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DCD94-9747-A64C-B4DA-0F360989EB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5211C7-1182-A140-A568-86E17CB74BE3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CAB5A-95CC-424E-BBD0-C8D9E5788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69FFF-E7DF-CF4D-9310-89AE9C2FA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80BDA4-80EB-3045-91AC-D103F54C7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85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image" Target="../media/image6.png"/><Relationship Id="rId18" Type="http://schemas.openxmlformats.org/officeDocument/2006/relationships/image" Target="../media/image121.png"/><Relationship Id="rId3" Type="http://schemas.openxmlformats.org/officeDocument/2006/relationships/image" Target="../media/image1.png"/><Relationship Id="rId12" Type="http://schemas.openxmlformats.org/officeDocument/2006/relationships/image" Target="../media/image5.png"/><Relationship Id="rId17" Type="http://schemas.openxmlformats.org/officeDocument/2006/relationships/image" Target="../media/image111.png"/><Relationship Id="rId2" Type="http://schemas.openxmlformats.org/officeDocument/2006/relationships/image" Target="../media/image210.png"/><Relationship Id="rId16" Type="http://schemas.openxmlformats.org/officeDocument/2006/relationships/image" Target="../media/image1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openxmlformats.org/officeDocument/2006/relationships/image" Target="../media/image9.png"/><Relationship Id="rId19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70.png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5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0.png"/><Relationship Id="rId4" Type="http://schemas.openxmlformats.org/officeDocument/2006/relationships/image" Target="../media/image12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0.png"/><Relationship Id="rId5" Type="http://schemas.openxmlformats.org/officeDocument/2006/relationships/image" Target="../media/image12.gif"/><Relationship Id="rId4" Type="http://schemas.openxmlformats.org/officeDocument/2006/relationships/image" Target="../media/image100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8.png"/><Relationship Id="rId7" Type="http://schemas.openxmlformats.org/officeDocument/2006/relationships/image" Target="../media/image120.png"/><Relationship Id="rId12" Type="http://schemas.openxmlformats.org/officeDocument/2006/relationships/image" Target="../media/image17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0.png"/><Relationship Id="rId11" Type="http://schemas.openxmlformats.org/officeDocument/2006/relationships/image" Target="../media/image17.png"/><Relationship Id="rId5" Type="http://schemas.openxmlformats.org/officeDocument/2006/relationships/image" Target="../media/image1001.png"/><Relationship Id="rId10" Type="http://schemas.openxmlformats.org/officeDocument/2006/relationships/image" Target="../media/image150.png"/><Relationship Id="rId4" Type="http://schemas.openxmlformats.org/officeDocument/2006/relationships/image" Target="../media/image900.png"/><Relationship Id="rId9" Type="http://schemas.openxmlformats.org/officeDocument/2006/relationships/image" Target="../media/image1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gif"/><Relationship Id="rId3" Type="http://schemas.openxmlformats.org/officeDocument/2006/relationships/hyperlink" Target="https://en.wikipedia.org/wiki/Triple_point" TargetMode="External"/><Relationship Id="rId7" Type="http://schemas.openxmlformats.org/officeDocument/2006/relationships/image" Target="../media/image25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0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2.png"/><Relationship Id="rId4" Type="http://schemas.openxmlformats.org/officeDocument/2006/relationships/image" Target="../media/image16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00.png"/><Relationship Id="rId4" Type="http://schemas.openxmlformats.org/officeDocument/2006/relationships/image" Target="../media/image160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09F878D-E91A-8715-4B19-1E1A4441BC32}"/>
                  </a:ext>
                </a:extLst>
              </p:cNvPr>
              <p:cNvSpPr txBox="1"/>
              <p:nvPr/>
            </p:nvSpPr>
            <p:spPr>
              <a:xfrm>
                <a:off x="5811081" y="694205"/>
                <a:ext cx="1948069" cy="461665"/>
              </a:xfrm>
              <a:prstGeom prst="rect">
                <a:avLst/>
              </a:prstGeom>
              <a:noFill/>
              <a:ln w="63500"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09F878D-E91A-8715-4B19-1E1A4441B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081" y="694205"/>
                <a:ext cx="1948069" cy="461665"/>
              </a:xfrm>
              <a:prstGeom prst="rect">
                <a:avLst/>
              </a:prstGeom>
              <a:blipFill>
                <a:blip r:embed="rId2"/>
                <a:stretch>
                  <a:fillRect b="-9524"/>
                </a:stretch>
              </a:blipFill>
              <a:ln w="6350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Left Arrow 2">
            <a:extLst>
              <a:ext uri="{FF2B5EF4-FFF2-40B4-BE49-F238E27FC236}">
                <a16:creationId xmlns:a16="http://schemas.microsoft.com/office/drawing/2014/main" id="{0D82EE85-ADC5-884B-58F4-F3A2BA5CB9B6}"/>
              </a:ext>
            </a:extLst>
          </p:cNvPr>
          <p:cNvSpPr/>
          <p:nvPr/>
        </p:nvSpPr>
        <p:spPr>
          <a:xfrm rot="21250915">
            <a:off x="3465989" y="1129247"/>
            <a:ext cx="2152442" cy="21090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0B9C43-74B0-C4BF-AFA8-731A0795978B}"/>
                  </a:ext>
                </a:extLst>
              </p:cNvPr>
              <p:cNvSpPr txBox="1"/>
              <p:nvPr/>
            </p:nvSpPr>
            <p:spPr>
              <a:xfrm>
                <a:off x="144343" y="642978"/>
                <a:ext cx="1651197" cy="114415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b="0" dirty="0"/>
                  <a:t>vdw: 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𝐶𝑟𝑖𝑡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𝑅𝑏</m:t>
                        </m:r>
                      </m:den>
                    </m:f>
                  </m:oMath>
                </a14:m>
                <a:r>
                  <a:rPr lang="en-US" sz="2000" dirty="0"/>
                  <a:t>, etc.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0B9C43-74B0-C4BF-AFA8-731A07959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43" y="642978"/>
                <a:ext cx="1651197" cy="1144159"/>
              </a:xfrm>
              <a:prstGeom prst="rect">
                <a:avLst/>
              </a:prstGeom>
              <a:blipFill>
                <a:blip r:embed="rId3"/>
                <a:stretch>
                  <a:fillRect t="-1075" r="-758" b="-752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819F7371-BD32-6427-1126-EE840C5F6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6607" y="2207809"/>
            <a:ext cx="2661693" cy="913198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12" name="Left Arrow 11">
            <a:extLst>
              <a:ext uri="{FF2B5EF4-FFF2-40B4-BE49-F238E27FC236}">
                <a16:creationId xmlns:a16="http://schemas.microsoft.com/office/drawing/2014/main" id="{145BB6A9-EC52-90FC-FA89-65C655989499}"/>
              </a:ext>
            </a:extLst>
          </p:cNvPr>
          <p:cNvSpPr/>
          <p:nvPr/>
        </p:nvSpPr>
        <p:spPr>
          <a:xfrm rot="19023127">
            <a:off x="5272664" y="1576492"/>
            <a:ext cx="972011" cy="183837"/>
          </a:xfrm>
          <a:prstGeom prst="leftArrow">
            <a:avLst/>
          </a:prstGeom>
          <a:ln>
            <a:solidFill>
              <a:schemeClr val="accent1">
                <a:shade val="50000"/>
                <a:alpha val="7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Arrow 12">
            <a:extLst>
              <a:ext uri="{FF2B5EF4-FFF2-40B4-BE49-F238E27FC236}">
                <a16:creationId xmlns:a16="http://schemas.microsoft.com/office/drawing/2014/main" id="{CCEA4CEA-A865-83A5-BB6D-67DFA0306DBB}"/>
              </a:ext>
            </a:extLst>
          </p:cNvPr>
          <p:cNvSpPr/>
          <p:nvPr/>
        </p:nvSpPr>
        <p:spPr>
          <a:xfrm rot="16200000">
            <a:off x="6507679" y="1574769"/>
            <a:ext cx="592395" cy="20181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 Arrow 16">
            <a:extLst>
              <a:ext uri="{FF2B5EF4-FFF2-40B4-BE49-F238E27FC236}">
                <a16:creationId xmlns:a16="http://schemas.microsoft.com/office/drawing/2014/main" id="{A2FAEA85-21D0-B78C-530B-B5B1A57232F4}"/>
              </a:ext>
            </a:extLst>
          </p:cNvPr>
          <p:cNvSpPr/>
          <p:nvPr/>
        </p:nvSpPr>
        <p:spPr>
          <a:xfrm rot="16200000" flipV="1">
            <a:off x="4191354" y="3495309"/>
            <a:ext cx="676701" cy="22946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F3AD0CC-C39C-B3D2-48EF-2530C91798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60" y="4049841"/>
            <a:ext cx="6286165" cy="793733"/>
          </a:xfrm>
          <a:prstGeom prst="rect">
            <a:avLst/>
          </a:prstGeom>
          <a:ln w="38100">
            <a:solidFill>
              <a:schemeClr val="accent1">
                <a:shade val="50000"/>
              </a:schemeClr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F619489-571E-27BC-41F9-61987A40BC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8031" y="4088890"/>
            <a:ext cx="5584520" cy="737941"/>
          </a:xfrm>
          <a:prstGeom prst="rect">
            <a:avLst/>
          </a:prstGeom>
          <a:ln w="38100">
            <a:solidFill>
              <a:schemeClr val="accent1">
                <a:shade val="50000"/>
              </a:schemeClr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E1FD24F-7F4C-C1EC-25D3-3A54D7C3BA35}"/>
                  </a:ext>
                </a:extLst>
              </p:cNvPr>
              <p:cNvSpPr txBox="1"/>
              <p:nvPr/>
            </p:nvSpPr>
            <p:spPr>
              <a:xfrm>
                <a:off x="1024988" y="4939813"/>
                <a:ext cx="4074320" cy="58669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vdw: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𝑖𝑛𝑡𝑒𝑟𝑚𝑜𝑙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E1FD24F-7F4C-C1EC-25D3-3A54D7C3BA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988" y="4939813"/>
                <a:ext cx="4074320" cy="586699"/>
              </a:xfrm>
              <a:prstGeom prst="rect">
                <a:avLst/>
              </a:prstGeom>
              <a:blipFill>
                <a:blip r:embed="rId8"/>
                <a:stretch>
                  <a:fillRect l="-2477" b="-833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4BDDD5A-444C-DB6C-476F-8284C0ADB2BC}"/>
                  </a:ext>
                </a:extLst>
              </p:cNvPr>
              <p:cNvSpPr txBox="1"/>
              <p:nvPr/>
            </p:nvSpPr>
            <p:spPr>
              <a:xfrm>
                <a:off x="7023751" y="4914874"/>
                <a:ext cx="4613079" cy="61465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vdw: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𝑖𝑛𝑡𝑒𝑟𝑚𝑜𝑙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𝑅𝑇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4BDDD5A-444C-DB6C-476F-8284C0ADB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751" y="4914874"/>
                <a:ext cx="4613079" cy="614655"/>
              </a:xfrm>
              <a:prstGeom prst="rect">
                <a:avLst/>
              </a:prstGeom>
              <a:blipFill>
                <a:blip r:embed="rId9"/>
                <a:stretch>
                  <a:fillRect l="-1918" b="-1000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E5D4911-88BE-F29F-5508-F5696EDF21A2}"/>
                  </a:ext>
                </a:extLst>
              </p:cNvPr>
              <p:cNvSpPr txBox="1"/>
              <p:nvPr/>
            </p:nvSpPr>
            <p:spPr>
              <a:xfrm>
                <a:off x="431399" y="2322161"/>
                <a:ext cx="2112236" cy="66851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vdw: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E5D4911-88BE-F29F-5508-F5696EDF2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399" y="2322161"/>
                <a:ext cx="2112236" cy="668516"/>
              </a:xfrm>
              <a:prstGeom prst="rect">
                <a:avLst/>
              </a:prstGeom>
              <a:blipFill>
                <a:blip r:embed="rId10"/>
                <a:stretch>
                  <a:fillRect l="-4167" b="-727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B18E448-E3B1-DA8E-9FF7-6D430DBC5DB8}"/>
                  </a:ext>
                </a:extLst>
              </p:cNvPr>
              <p:cNvSpPr txBox="1"/>
              <p:nvPr/>
            </p:nvSpPr>
            <p:spPr>
              <a:xfrm>
                <a:off x="8808770" y="2377925"/>
                <a:ext cx="3012674" cy="61465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vdw: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𝑅𝑇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B18E448-E3B1-DA8E-9FF7-6D430DBC5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770" y="2377925"/>
                <a:ext cx="3012674" cy="614655"/>
              </a:xfrm>
              <a:prstGeom prst="rect">
                <a:avLst/>
              </a:prstGeom>
              <a:blipFill>
                <a:blip r:embed="rId11"/>
                <a:stretch>
                  <a:fillRect l="-3347" b="-784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ED30D2BA-7D38-C094-DAA0-66ADBE761AD9}"/>
              </a:ext>
            </a:extLst>
          </p:cNvPr>
          <p:cNvGrpSpPr/>
          <p:nvPr/>
        </p:nvGrpSpPr>
        <p:grpSpPr>
          <a:xfrm>
            <a:off x="1909669" y="642978"/>
            <a:ext cx="1408640" cy="1325147"/>
            <a:chOff x="2289035" y="483965"/>
            <a:chExt cx="1408640" cy="132514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DAD57FF-26E4-4BAC-1F92-EC0FDBB562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b="62658"/>
            <a:stretch/>
          </p:blipFill>
          <p:spPr>
            <a:xfrm>
              <a:off x="2289035" y="483965"/>
              <a:ext cx="1408320" cy="668517"/>
            </a:xfrm>
            <a:prstGeom prst="rect">
              <a:avLst/>
            </a:prstGeom>
            <a:ln w="38100">
              <a:solidFill>
                <a:schemeClr val="accent1">
                  <a:shade val="50000"/>
                </a:schemeClr>
              </a:solidFill>
            </a:ln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7B2B79F3-B9CF-82AC-66B2-E8A461E574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t="63196"/>
            <a:stretch/>
          </p:blipFill>
          <p:spPr>
            <a:xfrm>
              <a:off x="2289355" y="1150230"/>
              <a:ext cx="1408320" cy="658882"/>
            </a:xfrm>
            <a:prstGeom prst="rect">
              <a:avLst/>
            </a:prstGeom>
            <a:ln w="38100">
              <a:solidFill>
                <a:schemeClr val="accent1">
                  <a:shade val="50000"/>
                </a:schemeClr>
              </a:solidFill>
            </a:ln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6F5CACA4-7CE7-7D60-79AD-D0D3533B2F37}"/>
              </a:ext>
            </a:extLst>
          </p:cNvPr>
          <p:cNvSpPr txBox="1"/>
          <p:nvPr/>
        </p:nvSpPr>
        <p:spPr>
          <a:xfrm>
            <a:off x="-9368" y="1791"/>
            <a:ext cx="1220136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A roadmap of where we are in our understanding of Thermodynamics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4135369-6D84-A0AE-5AA8-C1CC85DEAF9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7735" y="5602702"/>
            <a:ext cx="1481658" cy="112218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B0E88CF-58F4-EC5F-02C2-CF8A783B1C6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63537" y="5526511"/>
            <a:ext cx="1710438" cy="11085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D411FA-DE3E-D98C-D064-B18CCDBD125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64351" y="5578815"/>
            <a:ext cx="1346079" cy="11460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6074B8-25B6-8E88-E7FC-48C300130C14}"/>
                  </a:ext>
                </a:extLst>
              </p:cNvPr>
              <p:cNvSpPr txBox="1"/>
              <p:nvPr/>
            </p:nvSpPr>
            <p:spPr>
              <a:xfrm>
                <a:off x="10420586" y="5896099"/>
                <a:ext cx="12992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6074B8-25B6-8E88-E7FC-48C300130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0586" y="5896099"/>
                <a:ext cx="1299258" cy="369332"/>
              </a:xfrm>
              <a:prstGeom prst="rect">
                <a:avLst/>
              </a:prstGeom>
              <a:blipFill>
                <a:blip r:embed="rId16"/>
                <a:stretch>
                  <a:fillRect r="-3846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A27823-2FF7-D441-99D7-8EC13202846F}"/>
                  </a:ext>
                </a:extLst>
              </p:cNvPr>
              <p:cNvSpPr txBox="1"/>
              <p:nvPr/>
            </p:nvSpPr>
            <p:spPr>
              <a:xfrm>
                <a:off x="6091316" y="5805440"/>
                <a:ext cx="12992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A27823-2FF7-D441-99D7-8EC132028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1316" y="5805440"/>
                <a:ext cx="1299258" cy="369332"/>
              </a:xfrm>
              <a:prstGeom prst="rect">
                <a:avLst/>
              </a:prstGeom>
              <a:blipFill>
                <a:blip r:embed="rId17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8A93A01-0FCC-E0AA-EC3A-9B2BF5681AF7}"/>
                  </a:ext>
                </a:extLst>
              </p:cNvPr>
              <p:cNvSpPr txBox="1"/>
              <p:nvPr/>
            </p:nvSpPr>
            <p:spPr>
              <a:xfrm>
                <a:off x="986069" y="5833771"/>
                <a:ext cx="12992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8A93A01-0FCC-E0AA-EC3A-9B2BF5681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069" y="5833771"/>
                <a:ext cx="1299258" cy="369332"/>
              </a:xfrm>
              <a:prstGeom prst="rect">
                <a:avLst/>
              </a:prstGeom>
              <a:blipFill>
                <a:blip r:embed="rId1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Arrow 5">
            <a:extLst>
              <a:ext uri="{FF2B5EF4-FFF2-40B4-BE49-F238E27FC236}">
                <a16:creationId xmlns:a16="http://schemas.microsoft.com/office/drawing/2014/main" id="{A2FDB9E6-2DEB-00BF-4F04-229FCC4ABFA6}"/>
              </a:ext>
            </a:extLst>
          </p:cNvPr>
          <p:cNvSpPr/>
          <p:nvPr/>
        </p:nvSpPr>
        <p:spPr>
          <a:xfrm rot="16200000" flipV="1">
            <a:off x="6979384" y="3547763"/>
            <a:ext cx="676701" cy="22946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4B819B9-AFB7-8EB2-C899-F7257D47129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32137" y="2207892"/>
            <a:ext cx="2874653" cy="89705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52241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4902" y="2663"/>
            <a:ext cx="1218709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The Clapeyron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989B1EB-29D9-C849-B9DF-06B279169A66}"/>
                  </a:ext>
                </a:extLst>
              </p:cNvPr>
              <p:cNvSpPr/>
              <p:nvPr/>
            </p:nvSpPr>
            <p:spPr>
              <a:xfrm>
                <a:off x="199293" y="842648"/>
                <a:ext cx="5287107" cy="34413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The</a:t>
                </a:r>
                <a:r>
                  <a:rPr lang="en-US" sz="2400" b="1" dirty="0">
                    <a:ea typeface="Cambria Math" panose="02040503050406030204" pitchFamily="18" charset="0"/>
                  </a:rPr>
                  <a:t> Clapeyron Equation</a:t>
                </a:r>
                <a:r>
                  <a:rPr lang="en-US" sz="2400" dirty="0">
                    <a:ea typeface="Cambria Math" panose="02040503050406030204" pitchFamily="18" charset="0"/>
                  </a:rPr>
                  <a:t> gives the </a:t>
                </a:r>
                <a:r>
                  <a:rPr lang="en-US" sz="2400" b="1" dirty="0">
                    <a:ea typeface="Cambria Math" panose="02040503050406030204" pitchFamily="18" charset="0"/>
                  </a:rPr>
                  <a:t>slope</a:t>
                </a:r>
                <a:r>
                  <a:rPr lang="en-US" sz="2400" dirty="0">
                    <a:ea typeface="Cambria Math" panose="02040503050406030204" pitchFamily="18" charset="0"/>
                  </a:rPr>
                  <a:t> of the phase boundary lines:</a:t>
                </a:r>
              </a:p>
              <a:p>
                <a:endParaRPr lang="en-US" sz="24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𝒅𝑷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𝒅𝑻</m:t>
                          </m:r>
                        </m:den>
                      </m:f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𝒕𝒓𝒔</m:t>
                              </m:r>
                            </m:sub>
                          </m:sSub>
                        </m:num>
                        <m:den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𝒕𝒓𝒔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endParaRPr lang="en-US" sz="2400" dirty="0">
                  <a:ea typeface="Cambria Math" panose="02040503050406030204" pitchFamily="18" charset="0"/>
                </a:endParaRPr>
              </a:p>
              <a:p>
                <a:r>
                  <a:rPr lang="en-US" sz="2400" dirty="0"/>
                  <a:t>where </a:t>
                </a:r>
                <a:r>
                  <a:rPr lang="en-US" sz="2400" dirty="0" err="1"/>
                  <a:t>trs</a:t>
                </a:r>
                <a:r>
                  <a:rPr lang="en-US" sz="2400" dirty="0"/>
                  <a:t> = </a:t>
                </a:r>
                <a:r>
                  <a:rPr lang="en-US" sz="2400" dirty="0" err="1"/>
                  <a:t>fus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vap</a:t>
                </a:r>
                <a:r>
                  <a:rPr lang="en-US" sz="2400" dirty="0"/>
                  <a:t>, or sub. For example, see the slope of the the liquid/vapor phase  boundary shown at right.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989B1EB-29D9-C849-B9DF-06B279169A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93" y="842648"/>
                <a:ext cx="5287107" cy="3441327"/>
              </a:xfrm>
              <a:prstGeom prst="rect">
                <a:avLst/>
              </a:prstGeom>
              <a:blipFill>
                <a:blip r:embed="rId2"/>
                <a:stretch>
                  <a:fillRect l="-1679" t="-1103" r="-2638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BE49D14F-66D2-8A4A-B8D0-367C8CE99730}"/>
              </a:ext>
            </a:extLst>
          </p:cNvPr>
          <p:cNvSpPr/>
          <p:nvPr/>
        </p:nvSpPr>
        <p:spPr>
          <a:xfrm>
            <a:off x="199293" y="5078920"/>
            <a:ext cx="1009356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We’ll derive this equation later. For now we’ll just use it to obtain expressions for the phase boundary lines themselves – by </a:t>
            </a:r>
            <a:r>
              <a:rPr lang="en-US" sz="2400" b="1" dirty="0"/>
              <a:t>integrating the slope</a:t>
            </a:r>
            <a:r>
              <a:rPr lang="en-US" sz="2400" dirty="0"/>
              <a:t>.</a:t>
            </a:r>
            <a:endParaRPr lang="en-US" sz="2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C61AB64-6751-2BA5-BFD2-89ABC17B21B1}"/>
                  </a:ext>
                </a:extLst>
              </p:cNvPr>
              <p:cNvSpPr/>
              <p:nvPr/>
            </p:nvSpPr>
            <p:spPr>
              <a:xfrm>
                <a:off x="8411047" y="2585877"/>
                <a:ext cx="875496" cy="6960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𝒗𝒂𝒑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𝒗𝒂𝒑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C61AB64-6751-2BA5-BFD2-89ABC17B21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1047" y="2585877"/>
                <a:ext cx="875496" cy="696088"/>
              </a:xfrm>
              <a:prstGeom prst="rect">
                <a:avLst/>
              </a:prstGeom>
              <a:blipFill>
                <a:blip r:embed="rId3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1938AE-2256-ECEF-0C03-8CFAAED47CD4}"/>
              </a:ext>
            </a:extLst>
          </p:cNvPr>
          <p:cNvCxnSpPr>
            <a:cxnSpLocks/>
          </p:cNvCxnSpPr>
          <p:nvPr/>
        </p:nvCxnSpPr>
        <p:spPr>
          <a:xfrm flipH="1">
            <a:off x="8848795" y="2585877"/>
            <a:ext cx="677619" cy="977938"/>
          </a:xfrm>
          <a:prstGeom prst="line">
            <a:avLst/>
          </a:prstGeom>
          <a:ln w="635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c 11">
            <a:extLst>
              <a:ext uri="{FF2B5EF4-FFF2-40B4-BE49-F238E27FC236}">
                <a16:creationId xmlns:a16="http://schemas.microsoft.com/office/drawing/2014/main" id="{75E93464-7C09-F65A-AC25-97D996BB61A1}"/>
              </a:ext>
            </a:extLst>
          </p:cNvPr>
          <p:cNvSpPr/>
          <p:nvPr/>
        </p:nvSpPr>
        <p:spPr>
          <a:xfrm>
            <a:off x="8852790" y="2993241"/>
            <a:ext cx="433753" cy="443051"/>
          </a:xfrm>
          <a:prstGeom prst="arc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2" descr="Image result for phase diagrams">
            <a:extLst>
              <a:ext uri="{FF2B5EF4-FFF2-40B4-BE49-F238E27FC236}">
                <a16:creationId xmlns:a16="http://schemas.microsoft.com/office/drawing/2014/main" id="{9AB3B146-302C-8BA4-6AC1-D2C0C79BAB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73" b="5795"/>
          <a:stretch/>
        </p:blipFill>
        <p:spPr bwMode="auto">
          <a:xfrm>
            <a:off x="6353071" y="1697632"/>
            <a:ext cx="3507902" cy="2739762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3B305403-AE54-406A-D575-50BCFCE92FAD}"/>
              </a:ext>
            </a:extLst>
          </p:cNvPr>
          <p:cNvGrpSpPr/>
          <p:nvPr/>
        </p:nvGrpSpPr>
        <p:grpSpPr>
          <a:xfrm>
            <a:off x="8478482" y="2351715"/>
            <a:ext cx="1180089" cy="1132877"/>
            <a:chOff x="8478482" y="2351715"/>
            <a:chExt cx="1180089" cy="1132877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7DE861C-65C2-56D0-206B-D590DEF04526}"/>
                </a:ext>
              </a:extLst>
            </p:cNvPr>
            <p:cNvGrpSpPr/>
            <p:nvPr/>
          </p:nvGrpSpPr>
          <p:grpSpPr>
            <a:xfrm>
              <a:off x="8478482" y="2351715"/>
              <a:ext cx="1004206" cy="906593"/>
              <a:chOff x="7880589" y="2698136"/>
              <a:chExt cx="1004206" cy="90659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1530AC56-9DB7-BB71-5B61-23EB7584598C}"/>
                      </a:ext>
                    </a:extLst>
                  </p:cNvPr>
                  <p:cNvSpPr/>
                  <p:nvPr/>
                </p:nvSpPr>
                <p:spPr>
                  <a:xfrm>
                    <a:off x="7880589" y="2698136"/>
                    <a:ext cx="875496" cy="696088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𝒗𝒂𝒑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00B050"/>
                      </a:solidFill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𝒗𝒂𝒑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1530AC56-9DB7-BB71-5B61-23EB7584598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80589" y="2698136"/>
                    <a:ext cx="875496" cy="69608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5A873DF6-C035-24E7-2686-37828330A3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23672" y="2909732"/>
                <a:ext cx="361123" cy="694997"/>
              </a:xfrm>
              <a:prstGeom prst="line">
                <a:avLst/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5F1C5473-77B0-391F-8172-0F208B6F1F45}"/>
                </a:ext>
              </a:extLst>
            </p:cNvPr>
            <p:cNvSpPr/>
            <p:nvPr/>
          </p:nvSpPr>
          <p:spPr>
            <a:xfrm>
              <a:off x="8584558" y="2788504"/>
              <a:ext cx="1074013" cy="696088"/>
            </a:xfrm>
            <a:prstGeom prst="arc">
              <a:avLst>
                <a:gd name="adj1" fmla="val 16200000"/>
                <a:gd name="adj2" fmla="val 20283306"/>
              </a:avLst>
            </a:prstGeom>
            <a:noFill/>
            <a:ln w="25400">
              <a:solidFill>
                <a:srgbClr val="00B05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239DE82-59EA-8E19-7A2B-288C008190D5}"/>
              </a:ext>
            </a:extLst>
          </p:cNvPr>
          <p:cNvGrpSpPr/>
          <p:nvPr/>
        </p:nvGrpSpPr>
        <p:grpSpPr>
          <a:xfrm>
            <a:off x="6852427" y="1697632"/>
            <a:ext cx="1281744" cy="1077289"/>
            <a:chOff x="6852427" y="1697632"/>
            <a:chExt cx="1281744" cy="107728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DB2519B-DE0F-26C7-959B-5F8F34190CBA}"/>
                </a:ext>
              </a:extLst>
            </p:cNvPr>
            <p:cNvGrpSpPr/>
            <p:nvPr/>
          </p:nvGrpSpPr>
          <p:grpSpPr>
            <a:xfrm>
              <a:off x="6852427" y="1697632"/>
              <a:ext cx="977123" cy="865679"/>
              <a:chOff x="7996701" y="2698136"/>
              <a:chExt cx="977123" cy="86567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FA532A51-E5D3-5540-C1A0-1F1B6D940794}"/>
                      </a:ext>
                    </a:extLst>
                  </p:cNvPr>
                  <p:cNvSpPr/>
                  <p:nvPr/>
                </p:nvSpPr>
                <p:spPr>
                  <a:xfrm>
                    <a:off x="7996701" y="2698136"/>
                    <a:ext cx="875496" cy="696088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𝒇𝒖𝒔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accent1"/>
                      </a:solidFill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𝒇𝒖𝒔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FA532A51-E5D3-5540-C1A0-1F1B6D94079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96701" y="2698136"/>
                    <a:ext cx="875496" cy="69608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53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388C65E9-FAB6-5C38-AF39-DBD36274C7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48795" y="2795014"/>
                <a:ext cx="125029" cy="768801"/>
              </a:xfrm>
              <a:prstGeom prst="line">
                <a:avLst/>
              </a:prstGeom>
              <a:ln w="635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5AAADBAA-F689-94FE-6761-65040EDFB6A0}"/>
                </a:ext>
              </a:extLst>
            </p:cNvPr>
            <p:cNvSpPr/>
            <p:nvPr/>
          </p:nvSpPr>
          <p:spPr>
            <a:xfrm>
              <a:off x="7060158" y="2078833"/>
              <a:ext cx="1074013" cy="696088"/>
            </a:xfrm>
            <a:prstGeom prst="arc">
              <a:avLst>
                <a:gd name="adj1" fmla="val 16200000"/>
                <a:gd name="adj2" fmla="val 20283306"/>
              </a:avLst>
            </a:prstGeom>
            <a:noFill/>
            <a:ln w="25400">
              <a:solidFill>
                <a:schemeClr val="accent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0BCCBD3-C36E-73D7-539C-39E96CFA3001}"/>
              </a:ext>
            </a:extLst>
          </p:cNvPr>
          <p:cNvGrpSpPr/>
          <p:nvPr/>
        </p:nvGrpSpPr>
        <p:grpSpPr>
          <a:xfrm>
            <a:off x="6144469" y="3520437"/>
            <a:ext cx="1105830" cy="1391681"/>
            <a:chOff x="6144469" y="3520437"/>
            <a:chExt cx="1105830" cy="139168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33BD60A-26EB-887E-1421-0D9A9E94EBDA}"/>
                </a:ext>
              </a:extLst>
            </p:cNvPr>
            <p:cNvGrpSpPr/>
            <p:nvPr/>
          </p:nvGrpSpPr>
          <p:grpSpPr>
            <a:xfrm>
              <a:off x="6374803" y="3520437"/>
              <a:ext cx="875496" cy="890222"/>
              <a:chOff x="7976520" y="2367009"/>
              <a:chExt cx="875496" cy="89022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8C051583-706B-CD0B-7DE7-7AD42A2E322B}"/>
                      </a:ext>
                    </a:extLst>
                  </p:cNvPr>
                  <p:cNvSpPr/>
                  <p:nvPr/>
                </p:nvSpPr>
                <p:spPr>
                  <a:xfrm>
                    <a:off x="7976520" y="2367009"/>
                    <a:ext cx="875496" cy="646331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𝒔𝒖𝒃</m:t>
                              </m:r>
                            </m:sub>
                          </m:sSub>
                        </m:oMath>
                      </m:oMathPara>
                    </a14:m>
                    <a:endParaRPr lang="en-US" b="1" i="1" dirty="0">
                      <a:solidFill>
                        <a:schemeClr val="accent2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𝒔𝒖𝒃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accent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8C051583-706B-CD0B-7DE7-7AD42A2E322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76520" y="2367009"/>
                    <a:ext cx="875496" cy="64633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70EDC0A-77B0-16BF-40EB-7243419036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60858" y="3033740"/>
                <a:ext cx="569426" cy="223491"/>
              </a:xfrm>
              <a:prstGeom prst="line">
                <a:avLst/>
              </a:prstGeom>
              <a:ln w="635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A0D78E14-E907-4C59-3737-E547F07E9A13}"/>
                </a:ext>
              </a:extLst>
            </p:cNvPr>
            <p:cNvSpPr/>
            <p:nvPr/>
          </p:nvSpPr>
          <p:spPr>
            <a:xfrm rot="2713949">
              <a:off x="5955506" y="4027068"/>
              <a:ext cx="1074013" cy="696088"/>
            </a:xfrm>
            <a:prstGeom prst="arc">
              <a:avLst>
                <a:gd name="adj1" fmla="val 16200000"/>
                <a:gd name="adj2" fmla="val 20283306"/>
              </a:avLst>
            </a:prstGeom>
            <a:noFill/>
            <a:ln w="25400"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2360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-6528" y="2663"/>
            <a:ext cx="12200957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Integrating the Clapeyron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75EDA7B-00BE-5343-ABC0-1447496ED3D6}"/>
                  </a:ext>
                </a:extLst>
              </p:cNvPr>
              <p:cNvSpPr/>
              <p:nvPr/>
            </p:nvSpPr>
            <p:spPr>
              <a:xfrm>
                <a:off x="561218" y="1774374"/>
                <a:ext cx="3546868" cy="7346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ice-liquid: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𝒅𝑷</m:t>
                    </m:r>
                    <m:r>
                      <a:rPr lang="en-US" sz="24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𝒇𝒖𝒔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𝒇𝒖𝒔</m:t>
                            </m:r>
                          </m:sub>
                        </m:sSub>
                      </m:den>
                    </m:f>
                    <m:r>
                      <a:rPr lang="en-US" sz="2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𝒅𝑻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75EDA7B-00BE-5343-ABC0-1447496ED3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218" y="1774374"/>
                <a:ext cx="3546868" cy="734625"/>
              </a:xfrm>
              <a:prstGeom prst="rect">
                <a:avLst/>
              </a:prstGeom>
              <a:blipFill>
                <a:blip r:embed="rId2"/>
                <a:stretch>
                  <a:fillRect l="-2500"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5E45D1E-F7CE-E74B-BBB3-81CC677D4EE4}"/>
                  </a:ext>
                </a:extLst>
              </p:cNvPr>
              <p:cNvSpPr/>
              <p:nvPr/>
            </p:nvSpPr>
            <p:spPr>
              <a:xfrm>
                <a:off x="561218" y="3205416"/>
                <a:ext cx="3885423" cy="730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liquid/vapor: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𝒅𝑷</m:t>
                    </m:r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den>
                    </m:f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𝒅𝑻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5E45D1E-F7CE-E74B-BBB3-81CC677D4E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218" y="3205416"/>
                <a:ext cx="3885423" cy="730649"/>
              </a:xfrm>
              <a:prstGeom prst="rect">
                <a:avLst/>
              </a:prstGeom>
              <a:blipFill>
                <a:blip r:embed="rId3"/>
                <a:stretch>
                  <a:fillRect l="-2280" b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34D0DD2-416E-434C-8572-9749D0B40886}"/>
                  </a:ext>
                </a:extLst>
              </p:cNvPr>
              <p:cNvSpPr/>
              <p:nvPr/>
            </p:nvSpPr>
            <p:spPr>
              <a:xfrm>
                <a:off x="561218" y="4769077"/>
                <a:ext cx="3526350" cy="6713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ice/vapor: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𝒅𝑷</m:t>
                    </m:r>
                    <m:r>
                      <a:rPr lang="en-US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𝒔𝒖𝒃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𝒔𝒖𝒃</m:t>
                            </m:r>
                          </m:sub>
                        </m:sSub>
                      </m:den>
                    </m:f>
                    <m:r>
                      <a:rPr lang="en-US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𝒅𝑻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34D0DD2-416E-434C-8572-9749D0B408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218" y="4769077"/>
                <a:ext cx="3526350" cy="671338"/>
              </a:xfrm>
              <a:prstGeom prst="rect">
                <a:avLst/>
              </a:prstGeom>
              <a:blipFill>
                <a:blip r:embed="rId4"/>
                <a:stretch>
                  <a:fillRect l="-2509"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22E19834-F414-7942-AF4E-35E6FBAD1E2C}"/>
              </a:ext>
            </a:extLst>
          </p:cNvPr>
          <p:cNvGrpSpPr/>
          <p:nvPr/>
        </p:nvGrpSpPr>
        <p:grpSpPr>
          <a:xfrm>
            <a:off x="5752033" y="2037892"/>
            <a:ext cx="3148181" cy="2988982"/>
            <a:chOff x="5752033" y="2076249"/>
            <a:chExt cx="3148181" cy="298898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A971276-5825-554D-9C15-0254CE2FC022}"/>
                </a:ext>
              </a:extLst>
            </p:cNvPr>
            <p:cNvGrpSpPr/>
            <p:nvPr/>
          </p:nvGrpSpPr>
          <p:grpSpPr>
            <a:xfrm>
              <a:off x="5752033" y="2076249"/>
              <a:ext cx="3148181" cy="2988982"/>
              <a:chOff x="4270169" y="240930"/>
              <a:chExt cx="3148181" cy="2988982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C1227735-1BEB-7D4D-98FC-4F9471A4285E}"/>
                  </a:ext>
                </a:extLst>
              </p:cNvPr>
              <p:cNvGrpSpPr/>
              <p:nvPr/>
            </p:nvGrpSpPr>
            <p:grpSpPr>
              <a:xfrm>
                <a:off x="4270169" y="240930"/>
                <a:ext cx="3148181" cy="2988982"/>
                <a:chOff x="8122016" y="738525"/>
                <a:chExt cx="3611879" cy="3372641"/>
              </a:xfrm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339BBF00-0384-9446-BBFB-E714FCBBE043}"/>
                    </a:ext>
                  </a:extLst>
                </p:cNvPr>
                <p:cNvGrpSpPr/>
                <p:nvPr/>
              </p:nvGrpSpPr>
              <p:grpSpPr>
                <a:xfrm>
                  <a:off x="8122016" y="738525"/>
                  <a:ext cx="3611879" cy="3372641"/>
                  <a:chOff x="223734" y="1499666"/>
                  <a:chExt cx="3074185" cy="3352100"/>
                </a:xfrm>
              </p:grpSpPr>
              <p:pic>
                <p:nvPicPr>
                  <p:cNvPr id="31" name="Picture 2" descr="Image result for phase diagrams">
                    <a:extLst>
                      <a:ext uri="{FF2B5EF4-FFF2-40B4-BE49-F238E27FC236}">
                        <a16:creationId xmlns:a16="http://schemas.microsoft.com/office/drawing/2014/main" id="{44D1A258-6F21-4148-BCE2-A2D902B1F7A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3773" b="5795"/>
                  <a:stretch/>
                </p:blipFill>
                <p:spPr bwMode="auto">
                  <a:xfrm>
                    <a:off x="406438" y="1828307"/>
                    <a:ext cx="2891481" cy="2632482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CF0F2BFE-F0A4-BD44-B6CE-52E938B54557}"/>
                      </a:ext>
                    </a:extLst>
                  </p:cNvPr>
                  <p:cNvSpPr/>
                  <p:nvPr/>
                </p:nvSpPr>
                <p:spPr>
                  <a:xfrm>
                    <a:off x="223734" y="1499666"/>
                    <a:ext cx="34336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P</a:t>
                    </a:r>
                  </a:p>
                </p:txBody>
              </p: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31B568F3-25CF-1844-B1AE-24D21E9E69C4}"/>
                      </a:ext>
                    </a:extLst>
                  </p:cNvPr>
                  <p:cNvSpPr/>
                  <p:nvPr/>
                </p:nvSpPr>
                <p:spPr>
                  <a:xfrm>
                    <a:off x="2347899" y="4390101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</p:grpSp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277215AB-BC0E-614B-AF9F-7B16C3FC12B3}"/>
                    </a:ext>
                  </a:extLst>
                </p:cNvPr>
                <p:cNvSpPr/>
                <p:nvPr/>
              </p:nvSpPr>
              <p:spPr>
                <a:xfrm>
                  <a:off x="9483213" y="1968497"/>
                  <a:ext cx="1823428" cy="1241951"/>
                </a:xfrm>
                <a:custGeom>
                  <a:avLst/>
                  <a:gdLst>
                    <a:gd name="connsiteX0" fmla="*/ 0 w 1823428"/>
                    <a:gd name="connsiteY0" fmla="*/ 1241951 h 1241951"/>
                    <a:gd name="connsiteX1" fmla="*/ 353961 w 1823428"/>
                    <a:gd name="connsiteY1" fmla="*/ 1153461 h 1241951"/>
                    <a:gd name="connsiteX2" fmla="*/ 693174 w 1823428"/>
                    <a:gd name="connsiteY2" fmla="*/ 1064970 h 1241951"/>
                    <a:gd name="connsiteX3" fmla="*/ 988142 w 1823428"/>
                    <a:gd name="connsiteY3" fmla="*/ 917486 h 1241951"/>
                    <a:gd name="connsiteX4" fmla="*/ 1283110 w 1823428"/>
                    <a:gd name="connsiteY4" fmla="*/ 725757 h 1241951"/>
                    <a:gd name="connsiteX5" fmla="*/ 1548581 w 1823428"/>
                    <a:gd name="connsiteY5" fmla="*/ 460286 h 1241951"/>
                    <a:gd name="connsiteX6" fmla="*/ 1799303 w 1823428"/>
                    <a:gd name="connsiteY6" fmla="*/ 32583 h 1241951"/>
                    <a:gd name="connsiteX7" fmla="*/ 1799303 w 1823428"/>
                    <a:gd name="connsiteY7" fmla="*/ 62080 h 1241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23428" h="1241951">
                      <a:moveTo>
                        <a:pt x="0" y="1241951"/>
                      </a:moveTo>
                      <a:lnTo>
                        <a:pt x="353961" y="1153461"/>
                      </a:lnTo>
                      <a:cubicBezTo>
                        <a:pt x="469490" y="1123964"/>
                        <a:pt x="587477" y="1104299"/>
                        <a:pt x="693174" y="1064970"/>
                      </a:cubicBezTo>
                      <a:cubicBezTo>
                        <a:pt x="798871" y="1025641"/>
                        <a:pt x="889819" y="974021"/>
                        <a:pt x="988142" y="917486"/>
                      </a:cubicBezTo>
                      <a:cubicBezTo>
                        <a:pt x="1086465" y="860950"/>
                        <a:pt x="1189704" y="801957"/>
                        <a:pt x="1283110" y="725757"/>
                      </a:cubicBezTo>
                      <a:cubicBezTo>
                        <a:pt x="1376517" y="649557"/>
                        <a:pt x="1462549" y="575815"/>
                        <a:pt x="1548581" y="460286"/>
                      </a:cubicBezTo>
                      <a:cubicBezTo>
                        <a:pt x="1634613" y="344757"/>
                        <a:pt x="1757516" y="98951"/>
                        <a:pt x="1799303" y="32583"/>
                      </a:cubicBezTo>
                      <a:cubicBezTo>
                        <a:pt x="1841090" y="-33785"/>
                        <a:pt x="1820196" y="14147"/>
                        <a:pt x="1799303" y="62080"/>
                      </a:cubicBezTo>
                    </a:path>
                  </a:pathLst>
                </a:custGeom>
                <a:noFill/>
                <a:ln w="1016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0" name="Freeform 29">
                  <a:extLst>
                    <a:ext uri="{FF2B5EF4-FFF2-40B4-BE49-F238E27FC236}">
                      <a16:creationId xmlns:a16="http://schemas.microsoft.com/office/drawing/2014/main" id="{544BB8C0-A6F2-2642-BC20-48F6DE4ABCE8}"/>
                    </a:ext>
                  </a:extLst>
                </p:cNvPr>
                <p:cNvSpPr/>
                <p:nvPr/>
              </p:nvSpPr>
              <p:spPr>
                <a:xfrm>
                  <a:off x="8409904" y="3258355"/>
                  <a:ext cx="991673" cy="402963"/>
                </a:xfrm>
                <a:custGeom>
                  <a:avLst/>
                  <a:gdLst>
                    <a:gd name="connsiteX0" fmla="*/ 0 w 991673"/>
                    <a:gd name="connsiteY0" fmla="*/ 399245 h 402963"/>
                    <a:gd name="connsiteX1" fmla="*/ 218941 w 991673"/>
                    <a:gd name="connsiteY1" fmla="*/ 399245 h 402963"/>
                    <a:gd name="connsiteX2" fmla="*/ 360609 w 991673"/>
                    <a:gd name="connsiteY2" fmla="*/ 360608 h 402963"/>
                    <a:gd name="connsiteX3" fmla="*/ 579550 w 991673"/>
                    <a:gd name="connsiteY3" fmla="*/ 283335 h 402963"/>
                    <a:gd name="connsiteX4" fmla="*/ 721217 w 991673"/>
                    <a:gd name="connsiteY4" fmla="*/ 218941 h 402963"/>
                    <a:gd name="connsiteX5" fmla="*/ 875764 w 991673"/>
                    <a:gd name="connsiteY5" fmla="*/ 103031 h 402963"/>
                    <a:gd name="connsiteX6" fmla="*/ 991673 w 991673"/>
                    <a:gd name="connsiteY6" fmla="*/ 0 h 402963"/>
                    <a:gd name="connsiteX7" fmla="*/ 991673 w 991673"/>
                    <a:gd name="connsiteY7" fmla="*/ 0 h 402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91673" h="402963">
                      <a:moveTo>
                        <a:pt x="0" y="399245"/>
                      </a:moveTo>
                      <a:cubicBezTo>
                        <a:pt x="79419" y="402465"/>
                        <a:pt x="158839" y="405685"/>
                        <a:pt x="218941" y="399245"/>
                      </a:cubicBezTo>
                      <a:cubicBezTo>
                        <a:pt x="279043" y="392805"/>
                        <a:pt x="300508" y="379926"/>
                        <a:pt x="360609" y="360608"/>
                      </a:cubicBezTo>
                      <a:cubicBezTo>
                        <a:pt x="420711" y="341290"/>
                        <a:pt x="519449" y="306946"/>
                        <a:pt x="579550" y="283335"/>
                      </a:cubicBezTo>
                      <a:cubicBezTo>
                        <a:pt x="639651" y="259724"/>
                        <a:pt x="671848" y="248992"/>
                        <a:pt x="721217" y="218941"/>
                      </a:cubicBezTo>
                      <a:cubicBezTo>
                        <a:pt x="770586" y="188890"/>
                        <a:pt x="830688" y="139521"/>
                        <a:pt x="875764" y="103031"/>
                      </a:cubicBezTo>
                      <a:cubicBezTo>
                        <a:pt x="920840" y="66541"/>
                        <a:pt x="991673" y="0"/>
                        <a:pt x="991673" y="0"/>
                      </a:cubicBezTo>
                      <a:lnTo>
                        <a:pt x="991673" y="0"/>
                      </a:lnTo>
                    </a:path>
                  </a:pathLst>
                </a:custGeom>
                <a:noFill/>
                <a:ln w="101600">
                  <a:solidFill>
                    <a:schemeClr val="accent2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B050"/>
                    </a:solidFill>
                  </a:endParaRPr>
                </a:p>
              </p:txBody>
            </p:sp>
          </p:grp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5EB14925-C632-0A4F-B959-634D2B5B3AA6}"/>
                  </a:ext>
                </a:extLst>
              </p:cNvPr>
              <p:cNvCxnSpPr>
                <a:cxnSpLocks/>
                <a:stCxn id="29" idx="5"/>
              </p:cNvCxnSpPr>
              <p:nvPr/>
            </p:nvCxnSpPr>
            <p:spPr>
              <a:xfrm flipV="1">
                <a:off x="6806386" y="1228099"/>
                <a:ext cx="300338" cy="510811"/>
              </a:xfrm>
              <a:prstGeom prst="straightConnector1">
                <a:avLst/>
              </a:prstGeom>
              <a:ln w="1016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F46D2646-3B49-E241-BBE6-3A7FD6ADDF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23407" y="2822298"/>
                <a:ext cx="265948" cy="3296"/>
              </a:xfrm>
              <a:prstGeom prst="line">
                <a:avLst/>
              </a:prstGeom>
              <a:ln w="101600">
                <a:solidFill>
                  <a:schemeClr val="accent2"/>
                </a:solidFill>
                <a:prstDash val="sysDot"/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1E66DFA-8DFC-1048-B916-3809F0A69C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7323" y="2365420"/>
              <a:ext cx="335311" cy="1862929"/>
            </a:xfrm>
            <a:prstGeom prst="line">
              <a:avLst/>
            </a:prstGeom>
            <a:ln w="127000"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011B779-468A-9A47-B7EA-A36423EA233B}"/>
                  </a:ext>
                </a:extLst>
              </p:cNvPr>
              <p:cNvSpPr/>
              <p:nvPr/>
            </p:nvSpPr>
            <p:spPr>
              <a:xfrm>
                <a:off x="0" y="780229"/>
                <a:ext cx="1219442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It makes sense to start integration at the triple point because we know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 very accurately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011B779-468A-9A47-B7EA-A36423EA23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80229"/>
                <a:ext cx="12194429" cy="461665"/>
              </a:xfrm>
              <a:prstGeom prst="rect">
                <a:avLst/>
              </a:prstGeom>
              <a:blipFill>
                <a:blip r:embed="rId6"/>
                <a:stretch>
                  <a:fillRect l="-729" t="-5263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3286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3C8ABB6-B1AB-F144-A138-B03D987BCA52}"/>
                  </a:ext>
                </a:extLst>
              </p:cNvPr>
              <p:cNvSpPr/>
              <p:nvPr/>
            </p:nvSpPr>
            <p:spPr>
              <a:xfrm>
                <a:off x="140479" y="2425137"/>
                <a:ext cx="11419878" cy="2076146"/>
              </a:xfrm>
              <a:prstGeom prst="rect">
                <a:avLst/>
              </a:prstGeom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To integrate along the “</a:t>
                </a:r>
                <a:r>
                  <a:rPr lang="en-US" sz="2400" dirty="0" err="1"/>
                  <a:t>fus</a:t>
                </a:r>
                <a:r>
                  <a:rPr lang="en-US" sz="2400" dirty="0"/>
                  <a:t>” (solid/liquid) phase boundary, we’d form the integral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itchFamily="2" charset="2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itchFamily="2" charset="2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+</m:t>
                      </m:r>
                      <m:nary>
                        <m:naryPr>
                          <m:ctrl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𝑓𝑢𝑠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𝑓𝑢𝑠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𝑑𝑇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3C8ABB6-B1AB-F144-A138-B03D987BCA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79" y="2425137"/>
                <a:ext cx="11419878" cy="2076146"/>
              </a:xfrm>
              <a:prstGeom prst="rect">
                <a:avLst/>
              </a:prstGeom>
              <a:blipFill>
                <a:blip r:embed="rId2"/>
                <a:stretch>
                  <a:fillRect l="-889" t="-37195" b="-85366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D3F98E51-53C3-9744-BE94-5B9D68ED34A3}"/>
              </a:ext>
            </a:extLst>
          </p:cNvPr>
          <p:cNvGrpSpPr/>
          <p:nvPr/>
        </p:nvGrpSpPr>
        <p:grpSpPr>
          <a:xfrm>
            <a:off x="3954537" y="360690"/>
            <a:ext cx="2518275" cy="2118577"/>
            <a:chOff x="3661461" y="179263"/>
            <a:chExt cx="2518275" cy="211857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5464C9B-79C6-F547-B4AE-39CCDEAA282A}"/>
                </a:ext>
              </a:extLst>
            </p:cNvPr>
            <p:cNvGrpSpPr/>
            <p:nvPr/>
          </p:nvGrpSpPr>
          <p:grpSpPr>
            <a:xfrm>
              <a:off x="3802604" y="386969"/>
              <a:ext cx="2377132" cy="1663768"/>
              <a:chOff x="518983" y="2025224"/>
              <a:chExt cx="2891481" cy="2632482"/>
            </a:xfrm>
          </p:grpSpPr>
          <p:pic>
            <p:nvPicPr>
              <p:cNvPr id="5122" name="Picture 2" descr="Image result for phase diagrams">
                <a:extLst>
                  <a:ext uri="{FF2B5EF4-FFF2-40B4-BE49-F238E27FC236}">
                    <a16:creationId xmlns:a16="http://schemas.microsoft.com/office/drawing/2014/main" id="{EE9F4C8E-FD51-7C47-BA91-FF4F8E1E62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773" b="5795"/>
              <a:stretch/>
            </p:blipFill>
            <p:spPr bwMode="auto">
              <a:xfrm>
                <a:off x="518983" y="2025224"/>
                <a:ext cx="2891481" cy="26324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7ED85BC3-2D7F-E540-B295-A127B590DC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44399" y="2211860"/>
                <a:ext cx="295998" cy="1865397"/>
              </a:xfrm>
              <a:prstGeom prst="line">
                <a:avLst/>
              </a:prstGeom>
              <a:ln w="127000"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3A22609-F49A-A34A-9FF0-5A9F4215FDEE}"/>
                </a:ext>
              </a:extLst>
            </p:cNvPr>
            <p:cNvSpPr/>
            <p:nvPr/>
          </p:nvSpPr>
          <p:spPr>
            <a:xfrm>
              <a:off x="3661461" y="179263"/>
              <a:ext cx="282285" cy="2917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/>
                <a:t>P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19D1CB4-FD9D-834B-BFD4-AABB4BD67E24}"/>
                </a:ext>
              </a:extLst>
            </p:cNvPr>
            <p:cNvSpPr/>
            <p:nvPr/>
          </p:nvSpPr>
          <p:spPr>
            <a:xfrm>
              <a:off x="5407771" y="2006061"/>
              <a:ext cx="275695" cy="2917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/>
                <a:t>T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931ECB9-AF1B-A940-B7F2-440673455BA1}"/>
              </a:ext>
            </a:extLst>
          </p:cNvPr>
          <p:cNvSpPr txBox="1"/>
          <p:nvPr/>
        </p:nvSpPr>
        <p:spPr>
          <a:xfrm>
            <a:off x="4902" y="2663"/>
            <a:ext cx="1218709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For example, along the solid/liquid phase boundary</a:t>
            </a:r>
          </a:p>
        </p:txBody>
      </p:sp>
    </p:spTree>
    <p:extLst>
      <p:ext uri="{BB962C8B-B14F-4D97-AF65-F5344CB8AC3E}">
        <p14:creationId xmlns:p14="http://schemas.microsoft.com/office/powerpoint/2010/main" val="196322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3C8ABB6-B1AB-F144-A138-B03D987BCA52}"/>
                  </a:ext>
                </a:extLst>
              </p:cNvPr>
              <p:cNvSpPr/>
              <p:nvPr/>
            </p:nvSpPr>
            <p:spPr>
              <a:xfrm>
                <a:off x="140479" y="2425137"/>
                <a:ext cx="11419878" cy="4089581"/>
              </a:xfrm>
              <a:prstGeom prst="rect">
                <a:avLst/>
              </a:prstGeom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To integrate along the “</a:t>
                </a:r>
                <a:r>
                  <a:rPr lang="en-US" sz="2400" dirty="0" err="1"/>
                  <a:t>fus</a:t>
                </a:r>
                <a:r>
                  <a:rPr lang="en-US" sz="2400" dirty="0"/>
                  <a:t>” (solid/liquid) phase boundary, we’d form the integral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itchFamily="2" charset="2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itchFamily="2" charset="2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+</m:t>
                      </m:r>
                      <m:nary>
                        <m:naryPr>
                          <m:ctrl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𝑓𝑢𝑠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𝑓𝑢𝑠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𝑑𝑇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/>
                <a:endParaRPr lang="en-US" sz="2400" dirty="0"/>
              </a:p>
              <a:p>
                <a:r>
                  <a:rPr lang="en-US" sz="2400" dirty="0"/>
                  <a:t>If we consider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𝑓𝑢𝑠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𝑓𝑢𝑠</m:t>
                        </m:r>
                      </m:sub>
                    </m:sSub>
                  </m:oMath>
                </a14:m>
                <a:r>
                  <a:rPr lang="en-US" sz="2400" dirty="0"/>
                  <a:t> to be constant, they come out of the integral, and we’re left with integrating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1/</m:t>
                    </m:r>
                    <m:r>
                      <a:rPr lang="en-US" sz="24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itchFamily="2" charset="2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itchFamily="2" charset="2"/>
                            </a:rPr>
                            <m:t>3</m:t>
                          </m:r>
                        </m:sub>
                      </m:sSub>
                      <m:r>
                        <a:rPr lang="en-US" sz="2400" b="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𝑓𝑢𝑠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𝑓𝑢𝑠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𝑑𝑇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3C8ABB6-B1AB-F144-A138-B03D987BCA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79" y="2425137"/>
                <a:ext cx="11419878" cy="4089581"/>
              </a:xfrm>
              <a:prstGeom prst="rect">
                <a:avLst/>
              </a:prstGeom>
              <a:blipFill>
                <a:blip r:embed="rId2"/>
                <a:stretch>
                  <a:fillRect l="-889" t="-18885" b="-51703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D3F98E51-53C3-9744-BE94-5B9D68ED34A3}"/>
              </a:ext>
            </a:extLst>
          </p:cNvPr>
          <p:cNvGrpSpPr/>
          <p:nvPr/>
        </p:nvGrpSpPr>
        <p:grpSpPr>
          <a:xfrm>
            <a:off x="3954537" y="360690"/>
            <a:ext cx="2518275" cy="2118577"/>
            <a:chOff x="3661461" y="179263"/>
            <a:chExt cx="2518275" cy="211857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5464C9B-79C6-F547-B4AE-39CCDEAA282A}"/>
                </a:ext>
              </a:extLst>
            </p:cNvPr>
            <p:cNvGrpSpPr/>
            <p:nvPr/>
          </p:nvGrpSpPr>
          <p:grpSpPr>
            <a:xfrm>
              <a:off x="3802604" y="386969"/>
              <a:ext cx="2377132" cy="1663768"/>
              <a:chOff x="518983" y="2025224"/>
              <a:chExt cx="2891481" cy="2632482"/>
            </a:xfrm>
          </p:grpSpPr>
          <p:pic>
            <p:nvPicPr>
              <p:cNvPr id="5122" name="Picture 2" descr="Image result for phase diagrams">
                <a:extLst>
                  <a:ext uri="{FF2B5EF4-FFF2-40B4-BE49-F238E27FC236}">
                    <a16:creationId xmlns:a16="http://schemas.microsoft.com/office/drawing/2014/main" id="{EE9F4C8E-FD51-7C47-BA91-FF4F8E1E62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773" b="5795"/>
              <a:stretch/>
            </p:blipFill>
            <p:spPr bwMode="auto">
              <a:xfrm>
                <a:off x="518983" y="2025224"/>
                <a:ext cx="2891481" cy="26324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7ED85BC3-2D7F-E540-B295-A127B590DC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44399" y="2211860"/>
                <a:ext cx="295998" cy="1865397"/>
              </a:xfrm>
              <a:prstGeom prst="line">
                <a:avLst/>
              </a:prstGeom>
              <a:ln w="127000"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3A22609-F49A-A34A-9FF0-5A9F4215FDEE}"/>
                </a:ext>
              </a:extLst>
            </p:cNvPr>
            <p:cNvSpPr/>
            <p:nvPr/>
          </p:nvSpPr>
          <p:spPr>
            <a:xfrm>
              <a:off x="3661461" y="179263"/>
              <a:ext cx="282285" cy="2917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/>
                <a:t>P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19D1CB4-FD9D-834B-BFD4-AABB4BD67E24}"/>
                </a:ext>
              </a:extLst>
            </p:cNvPr>
            <p:cNvSpPr/>
            <p:nvPr/>
          </p:nvSpPr>
          <p:spPr>
            <a:xfrm>
              <a:off x="5407771" y="2006061"/>
              <a:ext cx="275695" cy="2917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/>
                <a:t>T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931ECB9-AF1B-A940-B7F2-440673455BA1}"/>
              </a:ext>
            </a:extLst>
          </p:cNvPr>
          <p:cNvSpPr txBox="1"/>
          <p:nvPr/>
        </p:nvSpPr>
        <p:spPr>
          <a:xfrm>
            <a:off x="4902" y="2663"/>
            <a:ext cx="1218709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For example, along the solid/liquid phase boundary</a:t>
            </a:r>
          </a:p>
        </p:txBody>
      </p:sp>
    </p:spTree>
    <p:extLst>
      <p:ext uri="{BB962C8B-B14F-4D97-AF65-F5344CB8AC3E}">
        <p14:creationId xmlns:p14="http://schemas.microsoft.com/office/powerpoint/2010/main" val="2214309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3C8ABB6-B1AB-F144-A138-B03D987BCA52}"/>
                  </a:ext>
                </a:extLst>
              </p:cNvPr>
              <p:cNvSpPr/>
              <p:nvPr/>
            </p:nvSpPr>
            <p:spPr>
              <a:xfrm>
                <a:off x="140479" y="2425137"/>
                <a:ext cx="11419878" cy="4089581"/>
              </a:xfrm>
              <a:prstGeom prst="rect">
                <a:avLst/>
              </a:prstGeom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To integrate along the “</a:t>
                </a:r>
                <a:r>
                  <a:rPr lang="en-US" sz="2400" dirty="0" err="1"/>
                  <a:t>fus</a:t>
                </a:r>
                <a:r>
                  <a:rPr lang="en-US" sz="2400" dirty="0"/>
                  <a:t>” (solid/liquid) phase boundary, we’d form the integral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itchFamily="2" charset="2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itchFamily="2" charset="2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+</m:t>
                      </m:r>
                      <m:nary>
                        <m:naryPr>
                          <m:ctrl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𝑓𝑢𝑠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𝑓𝑢𝑠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𝑑𝑇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If we consider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𝑓𝑢𝑠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𝑓𝑢𝑠</m:t>
                        </m:r>
                      </m:sub>
                    </m:sSub>
                  </m:oMath>
                </a14:m>
                <a:r>
                  <a:rPr lang="en-US" sz="2400" dirty="0"/>
                  <a:t> to be constant, they come out of the integral, and we’re left with integrating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1/</m:t>
                    </m:r>
                    <m:r>
                      <a:rPr lang="en-US" sz="24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itchFamily="2" charset="2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itchFamily="2" charset="2"/>
                            </a:rPr>
                            <m:t>3</m:t>
                          </m:r>
                        </m:sub>
                      </m:sSub>
                      <m:r>
                        <a:rPr lang="en-US" sz="2400" b="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𝑓𝑢𝑠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𝑓𝑢𝑠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𝑑𝑇</m:t>
                          </m:r>
                        </m:e>
                      </m:nary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itchFamily="2" charset="2"/>
                            </a:rPr>
                            <m:t>𝑷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itchFamily="2" charset="2"/>
                            </a:rPr>
                            <m:t>𝟑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+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𝒇𝒖𝒔</m:t>
                              </m:r>
                            </m:sub>
                          </m:sSub>
                        </m:num>
                        <m:den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𝒇𝒖𝒔</m:t>
                              </m:r>
                            </m:sub>
                          </m:sSub>
                        </m:den>
                      </m:f>
                      <m:r>
                        <a:rPr lang="en-US" sz="2400" b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𝐥𝐧</m:t>
                      </m:r>
                      <m:r>
                        <a:rPr lang="en-US" sz="24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den>
                      </m:f>
                      <m:r>
                        <a:rPr lang="en-US" sz="24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3C8ABB6-B1AB-F144-A138-B03D987BCA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79" y="2425137"/>
                <a:ext cx="11419878" cy="4089581"/>
              </a:xfrm>
              <a:prstGeom prst="rect">
                <a:avLst/>
              </a:prstGeom>
              <a:blipFill>
                <a:blip r:embed="rId2"/>
                <a:stretch>
                  <a:fillRect l="-889" t="-18885" b="-51703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D3F98E51-53C3-9744-BE94-5B9D68ED34A3}"/>
              </a:ext>
            </a:extLst>
          </p:cNvPr>
          <p:cNvGrpSpPr/>
          <p:nvPr/>
        </p:nvGrpSpPr>
        <p:grpSpPr>
          <a:xfrm>
            <a:off x="3834686" y="480541"/>
            <a:ext cx="2638126" cy="1998726"/>
            <a:chOff x="3541610" y="299114"/>
            <a:chExt cx="2638126" cy="199872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5464C9B-79C6-F547-B4AE-39CCDEAA282A}"/>
                </a:ext>
              </a:extLst>
            </p:cNvPr>
            <p:cNvGrpSpPr/>
            <p:nvPr/>
          </p:nvGrpSpPr>
          <p:grpSpPr>
            <a:xfrm>
              <a:off x="3802604" y="386969"/>
              <a:ext cx="2377132" cy="1663768"/>
              <a:chOff x="518983" y="2025224"/>
              <a:chExt cx="2891481" cy="2632482"/>
            </a:xfrm>
          </p:grpSpPr>
          <p:pic>
            <p:nvPicPr>
              <p:cNvPr id="5122" name="Picture 2" descr="Image result for phase diagrams">
                <a:extLst>
                  <a:ext uri="{FF2B5EF4-FFF2-40B4-BE49-F238E27FC236}">
                    <a16:creationId xmlns:a16="http://schemas.microsoft.com/office/drawing/2014/main" id="{EE9F4C8E-FD51-7C47-BA91-FF4F8E1E62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773" b="5795"/>
              <a:stretch/>
            </p:blipFill>
            <p:spPr bwMode="auto">
              <a:xfrm>
                <a:off x="518983" y="2025224"/>
                <a:ext cx="2891481" cy="26324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7ED85BC3-2D7F-E540-B295-A127B590DC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44399" y="2211860"/>
                <a:ext cx="295998" cy="1865397"/>
              </a:xfrm>
              <a:prstGeom prst="line">
                <a:avLst/>
              </a:prstGeom>
              <a:ln w="127000"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3A22609-F49A-A34A-9FF0-5A9F4215FDEE}"/>
                </a:ext>
              </a:extLst>
            </p:cNvPr>
            <p:cNvSpPr/>
            <p:nvPr/>
          </p:nvSpPr>
          <p:spPr>
            <a:xfrm>
              <a:off x="3541610" y="299114"/>
              <a:ext cx="282285" cy="2917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/>
                <a:t>P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19D1CB4-FD9D-834B-BFD4-AABB4BD67E24}"/>
                </a:ext>
              </a:extLst>
            </p:cNvPr>
            <p:cNvSpPr/>
            <p:nvPr/>
          </p:nvSpPr>
          <p:spPr>
            <a:xfrm>
              <a:off x="5407771" y="2006061"/>
              <a:ext cx="275695" cy="2917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/>
                <a:t>T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931ECB9-AF1B-A940-B7F2-440673455BA1}"/>
              </a:ext>
            </a:extLst>
          </p:cNvPr>
          <p:cNvSpPr txBox="1"/>
          <p:nvPr/>
        </p:nvSpPr>
        <p:spPr>
          <a:xfrm>
            <a:off x="4902" y="2663"/>
            <a:ext cx="1218709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For example, along the solid/liquid phase boundary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B70876-4FB4-FCC0-0A43-90EE7A81C109}"/>
              </a:ext>
            </a:extLst>
          </p:cNvPr>
          <p:cNvSpPr txBox="1"/>
          <p:nvPr/>
        </p:nvSpPr>
        <p:spPr>
          <a:xfrm>
            <a:off x="7266622" y="5747504"/>
            <a:ext cx="38204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Thomson Equation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24251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6351398-FDBB-8380-C5C1-8CD481BCBCF2}"/>
                  </a:ext>
                </a:extLst>
              </p:cNvPr>
              <p:cNvSpPr txBox="1"/>
              <p:nvPr/>
            </p:nvSpPr>
            <p:spPr>
              <a:xfrm>
                <a:off x="0" y="1841"/>
                <a:ext cx="12192000" cy="73462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To evaluate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</m:d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𝟑</m:t>
                        </m:r>
                      </m:sub>
                    </m:sSub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+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𝒇𝒖𝒔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𝒇𝒖𝒔</m:t>
                            </m:r>
                          </m:sub>
                        </m:sSub>
                      </m:den>
                    </m:f>
                    <m:r>
                      <a:rPr lang="en-US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𝐥𝐧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den>
                    </m:f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… </a:t>
                </a:r>
                <a:r>
                  <a:rPr lang="en-US" sz="2400" b="1" dirty="0"/>
                  <a:t>we need the heat required to melt it (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𝒇𝒖𝒔</m:t>
                        </m:r>
                      </m:sub>
                    </m:sSub>
                  </m:oMath>
                </a14:m>
                <a:r>
                  <a:rPr lang="en-US" sz="2400" b="1" dirty="0"/>
                  <a:t>)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6351398-FDBB-8380-C5C1-8CD481BCB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41"/>
                <a:ext cx="12192000" cy="734625"/>
              </a:xfrm>
              <a:prstGeom prst="rect">
                <a:avLst/>
              </a:prstGeom>
              <a:blipFill>
                <a:blip r:embed="rId2"/>
                <a:stretch>
                  <a:fillRect l="-832" b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91216123-C1B2-B6B3-AA58-D9DB7410BE21}"/>
              </a:ext>
            </a:extLst>
          </p:cNvPr>
          <p:cNvGrpSpPr/>
          <p:nvPr/>
        </p:nvGrpSpPr>
        <p:grpSpPr>
          <a:xfrm>
            <a:off x="8274193" y="1281094"/>
            <a:ext cx="3794586" cy="3230768"/>
            <a:chOff x="8274193" y="1281094"/>
            <a:chExt cx="3794586" cy="3230768"/>
          </a:xfrm>
        </p:grpSpPr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4327E998-513E-45B7-F8F3-064C7C071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74193" y="1281094"/>
              <a:ext cx="3794586" cy="3230768"/>
            </a:xfrm>
            <a:prstGeom prst="rect">
              <a:avLst/>
            </a:prstGeom>
          </p:spPr>
        </p:pic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2756FE9-F4D0-76D7-ECC3-2FCA7ACF5884}"/>
                </a:ext>
              </a:extLst>
            </p:cNvPr>
            <p:cNvCxnSpPr>
              <a:cxnSpLocks/>
            </p:cNvCxnSpPr>
            <p:nvPr/>
          </p:nvCxnSpPr>
          <p:spPr>
            <a:xfrm>
              <a:off x="8779356" y="3981384"/>
              <a:ext cx="2589684" cy="63070"/>
            </a:xfrm>
            <a:prstGeom prst="straightConnector1">
              <a:avLst/>
            </a:prstGeom>
            <a:ln w="635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9518263-0A03-5C91-BEB4-A674E0B99F9B}"/>
              </a:ext>
            </a:extLst>
          </p:cNvPr>
          <p:cNvGrpSpPr/>
          <p:nvPr/>
        </p:nvGrpSpPr>
        <p:grpSpPr>
          <a:xfrm>
            <a:off x="380417" y="1248044"/>
            <a:ext cx="7236197" cy="5281753"/>
            <a:chOff x="66907" y="492030"/>
            <a:chExt cx="7236197" cy="528175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7D49B3F-4C39-E854-AD65-225A66BF740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6907" y="492030"/>
              <a:ext cx="7236197" cy="5281753"/>
              <a:chOff x="68760" y="492030"/>
              <a:chExt cx="7826531" cy="5712642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259035AC-5FF0-99D6-E92D-71595DF0F1A9}"/>
                  </a:ext>
                </a:extLst>
              </p:cNvPr>
              <p:cNvGrpSpPr/>
              <p:nvPr/>
            </p:nvGrpSpPr>
            <p:grpSpPr>
              <a:xfrm>
                <a:off x="68760" y="492030"/>
                <a:ext cx="7826531" cy="5712642"/>
                <a:chOff x="68760" y="492030"/>
                <a:chExt cx="7826531" cy="5712642"/>
              </a:xfrm>
            </p:grpSpPr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747F213F-72B8-D85F-2D85-E49A21CE5688}"/>
                    </a:ext>
                  </a:extLst>
                </p:cNvPr>
                <p:cNvGrpSpPr/>
                <p:nvPr/>
              </p:nvGrpSpPr>
              <p:grpSpPr>
                <a:xfrm>
                  <a:off x="68760" y="492030"/>
                  <a:ext cx="7826531" cy="5712642"/>
                  <a:chOff x="190680" y="492030"/>
                  <a:chExt cx="7826531" cy="5712642"/>
                </a:xfrm>
              </p:grpSpPr>
              <p:grpSp>
                <p:nvGrpSpPr>
                  <p:cNvPr id="59" name="Group 58">
                    <a:extLst>
                      <a:ext uri="{FF2B5EF4-FFF2-40B4-BE49-F238E27FC236}">
                        <a16:creationId xmlns:a16="http://schemas.microsoft.com/office/drawing/2014/main" id="{7E8DD5D6-C18A-970E-6F3E-CCAC65605F5E}"/>
                      </a:ext>
                    </a:extLst>
                  </p:cNvPr>
                  <p:cNvGrpSpPr/>
                  <p:nvPr/>
                </p:nvGrpSpPr>
                <p:grpSpPr>
                  <a:xfrm>
                    <a:off x="190680" y="492030"/>
                    <a:ext cx="7826531" cy="5712642"/>
                    <a:chOff x="2064003" y="912222"/>
                    <a:chExt cx="7826531" cy="5712642"/>
                  </a:xfrm>
                </p:grpSpPr>
                <p:grpSp>
                  <p:nvGrpSpPr>
                    <p:cNvPr id="61" name="Group 60">
                      <a:extLst>
                        <a:ext uri="{FF2B5EF4-FFF2-40B4-BE49-F238E27FC236}">
                          <a16:creationId xmlns:a16="http://schemas.microsoft.com/office/drawing/2014/main" id="{203BE3F2-EC46-E9E8-7D83-FF5753B09A0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64003" y="912222"/>
                      <a:ext cx="7826531" cy="5712642"/>
                      <a:chOff x="2017622" y="876292"/>
                      <a:chExt cx="6795645" cy="4915974"/>
                    </a:xfrm>
                  </p:grpSpPr>
                  <p:grpSp>
                    <p:nvGrpSpPr>
                      <p:cNvPr id="71" name="Group 70">
                        <a:extLst>
                          <a:ext uri="{FF2B5EF4-FFF2-40B4-BE49-F238E27FC236}">
                            <a16:creationId xmlns:a16="http://schemas.microsoft.com/office/drawing/2014/main" id="{D2C13CAE-310B-C790-E6CF-BF6AE2702F8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349714" y="876292"/>
                        <a:ext cx="6463553" cy="4428565"/>
                        <a:chOff x="1345667" y="1362635"/>
                        <a:chExt cx="6463553" cy="4428565"/>
                      </a:xfrm>
                    </p:grpSpPr>
                    <p:cxnSp>
                      <p:nvCxnSpPr>
                        <p:cNvPr id="83" name="Straight Connector 82">
                          <a:extLst>
                            <a:ext uri="{FF2B5EF4-FFF2-40B4-BE49-F238E27FC236}">
                              <a16:creationId xmlns:a16="http://schemas.microsoft.com/office/drawing/2014/main" id="{CCE4F2D9-13E3-630E-D645-86454452C09F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1362635" y="1362635"/>
                          <a:ext cx="0" cy="4428565"/>
                        </a:xfrm>
                        <a:prstGeom prst="line">
                          <a:avLst/>
                        </a:prstGeom>
                        <a:ln w="63500">
                          <a:solidFill>
                            <a:schemeClr val="tx1"/>
                          </a:solidFill>
                          <a:head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4" name="Straight Connector 83">
                          <a:extLst>
                            <a:ext uri="{FF2B5EF4-FFF2-40B4-BE49-F238E27FC236}">
                              <a16:creationId xmlns:a16="http://schemas.microsoft.com/office/drawing/2014/main" id="{405C3C8E-8647-7526-0DF2-B2958566160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1345667" y="5774143"/>
                          <a:ext cx="6463553" cy="0"/>
                        </a:xfrm>
                        <a:prstGeom prst="line">
                          <a:avLst/>
                        </a:prstGeom>
                        <a:ln w="63500">
                          <a:solidFill>
                            <a:srgbClr val="C00000"/>
                          </a:solidFill>
                          <a:head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72" name="TextBox 71">
                        <a:extLst>
                          <a:ext uri="{FF2B5EF4-FFF2-40B4-BE49-F238E27FC236}">
                            <a16:creationId xmlns:a16="http://schemas.microsoft.com/office/drawing/2014/main" id="{3E2EDE4B-24BC-FC1E-1875-E4A05A31286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276897" y="5330601"/>
                        <a:ext cx="2456329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2400" dirty="0"/>
                          <a:t>T</a:t>
                        </a:r>
                      </a:p>
                    </p:txBody>
                  </p:sp>
                  <p:sp>
                    <p:nvSpPr>
                      <p:cNvPr id="73" name="TextBox 72">
                        <a:extLst>
                          <a:ext uri="{FF2B5EF4-FFF2-40B4-BE49-F238E27FC236}">
                            <a16:creationId xmlns:a16="http://schemas.microsoft.com/office/drawing/2014/main" id="{D0A59056-7F6B-9619-08B4-2B3C9F454A1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017622" y="2185001"/>
                        <a:ext cx="2456329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2400" dirty="0"/>
                          <a:t>H</a:t>
                        </a:r>
                      </a:p>
                    </p:txBody>
                  </p:sp>
                  <p:grpSp>
                    <p:nvGrpSpPr>
                      <p:cNvPr id="74" name="Group 73">
                        <a:extLst>
                          <a:ext uri="{FF2B5EF4-FFF2-40B4-BE49-F238E27FC236}">
                            <a16:creationId xmlns:a16="http://schemas.microsoft.com/office/drawing/2014/main" id="{0F2DB3A4-4291-CB08-3FE4-ECC31D075EB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557865" y="2104837"/>
                        <a:ext cx="5136729" cy="1607401"/>
                        <a:chOff x="3557865" y="2104837"/>
                        <a:chExt cx="5136729" cy="1607401"/>
                      </a:xfrm>
                    </p:grpSpPr>
                    <p:cxnSp>
                      <p:nvCxnSpPr>
                        <p:cNvPr id="81" name="Straight Connector 80">
                          <a:extLst>
                            <a:ext uri="{FF2B5EF4-FFF2-40B4-BE49-F238E27FC236}">
                              <a16:creationId xmlns:a16="http://schemas.microsoft.com/office/drawing/2014/main" id="{E95CA487-243D-5673-84C1-95EA267F38A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3557865" y="2373628"/>
                          <a:ext cx="5136729" cy="1338610"/>
                        </a:xfrm>
                        <a:prstGeom prst="line">
                          <a:avLst/>
                        </a:prstGeom>
                        <a:ln w="38100">
                          <a:solidFill>
                            <a:srgbClr val="0070C0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82" name="TextBox 81">
                              <a:extLst>
                                <a:ext uri="{FF2B5EF4-FFF2-40B4-BE49-F238E27FC236}">
                                  <a16:creationId xmlns:a16="http://schemas.microsoft.com/office/drawing/2014/main" id="{613B1A37-2180-812F-0158-588706413E25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 rot="20784864">
                              <a:off x="5687012" y="2104837"/>
                              <a:ext cx="2379132" cy="783933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centerGroup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sub>
                                    </m:s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=75.4</m:t>
                                    </m:r>
                                    <m:f>
                                      <m:f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</m:num>
                                      <m:den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𝑚𝑜𝑙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den>
                                    </m:f>
                                  </m:oMath>
                                </m:oMathPara>
                              </a14:m>
                              <a:endParaRPr lang="en-US" sz="2400" dirty="0"/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82" name="TextBox 81">
                              <a:extLst>
                                <a:ext uri="{FF2B5EF4-FFF2-40B4-BE49-F238E27FC236}">
                                  <a16:creationId xmlns:a16="http://schemas.microsoft.com/office/drawing/2014/main" id="{613B1A37-2180-812F-0158-588706413E25}"/>
                                </a:ext>
                              </a:extLst>
                            </p:cNvPr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 rot="20784864">
                              <a:off x="5687012" y="2104837"/>
                              <a:ext cx="2379132" cy="783933"/>
                            </a:xfrm>
                            <a:prstGeom prst="rect">
                              <a:avLst/>
                            </a:prstGeom>
                            <a:blipFill>
                              <a:blip r:embed="rId4"/>
                              <a:stretch>
                                <a:fillRect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  <p:grpSp>
                    <p:nvGrpSpPr>
                      <p:cNvPr id="75" name="Group 74">
                        <a:extLst>
                          <a:ext uri="{FF2B5EF4-FFF2-40B4-BE49-F238E27FC236}">
                            <a16:creationId xmlns:a16="http://schemas.microsoft.com/office/drawing/2014/main" id="{1753B311-652E-A884-865E-108712F53C7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2748" y="3753423"/>
                        <a:ext cx="5532005" cy="1101649"/>
                        <a:chOff x="2912748" y="2765485"/>
                        <a:chExt cx="5532005" cy="1101649"/>
                      </a:xfrm>
                    </p:grpSpPr>
                    <p:cxnSp>
                      <p:nvCxnSpPr>
                        <p:cNvPr id="79" name="Straight Connector 78">
                          <a:extLst>
                            <a:ext uri="{FF2B5EF4-FFF2-40B4-BE49-F238E27FC236}">
                              <a16:creationId xmlns:a16="http://schemas.microsoft.com/office/drawing/2014/main" id="{A24EC0C0-11E7-DAAA-380A-9F8BD4A27F2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912748" y="3347592"/>
                          <a:ext cx="5532005" cy="519542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80" name="TextBox 79">
                              <a:extLst>
                                <a:ext uri="{FF2B5EF4-FFF2-40B4-BE49-F238E27FC236}">
                                  <a16:creationId xmlns:a16="http://schemas.microsoft.com/office/drawing/2014/main" id="{A85AD932-B332-0534-D280-8A8E3EAE3BAF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 rot="21367020">
                              <a:off x="5767827" y="2765485"/>
                              <a:ext cx="2379132" cy="783933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centerGroup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sub>
                                    </m:s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=38</m:t>
                                    </m:r>
                                    <m:f>
                                      <m:f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</m:num>
                                      <m:den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𝑚𝑜𝑙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den>
                                    </m:f>
                                  </m:oMath>
                                </m:oMathPara>
                              </a14:m>
                              <a:endParaRPr lang="en-US" sz="2400" dirty="0"/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80" name="TextBox 79">
                              <a:extLst>
                                <a:ext uri="{FF2B5EF4-FFF2-40B4-BE49-F238E27FC236}">
                                  <a16:creationId xmlns:a16="http://schemas.microsoft.com/office/drawing/2014/main" id="{A85AD932-B332-0534-D280-8A8E3EAE3BAF}"/>
                                </a:ext>
                              </a:extLst>
                            </p:cNvPr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 rot="21367020">
                              <a:off x="5767827" y="2765485"/>
                              <a:ext cx="2379132" cy="783933"/>
                            </a:xfrm>
                            <a:prstGeom prst="rect">
                              <a:avLst/>
                            </a:prstGeom>
                            <a:blipFill>
                              <a:blip r:embed="rId5"/>
                              <a:stretch>
                                <a:fillRect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  <p:grpSp>
                    <p:nvGrpSpPr>
                      <p:cNvPr id="76" name="Group 75">
                        <a:extLst>
                          <a:ext uri="{FF2B5EF4-FFF2-40B4-BE49-F238E27FC236}">
                            <a16:creationId xmlns:a16="http://schemas.microsoft.com/office/drawing/2014/main" id="{BBBCA3D7-A06F-532C-EB7E-BECFAF48815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819011" y="892019"/>
                        <a:ext cx="5625742" cy="880594"/>
                        <a:chOff x="2912749" y="2986540"/>
                        <a:chExt cx="5625742" cy="880594"/>
                      </a:xfrm>
                    </p:grpSpPr>
                    <p:cxnSp>
                      <p:nvCxnSpPr>
                        <p:cNvPr id="77" name="Straight Connector 76">
                          <a:extLst>
                            <a:ext uri="{FF2B5EF4-FFF2-40B4-BE49-F238E27FC236}">
                              <a16:creationId xmlns:a16="http://schemas.microsoft.com/office/drawing/2014/main" id="{3C091BC0-2585-5FEA-F424-1D613DC5C7D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2912749" y="3630393"/>
                          <a:ext cx="5625742" cy="236741"/>
                        </a:xfrm>
                        <a:prstGeom prst="line">
                          <a:avLst/>
                        </a:prstGeom>
                        <a:ln w="38100"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78" name="TextBox 77">
                              <a:extLst>
                                <a:ext uri="{FF2B5EF4-FFF2-40B4-BE49-F238E27FC236}">
                                  <a16:creationId xmlns:a16="http://schemas.microsoft.com/office/drawing/2014/main" id="{9C5213D7-7661-6905-55D3-0F4E350748B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 rot="21439931">
                              <a:off x="5823248" y="2986540"/>
                              <a:ext cx="2379132" cy="783933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centerGroup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sub>
                                    </m:s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=33.6</m:t>
                                    </m:r>
                                    <m:f>
                                      <m:f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</m:num>
                                      <m:den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𝑚𝑜𝑙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den>
                                    </m:f>
                                  </m:oMath>
                                </m:oMathPara>
                              </a14:m>
                              <a:endParaRPr lang="en-US" sz="2400" dirty="0"/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78" name="TextBox 77">
                              <a:extLst>
                                <a:ext uri="{FF2B5EF4-FFF2-40B4-BE49-F238E27FC236}">
                                  <a16:creationId xmlns:a16="http://schemas.microsoft.com/office/drawing/2014/main" id="{9C5213D7-7661-6905-55D3-0F4E350748B8}"/>
                                </a:ext>
                              </a:extLst>
                            </p:cNvPr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 rot="21439931">
                              <a:off x="5823248" y="2986540"/>
                              <a:ext cx="2379132" cy="783933"/>
                            </a:xfrm>
                            <a:prstGeom prst="rect">
                              <a:avLst/>
                            </a:prstGeom>
                            <a:blipFill>
                              <a:blip r:embed="rId6"/>
                              <a:stretch>
                                <a:fillRect b="-1299"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</p:grpSp>
                <p:grpSp>
                  <p:nvGrpSpPr>
                    <p:cNvPr id="63" name="Group 62">
                      <a:extLst>
                        <a:ext uri="{FF2B5EF4-FFF2-40B4-BE49-F238E27FC236}">
                          <a16:creationId xmlns:a16="http://schemas.microsoft.com/office/drawing/2014/main" id="{635F631B-B531-E61E-ED30-CB206FEA59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267200" y="4105835"/>
                      <a:ext cx="1151187" cy="1321572"/>
                      <a:chOff x="4267200" y="4105835"/>
                      <a:chExt cx="1151187" cy="1321572"/>
                    </a:xfrm>
                  </p:grpSpPr>
                  <p:cxnSp>
                    <p:nvCxnSpPr>
                      <p:cNvPr id="69" name="Straight Arrow Connector 68">
                        <a:extLst>
                          <a:ext uri="{FF2B5EF4-FFF2-40B4-BE49-F238E27FC236}">
                            <a16:creationId xmlns:a16="http://schemas.microsoft.com/office/drawing/2014/main" id="{E485402D-0A5E-3F58-0425-15FFB0CC5D8B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4267200" y="4105835"/>
                        <a:ext cx="0" cy="1321572"/>
                      </a:xfrm>
                      <a:prstGeom prst="straightConnector1">
                        <a:avLst/>
                      </a:prstGeom>
                      <a:ln w="50800"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70" name="TextBox 69">
                            <a:extLst>
                              <a:ext uri="{FF2B5EF4-FFF2-40B4-BE49-F238E27FC236}">
                                <a16:creationId xmlns:a16="http://schemas.microsoft.com/office/drawing/2014/main" id="{A4DA1354-FB1C-ADFF-638E-7CA1ED9F6F2D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4367517" y="4445637"/>
                            <a:ext cx="1050870" cy="668753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6.0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𝑘𝐽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𝑚𝑜𝑙</m:t>
                                      </m:r>
                                    </m:den>
                                  </m:f>
                                </m:oMath>
                              </m:oMathPara>
                            </a14:m>
                            <a:endParaRPr lang="en-US" dirty="0">
                              <a:solidFill>
                                <a:schemeClr val="accent1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70" name="TextBox 69">
                            <a:extLst>
                              <a:ext uri="{FF2B5EF4-FFF2-40B4-BE49-F238E27FC236}">
                                <a16:creationId xmlns:a16="http://schemas.microsoft.com/office/drawing/2014/main" id="{A4DA1354-FB1C-ADFF-638E-7CA1ED9F6F2D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4367517" y="4445637"/>
                            <a:ext cx="1050870" cy="668753"/>
                          </a:xfrm>
                          <a:prstGeom prst="rect">
                            <a:avLst/>
                          </a:prstGeom>
                          <a:blipFill>
                            <a:blip r:embed="rId7"/>
                            <a:stretch>
                              <a:fillRect b="-6122"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grpSp>
                  <p:nvGrpSpPr>
                    <p:cNvPr id="64" name="Group 63">
                      <a:extLst>
                        <a:ext uri="{FF2B5EF4-FFF2-40B4-BE49-F238E27FC236}">
                          <a16:creationId xmlns:a16="http://schemas.microsoft.com/office/drawing/2014/main" id="{C534FC6C-A39B-661F-4A5C-91013A432EB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266239" y="1852102"/>
                      <a:ext cx="1297583" cy="2184874"/>
                      <a:chOff x="4267200" y="3278391"/>
                      <a:chExt cx="1297583" cy="2184874"/>
                    </a:xfrm>
                  </p:grpSpPr>
                  <p:cxnSp>
                    <p:nvCxnSpPr>
                      <p:cNvPr id="67" name="Straight Arrow Connector 66">
                        <a:extLst>
                          <a:ext uri="{FF2B5EF4-FFF2-40B4-BE49-F238E27FC236}">
                            <a16:creationId xmlns:a16="http://schemas.microsoft.com/office/drawing/2014/main" id="{B2524258-E364-405A-E9A5-E2EDD08DFC5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267200" y="3278391"/>
                        <a:ext cx="961" cy="2184874"/>
                      </a:xfrm>
                      <a:prstGeom prst="straightConnector1">
                        <a:avLst/>
                      </a:prstGeom>
                      <a:ln w="50800"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68" name="TextBox 67">
                            <a:extLst>
                              <a:ext uri="{FF2B5EF4-FFF2-40B4-BE49-F238E27FC236}">
                                <a16:creationId xmlns:a16="http://schemas.microsoft.com/office/drawing/2014/main" id="{F95102A3-A0D9-799D-E4A8-10C06B28D022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4325640" y="4002282"/>
                            <a:ext cx="1239143" cy="668753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r>
                                    <a:rPr lang="en-US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5.1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𝑘𝐽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𝑚𝑜𝑙</m:t>
                                      </m:r>
                                    </m:den>
                                  </m:f>
                                </m:oMath>
                              </m:oMathPara>
                            </a14:m>
                            <a:endParaRPr lang="en-US" dirty="0">
                              <a:solidFill>
                                <a:schemeClr val="accent1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68" name="TextBox 67">
                            <a:extLst>
                              <a:ext uri="{FF2B5EF4-FFF2-40B4-BE49-F238E27FC236}">
                                <a16:creationId xmlns:a16="http://schemas.microsoft.com/office/drawing/2014/main" id="{F95102A3-A0D9-799D-E4A8-10C06B28D022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4325640" y="4002282"/>
                            <a:ext cx="1239143" cy="668753"/>
                          </a:xfrm>
                          <a:prstGeom prst="rect">
                            <a:avLst/>
                          </a:prstGeom>
                          <a:blipFill>
                            <a:blip r:embed="rId8"/>
                            <a:stretch>
                              <a:fillRect b="-6122"/>
                            </a:stretch>
                          </a:blipFill>
                          <a:ln>
                            <a:noFill/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</p:grp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5FA9C5DE-6E2B-A628-CA63-AE00FEFEB6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068517" y="1232922"/>
                    <a:ext cx="6479156" cy="275106"/>
                  </a:xfrm>
                  <a:prstGeom prst="line">
                    <a:avLst/>
                  </a:prstGeom>
                  <a:ln w="381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2B298C62-F416-2D8A-8D08-8F2B4385ECA5}"/>
                    </a:ext>
                  </a:extLst>
                </p:cNvPr>
                <p:cNvGrpSpPr/>
                <p:nvPr/>
              </p:nvGrpSpPr>
              <p:grpSpPr>
                <a:xfrm>
                  <a:off x="885169" y="814294"/>
                  <a:ext cx="3038906" cy="3306005"/>
                  <a:chOff x="885169" y="814294"/>
                  <a:chExt cx="3038906" cy="3306005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8" name="TextBox 57">
                        <a:extLst>
                          <a:ext uri="{FF2B5EF4-FFF2-40B4-BE49-F238E27FC236}">
                            <a16:creationId xmlns:a16="http://schemas.microsoft.com/office/drawing/2014/main" id="{14EC52D8-6737-DA1F-46FF-27BDB49C479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008448" y="814294"/>
                        <a:ext cx="980157" cy="49019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>
                        <a:solidFill>
                          <a:schemeClr val="tx1"/>
                        </a:solidFill>
                      </a:ln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𝑣𝑎𝑝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/>
                      </a:p>
                    </p:txBody>
                  </p:sp>
                </mc:Choice>
                <mc:Fallback xmlns="">
                  <p:sp>
                    <p:nvSpPr>
                      <p:cNvPr id="58" name="TextBox 57">
                        <a:extLst>
                          <a:ext uri="{FF2B5EF4-FFF2-40B4-BE49-F238E27FC236}">
                            <a16:creationId xmlns:a16="http://schemas.microsoft.com/office/drawing/2014/main" id="{14EC52D8-6737-DA1F-46FF-27BDB49C479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008448" y="814294"/>
                        <a:ext cx="980157" cy="490199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 l="-1370" r="-5479" b="-13514"/>
                        </a:stretch>
                      </a:blipFill>
                      <a:ln w="12700">
                        <a:solidFill>
                          <a:schemeClr val="tx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5" name="TextBox 54">
                        <a:extLst>
                          <a:ext uri="{FF2B5EF4-FFF2-40B4-BE49-F238E27FC236}">
                            <a16:creationId xmlns:a16="http://schemas.microsoft.com/office/drawing/2014/main" id="{111E9A5E-4AAA-218E-E092-D8A24B64B7A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85169" y="2164071"/>
                        <a:ext cx="980158" cy="46166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>
                        <a:solidFill>
                          <a:schemeClr val="tx1"/>
                        </a:solidFill>
                      </a:ln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𝑠𝑢𝑏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/>
                      </a:p>
                    </p:txBody>
                  </p:sp>
                </mc:Choice>
                <mc:Fallback xmlns="">
                  <p:sp>
                    <p:nvSpPr>
                      <p:cNvPr id="55" name="TextBox 54">
                        <a:extLst>
                          <a:ext uri="{FF2B5EF4-FFF2-40B4-BE49-F238E27FC236}">
                            <a16:creationId xmlns:a16="http://schemas.microsoft.com/office/drawing/2014/main" id="{111E9A5E-4AAA-218E-E092-D8A24B64B7A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85169" y="2164071"/>
                        <a:ext cx="980158" cy="461665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 r="-2703" b="-11429"/>
                        </a:stretch>
                      </a:blipFill>
                      <a:ln w="12700">
                        <a:solidFill>
                          <a:schemeClr val="tx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51" name="TextBox 50">
                        <a:extLst>
                          <a:ext uri="{FF2B5EF4-FFF2-40B4-BE49-F238E27FC236}">
                            <a16:creationId xmlns:a16="http://schemas.microsoft.com/office/drawing/2014/main" id="{52E50537-C6CA-D320-CF88-BE96084543D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943918" y="3583106"/>
                        <a:ext cx="980157" cy="53719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>
                        <a:solidFill>
                          <a:schemeClr val="tx1"/>
                        </a:solidFill>
                      </a:ln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𝒇𝒖𝒔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b="1" dirty="0"/>
                      </a:p>
                    </p:txBody>
                  </p:sp>
                </mc:Choice>
                <mc:Fallback>
                  <p:sp>
                    <p:nvSpPr>
                      <p:cNvPr id="51" name="TextBox 50">
                        <a:extLst>
                          <a:ext uri="{FF2B5EF4-FFF2-40B4-BE49-F238E27FC236}">
                            <a16:creationId xmlns:a16="http://schemas.microsoft.com/office/drawing/2014/main" id="{52E50537-C6CA-D320-CF88-BE96084543D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3918" y="3583106"/>
                        <a:ext cx="980157" cy="537193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r="-9459" b="-12500"/>
                        </a:stretch>
                      </a:blipFill>
                      <a:ln w="12700">
                        <a:solidFill>
                          <a:schemeClr val="tx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5B69A0F-5725-AD53-6970-805C68D0284A}"/>
                  </a:ext>
                </a:extLst>
              </p:cNvPr>
              <p:cNvSpPr txBox="1"/>
              <p:nvPr/>
            </p:nvSpPr>
            <p:spPr>
              <a:xfrm>
                <a:off x="1714807" y="5115599"/>
                <a:ext cx="118290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273 K</a:t>
                </a:r>
              </a:p>
            </p:txBody>
          </p:sp>
        </p:grp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F7C41617-A89F-8AF7-616B-D1FA1AD3B4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0025" y="1366080"/>
              <a:ext cx="0" cy="3300566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B78FF66E-DDB5-29FC-1C66-9EBC5880F5FA}"/>
                    </a:ext>
                  </a:extLst>
                </p:cNvPr>
                <p:cNvSpPr txBox="1"/>
                <p:nvPr/>
              </p:nvSpPr>
              <p:spPr>
                <a:xfrm>
                  <a:off x="769894" y="2620567"/>
                  <a:ext cx="1081345" cy="61831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1.1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𝑘𝐽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𝑚𝑜𝑙</m:t>
                            </m:r>
                          </m:den>
                        </m:f>
                      </m:oMath>
                    </m:oMathPara>
                  </a14:m>
                  <a:endParaRPr lang="en-US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B78FF66E-DDB5-29FC-1C66-9EBC5880F5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894" y="2620567"/>
                  <a:ext cx="1081345" cy="618311"/>
                </a:xfrm>
                <a:prstGeom prst="rect">
                  <a:avLst/>
                </a:prstGeom>
                <a:blipFill>
                  <a:blip r:embed="rId12"/>
                  <a:stretch>
                    <a:fillRect b="-4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42660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F62C38-A12A-8B2E-DC4E-538BFDDF8AE3}"/>
                  </a:ext>
                </a:extLst>
              </p:cNvPr>
              <p:cNvSpPr txBox="1"/>
              <p:nvPr/>
            </p:nvSpPr>
            <p:spPr>
              <a:xfrm>
                <a:off x="0" y="1841"/>
                <a:ext cx="12192000" cy="73462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To evaluate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</m:d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𝟑</m:t>
                        </m:r>
                      </m:sub>
                    </m:sSub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+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𝒇𝒖𝒔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𝒇𝒖𝒔</m:t>
                            </m:r>
                          </m:sub>
                        </m:sSub>
                      </m:den>
                    </m:f>
                    <m:r>
                      <a:rPr lang="en-US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𝐥𝐧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den>
                    </m:f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… </a:t>
                </a:r>
                <a:r>
                  <a:rPr lang="en-US" sz="2400" b="1" dirty="0"/>
                  <a:t>also need the volume change when melting (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𝒇𝒖𝒔</m:t>
                        </m:r>
                      </m:sub>
                    </m:sSub>
                  </m:oMath>
                </a14:m>
                <a:r>
                  <a:rPr lang="en-US" sz="2400" b="1" dirty="0"/>
                  <a:t>)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F62C38-A12A-8B2E-DC4E-538BFDDF8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41"/>
                <a:ext cx="12192000" cy="734625"/>
              </a:xfrm>
              <a:prstGeom prst="rect">
                <a:avLst/>
              </a:prstGeom>
              <a:blipFill>
                <a:blip r:embed="rId2"/>
                <a:stretch>
                  <a:fillRect l="-832" b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37F8C57-9DAE-64D7-832C-AFBB3115A45F}"/>
                  </a:ext>
                </a:extLst>
              </p:cNvPr>
              <p:cNvSpPr txBox="1"/>
              <p:nvPr/>
            </p:nvSpPr>
            <p:spPr>
              <a:xfrm>
                <a:off x="157368" y="1281231"/>
                <a:ext cx="5803594" cy="54866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400" b="0" dirty="0">
                    <a:ea typeface="Cambria Math" panose="02040503050406030204" pitchFamily="18" charset="0"/>
                  </a:rPr>
                  <a:t>You probab</a:t>
                </a:r>
                <a:r>
                  <a:rPr lang="en-US" sz="2400" dirty="0">
                    <a:ea typeface="Cambria Math" panose="02040503050406030204" pitchFamily="18" charset="0"/>
                  </a:rPr>
                  <a:t>ly already know that ice is about 10% less dense than liquid water:</a:t>
                </a:r>
              </a:p>
              <a:p>
                <a:pPr/>
                <a:endParaRPr lang="en-US" sz="2400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𝝆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𝒇𝒖𝒔</m:t>
                              </m:r>
                            </m:sub>
                          </m:sSub>
                        </m:num>
                        <m:den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𝝆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𝒇𝒖𝒔</m:t>
                              </m:r>
                            </m:sub>
                          </m:sSub>
                        </m:num>
                        <m:den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%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/>
                <a:endParaRPr lang="en-US" sz="2400" dirty="0"/>
              </a:p>
              <a:p>
                <a:pPr/>
                <a:r>
                  <a:rPr lang="en-US" sz="2400" dirty="0">
                    <a:ea typeface="Cambria Math" panose="02040503050406030204" pitchFamily="18" charset="0"/>
                  </a:rPr>
                  <a:t>where</a:t>
                </a:r>
                <a:r>
                  <a:rPr lang="en-US" sz="24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𝝆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signifies the density of something. Since there are tables telling us the volumes of substances – for example, water has a </a:t>
                </a:r>
                <a:r>
                  <a:rPr lang="en-US" sz="2400" b="1" dirty="0"/>
                  <a:t>molar volume 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sz="2400" dirty="0"/>
                  <a:t>) of</a:t>
                </a:r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/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18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𝑚𝐿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  <a:p>
                <a:pPr/>
                <a:endParaRPr lang="en-US" sz="2400" dirty="0"/>
              </a:p>
              <a:p>
                <a:pPr/>
                <a:r>
                  <a:rPr lang="en-US" sz="2400" dirty="0"/>
                  <a:t>we can back out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𝒇𝒖𝒔</m:t>
                        </m:r>
                      </m:sub>
                    </m:sSub>
                  </m:oMath>
                </a14:m>
                <a:r>
                  <a:rPr lang="en-US" sz="2400" dirty="0"/>
                  <a:t>. 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37F8C57-9DAE-64D7-832C-AFBB3115A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68" y="1281231"/>
                <a:ext cx="5803594" cy="5486630"/>
              </a:xfrm>
              <a:prstGeom prst="rect">
                <a:avLst/>
              </a:prstGeom>
              <a:blipFill>
                <a:blip r:embed="rId3"/>
                <a:stretch>
                  <a:fillRect l="-1747" t="-924" b="-1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Mass and Density Have Fun !!! - ppt download">
            <a:extLst>
              <a:ext uri="{FF2B5EF4-FFF2-40B4-BE49-F238E27FC236}">
                <a16:creationId xmlns:a16="http://schemas.microsoft.com/office/drawing/2014/main" id="{BE96351E-295D-BD77-053F-D34ABC8F8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3170" y="1366792"/>
            <a:ext cx="5506966" cy="4124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347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F62C38-A12A-8B2E-DC4E-538BFDDF8AE3}"/>
                  </a:ext>
                </a:extLst>
              </p:cNvPr>
              <p:cNvSpPr txBox="1"/>
              <p:nvPr/>
            </p:nvSpPr>
            <p:spPr>
              <a:xfrm>
                <a:off x="0" y="1841"/>
                <a:ext cx="12192000" cy="73462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To evaluate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</m:d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𝟑</m:t>
                        </m:r>
                      </m:sub>
                    </m:sSub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+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𝒇𝒖𝒔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𝒇𝒖𝒔</m:t>
                            </m:r>
                          </m:sub>
                        </m:sSub>
                      </m:den>
                    </m:f>
                    <m:r>
                      <a:rPr lang="en-US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𝐥𝐧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den>
                    </m:f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… </a:t>
                </a:r>
                <a:r>
                  <a:rPr lang="en-US" sz="2400" b="1" dirty="0"/>
                  <a:t>also need the triple point temperature and pressure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F62C38-A12A-8B2E-DC4E-538BFDDF8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41"/>
                <a:ext cx="12192000" cy="734625"/>
              </a:xfrm>
              <a:prstGeom prst="rect">
                <a:avLst/>
              </a:prstGeom>
              <a:blipFill>
                <a:blip r:embed="rId2"/>
                <a:stretch>
                  <a:fillRect l="-832" b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7E4E598-C9CB-DD9F-5B9C-6B1E0FE32322}"/>
              </a:ext>
            </a:extLst>
          </p:cNvPr>
          <p:cNvSpPr txBox="1"/>
          <p:nvPr/>
        </p:nvSpPr>
        <p:spPr>
          <a:xfrm>
            <a:off x="718785" y="994184"/>
            <a:ext cx="61519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From</a:t>
            </a:r>
            <a:r>
              <a:rPr lang="en-US" sz="2400" b="1" dirty="0"/>
              <a:t> </a:t>
            </a:r>
            <a:r>
              <a:rPr lang="en-US" sz="2400" dirty="0">
                <a:hlinkClick r:id="rId3"/>
              </a:rPr>
              <a:t>https://en.wikipedia.org/wiki/Triple_point</a:t>
            </a:r>
            <a:endParaRPr lang="en-US" sz="24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C975692-02A6-2736-816F-9DC93FB3C65C}"/>
              </a:ext>
            </a:extLst>
          </p:cNvPr>
          <p:cNvGrpSpPr/>
          <p:nvPr/>
        </p:nvGrpSpPr>
        <p:grpSpPr>
          <a:xfrm>
            <a:off x="718785" y="3997485"/>
            <a:ext cx="10754429" cy="2233277"/>
            <a:chOff x="718785" y="2751287"/>
            <a:chExt cx="10754429" cy="223327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BD2D84A6-68A0-9301-46E2-E49DDC722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8785" y="3212953"/>
              <a:ext cx="10754429" cy="1771611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5BB732B-5B95-C2E3-4BA3-F7D17AD23834}"/>
                    </a:ext>
                  </a:extLst>
                </p:cNvPr>
                <p:cNvSpPr txBox="1"/>
                <p:nvPr/>
              </p:nvSpPr>
              <p:spPr>
                <a:xfrm>
                  <a:off x="4686781" y="2751288"/>
                  <a:ext cx="169086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5BB732B-5B95-C2E3-4BA3-F7D17AD23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6781" y="2751288"/>
                  <a:ext cx="1690869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54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735788A-1473-1D6B-E1B1-C9B326B9CB34}"/>
                    </a:ext>
                  </a:extLst>
                </p:cNvPr>
                <p:cNvSpPr txBox="1"/>
                <p:nvPr/>
              </p:nvSpPr>
              <p:spPr>
                <a:xfrm>
                  <a:off x="8381034" y="2751287"/>
                  <a:ext cx="169086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735788A-1473-1D6B-E1B1-C9B326B9CB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1034" y="2751287"/>
                  <a:ext cx="1690869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54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124A53-5A77-9E71-51FC-D041B996D7B1}"/>
              </a:ext>
            </a:extLst>
          </p:cNvPr>
          <p:cNvGrpSpPr/>
          <p:nvPr/>
        </p:nvGrpSpPr>
        <p:grpSpPr>
          <a:xfrm>
            <a:off x="2300537" y="1637472"/>
            <a:ext cx="6499992" cy="2205324"/>
            <a:chOff x="2300537" y="1637472"/>
            <a:chExt cx="6499992" cy="2205324"/>
          </a:xfrm>
        </p:grpSpPr>
        <p:pic>
          <p:nvPicPr>
            <p:cNvPr id="8" name="Picture 2" descr="Phase Change Diagram of Water — Overview &amp; Importance - Expii">
              <a:extLst>
                <a:ext uri="{FF2B5EF4-FFF2-40B4-BE49-F238E27FC236}">
                  <a16:creationId xmlns:a16="http://schemas.microsoft.com/office/drawing/2014/main" id="{2F6262C5-5B8C-82D4-D339-E50F5E489DA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038"/>
            <a:stretch/>
          </p:blipFill>
          <p:spPr bwMode="auto">
            <a:xfrm>
              <a:off x="2300537" y="1713568"/>
              <a:ext cx="3036551" cy="21292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Image result for phase diagrams">
              <a:extLst>
                <a:ext uri="{FF2B5EF4-FFF2-40B4-BE49-F238E27FC236}">
                  <a16:creationId xmlns:a16="http://schemas.microsoft.com/office/drawing/2014/main" id="{D123182A-52BF-5D04-0D7A-A44D11756C8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773" b="5795"/>
            <a:stretch/>
          </p:blipFill>
          <p:spPr bwMode="auto">
            <a:xfrm>
              <a:off x="6377650" y="1637472"/>
              <a:ext cx="2422879" cy="19206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875601E-C983-2A55-E082-8C37EE252EAA}"/>
                </a:ext>
              </a:extLst>
            </p:cNvPr>
            <p:cNvSpPr/>
            <p:nvPr/>
          </p:nvSpPr>
          <p:spPr>
            <a:xfrm>
              <a:off x="7037407" y="3102015"/>
              <a:ext cx="196770" cy="19677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54025D3-24E1-7086-C076-E66ABB32679A}"/>
                </a:ext>
              </a:extLst>
            </p:cNvPr>
            <p:cNvSpPr/>
            <p:nvPr/>
          </p:nvSpPr>
          <p:spPr>
            <a:xfrm>
              <a:off x="3022923" y="3148315"/>
              <a:ext cx="196770" cy="19677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94700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3C8ABB6-B1AB-F144-A138-B03D987BCA52}"/>
                  </a:ext>
                </a:extLst>
              </p:cNvPr>
              <p:cNvSpPr/>
              <p:nvPr/>
            </p:nvSpPr>
            <p:spPr>
              <a:xfrm>
                <a:off x="267149" y="4756012"/>
                <a:ext cx="12017448" cy="1133067"/>
              </a:xfrm>
              <a:prstGeom prst="rect">
                <a:avLst/>
              </a:prstGeom>
              <a:ln w="25400"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For the liquid/vapor boundary, we still start with Clapeyron,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𝒅𝑷</m:t>
                    </m:r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den>
                    </m:f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𝒅𝑻</m:t>
                    </m:r>
                  </m:oMath>
                </a14:m>
                <a:r>
                  <a:rPr lang="en-US" sz="2400" dirty="0"/>
                  <a:t>. But there’s a problem: are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</m:oMath>
                </a14:m>
                <a:r>
                  <a:rPr lang="en-US" sz="2400" dirty="0"/>
                  <a:t> constant along this curve?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3C8ABB6-B1AB-F144-A138-B03D987BCA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149" y="4756012"/>
                <a:ext cx="12017448" cy="1133067"/>
              </a:xfrm>
              <a:prstGeom prst="rect">
                <a:avLst/>
              </a:prstGeom>
              <a:blipFill>
                <a:blip r:embed="rId2"/>
                <a:stretch>
                  <a:fillRect l="-845" b="-8889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EBBD42D-8977-9242-B057-68E86B95597A}"/>
              </a:ext>
            </a:extLst>
          </p:cNvPr>
          <p:cNvSpPr txBox="1"/>
          <p:nvPr/>
        </p:nvSpPr>
        <p:spPr>
          <a:xfrm>
            <a:off x="0" y="-12762"/>
            <a:ext cx="1219199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Liquid/vapor phase boundary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B60815A-14E7-A28C-4477-FC52A6A8D1A9}"/>
              </a:ext>
            </a:extLst>
          </p:cNvPr>
          <p:cNvGrpSpPr>
            <a:grpSpLocks noChangeAspect="1"/>
          </p:cNvGrpSpPr>
          <p:nvPr/>
        </p:nvGrpSpPr>
        <p:grpSpPr>
          <a:xfrm>
            <a:off x="2851064" y="809858"/>
            <a:ext cx="5073536" cy="4340875"/>
            <a:chOff x="4431132" y="624664"/>
            <a:chExt cx="3493468" cy="298898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44DE3ED-0D6F-FF46-9C91-330C917153AE}"/>
                </a:ext>
              </a:extLst>
            </p:cNvPr>
            <p:cNvGrpSpPr/>
            <p:nvPr/>
          </p:nvGrpSpPr>
          <p:grpSpPr>
            <a:xfrm>
              <a:off x="4431132" y="624664"/>
              <a:ext cx="3148181" cy="2988982"/>
              <a:chOff x="4340507" y="334714"/>
              <a:chExt cx="3148181" cy="2988982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99C5B12E-2DBF-8548-851C-62A8208A1DC4}"/>
                  </a:ext>
                </a:extLst>
              </p:cNvPr>
              <p:cNvGrpSpPr/>
              <p:nvPr/>
            </p:nvGrpSpPr>
            <p:grpSpPr>
              <a:xfrm>
                <a:off x="4340507" y="334714"/>
                <a:ext cx="3148181" cy="2988982"/>
                <a:chOff x="223734" y="1499666"/>
                <a:chExt cx="3074185" cy="3352100"/>
              </a:xfrm>
            </p:grpSpPr>
            <p:pic>
              <p:nvPicPr>
                <p:cNvPr id="18" name="Picture 2" descr="Image result for phase diagrams">
                  <a:extLst>
                    <a:ext uri="{FF2B5EF4-FFF2-40B4-BE49-F238E27FC236}">
                      <a16:creationId xmlns:a16="http://schemas.microsoft.com/office/drawing/2014/main" id="{F996AC49-6171-304E-9304-429F5563E1A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3773" b="5795"/>
                <a:stretch/>
              </p:blipFill>
              <p:spPr bwMode="auto">
                <a:xfrm>
                  <a:off x="406438" y="1828307"/>
                  <a:ext cx="2891481" cy="263248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9D850A94-338F-3645-ADC0-1D996588AB70}"/>
                    </a:ext>
                  </a:extLst>
                </p:cNvPr>
                <p:cNvSpPr/>
                <p:nvPr/>
              </p:nvSpPr>
              <p:spPr>
                <a:xfrm>
                  <a:off x="223734" y="1499666"/>
                  <a:ext cx="34336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/>
                    <a:t>P</a:t>
                  </a: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BEC9A5D-C18E-BE41-8F1F-665AB46D7106}"/>
                    </a:ext>
                  </a:extLst>
                </p:cNvPr>
                <p:cNvSpPr/>
                <p:nvPr/>
              </p:nvSpPr>
              <p:spPr>
                <a:xfrm>
                  <a:off x="2347899" y="4390101"/>
                  <a:ext cx="33534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/>
                    <a:t>T</a:t>
                  </a:r>
                </a:p>
              </p:txBody>
            </p:sp>
          </p:grp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8386FC48-9757-8040-BB9C-68EA84EFC38D}"/>
                  </a:ext>
                </a:extLst>
              </p:cNvPr>
              <p:cNvSpPr/>
              <p:nvPr/>
            </p:nvSpPr>
            <p:spPr>
              <a:xfrm>
                <a:off x="5519986" y="1438057"/>
                <a:ext cx="1589334" cy="1100671"/>
              </a:xfrm>
              <a:custGeom>
                <a:avLst/>
                <a:gdLst>
                  <a:gd name="connsiteX0" fmla="*/ 0 w 1823428"/>
                  <a:gd name="connsiteY0" fmla="*/ 1241951 h 1241951"/>
                  <a:gd name="connsiteX1" fmla="*/ 353961 w 1823428"/>
                  <a:gd name="connsiteY1" fmla="*/ 1153461 h 1241951"/>
                  <a:gd name="connsiteX2" fmla="*/ 693174 w 1823428"/>
                  <a:gd name="connsiteY2" fmla="*/ 1064970 h 1241951"/>
                  <a:gd name="connsiteX3" fmla="*/ 988142 w 1823428"/>
                  <a:gd name="connsiteY3" fmla="*/ 917486 h 1241951"/>
                  <a:gd name="connsiteX4" fmla="*/ 1283110 w 1823428"/>
                  <a:gd name="connsiteY4" fmla="*/ 725757 h 1241951"/>
                  <a:gd name="connsiteX5" fmla="*/ 1548581 w 1823428"/>
                  <a:gd name="connsiteY5" fmla="*/ 460286 h 1241951"/>
                  <a:gd name="connsiteX6" fmla="*/ 1799303 w 1823428"/>
                  <a:gd name="connsiteY6" fmla="*/ 32583 h 1241951"/>
                  <a:gd name="connsiteX7" fmla="*/ 1799303 w 1823428"/>
                  <a:gd name="connsiteY7" fmla="*/ 62080 h 1241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3428" h="1241951">
                    <a:moveTo>
                      <a:pt x="0" y="1241951"/>
                    </a:moveTo>
                    <a:lnTo>
                      <a:pt x="353961" y="1153461"/>
                    </a:lnTo>
                    <a:cubicBezTo>
                      <a:pt x="469490" y="1123964"/>
                      <a:pt x="587477" y="1104299"/>
                      <a:pt x="693174" y="1064970"/>
                    </a:cubicBezTo>
                    <a:cubicBezTo>
                      <a:pt x="798871" y="1025641"/>
                      <a:pt x="889819" y="974021"/>
                      <a:pt x="988142" y="917486"/>
                    </a:cubicBezTo>
                    <a:cubicBezTo>
                      <a:pt x="1086465" y="860950"/>
                      <a:pt x="1189704" y="801957"/>
                      <a:pt x="1283110" y="725757"/>
                    </a:cubicBezTo>
                    <a:cubicBezTo>
                      <a:pt x="1376517" y="649557"/>
                      <a:pt x="1462549" y="575815"/>
                      <a:pt x="1548581" y="460286"/>
                    </a:cubicBezTo>
                    <a:cubicBezTo>
                      <a:pt x="1634613" y="344757"/>
                      <a:pt x="1757516" y="98951"/>
                      <a:pt x="1799303" y="32583"/>
                    </a:cubicBezTo>
                    <a:cubicBezTo>
                      <a:pt x="1841090" y="-33785"/>
                      <a:pt x="1820196" y="14147"/>
                      <a:pt x="1799303" y="62080"/>
                    </a:cubicBezTo>
                  </a:path>
                </a:pathLst>
              </a:custGeom>
              <a:noFill/>
              <a:ln w="1016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B5459837-B665-164F-B716-9D45B372D30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23982" y="1245504"/>
                <a:ext cx="300338" cy="510811"/>
              </a:xfrm>
              <a:prstGeom prst="straightConnector1">
                <a:avLst/>
              </a:prstGeom>
              <a:ln w="1016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D06DD44-80F9-C8E5-B22C-F8A6D5A1FF6F}"/>
                </a:ext>
              </a:extLst>
            </p:cNvPr>
            <p:cNvGrpSpPr/>
            <p:nvPr/>
          </p:nvGrpSpPr>
          <p:grpSpPr>
            <a:xfrm>
              <a:off x="5975091" y="2045484"/>
              <a:ext cx="1949509" cy="791146"/>
              <a:chOff x="8584558" y="2693446"/>
              <a:chExt cx="1949509" cy="79114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46875BC8-DC80-32C7-4D64-9D909979A3C6}"/>
                      </a:ext>
                    </a:extLst>
                  </p:cNvPr>
                  <p:cNvSpPr/>
                  <p:nvPr/>
                </p:nvSpPr>
                <p:spPr>
                  <a:xfrm>
                    <a:off x="9658571" y="2693446"/>
                    <a:ext cx="875496" cy="696088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𝒗𝒂𝒑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00B050"/>
                      </a:solidFill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𝒗𝒂𝒑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46875BC8-DC80-32C7-4D64-9D909979A3C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58571" y="2693446"/>
                    <a:ext cx="875496" cy="69608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" name="Arc 4">
                <a:extLst>
                  <a:ext uri="{FF2B5EF4-FFF2-40B4-BE49-F238E27FC236}">
                    <a16:creationId xmlns:a16="http://schemas.microsoft.com/office/drawing/2014/main" id="{530C9C35-C0F8-5B0A-61B9-242C8D5AA010}"/>
                  </a:ext>
                </a:extLst>
              </p:cNvPr>
              <p:cNvSpPr/>
              <p:nvPr/>
            </p:nvSpPr>
            <p:spPr>
              <a:xfrm rot="951721">
                <a:off x="8584558" y="2788504"/>
                <a:ext cx="1074013" cy="696088"/>
              </a:xfrm>
              <a:prstGeom prst="arc">
                <a:avLst>
                  <a:gd name="adj1" fmla="val 16200000"/>
                  <a:gd name="adj2" fmla="val 20283306"/>
                </a:avLst>
              </a:prstGeom>
              <a:noFill/>
              <a:ln w="25400">
                <a:solidFill>
                  <a:srgbClr val="00B050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40554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/>
              <p:nvPr/>
            </p:nvSpPr>
            <p:spPr>
              <a:xfrm>
                <a:off x="-6528" y="-8767"/>
                <a:ext cx="12198527" cy="494751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What to do about the temperature-dependence of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</m:oMath>
                </a14:m>
                <a:r>
                  <a:rPr lang="en-US" sz="2400" b="1" dirty="0"/>
                  <a:t>?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528" y="-8767"/>
                <a:ext cx="12198527" cy="494751"/>
              </a:xfrm>
              <a:prstGeom prst="rect">
                <a:avLst/>
              </a:prstGeom>
              <a:blipFill>
                <a:blip r:embed="rId2"/>
                <a:stretch>
                  <a:fillRect l="-832" t="-75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B6FC34C6-721C-4D4D-A442-6FFD024C4D47}"/>
              </a:ext>
            </a:extLst>
          </p:cNvPr>
          <p:cNvSpPr/>
          <p:nvPr/>
        </p:nvSpPr>
        <p:spPr>
          <a:xfrm>
            <a:off x="50623" y="738524"/>
            <a:ext cx="8175648" cy="830997"/>
          </a:xfrm>
          <a:prstGeom prst="rect">
            <a:avLst/>
          </a:prstGeom>
          <a:ln w="25400">
            <a:noFill/>
          </a:ln>
        </p:spPr>
        <p:txBody>
          <a:bodyPr wrap="square">
            <a:spAutoFit/>
          </a:bodyPr>
          <a:lstStyle/>
          <a:p>
            <a:r>
              <a:rPr lang="en-US" sz="2400" dirty="0">
                <a:ea typeface="Cambria Math" panose="02040503050406030204" pitchFamily="18" charset="0"/>
              </a:rPr>
              <a:t> </a:t>
            </a:r>
            <a:endParaRPr lang="en-US" sz="2400" dirty="0"/>
          </a:p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2D93F2F-525F-434F-9EA5-E3EA808524FB}"/>
                  </a:ext>
                </a:extLst>
              </p:cNvPr>
              <p:cNvSpPr/>
              <p:nvPr/>
            </p:nvSpPr>
            <p:spPr>
              <a:xfrm>
                <a:off x="285063" y="1859340"/>
                <a:ext cx="6427072" cy="8640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In careful work we’d want to take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into account. 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2D93F2F-525F-434F-9EA5-E3EA808524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063" y="1859340"/>
                <a:ext cx="6427072" cy="864083"/>
              </a:xfrm>
              <a:prstGeom prst="rect">
                <a:avLst/>
              </a:prstGeom>
              <a:blipFill>
                <a:blip r:embed="rId3"/>
                <a:stretch>
                  <a:fillRect l="-1578" t="-4348" b="-14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2" descr="Image result for enthalpy of vaporization of water">
            <a:extLst>
              <a:ext uri="{FF2B5EF4-FFF2-40B4-BE49-F238E27FC236}">
                <a16:creationId xmlns:a16="http://schemas.microsoft.com/office/drawing/2014/main" id="{5B38C624-C3DD-D5E8-C406-C195B19C6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812" y="907212"/>
            <a:ext cx="5144125" cy="474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5240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/>
              <p:nvPr/>
            </p:nvSpPr>
            <p:spPr>
              <a:xfrm>
                <a:off x="-6528" y="-8767"/>
                <a:ext cx="12198527" cy="494751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What to do about the temperature-dependence of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</m:oMath>
                </a14:m>
                <a:r>
                  <a:rPr lang="en-US" sz="2400" b="1" dirty="0"/>
                  <a:t>?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528" y="-8767"/>
                <a:ext cx="12198527" cy="494751"/>
              </a:xfrm>
              <a:prstGeom prst="rect">
                <a:avLst/>
              </a:prstGeom>
              <a:blipFill>
                <a:blip r:embed="rId2"/>
                <a:stretch>
                  <a:fillRect l="-832" t="-75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B6FC34C6-721C-4D4D-A442-6FFD024C4D47}"/>
              </a:ext>
            </a:extLst>
          </p:cNvPr>
          <p:cNvSpPr/>
          <p:nvPr/>
        </p:nvSpPr>
        <p:spPr>
          <a:xfrm>
            <a:off x="50623" y="738524"/>
            <a:ext cx="8175648" cy="830997"/>
          </a:xfrm>
          <a:prstGeom prst="rect">
            <a:avLst/>
          </a:prstGeom>
          <a:ln w="25400">
            <a:noFill/>
          </a:ln>
        </p:spPr>
        <p:txBody>
          <a:bodyPr wrap="square">
            <a:spAutoFit/>
          </a:bodyPr>
          <a:lstStyle/>
          <a:p>
            <a:r>
              <a:rPr lang="en-US" sz="2400" dirty="0">
                <a:ea typeface="Cambria Math" panose="02040503050406030204" pitchFamily="18" charset="0"/>
              </a:rPr>
              <a:t> </a:t>
            </a:r>
            <a:endParaRPr lang="en-US" sz="2400" dirty="0"/>
          </a:p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2D93F2F-525F-434F-9EA5-E3EA808524FB}"/>
                  </a:ext>
                </a:extLst>
              </p:cNvPr>
              <p:cNvSpPr/>
              <p:nvPr/>
            </p:nvSpPr>
            <p:spPr>
              <a:xfrm>
                <a:off x="285063" y="1280046"/>
                <a:ext cx="6427072" cy="31899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But we could also just </a:t>
                </a:r>
                <a:r>
                  <a:rPr lang="en-US" sz="2400" b="1" dirty="0"/>
                  <a:t>ignore the temperature dependence of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</m:oMath>
                </a14:m>
                <a:r>
                  <a:rPr lang="en-US" sz="2400" dirty="0"/>
                  <a:t> altogether.</a:t>
                </a:r>
                <a:r>
                  <a:rPr lang="en-US" sz="2400" b="1" dirty="0"/>
                  <a:t> </a:t>
                </a:r>
              </a:p>
              <a:p>
                <a:endParaRPr lang="en-US" sz="2400" b="1" dirty="0"/>
              </a:p>
              <a:p>
                <a:r>
                  <a:rPr lang="en-US" sz="2400" dirty="0"/>
                  <a:t>If we do that, we still have to figure out what to do with the temperature dependence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𝒅𝑷</m:t>
                      </m:r>
                      <m:r>
                        <a:rPr lang="en-US" sz="24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𝒗𝒂𝒑</m:t>
                              </m:r>
                            </m:sub>
                          </m:sSub>
                        </m:num>
                        <m:den>
                          <m:r>
                            <a:rPr lang="en-US" sz="2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sz="2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𝒗𝒂𝒑</m:t>
                              </m:r>
                            </m:sub>
                          </m:sSub>
                        </m:den>
                      </m:f>
                      <m:r>
                        <a:rPr lang="en-US" sz="24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𝒅𝑻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2D93F2F-525F-434F-9EA5-E3EA808524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063" y="1280046"/>
                <a:ext cx="6427072" cy="3189912"/>
              </a:xfrm>
              <a:prstGeom prst="rect">
                <a:avLst/>
              </a:prstGeom>
              <a:blipFill>
                <a:blip r:embed="rId3"/>
                <a:stretch>
                  <a:fillRect l="-1578" t="-1587" b="-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2" descr="Image result for enthalpy of vaporization of water">
            <a:extLst>
              <a:ext uri="{FF2B5EF4-FFF2-40B4-BE49-F238E27FC236}">
                <a16:creationId xmlns:a16="http://schemas.microsoft.com/office/drawing/2014/main" id="{5B38C624-C3DD-D5E8-C406-C195B19C6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812" y="907212"/>
            <a:ext cx="5144125" cy="474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754103D-678B-6A52-0655-3B05E7DCB82E}"/>
              </a:ext>
            </a:extLst>
          </p:cNvPr>
          <p:cNvCxnSpPr>
            <a:cxnSpLocks/>
          </p:cNvCxnSpPr>
          <p:nvPr/>
        </p:nvCxnSpPr>
        <p:spPr>
          <a:xfrm>
            <a:off x="7836061" y="1569521"/>
            <a:ext cx="3854369" cy="0"/>
          </a:xfrm>
          <a:prstGeom prst="line">
            <a:avLst/>
          </a:prstGeom>
          <a:ln w="635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376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/>
              <p:nvPr/>
            </p:nvSpPr>
            <p:spPr>
              <a:xfrm>
                <a:off x="-6528" y="-8767"/>
                <a:ext cx="12198527" cy="494751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What to do about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</m:oMath>
                </a14:m>
                <a:r>
                  <a:rPr lang="en-US" sz="2400" b="1" dirty="0"/>
                  <a:t> along a liquid-vapor phase boundary …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528" y="-8767"/>
                <a:ext cx="12198527" cy="494751"/>
              </a:xfrm>
              <a:prstGeom prst="rect">
                <a:avLst/>
              </a:prstGeom>
              <a:blipFill>
                <a:blip r:embed="rId2"/>
                <a:stretch>
                  <a:fillRect l="-832" t="-75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B6FC34C6-721C-4D4D-A442-6FFD024C4D47}"/>
              </a:ext>
            </a:extLst>
          </p:cNvPr>
          <p:cNvSpPr/>
          <p:nvPr/>
        </p:nvSpPr>
        <p:spPr>
          <a:xfrm>
            <a:off x="50623" y="738524"/>
            <a:ext cx="8175648" cy="830997"/>
          </a:xfrm>
          <a:prstGeom prst="rect">
            <a:avLst/>
          </a:prstGeom>
          <a:ln w="25400">
            <a:noFill/>
          </a:ln>
        </p:spPr>
        <p:txBody>
          <a:bodyPr wrap="square">
            <a:spAutoFit/>
          </a:bodyPr>
          <a:lstStyle/>
          <a:p>
            <a:r>
              <a:rPr lang="en-US" sz="2400" dirty="0">
                <a:ea typeface="Cambria Math" panose="02040503050406030204" pitchFamily="18" charset="0"/>
              </a:rPr>
              <a:t> </a:t>
            </a:r>
            <a:endParaRPr lang="en-US" sz="2400" dirty="0"/>
          </a:p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E513A76-29DE-494A-98CE-2451AC120B19}"/>
                  </a:ext>
                </a:extLst>
              </p:cNvPr>
              <p:cNvSpPr txBox="1"/>
              <p:nvPr/>
            </p:nvSpPr>
            <p:spPr>
              <a:xfrm>
                <a:off x="97393" y="1306720"/>
                <a:ext cx="11997214" cy="4244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We can make two approximations to simplify this</a:t>
                </a:r>
              </a:p>
              <a:p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Since the volume of a gas is much greater than liquid or solid, we can get away with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𝑣𝑎𝑝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  <m:r>
                      <a:rPr lang="en-US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𝑙𝑖𝑞</m:t>
                        </m:r>
                      </m:sub>
                    </m:sSub>
                    <m:r>
                      <a:rPr lang="en-US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 With the ideal gas law, this translates to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𝒏𝑹𝑻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If we substitute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𝒏𝑹𝑻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den>
                    </m:f>
                  </m:oMath>
                </a14:m>
                <a:r>
                  <a:rPr lang="en-US" sz="2400" dirty="0"/>
                  <a:t> into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𝑑𝑃</m:t>
                    </m:r>
                    <m:r>
                      <a:rPr lang="en-US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𝑣𝑎𝑝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𝑣𝑎𝑝</m:t>
                            </m:r>
                          </m:sub>
                        </m:sSub>
                      </m:den>
                    </m:f>
                    <m:r>
                      <a:rPr lang="en-US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𝑑𝑇</m:t>
                    </m:r>
                  </m:oMath>
                </a14:m>
                <a:r>
                  <a:rPr lang="en-US" sz="2400" dirty="0"/>
                  <a:t>, we get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𝑑𝑃</m:t>
                    </m:r>
                    <m:r>
                      <a:rPr lang="en-US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∆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𝑣𝑎𝑝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𝑛𝑅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𝑑𝑇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This can also be solved (integrated), if you use a separation of variables method. The result is</a:t>
                </a:r>
                <a:endParaRPr lang="en-US" sz="2400" dirty="0">
                  <a:solidFill>
                    <a:srgbClr val="00B050"/>
                  </a:solidFill>
                </a:endParaRPr>
              </a:p>
              <a:p>
                <a:r>
                  <a:rPr lang="en-US" sz="2400" dirty="0"/>
                  <a:t>the </a:t>
                </a:r>
                <a:r>
                  <a:rPr lang="en-US" sz="2400" b="1" dirty="0"/>
                  <a:t>Clausius-Clapeyron equation for the liquid-vapor phase boundary</a:t>
                </a:r>
                <a:r>
                  <a:rPr lang="en-US" sz="2400" dirty="0"/>
                  <a:t>.</a:t>
                </a:r>
                <a:r>
                  <a:rPr lang="en-US" sz="2400" dirty="0">
                    <a:solidFill>
                      <a:srgbClr val="00B050"/>
                    </a:solidFill>
                  </a:rPr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E513A76-29DE-494A-98CE-2451AC120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93" y="1306720"/>
                <a:ext cx="11997214" cy="4244560"/>
              </a:xfrm>
              <a:prstGeom prst="rect">
                <a:avLst/>
              </a:prstGeom>
              <a:blipFill>
                <a:blip r:embed="rId3"/>
                <a:stretch>
                  <a:fillRect l="-740" t="-1190"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0572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EBBD42D-8977-9242-B057-68E86B95597A}"/>
              </a:ext>
            </a:extLst>
          </p:cNvPr>
          <p:cNvSpPr txBox="1"/>
          <p:nvPr/>
        </p:nvSpPr>
        <p:spPr>
          <a:xfrm>
            <a:off x="0" y="-8297"/>
            <a:ext cx="1219199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solid/vapor phase boundary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32BB0C6-FE4B-DFA9-C6B2-156F8D604A9E}"/>
              </a:ext>
            </a:extLst>
          </p:cNvPr>
          <p:cNvGrpSpPr>
            <a:grpSpLocks noChangeAspect="1"/>
          </p:cNvGrpSpPr>
          <p:nvPr/>
        </p:nvGrpSpPr>
        <p:grpSpPr>
          <a:xfrm>
            <a:off x="2784079" y="955686"/>
            <a:ext cx="4886011" cy="4843230"/>
            <a:chOff x="4521909" y="284355"/>
            <a:chExt cx="3148181" cy="3120616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9C5B12E-2DBF-8548-851C-62A8208A1DC4}"/>
                </a:ext>
              </a:extLst>
            </p:cNvPr>
            <p:cNvGrpSpPr/>
            <p:nvPr/>
          </p:nvGrpSpPr>
          <p:grpSpPr>
            <a:xfrm>
              <a:off x="4521909" y="284355"/>
              <a:ext cx="3148181" cy="2988982"/>
              <a:chOff x="223734" y="1499666"/>
              <a:chExt cx="3074185" cy="3352100"/>
            </a:xfrm>
          </p:grpSpPr>
          <p:pic>
            <p:nvPicPr>
              <p:cNvPr id="18" name="Picture 2" descr="Image result for phase diagrams">
                <a:extLst>
                  <a:ext uri="{FF2B5EF4-FFF2-40B4-BE49-F238E27FC236}">
                    <a16:creationId xmlns:a16="http://schemas.microsoft.com/office/drawing/2014/main" id="{F996AC49-6171-304E-9304-429F5563E1A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773" b="5795"/>
              <a:stretch/>
            </p:blipFill>
            <p:spPr bwMode="auto">
              <a:xfrm>
                <a:off x="406438" y="1828307"/>
                <a:ext cx="2891481" cy="26324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D850A94-338F-3645-ADC0-1D996588AB70}"/>
                  </a:ext>
                </a:extLst>
              </p:cNvPr>
              <p:cNvSpPr/>
              <p:nvPr/>
            </p:nvSpPr>
            <p:spPr>
              <a:xfrm>
                <a:off x="223734" y="1499666"/>
                <a:ext cx="34336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P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EC9A5D-C18E-BE41-8F1F-665AB46D7106}"/>
                  </a:ext>
                </a:extLst>
              </p:cNvPr>
              <p:cNvSpPr/>
              <p:nvPr/>
            </p:nvSpPr>
            <p:spPr>
              <a:xfrm>
                <a:off x="2347899" y="4390101"/>
                <a:ext cx="33534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T</a:t>
                </a:r>
              </a:p>
            </p:txBody>
          </p:sp>
        </p:grp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2E6E1AC-A425-2848-91B2-F34DE88B7239}"/>
                </a:ext>
              </a:extLst>
            </p:cNvPr>
            <p:cNvSpPr/>
            <p:nvPr/>
          </p:nvSpPr>
          <p:spPr>
            <a:xfrm>
              <a:off x="4735772" y="2530570"/>
              <a:ext cx="864361" cy="357123"/>
            </a:xfrm>
            <a:custGeom>
              <a:avLst/>
              <a:gdLst>
                <a:gd name="connsiteX0" fmla="*/ 0 w 991673"/>
                <a:gd name="connsiteY0" fmla="*/ 399245 h 402963"/>
                <a:gd name="connsiteX1" fmla="*/ 218941 w 991673"/>
                <a:gd name="connsiteY1" fmla="*/ 399245 h 402963"/>
                <a:gd name="connsiteX2" fmla="*/ 360609 w 991673"/>
                <a:gd name="connsiteY2" fmla="*/ 360608 h 402963"/>
                <a:gd name="connsiteX3" fmla="*/ 579550 w 991673"/>
                <a:gd name="connsiteY3" fmla="*/ 283335 h 402963"/>
                <a:gd name="connsiteX4" fmla="*/ 721217 w 991673"/>
                <a:gd name="connsiteY4" fmla="*/ 218941 h 402963"/>
                <a:gd name="connsiteX5" fmla="*/ 875764 w 991673"/>
                <a:gd name="connsiteY5" fmla="*/ 103031 h 402963"/>
                <a:gd name="connsiteX6" fmla="*/ 991673 w 991673"/>
                <a:gd name="connsiteY6" fmla="*/ 0 h 402963"/>
                <a:gd name="connsiteX7" fmla="*/ 991673 w 991673"/>
                <a:gd name="connsiteY7" fmla="*/ 0 h 402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91673" h="402963">
                  <a:moveTo>
                    <a:pt x="0" y="399245"/>
                  </a:moveTo>
                  <a:cubicBezTo>
                    <a:pt x="79419" y="402465"/>
                    <a:pt x="158839" y="405685"/>
                    <a:pt x="218941" y="399245"/>
                  </a:cubicBezTo>
                  <a:cubicBezTo>
                    <a:pt x="279043" y="392805"/>
                    <a:pt x="300508" y="379926"/>
                    <a:pt x="360609" y="360608"/>
                  </a:cubicBezTo>
                  <a:cubicBezTo>
                    <a:pt x="420711" y="341290"/>
                    <a:pt x="519449" y="306946"/>
                    <a:pt x="579550" y="283335"/>
                  </a:cubicBezTo>
                  <a:cubicBezTo>
                    <a:pt x="639651" y="259724"/>
                    <a:pt x="671848" y="248992"/>
                    <a:pt x="721217" y="218941"/>
                  </a:cubicBezTo>
                  <a:cubicBezTo>
                    <a:pt x="770586" y="188890"/>
                    <a:pt x="830688" y="139521"/>
                    <a:pt x="875764" y="103031"/>
                  </a:cubicBezTo>
                  <a:cubicBezTo>
                    <a:pt x="920840" y="66541"/>
                    <a:pt x="991673" y="0"/>
                    <a:pt x="991673" y="0"/>
                  </a:cubicBezTo>
                  <a:lnTo>
                    <a:pt x="991673" y="0"/>
                  </a:lnTo>
                </a:path>
              </a:pathLst>
            </a:custGeom>
            <a:noFill/>
            <a:ln w="101600">
              <a:solidFill>
                <a:schemeClr val="accent2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B050"/>
                </a:solidFill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A6CC97D-284B-5EBD-3577-C585DD1BE549}"/>
                </a:ext>
              </a:extLst>
            </p:cNvPr>
            <p:cNvGrpSpPr/>
            <p:nvPr/>
          </p:nvGrpSpPr>
          <p:grpSpPr>
            <a:xfrm>
              <a:off x="4557936" y="1965339"/>
              <a:ext cx="973322" cy="1439632"/>
              <a:chOff x="6144469" y="3472486"/>
              <a:chExt cx="973322" cy="14396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F3CC2677-F094-A2E9-3AC6-657C518187DD}"/>
                      </a:ext>
                    </a:extLst>
                  </p:cNvPr>
                  <p:cNvSpPr/>
                  <p:nvPr/>
                </p:nvSpPr>
                <p:spPr>
                  <a:xfrm>
                    <a:off x="6242295" y="3472486"/>
                    <a:ext cx="875496" cy="646331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𝒔𝒖𝒃</m:t>
                              </m:r>
                            </m:sub>
                          </m:sSub>
                        </m:oMath>
                      </m:oMathPara>
                    </a14:m>
                    <a:endParaRPr lang="en-US" b="1" i="1" dirty="0">
                      <a:solidFill>
                        <a:schemeClr val="accent2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𝒔𝒖𝒃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chemeClr val="accent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F3CC2677-F094-A2E9-3AC6-657C518187D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42295" y="3472486"/>
                    <a:ext cx="875496" cy="64633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" name="Arc 4">
                <a:extLst>
                  <a:ext uri="{FF2B5EF4-FFF2-40B4-BE49-F238E27FC236}">
                    <a16:creationId xmlns:a16="http://schemas.microsoft.com/office/drawing/2014/main" id="{C250F2E2-647C-48F7-92E7-E9F1643963D7}"/>
                  </a:ext>
                </a:extLst>
              </p:cNvPr>
              <p:cNvSpPr/>
              <p:nvPr/>
            </p:nvSpPr>
            <p:spPr>
              <a:xfrm rot="2713949">
                <a:off x="5955506" y="4027068"/>
                <a:ext cx="1074013" cy="696088"/>
              </a:xfrm>
              <a:prstGeom prst="arc">
                <a:avLst>
                  <a:gd name="adj1" fmla="val 16200000"/>
                  <a:gd name="adj2" fmla="val 20283306"/>
                </a:avLst>
              </a:prstGeom>
              <a:noFill/>
              <a:ln w="25400">
                <a:solidFill>
                  <a:schemeClr val="accent2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951409A-6705-2368-B5DC-BDCCB375E79A}"/>
                  </a:ext>
                </a:extLst>
              </p:cNvPr>
              <p:cNvSpPr txBox="1"/>
              <p:nvPr/>
            </p:nvSpPr>
            <p:spPr>
              <a:xfrm>
                <a:off x="1216788" y="5122561"/>
                <a:ext cx="3984585" cy="619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𝒅𝑷</m:t>
                      </m:r>
                      <m:r>
                        <a:rPr lang="en-US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 ∆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𝑠𝑢𝑏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𝑛𝑅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1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𝒅𝑻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951409A-6705-2368-B5DC-BDCCB375E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788" y="5122561"/>
                <a:ext cx="3984585" cy="619785"/>
              </a:xfrm>
              <a:prstGeom prst="rect">
                <a:avLst/>
              </a:prstGeom>
              <a:blipFill>
                <a:blip r:embed="rId4"/>
                <a:stretch>
                  <a:fillRect t="-2000"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726E8FA6-777F-D97A-A530-08F6AC29FC2B}"/>
              </a:ext>
            </a:extLst>
          </p:cNvPr>
          <p:cNvSpPr/>
          <p:nvPr/>
        </p:nvSpPr>
        <p:spPr>
          <a:xfrm>
            <a:off x="7960474" y="3287674"/>
            <a:ext cx="3918856" cy="1200329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For the solid/vapor boundary, all the same considerations apply as to liquid/vapor.  </a:t>
            </a:r>
          </a:p>
        </p:txBody>
      </p:sp>
    </p:spTree>
    <p:extLst>
      <p:ext uri="{BB962C8B-B14F-4D97-AF65-F5344CB8AC3E}">
        <p14:creationId xmlns:p14="http://schemas.microsoft.com/office/powerpoint/2010/main" val="3089612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EBBD42D-8977-9242-B057-68E86B95597A}"/>
              </a:ext>
            </a:extLst>
          </p:cNvPr>
          <p:cNvSpPr txBox="1"/>
          <p:nvPr/>
        </p:nvSpPr>
        <p:spPr>
          <a:xfrm>
            <a:off x="0" y="-8297"/>
            <a:ext cx="1219199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Blackboard work …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3CFC12D-73D0-E59E-CDD6-449B8CCFD35F}"/>
              </a:ext>
            </a:extLst>
          </p:cNvPr>
          <p:cNvGrpSpPr>
            <a:grpSpLocks noChangeAspect="1"/>
          </p:cNvGrpSpPr>
          <p:nvPr/>
        </p:nvGrpSpPr>
        <p:grpSpPr>
          <a:xfrm>
            <a:off x="2726908" y="1040130"/>
            <a:ext cx="6173307" cy="5360670"/>
            <a:chOff x="5752033" y="2076249"/>
            <a:chExt cx="3148181" cy="29889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53445C0-5C3B-ACE0-9506-BBC5EE1F355D}"/>
                </a:ext>
              </a:extLst>
            </p:cNvPr>
            <p:cNvGrpSpPr/>
            <p:nvPr/>
          </p:nvGrpSpPr>
          <p:grpSpPr>
            <a:xfrm>
              <a:off x="5752033" y="2076249"/>
              <a:ext cx="3148181" cy="2988982"/>
              <a:chOff x="4270169" y="240930"/>
              <a:chExt cx="3148181" cy="2988982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6C51BCC-0710-E307-8B4A-DDDA871159D6}"/>
                  </a:ext>
                </a:extLst>
              </p:cNvPr>
              <p:cNvGrpSpPr/>
              <p:nvPr/>
            </p:nvGrpSpPr>
            <p:grpSpPr>
              <a:xfrm>
                <a:off x="4270169" y="240930"/>
                <a:ext cx="3148181" cy="2988982"/>
                <a:chOff x="8122016" y="738525"/>
                <a:chExt cx="3611879" cy="3372641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6C07A136-4183-FB1C-6CD2-2A25C4718203}"/>
                    </a:ext>
                  </a:extLst>
                </p:cNvPr>
                <p:cNvGrpSpPr/>
                <p:nvPr/>
              </p:nvGrpSpPr>
              <p:grpSpPr>
                <a:xfrm>
                  <a:off x="8122016" y="738525"/>
                  <a:ext cx="3611879" cy="3372641"/>
                  <a:chOff x="223734" y="1499666"/>
                  <a:chExt cx="3074185" cy="3352100"/>
                </a:xfrm>
              </p:grpSpPr>
              <p:pic>
                <p:nvPicPr>
                  <p:cNvPr id="21" name="Picture 2" descr="Image result for phase diagrams">
                    <a:extLst>
                      <a:ext uri="{FF2B5EF4-FFF2-40B4-BE49-F238E27FC236}">
                        <a16:creationId xmlns:a16="http://schemas.microsoft.com/office/drawing/2014/main" id="{B02FFC04-6796-6B91-9455-DFE5AFF9EAB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3773" b="5795"/>
                  <a:stretch/>
                </p:blipFill>
                <p:spPr bwMode="auto">
                  <a:xfrm>
                    <a:off x="406438" y="1828307"/>
                    <a:ext cx="2891481" cy="2632482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F1A91B7E-B855-3172-968C-0D3F30A1E92C}"/>
                      </a:ext>
                    </a:extLst>
                  </p:cNvPr>
                  <p:cNvSpPr/>
                  <p:nvPr/>
                </p:nvSpPr>
                <p:spPr>
                  <a:xfrm>
                    <a:off x="223734" y="1499666"/>
                    <a:ext cx="34336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P</a:t>
                    </a:r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8A8993CD-4258-338C-6076-655D93EF54B8}"/>
                      </a:ext>
                    </a:extLst>
                  </p:cNvPr>
                  <p:cNvSpPr/>
                  <p:nvPr/>
                </p:nvSpPr>
                <p:spPr>
                  <a:xfrm>
                    <a:off x="2347899" y="4390101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</p:grpSp>
            <p:sp>
              <p:nvSpPr>
                <p:cNvPr id="16" name="Freeform 15">
                  <a:extLst>
                    <a:ext uri="{FF2B5EF4-FFF2-40B4-BE49-F238E27FC236}">
                      <a16:creationId xmlns:a16="http://schemas.microsoft.com/office/drawing/2014/main" id="{C15AEEE5-031D-6A0E-EEC5-9F70817F5717}"/>
                    </a:ext>
                  </a:extLst>
                </p:cNvPr>
                <p:cNvSpPr/>
                <p:nvPr/>
              </p:nvSpPr>
              <p:spPr>
                <a:xfrm>
                  <a:off x="9483213" y="1968497"/>
                  <a:ext cx="1823428" cy="1241951"/>
                </a:xfrm>
                <a:custGeom>
                  <a:avLst/>
                  <a:gdLst>
                    <a:gd name="connsiteX0" fmla="*/ 0 w 1823428"/>
                    <a:gd name="connsiteY0" fmla="*/ 1241951 h 1241951"/>
                    <a:gd name="connsiteX1" fmla="*/ 353961 w 1823428"/>
                    <a:gd name="connsiteY1" fmla="*/ 1153461 h 1241951"/>
                    <a:gd name="connsiteX2" fmla="*/ 693174 w 1823428"/>
                    <a:gd name="connsiteY2" fmla="*/ 1064970 h 1241951"/>
                    <a:gd name="connsiteX3" fmla="*/ 988142 w 1823428"/>
                    <a:gd name="connsiteY3" fmla="*/ 917486 h 1241951"/>
                    <a:gd name="connsiteX4" fmla="*/ 1283110 w 1823428"/>
                    <a:gd name="connsiteY4" fmla="*/ 725757 h 1241951"/>
                    <a:gd name="connsiteX5" fmla="*/ 1548581 w 1823428"/>
                    <a:gd name="connsiteY5" fmla="*/ 460286 h 1241951"/>
                    <a:gd name="connsiteX6" fmla="*/ 1799303 w 1823428"/>
                    <a:gd name="connsiteY6" fmla="*/ 32583 h 1241951"/>
                    <a:gd name="connsiteX7" fmla="*/ 1799303 w 1823428"/>
                    <a:gd name="connsiteY7" fmla="*/ 62080 h 1241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23428" h="1241951">
                      <a:moveTo>
                        <a:pt x="0" y="1241951"/>
                      </a:moveTo>
                      <a:lnTo>
                        <a:pt x="353961" y="1153461"/>
                      </a:lnTo>
                      <a:cubicBezTo>
                        <a:pt x="469490" y="1123964"/>
                        <a:pt x="587477" y="1104299"/>
                        <a:pt x="693174" y="1064970"/>
                      </a:cubicBezTo>
                      <a:cubicBezTo>
                        <a:pt x="798871" y="1025641"/>
                        <a:pt x="889819" y="974021"/>
                        <a:pt x="988142" y="917486"/>
                      </a:cubicBezTo>
                      <a:cubicBezTo>
                        <a:pt x="1086465" y="860950"/>
                        <a:pt x="1189704" y="801957"/>
                        <a:pt x="1283110" y="725757"/>
                      </a:cubicBezTo>
                      <a:cubicBezTo>
                        <a:pt x="1376517" y="649557"/>
                        <a:pt x="1462549" y="575815"/>
                        <a:pt x="1548581" y="460286"/>
                      </a:cubicBezTo>
                      <a:cubicBezTo>
                        <a:pt x="1634613" y="344757"/>
                        <a:pt x="1757516" y="98951"/>
                        <a:pt x="1799303" y="32583"/>
                      </a:cubicBezTo>
                      <a:cubicBezTo>
                        <a:pt x="1841090" y="-33785"/>
                        <a:pt x="1820196" y="14147"/>
                        <a:pt x="1799303" y="62080"/>
                      </a:cubicBezTo>
                    </a:path>
                  </a:pathLst>
                </a:custGeom>
                <a:noFill/>
                <a:ln w="1016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7" name="Freeform 16">
                  <a:extLst>
                    <a:ext uri="{FF2B5EF4-FFF2-40B4-BE49-F238E27FC236}">
                      <a16:creationId xmlns:a16="http://schemas.microsoft.com/office/drawing/2014/main" id="{BFF593EA-869C-00EA-93EE-B0A51E7EC686}"/>
                    </a:ext>
                  </a:extLst>
                </p:cNvPr>
                <p:cNvSpPr/>
                <p:nvPr/>
              </p:nvSpPr>
              <p:spPr>
                <a:xfrm>
                  <a:off x="8409904" y="3258355"/>
                  <a:ext cx="991673" cy="402963"/>
                </a:xfrm>
                <a:custGeom>
                  <a:avLst/>
                  <a:gdLst>
                    <a:gd name="connsiteX0" fmla="*/ 0 w 991673"/>
                    <a:gd name="connsiteY0" fmla="*/ 399245 h 402963"/>
                    <a:gd name="connsiteX1" fmla="*/ 218941 w 991673"/>
                    <a:gd name="connsiteY1" fmla="*/ 399245 h 402963"/>
                    <a:gd name="connsiteX2" fmla="*/ 360609 w 991673"/>
                    <a:gd name="connsiteY2" fmla="*/ 360608 h 402963"/>
                    <a:gd name="connsiteX3" fmla="*/ 579550 w 991673"/>
                    <a:gd name="connsiteY3" fmla="*/ 283335 h 402963"/>
                    <a:gd name="connsiteX4" fmla="*/ 721217 w 991673"/>
                    <a:gd name="connsiteY4" fmla="*/ 218941 h 402963"/>
                    <a:gd name="connsiteX5" fmla="*/ 875764 w 991673"/>
                    <a:gd name="connsiteY5" fmla="*/ 103031 h 402963"/>
                    <a:gd name="connsiteX6" fmla="*/ 991673 w 991673"/>
                    <a:gd name="connsiteY6" fmla="*/ 0 h 402963"/>
                    <a:gd name="connsiteX7" fmla="*/ 991673 w 991673"/>
                    <a:gd name="connsiteY7" fmla="*/ 0 h 402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91673" h="402963">
                      <a:moveTo>
                        <a:pt x="0" y="399245"/>
                      </a:moveTo>
                      <a:cubicBezTo>
                        <a:pt x="79419" y="402465"/>
                        <a:pt x="158839" y="405685"/>
                        <a:pt x="218941" y="399245"/>
                      </a:cubicBezTo>
                      <a:cubicBezTo>
                        <a:pt x="279043" y="392805"/>
                        <a:pt x="300508" y="379926"/>
                        <a:pt x="360609" y="360608"/>
                      </a:cubicBezTo>
                      <a:cubicBezTo>
                        <a:pt x="420711" y="341290"/>
                        <a:pt x="519449" y="306946"/>
                        <a:pt x="579550" y="283335"/>
                      </a:cubicBezTo>
                      <a:cubicBezTo>
                        <a:pt x="639651" y="259724"/>
                        <a:pt x="671848" y="248992"/>
                        <a:pt x="721217" y="218941"/>
                      </a:cubicBezTo>
                      <a:cubicBezTo>
                        <a:pt x="770586" y="188890"/>
                        <a:pt x="830688" y="139521"/>
                        <a:pt x="875764" y="103031"/>
                      </a:cubicBezTo>
                      <a:cubicBezTo>
                        <a:pt x="920840" y="66541"/>
                        <a:pt x="991673" y="0"/>
                        <a:pt x="991673" y="0"/>
                      </a:cubicBezTo>
                      <a:lnTo>
                        <a:pt x="991673" y="0"/>
                      </a:lnTo>
                    </a:path>
                  </a:pathLst>
                </a:custGeom>
                <a:noFill/>
                <a:ln w="101600">
                  <a:solidFill>
                    <a:schemeClr val="accent2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B050"/>
                    </a:solidFill>
                  </a:endParaRPr>
                </a:p>
              </p:txBody>
            </p:sp>
          </p:grp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72DE7980-913E-368C-1173-769B7E6B5660}"/>
                  </a:ext>
                </a:extLst>
              </p:cNvPr>
              <p:cNvCxnSpPr>
                <a:cxnSpLocks/>
                <a:stCxn id="16" idx="5"/>
              </p:cNvCxnSpPr>
              <p:nvPr/>
            </p:nvCxnSpPr>
            <p:spPr>
              <a:xfrm flipV="1">
                <a:off x="6806386" y="1228099"/>
                <a:ext cx="300338" cy="510811"/>
              </a:xfrm>
              <a:prstGeom prst="straightConnector1">
                <a:avLst/>
              </a:prstGeom>
              <a:ln w="1016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29A67CD4-930A-9890-D52E-AC55AD18D4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23407" y="2822298"/>
                <a:ext cx="265948" cy="3296"/>
              </a:xfrm>
              <a:prstGeom prst="line">
                <a:avLst/>
              </a:prstGeom>
              <a:ln w="101600">
                <a:solidFill>
                  <a:schemeClr val="accent2"/>
                </a:solidFill>
                <a:prstDash val="sysDot"/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6178080-2552-FC82-4DDA-A2FEDAA216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7323" y="2365420"/>
              <a:ext cx="335311" cy="1862929"/>
            </a:xfrm>
            <a:prstGeom prst="line">
              <a:avLst/>
            </a:prstGeom>
            <a:ln w="127000"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4E2B98-F1F3-3D24-60F3-8DF7C1BEE18A}"/>
                  </a:ext>
                </a:extLst>
              </p:cNvPr>
              <p:cNvSpPr txBox="1"/>
              <p:nvPr/>
            </p:nvSpPr>
            <p:spPr>
              <a:xfrm>
                <a:off x="198907" y="5838587"/>
                <a:ext cx="617847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  <m:r>
                        <a:rPr lang="en-US" sz="24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4E2B98-F1F3-3D24-60F3-8DF7C1BEE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07" y="5838587"/>
                <a:ext cx="6178474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EB55B5-39FD-F931-48E0-D600D1FAB3DF}"/>
                  </a:ext>
                </a:extLst>
              </p:cNvPr>
              <p:cNvSpPr txBox="1"/>
              <p:nvPr/>
            </p:nvSpPr>
            <p:spPr>
              <a:xfrm>
                <a:off x="6992469" y="1829076"/>
                <a:ext cx="495338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EB55B5-39FD-F931-48E0-D600D1FAB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2469" y="1829076"/>
                <a:ext cx="495338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CCCF5B-5414-5113-4E5B-3EA72E26C74E}"/>
                  </a:ext>
                </a:extLst>
              </p:cNvPr>
              <p:cNvSpPr txBox="1"/>
              <p:nvPr/>
            </p:nvSpPr>
            <p:spPr>
              <a:xfrm>
                <a:off x="3874624" y="790133"/>
                <a:ext cx="530409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𝑷</m:t>
                      </m:r>
                      <m:r>
                        <a:rPr lang="en-US" sz="2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=…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CCCF5B-5414-5113-4E5B-3EA72E26C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4624" y="790133"/>
                <a:ext cx="530409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9696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EBBD42D-8977-9242-B057-68E86B95597A}"/>
              </a:ext>
            </a:extLst>
          </p:cNvPr>
          <p:cNvSpPr txBox="1"/>
          <p:nvPr/>
        </p:nvSpPr>
        <p:spPr>
          <a:xfrm>
            <a:off x="0" y="-8297"/>
            <a:ext cx="1219199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Thomson and Clausius-Clapeyron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3CFC12D-73D0-E59E-CDD6-449B8CCFD35F}"/>
              </a:ext>
            </a:extLst>
          </p:cNvPr>
          <p:cNvGrpSpPr>
            <a:grpSpLocks noChangeAspect="1"/>
          </p:cNvGrpSpPr>
          <p:nvPr/>
        </p:nvGrpSpPr>
        <p:grpSpPr>
          <a:xfrm>
            <a:off x="2726908" y="1040130"/>
            <a:ext cx="6173307" cy="5360670"/>
            <a:chOff x="5752033" y="2076249"/>
            <a:chExt cx="3148181" cy="29889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53445C0-5C3B-ACE0-9506-BBC5EE1F355D}"/>
                </a:ext>
              </a:extLst>
            </p:cNvPr>
            <p:cNvGrpSpPr/>
            <p:nvPr/>
          </p:nvGrpSpPr>
          <p:grpSpPr>
            <a:xfrm>
              <a:off x="5752033" y="2076249"/>
              <a:ext cx="3148181" cy="2988982"/>
              <a:chOff x="4270169" y="240930"/>
              <a:chExt cx="3148181" cy="2988982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6C51BCC-0710-E307-8B4A-DDDA871159D6}"/>
                  </a:ext>
                </a:extLst>
              </p:cNvPr>
              <p:cNvGrpSpPr/>
              <p:nvPr/>
            </p:nvGrpSpPr>
            <p:grpSpPr>
              <a:xfrm>
                <a:off x="4270169" y="240930"/>
                <a:ext cx="3148181" cy="2988982"/>
                <a:chOff x="8122016" y="738525"/>
                <a:chExt cx="3611879" cy="3372641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6C07A136-4183-FB1C-6CD2-2A25C4718203}"/>
                    </a:ext>
                  </a:extLst>
                </p:cNvPr>
                <p:cNvGrpSpPr/>
                <p:nvPr/>
              </p:nvGrpSpPr>
              <p:grpSpPr>
                <a:xfrm>
                  <a:off x="8122016" y="738525"/>
                  <a:ext cx="3611879" cy="3372641"/>
                  <a:chOff x="223734" y="1499666"/>
                  <a:chExt cx="3074185" cy="3352100"/>
                </a:xfrm>
              </p:grpSpPr>
              <p:pic>
                <p:nvPicPr>
                  <p:cNvPr id="21" name="Picture 2" descr="Image result for phase diagrams">
                    <a:extLst>
                      <a:ext uri="{FF2B5EF4-FFF2-40B4-BE49-F238E27FC236}">
                        <a16:creationId xmlns:a16="http://schemas.microsoft.com/office/drawing/2014/main" id="{B02FFC04-6796-6B91-9455-DFE5AFF9EAB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3773" b="5795"/>
                  <a:stretch/>
                </p:blipFill>
                <p:spPr bwMode="auto">
                  <a:xfrm>
                    <a:off x="406438" y="1828307"/>
                    <a:ext cx="2891481" cy="2632482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F1A91B7E-B855-3172-968C-0D3F30A1E92C}"/>
                      </a:ext>
                    </a:extLst>
                  </p:cNvPr>
                  <p:cNvSpPr/>
                  <p:nvPr/>
                </p:nvSpPr>
                <p:spPr>
                  <a:xfrm>
                    <a:off x="223734" y="1499666"/>
                    <a:ext cx="34336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P</a:t>
                    </a:r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8A8993CD-4258-338C-6076-655D93EF54B8}"/>
                      </a:ext>
                    </a:extLst>
                  </p:cNvPr>
                  <p:cNvSpPr/>
                  <p:nvPr/>
                </p:nvSpPr>
                <p:spPr>
                  <a:xfrm>
                    <a:off x="2347899" y="4390101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</p:grpSp>
            <p:sp>
              <p:nvSpPr>
                <p:cNvPr id="16" name="Freeform 15">
                  <a:extLst>
                    <a:ext uri="{FF2B5EF4-FFF2-40B4-BE49-F238E27FC236}">
                      <a16:creationId xmlns:a16="http://schemas.microsoft.com/office/drawing/2014/main" id="{C15AEEE5-031D-6A0E-EEC5-9F70817F5717}"/>
                    </a:ext>
                  </a:extLst>
                </p:cNvPr>
                <p:cNvSpPr/>
                <p:nvPr/>
              </p:nvSpPr>
              <p:spPr>
                <a:xfrm>
                  <a:off x="9483213" y="1968497"/>
                  <a:ext cx="1823428" cy="1241951"/>
                </a:xfrm>
                <a:custGeom>
                  <a:avLst/>
                  <a:gdLst>
                    <a:gd name="connsiteX0" fmla="*/ 0 w 1823428"/>
                    <a:gd name="connsiteY0" fmla="*/ 1241951 h 1241951"/>
                    <a:gd name="connsiteX1" fmla="*/ 353961 w 1823428"/>
                    <a:gd name="connsiteY1" fmla="*/ 1153461 h 1241951"/>
                    <a:gd name="connsiteX2" fmla="*/ 693174 w 1823428"/>
                    <a:gd name="connsiteY2" fmla="*/ 1064970 h 1241951"/>
                    <a:gd name="connsiteX3" fmla="*/ 988142 w 1823428"/>
                    <a:gd name="connsiteY3" fmla="*/ 917486 h 1241951"/>
                    <a:gd name="connsiteX4" fmla="*/ 1283110 w 1823428"/>
                    <a:gd name="connsiteY4" fmla="*/ 725757 h 1241951"/>
                    <a:gd name="connsiteX5" fmla="*/ 1548581 w 1823428"/>
                    <a:gd name="connsiteY5" fmla="*/ 460286 h 1241951"/>
                    <a:gd name="connsiteX6" fmla="*/ 1799303 w 1823428"/>
                    <a:gd name="connsiteY6" fmla="*/ 32583 h 1241951"/>
                    <a:gd name="connsiteX7" fmla="*/ 1799303 w 1823428"/>
                    <a:gd name="connsiteY7" fmla="*/ 62080 h 1241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23428" h="1241951">
                      <a:moveTo>
                        <a:pt x="0" y="1241951"/>
                      </a:moveTo>
                      <a:lnTo>
                        <a:pt x="353961" y="1153461"/>
                      </a:lnTo>
                      <a:cubicBezTo>
                        <a:pt x="469490" y="1123964"/>
                        <a:pt x="587477" y="1104299"/>
                        <a:pt x="693174" y="1064970"/>
                      </a:cubicBezTo>
                      <a:cubicBezTo>
                        <a:pt x="798871" y="1025641"/>
                        <a:pt x="889819" y="974021"/>
                        <a:pt x="988142" y="917486"/>
                      </a:cubicBezTo>
                      <a:cubicBezTo>
                        <a:pt x="1086465" y="860950"/>
                        <a:pt x="1189704" y="801957"/>
                        <a:pt x="1283110" y="725757"/>
                      </a:cubicBezTo>
                      <a:cubicBezTo>
                        <a:pt x="1376517" y="649557"/>
                        <a:pt x="1462549" y="575815"/>
                        <a:pt x="1548581" y="460286"/>
                      </a:cubicBezTo>
                      <a:cubicBezTo>
                        <a:pt x="1634613" y="344757"/>
                        <a:pt x="1757516" y="98951"/>
                        <a:pt x="1799303" y="32583"/>
                      </a:cubicBezTo>
                      <a:cubicBezTo>
                        <a:pt x="1841090" y="-33785"/>
                        <a:pt x="1820196" y="14147"/>
                        <a:pt x="1799303" y="62080"/>
                      </a:cubicBezTo>
                    </a:path>
                  </a:pathLst>
                </a:custGeom>
                <a:noFill/>
                <a:ln w="1016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7" name="Freeform 16">
                  <a:extLst>
                    <a:ext uri="{FF2B5EF4-FFF2-40B4-BE49-F238E27FC236}">
                      <a16:creationId xmlns:a16="http://schemas.microsoft.com/office/drawing/2014/main" id="{BFF593EA-869C-00EA-93EE-B0A51E7EC686}"/>
                    </a:ext>
                  </a:extLst>
                </p:cNvPr>
                <p:cNvSpPr/>
                <p:nvPr/>
              </p:nvSpPr>
              <p:spPr>
                <a:xfrm>
                  <a:off x="8409904" y="3258355"/>
                  <a:ext cx="991673" cy="402963"/>
                </a:xfrm>
                <a:custGeom>
                  <a:avLst/>
                  <a:gdLst>
                    <a:gd name="connsiteX0" fmla="*/ 0 w 991673"/>
                    <a:gd name="connsiteY0" fmla="*/ 399245 h 402963"/>
                    <a:gd name="connsiteX1" fmla="*/ 218941 w 991673"/>
                    <a:gd name="connsiteY1" fmla="*/ 399245 h 402963"/>
                    <a:gd name="connsiteX2" fmla="*/ 360609 w 991673"/>
                    <a:gd name="connsiteY2" fmla="*/ 360608 h 402963"/>
                    <a:gd name="connsiteX3" fmla="*/ 579550 w 991673"/>
                    <a:gd name="connsiteY3" fmla="*/ 283335 h 402963"/>
                    <a:gd name="connsiteX4" fmla="*/ 721217 w 991673"/>
                    <a:gd name="connsiteY4" fmla="*/ 218941 h 402963"/>
                    <a:gd name="connsiteX5" fmla="*/ 875764 w 991673"/>
                    <a:gd name="connsiteY5" fmla="*/ 103031 h 402963"/>
                    <a:gd name="connsiteX6" fmla="*/ 991673 w 991673"/>
                    <a:gd name="connsiteY6" fmla="*/ 0 h 402963"/>
                    <a:gd name="connsiteX7" fmla="*/ 991673 w 991673"/>
                    <a:gd name="connsiteY7" fmla="*/ 0 h 402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91673" h="402963">
                      <a:moveTo>
                        <a:pt x="0" y="399245"/>
                      </a:moveTo>
                      <a:cubicBezTo>
                        <a:pt x="79419" y="402465"/>
                        <a:pt x="158839" y="405685"/>
                        <a:pt x="218941" y="399245"/>
                      </a:cubicBezTo>
                      <a:cubicBezTo>
                        <a:pt x="279043" y="392805"/>
                        <a:pt x="300508" y="379926"/>
                        <a:pt x="360609" y="360608"/>
                      </a:cubicBezTo>
                      <a:cubicBezTo>
                        <a:pt x="420711" y="341290"/>
                        <a:pt x="519449" y="306946"/>
                        <a:pt x="579550" y="283335"/>
                      </a:cubicBezTo>
                      <a:cubicBezTo>
                        <a:pt x="639651" y="259724"/>
                        <a:pt x="671848" y="248992"/>
                        <a:pt x="721217" y="218941"/>
                      </a:cubicBezTo>
                      <a:cubicBezTo>
                        <a:pt x="770586" y="188890"/>
                        <a:pt x="830688" y="139521"/>
                        <a:pt x="875764" y="103031"/>
                      </a:cubicBezTo>
                      <a:cubicBezTo>
                        <a:pt x="920840" y="66541"/>
                        <a:pt x="991673" y="0"/>
                        <a:pt x="991673" y="0"/>
                      </a:cubicBezTo>
                      <a:lnTo>
                        <a:pt x="991673" y="0"/>
                      </a:lnTo>
                    </a:path>
                  </a:pathLst>
                </a:custGeom>
                <a:noFill/>
                <a:ln w="101600">
                  <a:solidFill>
                    <a:schemeClr val="accent2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B050"/>
                    </a:solidFill>
                  </a:endParaRPr>
                </a:p>
              </p:txBody>
            </p:sp>
          </p:grp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72DE7980-913E-368C-1173-769B7E6B5660}"/>
                  </a:ext>
                </a:extLst>
              </p:cNvPr>
              <p:cNvCxnSpPr>
                <a:cxnSpLocks/>
                <a:stCxn id="16" idx="5"/>
              </p:cNvCxnSpPr>
              <p:nvPr/>
            </p:nvCxnSpPr>
            <p:spPr>
              <a:xfrm flipV="1">
                <a:off x="6806386" y="1228099"/>
                <a:ext cx="300338" cy="510811"/>
              </a:xfrm>
              <a:prstGeom prst="straightConnector1">
                <a:avLst/>
              </a:prstGeom>
              <a:ln w="1016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29A67CD4-930A-9890-D52E-AC55AD18D4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23407" y="2822298"/>
                <a:ext cx="265948" cy="3296"/>
              </a:xfrm>
              <a:prstGeom prst="line">
                <a:avLst/>
              </a:prstGeom>
              <a:ln w="101600">
                <a:solidFill>
                  <a:schemeClr val="accent2"/>
                </a:solidFill>
                <a:prstDash val="sysDot"/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6178080-2552-FC82-4DDA-A2FEDAA216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7323" y="2365420"/>
              <a:ext cx="335311" cy="1862929"/>
            </a:xfrm>
            <a:prstGeom prst="line">
              <a:avLst/>
            </a:prstGeom>
            <a:ln w="127000"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4E2B98-F1F3-3D24-60F3-8DF7C1BEE18A}"/>
                  </a:ext>
                </a:extLst>
              </p:cNvPr>
              <p:cNvSpPr txBox="1"/>
              <p:nvPr/>
            </p:nvSpPr>
            <p:spPr>
              <a:xfrm>
                <a:off x="198907" y="5838587"/>
                <a:ext cx="6178474" cy="922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r>
                      <a:rPr lang="en-US" sz="24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2400" b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𝐞𝐱𝐩</m:t>
                    </m:r>
                    <m:r>
                      <a:rPr lang="en-US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𝑯</m:t>
                                </m:r>
                              </m:e>
                              <m:sub>
                                <m:r>
                                  <a:rPr lang="en-US" sz="24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𝒔𝒖𝒃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𝒏𝑹</m:t>
                            </m:r>
                          </m:den>
                        </m:f>
                        <m:r>
                          <a:rPr lang="en-US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sz="24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24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</m:den>
                            </m:f>
                            <m:r>
                              <a:rPr lang="en-US" sz="24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4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b="1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2400" b="1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4E2B98-F1F3-3D24-60F3-8DF7C1BEE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07" y="5838587"/>
                <a:ext cx="6178474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EB55B5-39FD-F931-48E0-D600D1FAB3DF}"/>
                  </a:ext>
                </a:extLst>
              </p:cNvPr>
              <p:cNvSpPr txBox="1"/>
              <p:nvPr/>
            </p:nvSpPr>
            <p:spPr>
              <a:xfrm>
                <a:off x="6992469" y="1829076"/>
                <a:ext cx="4953389" cy="1046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400" b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𝐞𝐱𝐩</m:t>
                      </m:r>
                      <m:r>
                        <a:rPr lang="en-US" sz="24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𝒗𝒂𝒑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𝒏𝑹</m:t>
                              </m:r>
                            </m:den>
                          </m:f>
                          <m:r>
                            <a:rPr lang="en-US" sz="2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sz="24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  <m:r>
                                <a:rPr lang="en-US" sz="24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1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𝑻</m:t>
                                      </m:r>
                                    </m:e>
                                    <m:sub>
                                      <m:r>
                                        <a:rPr lang="en-US" sz="2400" b="1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EB55B5-39FD-F931-48E0-D600D1FAB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2469" y="1829076"/>
                <a:ext cx="4953389" cy="10468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CCCF5B-5414-5113-4E5B-3EA72E26C74E}"/>
                  </a:ext>
                </a:extLst>
              </p:cNvPr>
              <p:cNvSpPr txBox="1"/>
              <p:nvPr/>
            </p:nvSpPr>
            <p:spPr>
              <a:xfrm>
                <a:off x="3874624" y="790133"/>
                <a:ext cx="5304099" cy="7346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𝑷</m:t>
                    </m:r>
                    <m:r>
                      <a:rPr lang="en-US" sz="2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𝟑</m:t>
                        </m:r>
                      </m:sub>
                    </m:sSub>
                    <m:r>
                      <a:rPr lang="en-US" sz="24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+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𝒇𝒖𝒔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𝒇𝒖𝒔</m:t>
                            </m:r>
                          </m:sub>
                        </m:sSub>
                      </m:den>
                    </m:f>
                    <m:r>
                      <a:rPr lang="en-US" sz="2400" b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𝐥𝐧</m:t>
                    </m:r>
                    <m:r>
                      <a:rPr lang="en-US" sz="24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den>
                    </m:f>
                    <m:r>
                      <a:rPr lang="en-US" sz="24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CCCF5B-5414-5113-4E5B-3EA72E26C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4624" y="790133"/>
                <a:ext cx="5304099" cy="734625"/>
              </a:xfrm>
              <a:prstGeom prst="rect">
                <a:avLst/>
              </a:prstGeom>
              <a:blipFill>
                <a:blip r:embed="rId5"/>
                <a:stretch>
                  <a:fillRect l="-478" b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2419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740B56-597A-268B-DF85-8F19D4B8D858}"/>
              </a:ext>
            </a:extLst>
          </p:cNvPr>
          <p:cNvSpPr txBox="1"/>
          <p:nvPr/>
        </p:nvSpPr>
        <p:spPr>
          <a:xfrm>
            <a:off x="0" y="2662"/>
            <a:ext cx="1219199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Let’s get started on these ideas in Python 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6EBD78-4FA3-C855-B3B2-A9FA9168B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80904"/>
            <a:ext cx="4697503" cy="433394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04A10B-58FF-A04E-F142-6B2D8863B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070" y="5039360"/>
            <a:ext cx="7696200" cy="16256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73852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2101</TotalTime>
  <Words>917</Words>
  <Application>Microsoft Macintosh PowerPoint</Application>
  <PresentationFormat>Widescreen</PresentationFormat>
  <Paragraphs>134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Steven</cp:lastModifiedBy>
  <cp:revision>76</cp:revision>
  <dcterms:created xsi:type="dcterms:W3CDTF">2018-08-27T04:38:29Z</dcterms:created>
  <dcterms:modified xsi:type="dcterms:W3CDTF">2025-10-25T18:19:44Z</dcterms:modified>
</cp:coreProperties>
</file>