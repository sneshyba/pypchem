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35" r:id="rId2"/>
    <p:sldId id="293" r:id="rId3"/>
    <p:sldId id="323" r:id="rId4"/>
    <p:sldId id="324" r:id="rId5"/>
    <p:sldId id="321" r:id="rId6"/>
    <p:sldId id="320" r:id="rId7"/>
    <p:sldId id="325" r:id="rId8"/>
    <p:sldId id="295" r:id="rId9"/>
    <p:sldId id="344" r:id="rId10"/>
    <p:sldId id="322" r:id="rId11"/>
    <p:sldId id="294" r:id="rId12"/>
    <p:sldId id="336" r:id="rId13"/>
    <p:sldId id="348" r:id="rId14"/>
    <p:sldId id="352" r:id="rId15"/>
    <p:sldId id="34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05"/>
    <p:restoredTop sz="95958"/>
  </p:normalViewPr>
  <p:slideViewPr>
    <p:cSldViewPr snapToGrid="0">
      <p:cViewPr varScale="1">
        <p:scale>
          <a:sx n="112" d="100"/>
          <a:sy n="112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79F9-5B1E-1648-AF3C-2C1AF863F43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1D577-57C5-5C4B-B01D-08DB51AB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6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3945F-F427-474F-B6AF-8DAE1BEEBD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51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3945F-F427-474F-B6AF-8DAE1BEEBD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7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F895-A403-7D0C-EBC0-79C08CC53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39FA1-2B70-8D6F-355C-E9DCEDE32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6CE10-8351-D9BA-4852-597DF1D5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7E61F-ABCB-CA44-A540-A0E8F390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0F504-239C-3455-3599-C73EBE1F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77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1996D-52E2-BE51-0DB0-56F2C41D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46BDA-B52F-748F-67B0-7AE6A935B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1BEB5-AEDB-D573-A149-9AB0642D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75720-A719-1160-809B-DB7B80D5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3CB47-1AAA-86D9-55E5-A324BA7B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0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0ABC5-425A-6CBC-E6E5-E9858717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9E5ED-81CF-6E18-C04B-D77141AC0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4E12-0912-B9B5-2B83-74FD447B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16CEA-2E06-A62D-B857-F8A9D6C4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06FFB-1984-72C6-5192-ED0BEC49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1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1925-61D2-331B-357A-EE13E73F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3DA40-7CB6-8DD4-4321-3B130182C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E0020-A564-6197-94D1-47739DD58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CF9B9-8608-88A3-C521-79145BD9F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6D503-208E-C2DB-6BB3-874F2EBB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B57D9-C231-F028-492C-F1154DBE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7A31-5C3B-731D-8297-A8FAE9B33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C4FA7-DE22-CC8C-3330-DCB52F8BA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9F2F4-313C-6A02-1056-B90E775AB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3A0C35-590F-434B-5E62-A88ADBC98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6585D-61AA-972C-3982-6B6635401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A7D0E-7139-0C3B-999A-45D92C32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3D94FD-72EB-1D8C-CB38-8E677120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60360C-BD29-6CFE-C2DF-962E26FA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2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6238-4DE7-72DE-DBDE-AB3A7A5F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0D3443-F969-44C9-5799-02230D60B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24374-49E6-722A-450B-B333CD45A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9EEFE-7E25-57F3-E243-F43BFC22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8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06542-6EC6-2ADB-88EF-C4BD8423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0DE2F-A599-FE20-C8D4-71B81E3C0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D2793-39D0-030C-034A-5CB7523A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4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822F-A773-4960-F9BA-4669B1D5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5B24D-C761-F782-8806-0D510DB5E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0143D-C062-C067-9220-5D5D6E0CA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4E38C-F899-F90D-D79F-B4FDA326F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4DA83-5F89-C452-9FDF-B4B175DA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0B762-67C6-6B20-6A46-DD9FB2CD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3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E774-059F-BD68-B6D4-710256CB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A20DCD-8303-9D06-9124-D805EC68C0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60E37-64DA-6D17-C405-4DCF718D7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B8D95-FA42-F7A5-27E9-276799A6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915E0-B790-D206-8593-7A1F0189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64B84-D624-613E-4CB9-8A33DC654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4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8D762-EFBA-57B3-20E8-BCCA6CDD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D1931-5AFE-FBE1-0D24-60FAD2881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89ABF-20B3-995B-0607-AD82AC3FF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06C2D-D2CC-A856-7857-74EF3774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0948C-6E0A-CC96-E07E-F50E0743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5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AB7E26-3EA4-7A7C-318B-0C803B49B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52CE9-6032-EB24-39A4-EA3D57D6D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B62CA-6E8A-0B31-5CB8-DF9B369B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C6BCB-98C8-5FB7-625F-EBC3D944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CA607-A52C-7CBF-1CE8-8622D96C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5A0BC-0E57-F6DE-3065-EC2CDF7FD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5AC99-2B36-0CAF-D094-7D2B31686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DE70F-7339-638F-3DA0-F9AFEB395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26E15-733C-3348-943A-F6D9281AD5E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65A1C-BD55-EA77-3EB8-B5F292E63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5952-4FDF-29A7-61F2-40B9E5B11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35AD6-072A-9542-92AF-D25B29724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7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limate.nasa.gov/news/3012/nasa-led-study-reveals-the-causes-of-sea-level-rise-since-190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imate.nasa.gov/news/3012/nasa-led-study-reveals-the-causes-of-sea-level-rise-since-190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a.gov/climate-indicators/climate-change-indicators-sea-surface-temperatur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ccpo.odu.edu/~atkinson/OCN306/lec42/img019.jpg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4.gi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27.png"/><Relationship Id="rId4" Type="http://schemas.openxmlformats.org/officeDocument/2006/relationships/image" Target="../media/image400.png"/><Relationship Id="rId9" Type="http://schemas.openxmlformats.org/officeDocument/2006/relationships/image" Target="../media/image2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Thermodynamics and global sea level rise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D2CAB4-2A6F-9040-AC7D-FB7E5583349C}"/>
              </a:ext>
            </a:extLst>
          </p:cNvPr>
          <p:cNvSpPr/>
          <p:nvPr/>
        </p:nvSpPr>
        <p:spPr>
          <a:xfrm>
            <a:off x="172995" y="6165502"/>
            <a:ext cx="8591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does thermodynamics have to say about this?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F72A4-E5E5-1D40-8D3F-E36FC5003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38" y="606656"/>
            <a:ext cx="9943306" cy="51257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90D2FCB-847B-8141-B689-ABA89E5EA0B2}"/>
              </a:ext>
            </a:extLst>
          </p:cNvPr>
          <p:cNvSpPr txBox="1"/>
          <p:nvPr/>
        </p:nvSpPr>
        <p:spPr>
          <a:xfrm>
            <a:off x="2305448" y="802474"/>
            <a:ext cx="6147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https://climate.nasa.gov/news/3012/nasa-led-study-reveals-the-causes-of-sea-level-rise-since-1900</a:t>
            </a:r>
            <a:r>
              <a:rPr lang="en-US" sz="1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98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isobaric thermal expansivity (focusing on the oceans)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89648" y="493608"/>
                <a:ext cx="10381129" cy="850554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sSub>
                        <m:sSub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" y="493608"/>
                <a:ext cx="10381129" cy="850554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/>
              <p:nvPr/>
            </p:nvSpPr>
            <p:spPr>
              <a:xfrm>
                <a:off x="89648" y="1846291"/>
                <a:ext cx="8591214" cy="33715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Solids and liquids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endParaRPr lang="en-US" sz="2400" dirty="0"/>
              </a:p>
              <a:p>
                <a:endParaRPr lang="en-US" sz="2400" b="1" dirty="0"/>
              </a:p>
              <a:p>
                <a:r>
                  <a:rPr lang="en-US" sz="2400" b="1" dirty="0"/>
                  <a:t>Example</a:t>
                </a:r>
                <a:r>
                  <a:rPr lang="en-US" sz="2400" dirty="0"/>
                  <a:t>: Liquid water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0.00021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b="1" dirty="0"/>
                  <a:t>That means the relative change in volume is </a:t>
                </a:r>
                <a:endParaRPr lang="en-US" sz="2400" dirty="0"/>
              </a:p>
              <a:p>
                <a:endParaRPr lang="en-US" sz="2400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b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" y="1846291"/>
                <a:ext cx="8591214" cy="3371564"/>
              </a:xfrm>
              <a:prstGeom prst="rect">
                <a:avLst/>
              </a:prstGeom>
              <a:blipFill>
                <a:blip r:embed="rId3"/>
                <a:stretch>
                  <a:fillRect l="-1182" t="-1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9CAFFE4-FBB5-3A4D-AC1C-5E03BFC575B2}"/>
              </a:ext>
            </a:extLst>
          </p:cNvPr>
          <p:cNvSpPr/>
          <p:nvPr/>
        </p:nvSpPr>
        <p:spPr>
          <a:xfrm>
            <a:off x="8086165" y="2133600"/>
            <a:ext cx="594697" cy="457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6C1172-E2F3-4C4F-B6B5-0302ACCD8E86}"/>
              </a:ext>
            </a:extLst>
          </p:cNvPr>
          <p:cNvSpPr/>
          <p:nvPr/>
        </p:nvSpPr>
        <p:spPr>
          <a:xfrm>
            <a:off x="9271019" y="1828800"/>
            <a:ext cx="594697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28693B-D9D5-404F-8F62-F41B9484A163}"/>
                  </a:ext>
                </a:extLst>
              </p:cNvPr>
              <p:cNvSpPr txBox="1"/>
              <p:nvPr/>
            </p:nvSpPr>
            <p:spPr>
              <a:xfrm>
                <a:off x="7140812" y="3701533"/>
                <a:ext cx="13005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28693B-D9D5-404F-8F62-F41B9484A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812" y="3701533"/>
                <a:ext cx="130054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1C398A-86C9-1248-A6E1-87F37D7DA401}"/>
                  </a:ext>
                </a:extLst>
              </p:cNvPr>
              <p:cNvSpPr txBox="1"/>
              <p:nvPr/>
            </p:nvSpPr>
            <p:spPr>
              <a:xfrm>
                <a:off x="9825528" y="1696649"/>
                <a:ext cx="8186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1C398A-86C9-1248-A6E1-87F37D7DA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528" y="1696649"/>
                <a:ext cx="81863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A568C3-66A6-7C4F-B2B0-B9CDC5E18419}"/>
              </a:ext>
            </a:extLst>
          </p:cNvPr>
          <p:cNvCxnSpPr/>
          <p:nvPr/>
        </p:nvCxnSpPr>
        <p:spPr>
          <a:xfrm>
            <a:off x="9106930" y="2133600"/>
            <a:ext cx="96382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97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isobaric thermal expansivity (focusing on the oceans)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89648" y="493608"/>
                <a:ext cx="10381129" cy="850554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sSub>
                        <m:sSub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" y="493608"/>
                <a:ext cx="10381129" cy="850554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/>
              <p:nvPr/>
            </p:nvSpPr>
            <p:spPr>
              <a:xfrm>
                <a:off x="89648" y="1610097"/>
                <a:ext cx="8591214" cy="22708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 given column of water, this means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" y="1610097"/>
                <a:ext cx="8591214" cy="2270878"/>
              </a:xfrm>
              <a:prstGeom prst="rect">
                <a:avLst/>
              </a:prstGeom>
              <a:blipFill>
                <a:blip r:embed="rId3"/>
                <a:stretch>
                  <a:fillRect l="-1182" t="-2222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9CAFFE4-FBB5-3A4D-AC1C-5E03BFC575B2}"/>
              </a:ext>
            </a:extLst>
          </p:cNvPr>
          <p:cNvSpPr/>
          <p:nvPr/>
        </p:nvSpPr>
        <p:spPr>
          <a:xfrm>
            <a:off x="8086165" y="2133600"/>
            <a:ext cx="594697" cy="457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6C1172-E2F3-4C4F-B6B5-0302ACCD8E86}"/>
              </a:ext>
            </a:extLst>
          </p:cNvPr>
          <p:cNvSpPr/>
          <p:nvPr/>
        </p:nvSpPr>
        <p:spPr>
          <a:xfrm>
            <a:off x="9271019" y="1828800"/>
            <a:ext cx="594697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15E6DF-8264-ED40-9C23-F9020DD254CC}"/>
              </a:ext>
            </a:extLst>
          </p:cNvPr>
          <p:cNvCxnSpPr/>
          <p:nvPr/>
        </p:nvCxnSpPr>
        <p:spPr>
          <a:xfrm>
            <a:off x="10094259" y="1828800"/>
            <a:ext cx="0" cy="3048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F17951-87F5-3142-97ED-797D00EE233C}"/>
                  </a:ext>
                </a:extLst>
              </p:cNvPr>
              <p:cNvSpPr txBox="1"/>
              <p:nvPr/>
            </p:nvSpPr>
            <p:spPr>
              <a:xfrm>
                <a:off x="9865659" y="1757084"/>
                <a:ext cx="14119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F17951-87F5-3142-97ED-797D00EE2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659" y="1757084"/>
                <a:ext cx="141194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3928DC-6062-C445-AC5A-77577A4E1363}"/>
                  </a:ext>
                </a:extLst>
              </p:cNvPr>
              <p:cNvSpPr txBox="1"/>
              <p:nvPr/>
            </p:nvSpPr>
            <p:spPr>
              <a:xfrm>
                <a:off x="6623463" y="3591792"/>
                <a:ext cx="14119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3928DC-6062-C445-AC5A-77577A4E1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463" y="3591792"/>
                <a:ext cx="141194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7DA969-D8F3-8140-9937-30896AA1BD6F}"/>
              </a:ext>
            </a:extLst>
          </p:cNvPr>
          <p:cNvCxnSpPr>
            <a:cxnSpLocks/>
          </p:cNvCxnSpPr>
          <p:nvPr/>
        </p:nvCxnSpPr>
        <p:spPr>
          <a:xfrm>
            <a:off x="7808260" y="2133600"/>
            <a:ext cx="0" cy="45720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77654D-0337-894C-81E8-5D61B0BC1D67}"/>
              </a:ext>
            </a:extLst>
          </p:cNvPr>
          <p:cNvCxnSpPr/>
          <p:nvPr/>
        </p:nvCxnSpPr>
        <p:spPr>
          <a:xfrm>
            <a:off x="9106930" y="2133600"/>
            <a:ext cx="96382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846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isobaric thermal expansivity (focusing on the oceans)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89648" y="493608"/>
                <a:ext cx="10381129" cy="850554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sSub>
                        <m:sSub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" y="493608"/>
                <a:ext cx="10381129" cy="850554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/>
              <p:nvPr/>
            </p:nvSpPr>
            <p:spPr>
              <a:xfrm>
                <a:off x="89648" y="1610097"/>
                <a:ext cx="8591214" cy="33788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 given column of water, this means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pPr marL="457200" indent="-457200">
                  <a:buAutoNum type="arabicPeriod"/>
                </a:pPr>
                <a:r>
                  <a:rPr lang="en-US" sz="2400" dirty="0"/>
                  <a:t>What’s the value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? </a:t>
                </a:r>
              </a:p>
              <a:p>
                <a:pPr marL="457200" indent="-457200">
                  <a:buFontTx/>
                  <a:buAutoNum type="arabicPeriod"/>
                </a:pPr>
                <a:r>
                  <a:rPr lang="en-US" sz="2400" dirty="0"/>
                  <a:t>What’s the value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? 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" y="1610097"/>
                <a:ext cx="8591214" cy="3378874"/>
              </a:xfrm>
              <a:prstGeom prst="rect">
                <a:avLst/>
              </a:prstGeom>
              <a:blipFill>
                <a:blip r:embed="rId3"/>
                <a:stretch>
                  <a:fillRect l="-1182" t="-1498" b="-3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9CAFFE4-FBB5-3A4D-AC1C-5E03BFC575B2}"/>
              </a:ext>
            </a:extLst>
          </p:cNvPr>
          <p:cNvSpPr/>
          <p:nvPr/>
        </p:nvSpPr>
        <p:spPr>
          <a:xfrm>
            <a:off x="8086165" y="2133600"/>
            <a:ext cx="594697" cy="457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6C1172-E2F3-4C4F-B6B5-0302ACCD8E86}"/>
              </a:ext>
            </a:extLst>
          </p:cNvPr>
          <p:cNvSpPr/>
          <p:nvPr/>
        </p:nvSpPr>
        <p:spPr>
          <a:xfrm>
            <a:off x="9271019" y="1828800"/>
            <a:ext cx="594697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15E6DF-8264-ED40-9C23-F9020DD254CC}"/>
              </a:ext>
            </a:extLst>
          </p:cNvPr>
          <p:cNvCxnSpPr/>
          <p:nvPr/>
        </p:nvCxnSpPr>
        <p:spPr>
          <a:xfrm>
            <a:off x="10094259" y="1828800"/>
            <a:ext cx="0" cy="3048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F17951-87F5-3142-97ED-797D00EE233C}"/>
                  </a:ext>
                </a:extLst>
              </p:cNvPr>
              <p:cNvSpPr txBox="1"/>
              <p:nvPr/>
            </p:nvSpPr>
            <p:spPr>
              <a:xfrm>
                <a:off x="9865659" y="1757084"/>
                <a:ext cx="14119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F17951-87F5-3142-97ED-797D00EE2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659" y="1757084"/>
                <a:ext cx="141194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3928DC-6062-C445-AC5A-77577A4E1363}"/>
                  </a:ext>
                </a:extLst>
              </p:cNvPr>
              <p:cNvSpPr txBox="1"/>
              <p:nvPr/>
            </p:nvSpPr>
            <p:spPr>
              <a:xfrm>
                <a:off x="6623463" y="3591792"/>
                <a:ext cx="14119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3928DC-6062-C445-AC5A-77577A4E1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463" y="3591792"/>
                <a:ext cx="141194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7DA969-D8F3-8140-9937-30896AA1BD6F}"/>
              </a:ext>
            </a:extLst>
          </p:cNvPr>
          <p:cNvCxnSpPr>
            <a:cxnSpLocks/>
          </p:cNvCxnSpPr>
          <p:nvPr/>
        </p:nvCxnSpPr>
        <p:spPr>
          <a:xfrm>
            <a:off x="7808260" y="2133600"/>
            <a:ext cx="0" cy="45720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77654D-0337-894C-81E8-5D61B0BC1D67}"/>
              </a:ext>
            </a:extLst>
          </p:cNvPr>
          <p:cNvCxnSpPr/>
          <p:nvPr/>
        </p:nvCxnSpPr>
        <p:spPr>
          <a:xfrm>
            <a:off x="9106930" y="2133600"/>
            <a:ext cx="96382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2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964E78-B1BB-EA4E-9FCE-2DD7D3B39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89"/>
          <a:stretch/>
        </p:blipFill>
        <p:spPr>
          <a:xfrm>
            <a:off x="376518" y="914400"/>
            <a:ext cx="8352865" cy="4849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0DF51D-7B6B-AE4B-B501-F3E6F9222F39}"/>
              </a:ext>
            </a:extLst>
          </p:cNvPr>
          <p:cNvSpPr txBox="1"/>
          <p:nvPr/>
        </p:nvSpPr>
        <p:spPr>
          <a:xfrm>
            <a:off x="1739154" y="5763870"/>
            <a:ext cx="10076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https://www.epa.gov/climate-indicators/climate-change-indicators-sea-surface-temperature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47D565-FE27-8E40-9948-6429AD85754D}"/>
              </a:ext>
            </a:extLst>
          </p:cNvPr>
          <p:cNvSpPr txBox="1"/>
          <p:nvPr/>
        </p:nvSpPr>
        <p:spPr>
          <a:xfrm>
            <a:off x="0" y="-95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Global sea surface temperature, 1880-2020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1DD23C-38E4-6340-AC78-3168D1F84F79}"/>
                  </a:ext>
                </a:extLst>
              </p:cNvPr>
              <p:cNvSpPr txBox="1"/>
              <p:nvPr/>
            </p:nvSpPr>
            <p:spPr>
              <a:xfrm>
                <a:off x="8501449" y="2125362"/>
                <a:ext cx="331403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Looks like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for the ocean </a:t>
                </a:r>
                <a:r>
                  <a:rPr lang="en-US" sz="2400" b="1" dirty="0"/>
                  <a:t>surface</a:t>
                </a:r>
                <a:r>
                  <a:rPr lang="en-US" sz="2400" dirty="0"/>
                  <a:t>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0.8 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1DD23C-38E4-6340-AC78-3168D1F84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449" y="2125362"/>
                <a:ext cx="3314033" cy="830997"/>
              </a:xfrm>
              <a:prstGeom prst="rect">
                <a:avLst/>
              </a:prstGeom>
              <a:blipFill>
                <a:blip r:embed="rId4"/>
                <a:stretch>
                  <a:fillRect l="-3053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4A6611-93E2-C747-917C-F32804D871EF}"/>
              </a:ext>
            </a:extLst>
          </p:cNvPr>
          <p:cNvCxnSpPr>
            <a:cxnSpLocks/>
          </p:cNvCxnSpPr>
          <p:nvPr/>
        </p:nvCxnSpPr>
        <p:spPr>
          <a:xfrm>
            <a:off x="3719384" y="2125362"/>
            <a:ext cx="0" cy="140867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5EB779-EC9F-5F40-B5B6-0953A525D12E}"/>
                  </a:ext>
                </a:extLst>
              </p:cNvPr>
              <p:cNvSpPr txBox="1"/>
              <p:nvPr/>
            </p:nvSpPr>
            <p:spPr>
              <a:xfrm>
                <a:off x="2522330" y="1663697"/>
                <a:ext cx="31123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℉=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5EB779-EC9F-5F40-B5B6-0953A525D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330" y="1663697"/>
                <a:ext cx="3112347" cy="461665"/>
              </a:xfrm>
              <a:prstGeom prst="rect">
                <a:avLst/>
              </a:prstGeom>
              <a:blipFill>
                <a:blip r:embed="rId5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364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6C356CC-DB82-0B45-8C31-C6503FC6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958"/>
          <a:stretch/>
        </p:blipFill>
        <p:spPr>
          <a:xfrm>
            <a:off x="7422598" y="894310"/>
            <a:ext cx="3683121" cy="19562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E17830-4473-AD48-908D-C88DC1C2921C}"/>
              </a:ext>
            </a:extLst>
          </p:cNvPr>
          <p:cNvSpPr txBox="1"/>
          <p:nvPr/>
        </p:nvSpPr>
        <p:spPr>
          <a:xfrm>
            <a:off x="850363" y="615547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tos.org</a:t>
            </a:r>
            <a:r>
              <a:rPr lang="en-US" dirty="0"/>
              <a:t>/oceanography/article/southern-ocean-warming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BBD7A2-003E-E540-AAE8-9680F8E7F6FB}"/>
              </a:ext>
            </a:extLst>
          </p:cNvPr>
          <p:cNvSpPr txBox="1"/>
          <p:nvPr/>
        </p:nvSpPr>
        <p:spPr>
          <a:xfrm>
            <a:off x="0" y="-95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Depth of the warming (Southern Ocean)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72ACC0-5EC4-AC41-8B33-A27EB8D401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802"/>
          <a:stretch/>
        </p:blipFill>
        <p:spPr>
          <a:xfrm>
            <a:off x="61778" y="897276"/>
            <a:ext cx="6886643" cy="50634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ABE06A-A489-D242-8B2F-E5D1C2863275}"/>
                  </a:ext>
                </a:extLst>
              </p:cNvPr>
              <p:cNvSpPr txBox="1"/>
              <p:nvPr/>
            </p:nvSpPr>
            <p:spPr>
              <a:xfrm>
                <a:off x="7791686" y="2828835"/>
                <a:ext cx="331403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Looks like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sz="2400" dirty="0"/>
                  <a:t> for the ocean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1000 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(we’d have to do an integration to get this right)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ABE06A-A489-D242-8B2F-E5D1C2863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686" y="2828835"/>
                <a:ext cx="3314033" cy="2308324"/>
              </a:xfrm>
              <a:prstGeom prst="rect">
                <a:avLst/>
              </a:prstGeom>
              <a:blipFill>
                <a:blip r:embed="rId3"/>
                <a:stretch>
                  <a:fillRect l="-3053" t="-1639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65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#1 in </a:t>
            </a:r>
            <a:r>
              <a:rPr lang="en-US" sz="2400" b="1" dirty="0" err="1"/>
              <a:t>GeophysicalApplications</a:t>
            </a:r>
            <a:r>
              <a:rPr lang="en-US" sz="2400" b="1" dirty="0"/>
              <a:t>: Predicting sea level rise due to thermal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89648" y="485436"/>
                <a:ext cx="10381129" cy="850554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sSub>
                        <m:sSub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" y="485436"/>
                <a:ext cx="10381129" cy="850554"/>
              </a:xfrm>
              <a:prstGeom prst="rect">
                <a:avLst/>
              </a:prstGeom>
              <a:blipFill>
                <a:blip r:embed="rId2"/>
                <a:stretch>
                  <a:fillRect b="-1429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/>
              <p:nvPr/>
            </p:nvSpPr>
            <p:spPr>
              <a:xfrm>
                <a:off x="89648" y="1610097"/>
                <a:ext cx="7292543" cy="33788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 given column of water, this means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r>
                  <a:rPr lang="en-US" sz="2400" b="1" dirty="0"/>
                  <a:t>Problem #1</a:t>
                </a:r>
                <a:r>
                  <a:rPr lang="en-US" sz="2400" dirty="0"/>
                  <a:t> has you calculating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as of the year 2018 (you should get a value a little less than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170 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𝑚𝑚</m:t>
                    </m:r>
                  </m:oMath>
                </a14:m>
                <a:r>
                  <a:rPr lang="en-US" sz="2400" dirty="0"/>
                  <a:t>).</a:t>
                </a:r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" y="1610097"/>
                <a:ext cx="7292543" cy="3378874"/>
              </a:xfrm>
              <a:prstGeom prst="rect">
                <a:avLst/>
              </a:prstGeom>
              <a:blipFill>
                <a:blip r:embed="rId3"/>
                <a:stretch>
                  <a:fillRect l="-1391" t="-1498" b="-3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9CAFFE4-FBB5-3A4D-AC1C-5E03BFC575B2}"/>
              </a:ext>
            </a:extLst>
          </p:cNvPr>
          <p:cNvSpPr/>
          <p:nvPr/>
        </p:nvSpPr>
        <p:spPr>
          <a:xfrm>
            <a:off x="8086165" y="2133600"/>
            <a:ext cx="594697" cy="457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6C1172-E2F3-4C4F-B6B5-0302ACCD8E86}"/>
              </a:ext>
            </a:extLst>
          </p:cNvPr>
          <p:cNvSpPr/>
          <p:nvPr/>
        </p:nvSpPr>
        <p:spPr>
          <a:xfrm>
            <a:off x="9271019" y="1828800"/>
            <a:ext cx="594697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15E6DF-8264-ED40-9C23-F9020DD254CC}"/>
              </a:ext>
            </a:extLst>
          </p:cNvPr>
          <p:cNvCxnSpPr/>
          <p:nvPr/>
        </p:nvCxnSpPr>
        <p:spPr>
          <a:xfrm>
            <a:off x="10094259" y="1828800"/>
            <a:ext cx="0" cy="3048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F17951-87F5-3142-97ED-797D00EE233C}"/>
                  </a:ext>
                </a:extLst>
              </p:cNvPr>
              <p:cNvSpPr txBox="1"/>
              <p:nvPr/>
            </p:nvSpPr>
            <p:spPr>
              <a:xfrm>
                <a:off x="9865659" y="1757084"/>
                <a:ext cx="14119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F17951-87F5-3142-97ED-797D00EE2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659" y="1757084"/>
                <a:ext cx="141194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3928DC-6062-C445-AC5A-77577A4E1363}"/>
                  </a:ext>
                </a:extLst>
              </p:cNvPr>
              <p:cNvSpPr txBox="1"/>
              <p:nvPr/>
            </p:nvSpPr>
            <p:spPr>
              <a:xfrm>
                <a:off x="6623463" y="3591792"/>
                <a:ext cx="14119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3928DC-6062-C445-AC5A-77577A4E1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463" y="3591792"/>
                <a:ext cx="141194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7DA969-D8F3-8140-9937-30896AA1BD6F}"/>
              </a:ext>
            </a:extLst>
          </p:cNvPr>
          <p:cNvCxnSpPr>
            <a:cxnSpLocks/>
          </p:cNvCxnSpPr>
          <p:nvPr/>
        </p:nvCxnSpPr>
        <p:spPr>
          <a:xfrm>
            <a:off x="7808260" y="2133600"/>
            <a:ext cx="0" cy="45720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77654D-0337-894C-81E8-5D61B0BC1D67}"/>
              </a:ext>
            </a:extLst>
          </p:cNvPr>
          <p:cNvCxnSpPr/>
          <p:nvPr/>
        </p:nvCxnSpPr>
        <p:spPr>
          <a:xfrm>
            <a:off x="9106930" y="2133600"/>
            <a:ext cx="96382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405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824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Next: the isothermal compressibility (of water)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215152" y="839387"/>
                <a:ext cx="11557123" cy="693138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dirty="0"/>
                  <a:t> … for small changes in pressure, we can say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den>
                    </m:f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52" y="839387"/>
                <a:ext cx="11557123" cy="693138"/>
              </a:xfrm>
              <a:prstGeom prst="rect">
                <a:avLst/>
              </a:prstGeom>
              <a:blipFill>
                <a:blip r:embed="rId3"/>
                <a:stretch>
                  <a:fillRect b="-1754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/>
              <p:nvPr/>
            </p:nvSpPr>
            <p:spPr>
              <a:xfrm>
                <a:off x="388773" y="2706967"/>
                <a:ext cx="6114897" cy="1943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400" dirty="0"/>
                  <a:t> is the density of the substance.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Solids and liquids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en-US" sz="2400" b="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Example</a:t>
                </a:r>
                <a:r>
                  <a:rPr lang="en-US" sz="2400" dirty="0"/>
                  <a:t>: liquid water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400" b="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e>
                      <m:sup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73" y="2706967"/>
                <a:ext cx="6114897" cy="1943161"/>
              </a:xfrm>
              <a:prstGeom prst="rect">
                <a:avLst/>
              </a:prstGeom>
              <a:blipFill>
                <a:blip r:embed="rId4"/>
                <a:stretch>
                  <a:fillRect l="-1449" t="-1948" b="-5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485A0B22-DE87-096F-321E-B1D8BBD32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1" b="15765"/>
          <a:stretch/>
        </p:blipFill>
        <p:spPr bwMode="auto">
          <a:xfrm>
            <a:off x="6378264" y="2598990"/>
            <a:ext cx="5320863" cy="242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4EC008-A7AD-2C54-FDE3-DCAF648C05D5}"/>
              </a:ext>
            </a:extLst>
          </p:cNvPr>
          <p:cNvSpPr txBox="1"/>
          <p:nvPr/>
        </p:nvSpPr>
        <p:spPr>
          <a:xfrm>
            <a:off x="7678641" y="5311270"/>
            <a:ext cx="3345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6"/>
              </a:rPr>
              <a:t>http://</a:t>
            </a:r>
            <a:r>
              <a:rPr lang="en-US" sz="800" dirty="0" err="1">
                <a:hlinkClick r:id="rId6"/>
              </a:rPr>
              <a:t>www.ccpo.odu.edu</a:t>
            </a:r>
            <a:r>
              <a:rPr lang="en-US" sz="800" dirty="0">
                <a:hlinkClick r:id="rId6"/>
              </a:rPr>
              <a:t>/~</a:t>
            </a:r>
            <a:r>
              <a:rPr lang="en-US" sz="800" dirty="0" err="1">
                <a:hlinkClick r:id="rId6"/>
              </a:rPr>
              <a:t>atkinson</a:t>
            </a:r>
            <a:r>
              <a:rPr lang="en-US" sz="800" dirty="0">
                <a:hlinkClick r:id="rId6"/>
              </a:rPr>
              <a:t>/OCN306/lec42/img019.jpg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88101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824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#2 in </a:t>
            </a:r>
            <a:r>
              <a:rPr lang="en-US" sz="2400" b="1" dirty="0" err="1"/>
              <a:t>GeophysicalApplications</a:t>
            </a:r>
            <a:r>
              <a:rPr lang="en-US" sz="2400" b="1" dirty="0"/>
              <a:t>: the isothermal compressibility (of water)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215152" y="839387"/>
                <a:ext cx="11557123" cy="693138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dirty="0"/>
                  <a:t> … for small changes in pressure, we can say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den>
                    </m:f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52" y="839387"/>
                <a:ext cx="11557123" cy="693138"/>
              </a:xfrm>
              <a:prstGeom prst="rect">
                <a:avLst/>
              </a:prstGeom>
              <a:blipFill>
                <a:blip r:embed="rId3"/>
                <a:stretch>
                  <a:fillRect b="-1754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/>
              <p:nvPr/>
            </p:nvSpPr>
            <p:spPr>
              <a:xfrm>
                <a:off x="215151" y="1827291"/>
                <a:ext cx="7186661" cy="40127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Application: </a:t>
                </a:r>
                <a:r>
                  <a:rPr lang="en-US" sz="2400" dirty="0"/>
                  <a:t>The Titanic sank to a depth where the pressure is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00 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𝑏𝑎𝑟</m:t>
                    </m:r>
                  </m:oMath>
                </a14:m>
                <a:r>
                  <a:rPr lang="en-US" sz="2400" dirty="0"/>
                  <a:t>. What’s the </a:t>
                </a:r>
                <a:r>
                  <a:rPr lang="en-US" sz="2400" b="1" dirty="0"/>
                  <a:t>relative density change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US" sz="2400" dirty="0"/>
                  <a:t>) there?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sz="24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5×1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𝑏𝑎𝑟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400 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𝑏𝑎𝑟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(i.e., water is about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2% </a:t>
                </a:r>
                <a:r>
                  <a:rPr lang="en-US" sz="2400" dirty="0"/>
                  <a:t>more dense there).</a:t>
                </a:r>
              </a:p>
              <a:p>
                <a:r>
                  <a:rPr lang="en-US" sz="2400" dirty="0"/>
                  <a:t> </a:t>
                </a:r>
              </a:p>
              <a:p>
                <a:r>
                  <a:rPr lang="en-US" sz="2400" b="1" dirty="0"/>
                  <a:t>Problem #2</a:t>
                </a:r>
                <a:r>
                  <a:rPr lang="en-US" sz="2400" dirty="0"/>
                  <a:t> takes you even deeper …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51" y="1827291"/>
                <a:ext cx="7186661" cy="4012765"/>
              </a:xfrm>
              <a:prstGeom prst="rect">
                <a:avLst/>
              </a:prstGeom>
              <a:blipFill>
                <a:blip r:embed="rId4"/>
                <a:stretch>
                  <a:fillRect l="-1235" t="-1266" b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2B1F77B0-15D9-20EA-BB9C-804303BB2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522" y="1827291"/>
            <a:ext cx="4244959" cy="238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0862B8-328E-5D06-43E5-39BA121D3B6F}"/>
              </a:ext>
            </a:extLst>
          </p:cNvPr>
          <p:cNvSpPr txBox="1"/>
          <p:nvPr/>
        </p:nvSpPr>
        <p:spPr>
          <a:xfrm>
            <a:off x="9074552" y="1918493"/>
            <a:ext cx="2572220" cy="3718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2.4 miles (13,000 feet)</a:t>
            </a:r>
          </a:p>
        </p:txBody>
      </p:sp>
    </p:spTree>
    <p:extLst>
      <p:ext uri="{BB962C8B-B14F-4D97-AF65-F5344CB8AC3E}">
        <p14:creationId xmlns:p14="http://schemas.microsoft.com/office/powerpoint/2010/main" val="392166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11723" y="2305"/>
            <a:ext cx="1220372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#3 in </a:t>
            </a:r>
            <a:r>
              <a:rPr lang="en-US" sz="2400" b="1" dirty="0" err="1"/>
              <a:t>GeophysicalApplications</a:t>
            </a:r>
            <a:r>
              <a:rPr lang="en-US" sz="2400" b="1" dirty="0"/>
              <a:t>: the isothermal compressibility of an </a:t>
            </a:r>
            <a:r>
              <a:rPr lang="en-US" sz="2400" b="1" i="1" dirty="0"/>
              <a:t>ideal gas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/>
              <p:nvPr/>
            </p:nvSpPr>
            <p:spPr>
              <a:xfrm>
                <a:off x="143436" y="1729341"/>
                <a:ext cx="11772275" cy="26818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Before, we said liquid water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=5×1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, and we used it to show that water should be 5% denser at the bottom of the ocean.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We’d expect the isothermal compressibility of </a:t>
                </a:r>
                <a:r>
                  <a:rPr lang="en-US" sz="2400" b="1" dirty="0"/>
                  <a:t>gases</a:t>
                </a:r>
                <a:r>
                  <a:rPr lang="en-US" sz="2400" dirty="0"/>
                  <a:t> to be </a:t>
                </a:r>
                <a:r>
                  <a:rPr lang="en-US" sz="2400" b="1" dirty="0"/>
                  <a:t>a lot bigger</a:t>
                </a:r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Blackboard</a:t>
                </a:r>
                <a:r>
                  <a:rPr lang="en-US" sz="2400" dirty="0"/>
                  <a:t>: Derive an algebraic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dirty="0"/>
                  <a:t>, assuming an ideal gas.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Problem #3</a:t>
                </a:r>
                <a:r>
                  <a:rPr lang="en-US" sz="2400" dirty="0"/>
                  <a:t> has you compute a numerical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dirty="0"/>
                  <a:t> under typical Earthly conditions.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6" y="1729341"/>
                <a:ext cx="11772275" cy="2681824"/>
              </a:xfrm>
              <a:prstGeom prst="rect">
                <a:avLst/>
              </a:prstGeom>
              <a:blipFill>
                <a:blip r:embed="rId2"/>
                <a:stretch>
                  <a:fillRect l="-862" t="-1415" b="-4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B2FF52-0C0E-D344-A820-2DED01BD77DC}"/>
                  </a:ext>
                </a:extLst>
              </p:cNvPr>
              <p:cNvSpPr/>
              <p:nvPr/>
            </p:nvSpPr>
            <p:spPr>
              <a:xfrm>
                <a:off x="3268312" y="724291"/>
                <a:ext cx="2333835" cy="693138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B2FF52-0C0E-D344-A820-2DED01BD7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312" y="724291"/>
                <a:ext cx="2333835" cy="693138"/>
              </a:xfrm>
              <a:prstGeom prst="rect">
                <a:avLst/>
              </a:prstGeom>
              <a:blipFill>
                <a:blip r:embed="rId3"/>
                <a:stretch>
                  <a:fillRect b="-1754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121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11723" y="2305"/>
            <a:ext cx="1220372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#4 in </a:t>
            </a:r>
            <a:r>
              <a:rPr lang="en-US" sz="2400" b="1" dirty="0" err="1"/>
              <a:t>GeophysicalApplications</a:t>
            </a:r>
            <a:r>
              <a:rPr lang="en-US" sz="2400" b="1" dirty="0"/>
              <a:t>: the isobaric thermal expansivity of an </a:t>
            </a:r>
            <a:r>
              <a:rPr lang="en-US" sz="2400" b="1" i="1" dirty="0"/>
              <a:t>ideal gas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/>
              <p:nvPr/>
            </p:nvSpPr>
            <p:spPr>
              <a:xfrm>
                <a:off x="143436" y="1729341"/>
                <a:ext cx="11926644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Before, we said liquid water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=0.00021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. Although this value has resulted in a sea level rise of 20 cm,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0.00021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is still  pretty small.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We’d expect the thermal expansivity of </a:t>
                </a:r>
                <a:r>
                  <a:rPr lang="en-US" sz="2400" b="1" dirty="0"/>
                  <a:t>gases</a:t>
                </a:r>
                <a:r>
                  <a:rPr lang="en-US" sz="2400" dirty="0"/>
                  <a:t> to be </a:t>
                </a:r>
                <a:r>
                  <a:rPr lang="en-US" sz="2400" b="1" dirty="0"/>
                  <a:t>a lot bigger</a:t>
                </a:r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Blackboard</a:t>
                </a:r>
                <a:r>
                  <a:rPr lang="en-US" sz="2400" dirty="0"/>
                  <a:t>: Derive an algebraic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sz="2400" dirty="0"/>
                  <a:t>, assuming an ideal gas.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Problem #4</a:t>
                </a:r>
                <a:r>
                  <a:rPr lang="en-US" sz="2400" dirty="0"/>
                  <a:t> has you compute a numerical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sz="2400" dirty="0"/>
                  <a:t> under typical Earthly conditions.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6" y="1729341"/>
                <a:ext cx="11926644" cy="2677656"/>
              </a:xfrm>
              <a:prstGeom prst="rect">
                <a:avLst/>
              </a:prstGeom>
              <a:blipFill>
                <a:blip r:embed="rId2"/>
                <a:stretch>
                  <a:fillRect l="-851" t="-1415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B2FF52-0C0E-D344-A820-2DED01BD77DC}"/>
                  </a:ext>
                </a:extLst>
              </p:cNvPr>
              <p:cNvSpPr/>
              <p:nvPr/>
            </p:nvSpPr>
            <p:spPr>
              <a:xfrm>
                <a:off x="652435" y="666871"/>
                <a:ext cx="10852800" cy="693138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sz="2400" dirty="0"/>
                  <a:t> … for small changes in temperature, we can say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B2FF52-0C0E-D344-A820-2DED01BD7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35" y="666871"/>
                <a:ext cx="10852800" cy="6931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459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-11723" y="2305"/>
                <a:ext cx="12203723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Problem #5 in </a:t>
                </a:r>
                <a:r>
                  <a:rPr lang="en-US" sz="2400" b="1" dirty="0" err="1"/>
                  <a:t>GeophysicalApplications</a:t>
                </a:r>
                <a:r>
                  <a:rPr lang="en-US" sz="2400" b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 of </a:t>
                </a:r>
                <a:r>
                  <a:rPr lang="en-US" sz="2400" b="1" dirty="0" err="1"/>
                  <a:t>Blagdon’s</a:t>
                </a:r>
                <a:r>
                  <a:rPr lang="en-US" sz="2400" b="1" dirty="0"/>
                  <a:t> Law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723" y="2305"/>
                <a:ext cx="12203723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D8640A1-1F37-6F43-8CC3-E993D47EED8D}"/>
              </a:ext>
            </a:extLst>
          </p:cNvPr>
          <p:cNvGrpSpPr/>
          <p:nvPr/>
        </p:nvGrpSpPr>
        <p:grpSpPr>
          <a:xfrm>
            <a:off x="106077" y="784929"/>
            <a:ext cx="3607990" cy="3182749"/>
            <a:chOff x="1654383" y="1617994"/>
            <a:chExt cx="4394724" cy="383716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22160B6-E73C-F447-8E57-94790D4CCAFB}"/>
                </a:ext>
              </a:extLst>
            </p:cNvPr>
            <p:cNvGrpSpPr/>
            <p:nvPr/>
          </p:nvGrpSpPr>
          <p:grpSpPr>
            <a:xfrm>
              <a:off x="1654383" y="1617994"/>
              <a:ext cx="4394724" cy="3837168"/>
              <a:chOff x="406437" y="1828307"/>
              <a:chExt cx="2891481" cy="2736082"/>
            </a:xfrm>
          </p:grpSpPr>
          <p:pic>
            <p:nvPicPr>
              <p:cNvPr id="12" name="Picture 2" descr="Image result for phase diagrams">
                <a:extLst>
                  <a:ext uri="{FF2B5EF4-FFF2-40B4-BE49-F238E27FC236}">
                    <a16:creationId xmlns:a16="http://schemas.microsoft.com/office/drawing/2014/main" id="{8DE4C621-6608-C245-9A00-D8ACD526C3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73" b="5795"/>
              <a:stretch/>
            </p:blipFill>
            <p:spPr bwMode="auto">
              <a:xfrm>
                <a:off x="406437" y="1828307"/>
                <a:ext cx="2891481" cy="26324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936F1C3-96CF-1141-9BF8-C01E52C4B834}"/>
                  </a:ext>
                </a:extLst>
              </p:cNvPr>
              <p:cNvSpPr/>
              <p:nvPr/>
            </p:nvSpPr>
            <p:spPr>
              <a:xfrm>
                <a:off x="524012" y="1860175"/>
                <a:ext cx="34336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P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5E7E2A3-C93F-1F46-8927-070D1E7196C2}"/>
                  </a:ext>
                </a:extLst>
              </p:cNvPr>
              <p:cNvSpPr/>
              <p:nvPr/>
            </p:nvSpPr>
            <p:spPr>
              <a:xfrm>
                <a:off x="2842920" y="4102724"/>
                <a:ext cx="3353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T</a:t>
                </a:r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D023584-0BC8-1E49-8305-4001944FC628}"/>
                </a:ext>
              </a:extLst>
            </p:cNvPr>
            <p:cNvSpPr/>
            <p:nvPr/>
          </p:nvSpPr>
          <p:spPr>
            <a:xfrm>
              <a:off x="2679701" y="3023942"/>
              <a:ext cx="2969102" cy="1929057"/>
            </a:xfrm>
            <a:custGeom>
              <a:avLst/>
              <a:gdLst>
                <a:gd name="connsiteX0" fmla="*/ 0 w 1823428"/>
                <a:gd name="connsiteY0" fmla="*/ 1241951 h 1241951"/>
                <a:gd name="connsiteX1" fmla="*/ 353961 w 1823428"/>
                <a:gd name="connsiteY1" fmla="*/ 1153461 h 1241951"/>
                <a:gd name="connsiteX2" fmla="*/ 693174 w 1823428"/>
                <a:gd name="connsiteY2" fmla="*/ 1064970 h 1241951"/>
                <a:gd name="connsiteX3" fmla="*/ 988142 w 1823428"/>
                <a:gd name="connsiteY3" fmla="*/ 917486 h 1241951"/>
                <a:gd name="connsiteX4" fmla="*/ 1283110 w 1823428"/>
                <a:gd name="connsiteY4" fmla="*/ 725757 h 1241951"/>
                <a:gd name="connsiteX5" fmla="*/ 1548581 w 1823428"/>
                <a:gd name="connsiteY5" fmla="*/ 460286 h 1241951"/>
                <a:gd name="connsiteX6" fmla="*/ 1799303 w 1823428"/>
                <a:gd name="connsiteY6" fmla="*/ 32583 h 1241951"/>
                <a:gd name="connsiteX7" fmla="*/ 1799303 w 1823428"/>
                <a:gd name="connsiteY7" fmla="*/ 62080 h 1241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3428" h="1241951">
                  <a:moveTo>
                    <a:pt x="0" y="1241951"/>
                  </a:moveTo>
                  <a:lnTo>
                    <a:pt x="353961" y="1153461"/>
                  </a:lnTo>
                  <a:cubicBezTo>
                    <a:pt x="469490" y="1123964"/>
                    <a:pt x="587477" y="1104299"/>
                    <a:pt x="693174" y="1064970"/>
                  </a:cubicBezTo>
                  <a:cubicBezTo>
                    <a:pt x="798871" y="1025641"/>
                    <a:pt x="889819" y="974021"/>
                    <a:pt x="988142" y="917486"/>
                  </a:cubicBezTo>
                  <a:cubicBezTo>
                    <a:pt x="1086465" y="860950"/>
                    <a:pt x="1189704" y="801957"/>
                    <a:pt x="1283110" y="725757"/>
                  </a:cubicBezTo>
                  <a:cubicBezTo>
                    <a:pt x="1376517" y="649557"/>
                    <a:pt x="1462549" y="575815"/>
                    <a:pt x="1548581" y="460286"/>
                  </a:cubicBezTo>
                  <a:cubicBezTo>
                    <a:pt x="1634613" y="344757"/>
                    <a:pt x="1757516" y="98951"/>
                    <a:pt x="1799303" y="32583"/>
                  </a:cubicBezTo>
                  <a:cubicBezTo>
                    <a:pt x="1841090" y="-33785"/>
                    <a:pt x="1820196" y="14147"/>
                    <a:pt x="1799303" y="62080"/>
                  </a:cubicBezTo>
                </a:path>
              </a:pathLst>
            </a:custGeom>
            <a:noFill/>
            <a:ln w="101600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84B186-D4F9-8441-816B-10078DDDFC20}"/>
                  </a:ext>
                </a:extLst>
              </p:cNvPr>
              <p:cNvSpPr txBox="1"/>
              <p:nvPr/>
            </p:nvSpPr>
            <p:spPr>
              <a:xfrm>
                <a:off x="7341996" y="1415467"/>
                <a:ext cx="436132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rgbClr val="00B0F0"/>
                    </a:solidFill>
                  </a:rPr>
                  <a:t>Blagden says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en-US" sz="22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sSub>
                      <m:sSubPr>
                        <m:ctrlP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20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84B186-D4F9-8441-816B-10078DDDF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996" y="1415467"/>
                <a:ext cx="4361321" cy="769441"/>
              </a:xfrm>
              <a:prstGeom prst="rect">
                <a:avLst/>
              </a:prstGeom>
              <a:blipFill>
                <a:blip r:embed="rId4"/>
                <a:stretch>
                  <a:fillRect l="-1449" t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onut 16">
            <a:extLst>
              <a:ext uri="{FF2B5EF4-FFF2-40B4-BE49-F238E27FC236}">
                <a16:creationId xmlns:a16="http://schemas.microsoft.com/office/drawing/2014/main" id="{ED02BBAF-B3A6-A34E-B02E-5538D4CDF1AF}"/>
              </a:ext>
            </a:extLst>
          </p:cNvPr>
          <p:cNvSpPr/>
          <p:nvPr/>
        </p:nvSpPr>
        <p:spPr>
          <a:xfrm>
            <a:off x="937910" y="2925898"/>
            <a:ext cx="704394" cy="658004"/>
          </a:xfrm>
          <a:prstGeom prst="donut">
            <a:avLst>
              <a:gd name="adj" fmla="val 105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09BD91-9238-7942-8D2B-4E74D91FC32E}"/>
              </a:ext>
            </a:extLst>
          </p:cNvPr>
          <p:cNvGrpSpPr/>
          <p:nvPr/>
        </p:nvGrpSpPr>
        <p:grpSpPr>
          <a:xfrm>
            <a:off x="7624586" y="2183309"/>
            <a:ext cx="2419912" cy="1485178"/>
            <a:chOff x="6594134" y="3406843"/>
            <a:chExt cx="4086660" cy="285983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7EF1218-EE49-D144-86E6-45C09D59B0BF}"/>
                </a:ext>
              </a:extLst>
            </p:cNvPr>
            <p:cNvGrpSpPr/>
            <p:nvPr/>
          </p:nvGrpSpPr>
          <p:grpSpPr>
            <a:xfrm>
              <a:off x="6594134" y="3406843"/>
              <a:ext cx="4086660" cy="2859837"/>
              <a:chOff x="6308476" y="3897886"/>
              <a:chExt cx="4086660" cy="2859837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7682FAF-8038-7F4B-B647-3EAF9906EFE7}"/>
                  </a:ext>
                </a:extLst>
              </p:cNvPr>
              <p:cNvGrpSpPr/>
              <p:nvPr/>
            </p:nvGrpSpPr>
            <p:grpSpPr>
              <a:xfrm>
                <a:off x="6668396" y="4643304"/>
                <a:ext cx="2845474" cy="1732125"/>
                <a:chOff x="6626831" y="4463192"/>
                <a:chExt cx="2845474" cy="1732125"/>
              </a:xfrm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CA8B1B06-9988-A34D-9B16-1E31B33A1C01}"/>
                    </a:ext>
                  </a:extLst>
                </p:cNvPr>
                <p:cNvCxnSpPr/>
                <p:nvPr/>
              </p:nvCxnSpPr>
              <p:spPr>
                <a:xfrm>
                  <a:off x="6626831" y="4463192"/>
                  <a:ext cx="0" cy="17321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07C6480-5ACE-9D4E-8DDB-23DD314F5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626832" y="6184945"/>
                  <a:ext cx="2845473" cy="103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7A31761-8601-0541-A2D5-E4E637481A59}"/>
                      </a:ext>
                    </a:extLst>
                  </p:cNvPr>
                  <p:cNvSpPr txBox="1"/>
                  <p:nvPr/>
                </p:nvSpPr>
                <p:spPr>
                  <a:xfrm>
                    <a:off x="9372027" y="6134224"/>
                    <a:ext cx="1023109" cy="6234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2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oMath>
                      </m:oMathPara>
                    </a14:m>
                    <a:endParaRPr lang="en-US" sz="2200" b="1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0FBFBDAB-EC97-AF47-97A1-5D2D9EAE27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72027" y="6134224"/>
                    <a:ext cx="1023109" cy="6234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30D2331-947A-1642-8460-CA7883723C7D}"/>
                      </a:ext>
                    </a:extLst>
                  </p:cNvPr>
                  <p:cNvSpPr txBox="1"/>
                  <p:nvPr/>
                </p:nvSpPr>
                <p:spPr>
                  <a:xfrm>
                    <a:off x="6308476" y="3897886"/>
                    <a:ext cx="711116" cy="6234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oMath>
                    </a14:m>
                    <a:r>
                      <a:rPr lang="en-US" sz="2200" dirty="0">
                        <a:solidFill>
                          <a:srgbClr val="7030A0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30D2331-947A-1642-8460-CA7883723C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8476" y="3897886"/>
                    <a:ext cx="711116" cy="6234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941" r="-41176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B53B1D3-DEE6-A444-A6FA-8AE5470285C3}"/>
                  </a:ext>
                </a:extLst>
              </p:cNvPr>
              <p:cNvSpPr/>
              <p:nvPr/>
            </p:nvSpPr>
            <p:spPr>
              <a:xfrm>
                <a:off x="7038109" y="5985162"/>
                <a:ext cx="138546" cy="15018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0408546-0560-4741-BA93-AFF5F8113159}"/>
                  </a:ext>
                </a:extLst>
              </p:cNvPr>
              <p:cNvSpPr/>
              <p:nvPr/>
            </p:nvSpPr>
            <p:spPr>
              <a:xfrm>
                <a:off x="6594762" y="6289967"/>
                <a:ext cx="138546" cy="15018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0D84631-EAD3-ED4D-9D1E-3EC19F2ADCC8}"/>
                  </a:ext>
                </a:extLst>
              </p:cNvPr>
              <p:cNvSpPr/>
              <p:nvPr/>
            </p:nvSpPr>
            <p:spPr>
              <a:xfrm>
                <a:off x="7620002" y="5694214"/>
                <a:ext cx="138546" cy="15018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1CE6550-9638-774A-B6A1-D4B7B5253BC3}"/>
                  </a:ext>
                </a:extLst>
              </p:cNvPr>
              <p:cNvSpPr/>
              <p:nvPr/>
            </p:nvSpPr>
            <p:spPr>
              <a:xfrm>
                <a:off x="8077202" y="5472540"/>
                <a:ext cx="138546" cy="15018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3E26D75-A7C2-AD4C-8DBF-D2254E07B2F4}"/>
                  </a:ext>
                </a:extLst>
              </p:cNvPr>
              <p:cNvSpPr/>
              <p:nvPr/>
            </p:nvSpPr>
            <p:spPr>
              <a:xfrm>
                <a:off x="8589820" y="5250866"/>
                <a:ext cx="138546" cy="15018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DB6E81-197D-734D-8271-151E9F5C14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2110" y="4644900"/>
              <a:ext cx="2364192" cy="12667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4CD1C3-F9C4-8B4F-87F0-678FB3794A69}"/>
                  </a:ext>
                </a:extLst>
              </p:cNvPr>
              <p:cNvSpPr txBox="1"/>
              <p:nvPr/>
            </p:nvSpPr>
            <p:spPr>
              <a:xfrm>
                <a:off x="106077" y="3896122"/>
                <a:ext cx="11833135" cy="1604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Blackboard</a:t>
                </a:r>
                <a:r>
                  <a:rPr lang="en-US" sz="2400" dirty="0"/>
                  <a:t>: 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dirty="0"/>
                  <a:t> is some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𝒇𝒖𝒔</m:t>
                        </m:r>
                      </m:sub>
                    </m:sSub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2400" dirty="0"/>
                  <a:t>, use dimensional analysis to find an algebraic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Problem #5</a:t>
                </a:r>
                <a:r>
                  <a:rPr lang="en-US" sz="2400" dirty="0"/>
                  <a:t>: Use that expression to calculate a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dirty="0"/>
                  <a:t> for water. 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4CD1C3-F9C4-8B4F-87F0-678FB3794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7" y="3896122"/>
                <a:ext cx="11833135" cy="1604670"/>
              </a:xfrm>
              <a:prstGeom prst="rect">
                <a:avLst/>
              </a:prstGeom>
              <a:blipFill>
                <a:blip r:embed="rId10"/>
                <a:stretch>
                  <a:fillRect l="-750" t="-2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785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073BBC-6042-4E6C-ABBF-71C3F629C5E9}"/>
                  </a:ext>
                </a:extLst>
              </p:cNvPr>
              <p:cNvSpPr txBox="1"/>
              <p:nvPr/>
            </p:nvSpPr>
            <p:spPr>
              <a:xfrm>
                <a:off x="-8052" y="2662"/>
                <a:ext cx="12200052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Some notes on the blackboard work on deriving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073BBC-6042-4E6C-ABBF-71C3F629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52" y="2662"/>
                <a:ext cx="12200052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55354F6-9912-5AE6-FA40-121393D49F7B}"/>
              </a:ext>
            </a:extLst>
          </p:cNvPr>
          <p:cNvGrpSpPr/>
          <p:nvPr/>
        </p:nvGrpSpPr>
        <p:grpSpPr>
          <a:xfrm>
            <a:off x="466888" y="1846007"/>
            <a:ext cx="4366315" cy="2429499"/>
            <a:chOff x="552232" y="4162487"/>
            <a:chExt cx="4366315" cy="242949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4C44C4D-C9AD-54BC-BE84-4FC14CE79370}"/>
                </a:ext>
              </a:extLst>
            </p:cNvPr>
            <p:cNvGrpSpPr/>
            <p:nvPr/>
          </p:nvGrpSpPr>
          <p:grpSpPr>
            <a:xfrm>
              <a:off x="720130" y="4700489"/>
              <a:ext cx="3128858" cy="1891497"/>
              <a:chOff x="6594134" y="3406843"/>
              <a:chExt cx="4086660" cy="285983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7B3AB8A3-9254-C52F-2CC3-C8B28D67F80C}"/>
                  </a:ext>
                </a:extLst>
              </p:cNvPr>
              <p:cNvGrpSpPr/>
              <p:nvPr/>
            </p:nvGrpSpPr>
            <p:grpSpPr>
              <a:xfrm>
                <a:off x="6594134" y="3406843"/>
                <a:ext cx="4086660" cy="2859837"/>
                <a:chOff x="6308476" y="3897886"/>
                <a:chExt cx="4086660" cy="285983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D864083-64A0-1E4E-12D3-AC80AF5FDFDF}"/>
                    </a:ext>
                  </a:extLst>
                </p:cNvPr>
                <p:cNvGrpSpPr/>
                <p:nvPr/>
              </p:nvGrpSpPr>
              <p:grpSpPr>
                <a:xfrm>
                  <a:off x="6668396" y="4643304"/>
                  <a:ext cx="2845474" cy="1732125"/>
                  <a:chOff x="6626831" y="4463192"/>
                  <a:chExt cx="2845474" cy="1732125"/>
                </a:xfrm>
              </p:grpSpPr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C1E781D8-A88A-B77F-289D-C73FD1851DA9}"/>
                      </a:ext>
                    </a:extLst>
                  </p:cNvPr>
                  <p:cNvCxnSpPr/>
                  <p:nvPr/>
                </p:nvCxnSpPr>
                <p:spPr>
                  <a:xfrm>
                    <a:off x="6626831" y="4463192"/>
                    <a:ext cx="0" cy="17321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AEAC2AED-C4C8-0F3C-7336-18C38707BB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26832" y="6184945"/>
                    <a:ext cx="2845473" cy="1037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F28A06-D715-24EC-2ADF-968BB6A395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1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200" b="1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b="1" dirty="0"/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F28A06-D715-24EC-2ADF-968BB6A395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606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CF27EAB7-CF28-21ED-4827-86421A1D80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08476" y="3897886"/>
                      <a:ext cx="711116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2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a14:m>
                      <a:r>
                        <a:rPr lang="en-US" sz="2200" dirty="0">
                          <a:solidFill>
                            <a:srgbClr val="7030A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CF27EAB7-CF28-21ED-4827-86421A1D80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08476" y="3897886"/>
                      <a:ext cx="711116" cy="6234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9091"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C8A425A7-8AE9-66DB-2225-1DD1BC42F2AC}"/>
                    </a:ext>
                  </a:extLst>
                </p:cNvPr>
                <p:cNvSpPr/>
                <p:nvPr/>
              </p:nvSpPr>
              <p:spPr>
                <a:xfrm>
                  <a:off x="7038109" y="5985162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721D772-2BBE-C193-4B9C-1DFCFEFEDF15}"/>
                    </a:ext>
                  </a:extLst>
                </p:cNvPr>
                <p:cNvSpPr/>
                <p:nvPr/>
              </p:nvSpPr>
              <p:spPr>
                <a:xfrm>
                  <a:off x="6594762" y="6289967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62B1AB7-A4D6-EF35-7B5D-067CF77F22C6}"/>
                    </a:ext>
                  </a:extLst>
                </p:cNvPr>
                <p:cNvSpPr/>
                <p:nvPr/>
              </p:nvSpPr>
              <p:spPr>
                <a:xfrm>
                  <a:off x="7620002" y="5694214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C0DDF029-27ED-C59B-59A1-4309EFB8AA00}"/>
                    </a:ext>
                  </a:extLst>
                </p:cNvPr>
                <p:cNvSpPr/>
                <p:nvPr/>
              </p:nvSpPr>
              <p:spPr>
                <a:xfrm>
                  <a:off x="8077202" y="5472540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DA87DC3-64B6-78DE-3077-68BC82187802}"/>
                    </a:ext>
                  </a:extLst>
                </p:cNvPr>
                <p:cNvSpPr/>
                <p:nvPr/>
              </p:nvSpPr>
              <p:spPr>
                <a:xfrm>
                  <a:off x="8589820" y="5250866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6D3A59D-52DD-2048-C75D-3CB3A162A0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2110" y="4644900"/>
                <a:ext cx="2364192" cy="12667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84AA29-AB6A-03E7-149D-2A6646F50469}"/>
                    </a:ext>
                  </a:extLst>
                </p:cNvPr>
                <p:cNvSpPr txBox="1"/>
                <p:nvPr/>
              </p:nvSpPr>
              <p:spPr>
                <a:xfrm>
                  <a:off x="552232" y="4162487"/>
                  <a:ext cx="436631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tx1"/>
                      </a:solidFill>
                    </a:rPr>
                    <a:t>Blagden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a14:m>
                  <a:endPara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84AA29-AB6A-03E7-149D-2A6646F50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2" y="4162487"/>
                  <a:ext cx="436631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29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F6781C-BE73-0EF0-C87C-83B213F21268}"/>
                  </a:ext>
                </a:extLst>
              </p:cNvPr>
              <p:cNvSpPr txBox="1"/>
              <p:nvPr/>
            </p:nvSpPr>
            <p:spPr>
              <a:xfrm>
                <a:off x="4587588" y="543729"/>
                <a:ext cx="7604405" cy="462556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units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must be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𝒌𝒈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𝒎𝒐𝒍</m:t>
                        </m:r>
                      </m:den>
                    </m:f>
                  </m:oMath>
                </a14:m>
                <a:endParaRPr lang="en-US" sz="2400" b="1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It’s reasonable to guess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. Why?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400" dirty="0"/>
                  <a:t> will be </a:t>
                </a:r>
                <a:r>
                  <a:rPr lang="en-US" sz="2400" b="1" dirty="0"/>
                  <a:t>big</a:t>
                </a:r>
                <a:r>
                  <a:rPr lang="en-US" sz="2400" dirty="0"/>
                  <a:t> when the difference between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slopes is </a:t>
                </a:r>
                <a:r>
                  <a:rPr lang="en-US" sz="2400" b="1" dirty="0"/>
                  <a:t>small</a:t>
                </a:r>
                <a:r>
                  <a:rPr lang="en-US" sz="2400" dirty="0"/>
                  <a:t>. That leaves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stuff, where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𝒇𝒖𝒔</m:t>
                        </m:r>
                      </m:sub>
                    </m:sSub>
                  </m:oMath>
                </a14:m>
                <a:r>
                  <a:rPr lang="en-US" sz="2400" dirty="0"/>
                  <a:t> has units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dirty="0"/>
                  <a:t> (or an equivalent), and “stuff” is some function of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mol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g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mol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F6781C-BE73-0EF0-C87C-83B213F2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588" y="543729"/>
                <a:ext cx="7604405" cy="4625562"/>
              </a:xfrm>
              <a:prstGeom prst="rect">
                <a:avLst/>
              </a:prstGeom>
              <a:blipFill>
                <a:blip r:embed="rId6"/>
                <a:stretch>
                  <a:fillRect l="-1165" r="-499" b="-136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561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073BBC-6042-4E6C-ABBF-71C3F629C5E9}"/>
                  </a:ext>
                </a:extLst>
              </p:cNvPr>
              <p:cNvSpPr txBox="1"/>
              <p:nvPr/>
            </p:nvSpPr>
            <p:spPr>
              <a:xfrm>
                <a:off x="-8052" y="2662"/>
                <a:ext cx="12200052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Some notes on the blackboard work on deriving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073BBC-6042-4E6C-ABBF-71C3F629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52" y="2662"/>
                <a:ext cx="12200052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55354F6-9912-5AE6-FA40-121393D49F7B}"/>
              </a:ext>
            </a:extLst>
          </p:cNvPr>
          <p:cNvGrpSpPr/>
          <p:nvPr/>
        </p:nvGrpSpPr>
        <p:grpSpPr>
          <a:xfrm>
            <a:off x="466888" y="1846007"/>
            <a:ext cx="4366315" cy="2429499"/>
            <a:chOff x="552232" y="4162487"/>
            <a:chExt cx="4366315" cy="242949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4C44C4D-C9AD-54BC-BE84-4FC14CE79370}"/>
                </a:ext>
              </a:extLst>
            </p:cNvPr>
            <p:cNvGrpSpPr/>
            <p:nvPr/>
          </p:nvGrpSpPr>
          <p:grpSpPr>
            <a:xfrm>
              <a:off x="720130" y="4700489"/>
              <a:ext cx="3128858" cy="1891497"/>
              <a:chOff x="6594134" y="3406843"/>
              <a:chExt cx="4086660" cy="285983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7B3AB8A3-9254-C52F-2CC3-C8B28D67F80C}"/>
                  </a:ext>
                </a:extLst>
              </p:cNvPr>
              <p:cNvGrpSpPr/>
              <p:nvPr/>
            </p:nvGrpSpPr>
            <p:grpSpPr>
              <a:xfrm>
                <a:off x="6594134" y="3406843"/>
                <a:ext cx="4086660" cy="2859837"/>
                <a:chOff x="6308476" y="3897886"/>
                <a:chExt cx="4086660" cy="285983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D864083-64A0-1E4E-12D3-AC80AF5FDFDF}"/>
                    </a:ext>
                  </a:extLst>
                </p:cNvPr>
                <p:cNvGrpSpPr/>
                <p:nvPr/>
              </p:nvGrpSpPr>
              <p:grpSpPr>
                <a:xfrm>
                  <a:off x="6668396" y="4643304"/>
                  <a:ext cx="2845474" cy="1732125"/>
                  <a:chOff x="6626831" y="4463192"/>
                  <a:chExt cx="2845474" cy="1732125"/>
                </a:xfrm>
              </p:grpSpPr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C1E781D8-A88A-B77F-289D-C73FD1851DA9}"/>
                      </a:ext>
                    </a:extLst>
                  </p:cNvPr>
                  <p:cNvCxnSpPr/>
                  <p:nvPr/>
                </p:nvCxnSpPr>
                <p:spPr>
                  <a:xfrm>
                    <a:off x="6626831" y="4463192"/>
                    <a:ext cx="0" cy="17321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AEAC2AED-C4C8-0F3C-7336-18C38707BB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26832" y="6184945"/>
                    <a:ext cx="2845473" cy="1037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F28A06-D715-24EC-2ADF-968BB6A395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1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200" b="1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b="1" dirty="0"/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F28A06-D715-24EC-2ADF-968BB6A395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606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CF27EAB7-CF28-21ED-4827-86421A1D80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08476" y="3897886"/>
                      <a:ext cx="711116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2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a14:m>
                      <a:r>
                        <a:rPr lang="en-US" sz="2200" dirty="0">
                          <a:solidFill>
                            <a:srgbClr val="7030A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CF27EAB7-CF28-21ED-4827-86421A1D80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08476" y="3897886"/>
                      <a:ext cx="711116" cy="6234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9091"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C8A425A7-8AE9-66DB-2225-1DD1BC42F2AC}"/>
                    </a:ext>
                  </a:extLst>
                </p:cNvPr>
                <p:cNvSpPr/>
                <p:nvPr/>
              </p:nvSpPr>
              <p:spPr>
                <a:xfrm>
                  <a:off x="7038109" y="5985162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721D772-2BBE-C193-4B9C-1DFCFEFEDF15}"/>
                    </a:ext>
                  </a:extLst>
                </p:cNvPr>
                <p:cNvSpPr/>
                <p:nvPr/>
              </p:nvSpPr>
              <p:spPr>
                <a:xfrm>
                  <a:off x="6594762" y="6289967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62B1AB7-A4D6-EF35-7B5D-067CF77F22C6}"/>
                    </a:ext>
                  </a:extLst>
                </p:cNvPr>
                <p:cNvSpPr/>
                <p:nvPr/>
              </p:nvSpPr>
              <p:spPr>
                <a:xfrm>
                  <a:off x="7620002" y="5694214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C0DDF029-27ED-C59B-59A1-4309EFB8AA00}"/>
                    </a:ext>
                  </a:extLst>
                </p:cNvPr>
                <p:cNvSpPr/>
                <p:nvPr/>
              </p:nvSpPr>
              <p:spPr>
                <a:xfrm>
                  <a:off x="8077202" y="5472540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DA87DC3-64B6-78DE-3077-68BC82187802}"/>
                    </a:ext>
                  </a:extLst>
                </p:cNvPr>
                <p:cNvSpPr/>
                <p:nvPr/>
              </p:nvSpPr>
              <p:spPr>
                <a:xfrm>
                  <a:off x="8589820" y="5250866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6D3A59D-52DD-2048-C75D-3CB3A162A0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2110" y="4644900"/>
                <a:ext cx="2364192" cy="12667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84AA29-AB6A-03E7-149D-2A6646F50469}"/>
                    </a:ext>
                  </a:extLst>
                </p:cNvPr>
                <p:cNvSpPr txBox="1"/>
                <p:nvPr/>
              </p:nvSpPr>
              <p:spPr>
                <a:xfrm>
                  <a:off x="552232" y="4162487"/>
                  <a:ext cx="436631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tx1"/>
                      </a:solidFill>
                    </a:rPr>
                    <a:t>Blagden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a14:m>
                  <a:endPara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84AA29-AB6A-03E7-149D-2A6646F50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2" y="4162487"/>
                  <a:ext cx="436631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29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F6781C-BE73-0EF0-C87C-83B213F21268}"/>
                  </a:ext>
                </a:extLst>
              </p:cNvPr>
              <p:cNvSpPr txBox="1"/>
              <p:nvPr/>
            </p:nvSpPr>
            <p:spPr>
              <a:xfrm>
                <a:off x="4587588" y="543729"/>
                <a:ext cx="7604405" cy="60002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units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must be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𝒌𝒈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𝒎𝒐𝒍</m:t>
                        </m:r>
                      </m:den>
                    </m:f>
                  </m:oMath>
                </a14:m>
                <a:endParaRPr lang="en-US" sz="2400" b="1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It’s reasonable to guess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. Why?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400" dirty="0"/>
                  <a:t> will be </a:t>
                </a:r>
                <a:r>
                  <a:rPr lang="en-US" sz="2400" b="1" dirty="0"/>
                  <a:t>big</a:t>
                </a:r>
                <a:r>
                  <a:rPr lang="en-US" sz="2400" dirty="0"/>
                  <a:t> when the difference between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slopes is </a:t>
                </a:r>
                <a:r>
                  <a:rPr lang="en-US" sz="2400" b="1" dirty="0"/>
                  <a:t>small</a:t>
                </a:r>
                <a:r>
                  <a:rPr lang="en-US" sz="2400" dirty="0"/>
                  <a:t>. That leaves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stuff, where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𝒇𝒖𝒔</m:t>
                        </m:r>
                      </m:sub>
                    </m:sSub>
                  </m:oMath>
                </a14:m>
                <a:r>
                  <a:rPr lang="en-US" sz="2400" dirty="0"/>
                  <a:t> has units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dirty="0"/>
                  <a:t> (or an equivalent), and “stuff” is some function of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mol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g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mol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/>
                <a:r>
                  <a:rPr lang="en-US" sz="2200" dirty="0"/>
                  <a:t>Spoiler alert: the combination that works 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  <m:sup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𝑶</m:t>
                            </m:r>
                          </m:sub>
                        </m:sSub>
                      </m:num>
                      <m:den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𝟖𝟔</m:t>
                    </m:r>
                    <m:f>
                      <m:f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𝒌𝒈</m:t>
                        </m:r>
                      </m:num>
                      <m:den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𝒎𝒐𝒍</m:t>
                        </m:r>
                      </m:den>
                    </m:f>
                  </m:oMath>
                </a14:m>
                <a:r>
                  <a:rPr lang="en-US" sz="2200" dirty="0"/>
                  <a:t> (for water)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F6781C-BE73-0EF0-C87C-83B213F2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588" y="543729"/>
                <a:ext cx="7604405" cy="6000297"/>
              </a:xfrm>
              <a:prstGeom prst="rect">
                <a:avLst/>
              </a:prstGeom>
              <a:blipFill>
                <a:blip r:embed="rId6"/>
                <a:stretch>
                  <a:fillRect l="-1165" r="-49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15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073BBC-6042-4E6C-ABBF-71C3F629C5E9}"/>
              </a:ext>
            </a:extLst>
          </p:cNvPr>
          <p:cNvSpPr txBox="1"/>
          <p:nvPr/>
        </p:nvSpPr>
        <p:spPr>
          <a:xfrm>
            <a:off x="-6818" y="2662"/>
            <a:ext cx="1217566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57052B-E398-6AB6-7204-7A6A3ECF6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722" y="2249170"/>
            <a:ext cx="8251878" cy="26657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2480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976</Words>
  <Application>Microsoft Macintosh PowerPoint</Application>
  <PresentationFormat>Widescreen</PresentationFormat>
  <Paragraphs>121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25</cp:revision>
  <dcterms:created xsi:type="dcterms:W3CDTF">2024-10-22T03:55:08Z</dcterms:created>
  <dcterms:modified xsi:type="dcterms:W3CDTF">2025-10-30T15:48:56Z</dcterms:modified>
</cp:coreProperties>
</file>