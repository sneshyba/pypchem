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32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82"/>
  </p:normalViewPr>
  <p:slideViewPr>
    <p:cSldViewPr snapToGrid="0">
      <p:cViewPr varScale="1">
        <p:scale>
          <a:sx n="106" d="100"/>
          <a:sy n="106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48EE3-C9FD-488C-881B-06B8447FA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61F6D6-0BE3-0DF6-1271-9435A3BD9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2B750-97D7-BF17-28C2-68C68306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C56CF-13E7-812C-0AAF-24D555EF5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91638-48E9-A131-6262-CA3CA1DF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8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A76F9-709A-56D9-56E9-E64E8F8E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0975-E926-FE1F-4B7D-410A33498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33E6-413C-17EC-D41C-FB64F89C1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325F4-6582-0001-D581-DC69A1075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ABE59-E368-D695-9814-91DCDF27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8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C403-0144-F20F-76C7-6DDC92A0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CB91C-F986-23A8-EC71-846D6844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7D709-763C-C9A0-C422-20083719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F7FB6-0C12-8C89-DEB4-464BFC98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EE8F7-CF8C-F4E9-F355-041ABF5D0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48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3592-C4E1-85FD-5065-1C711BC7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EE7B-75A1-0CD6-53D9-80152250D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C17B6-EA9F-6E0B-B8E2-AE3B6580B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B01E-EC6E-15FF-6095-72D5D3C8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96A8E-54F6-8CF9-05AB-64DEF118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420A5-AAAB-E476-D5B1-B0A132A58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21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77DC-D17D-192C-2C60-C7B843D3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C71A8-33F4-AE7E-2D6B-A21014056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14A1F-05A7-95E7-A986-367542A7E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B01A0D-6BF9-D0CC-B33A-D94F33028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21366-FE61-87AE-FD83-6D92998E8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7A8182-C3CD-A036-9C41-0ADD514F9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21C45-12C0-F76D-0F88-29357B34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A8529-5765-45D6-3610-1DFD8D9A6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58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00F2E-1D62-746A-7472-14A9FDFE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706A2F-CB90-EF55-FF8E-589037F4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23368-1B30-02A7-0067-3FD4BB07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F8C6E-AC5B-EDEE-5833-05F07C2E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77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D2865-2E62-E301-5C06-3BEAEFCF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93ED7-37FE-8260-7F5E-EB7C9902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3EE21-9F4F-E0AB-BCF9-DFFF2788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4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5BA2-E483-F4E5-E941-89CB8212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69001-43B4-38D5-4B2A-A7BC78186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1BA29-EC1C-CA6C-00CB-50B2A4847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148D4-65C0-575E-5AF4-CEE6B486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159BB-4C7E-7613-B85F-CF2D0703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FA437-05B0-AD0D-0504-97AA9E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29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27CA-80A8-B06F-F38E-CCF8C9B76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AA359-C2F0-FA96-A53F-FF550C59AF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1F55FF-6A0A-9018-3AF8-686D7F447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C1859-1ECF-99C7-B0A4-D45BDEAD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0A0C8-2B8A-9A76-B04F-7624D0128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232B5-0810-62E0-95A4-D01C3112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A386-0AFB-13C3-96B0-3C41C7544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53F50-CF0E-231B-B006-DD2B68A77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486BE-0E90-ADB8-7FA7-72EBA77A4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A08B4-9F72-C554-3794-7F69C8FA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FE036-6AF9-A346-6C3D-AD3AE2D7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3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1C994-D9F8-1BDD-1AA6-1ABD6063F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947BD-DBE1-4C57-0890-8A82A4DBB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8EF50-CF18-9E2B-B587-A68DE276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1CF7F-31B4-33DD-D331-E36BC32D5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0D984-FBC6-D35A-9DEA-2BD157D8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2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F9F517-D7E5-63C8-C1E1-91FFE540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4E725-59FC-B83B-14DC-256C1E74E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5CC4B-D448-421D-7490-D953EDEE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01A5E-902A-3348-AFE7-509B99661C8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BAA8B-1ED0-3CEA-0FB1-CAD4E057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DA953-1635-3E0B-77D4-BFB49122B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FB959-7FD2-974A-B851-2D1CBB30E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7" Type="http://schemas.openxmlformats.org/officeDocument/2006/relationships/image" Target="../media/image1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10603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Finding changes in enthalpy (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) along an isobar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0603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16388AAB-9A06-B12F-7486-00580FB9235A}"/>
              </a:ext>
            </a:extLst>
          </p:cNvPr>
          <p:cNvGrpSpPr/>
          <p:nvPr/>
        </p:nvGrpSpPr>
        <p:grpSpPr>
          <a:xfrm>
            <a:off x="5601151" y="743362"/>
            <a:ext cx="6951045" cy="5213284"/>
            <a:chOff x="5601151" y="743362"/>
            <a:chExt cx="6951045" cy="521328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0698C4B-EB05-631D-2BF8-AF991A3AD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1151" y="743362"/>
              <a:ext cx="6951045" cy="5213284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1AA03F4-E144-4C3B-4242-27DD14EF6E5F}"/>
                </a:ext>
              </a:extLst>
            </p:cNvPr>
            <p:cNvGrpSpPr/>
            <p:nvPr/>
          </p:nvGrpSpPr>
          <p:grpSpPr>
            <a:xfrm>
              <a:off x="7873975" y="3083859"/>
              <a:ext cx="3315115" cy="2750318"/>
              <a:chOff x="7873975" y="3083859"/>
              <a:chExt cx="3315115" cy="2750318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0A6E8E3-B107-9527-C396-35C6855BAE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53046" y="4676893"/>
                <a:ext cx="2576063" cy="278234"/>
              </a:xfrm>
              <a:prstGeom prst="line">
                <a:avLst/>
              </a:prstGeom>
              <a:ln w="6350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52D900B-B159-85A9-F9EB-306345EAAF8F}"/>
                      </a:ext>
                    </a:extLst>
                  </p:cNvPr>
                  <p:cNvSpPr txBox="1"/>
                  <p:nvPr/>
                </p:nvSpPr>
                <p:spPr>
                  <a:xfrm>
                    <a:off x="10157854" y="3336178"/>
                    <a:ext cx="69832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52D900B-B159-85A9-F9EB-306345EAAF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57854" y="3336178"/>
                    <a:ext cx="698329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F906E93-1DF5-9379-38F2-4F41BFBBBF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53046" y="4203322"/>
                <a:ext cx="0" cy="719150"/>
              </a:xfrm>
              <a:prstGeom prst="line">
                <a:avLst/>
              </a:prstGeom>
              <a:ln w="63500">
                <a:solidFill>
                  <a:schemeClr val="tx1">
                    <a:alpha val="58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8B399997-3B82-929C-D04E-F887CDC0DC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790930" y="3083859"/>
                <a:ext cx="65253" cy="1593034"/>
              </a:xfrm>
              <a:prstGeom prst="line">
                <a:avLst/>
              </a:prstGeom>
              <a:ln w="63500">
                <a:solidFill>
                  <a:schemeClr val="tx1">
                    <a:alpha val="58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F8A81F30-9032-484C-1FD1-8F35DE3064AE}"/>
                      </a:ext>
                    </a:extLst>
                  </p:cNvPr>
                  <p:cNvSpPr txBox="1"/>
                  <p:nvPr/>
                </p:nvSpPr>
                <p:spPr>
                  <a:xfrm>
                    <a:off x="7873975" y="5372512"/>
                    <a:ext cx="75814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F8A81F30-9032-484C-1FD1-8F35DE3064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73975" y="5372512"/>
                    <a:ext cx="75814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39D5A4B4-2D7E-84A4-25C9-F30A1B8D6FC3}"/>
                      </a:ext>
                    </a:extLst>
                  </p:cNvPr>
                  <p:cNvSpPr txBox="1"/>
                  <p:nvPr/>
                </p:nvSpPr>
                <p:spPr>
                  <a:xfrm>
                    <a:off x="10430948" y="5150464"/>
                    <a:ext cx="75814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39D5A4B4-2D7E-84A4-25C9-F30A1B8D6F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30948" y="5150464"/>
                    <a:ext cx="758142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28A4A5F-5537-3B87-FACE-FCAB041CEBDC}"/>
                  </a:ext>
                </a:extLst>
              </p:cNvPr>
              <p:cNvSpPr/>
              <p:nvPr/>
            </p:nvSpPr>
            <p:spPr>
              <a:xfrm>
                <a:off x="138997" y="390243"/>
                <a:ext cx="6750943" cy="63535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Along an</a:t>
                </a:r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isobar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endParaRPr lang="en-US" sz="2400" dirty="0">
                  <a:solidFill>
                    <a:srgbClr val="7030A0"/>
                  </a:solidFill>
                </a:endParaRPr>
              </a:p>
              <a:p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temperature-independent</a:t>
                </a:r>
                <a:r>
                  <a:rPr lang="en-US" sz="2400" dirty="0"/>
                  <a:t> – which is true for atomic gases – then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comes out of the integral, leaving behind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In other words,</a:t>
                </a:r>
              </a:p>
              <a:p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dirty="0"/>
                  <a:t>temperature-dependent</a:t>
                </a:r>
                <a:r>
                  <a:rPr lang="en-US" sz="2400" dirty="0"/>
                  <a:t> – which is true of  polyatomic molecules at temperatures high enough that they can start to vibrate –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/>
                  <a:t> can’t come out of the integral (we’ll come back to that later). If we’re happy with an approximate answer, however, we could say</a:t>
                </a:r>
              </a:p>
              <a:p>
                <a:r>
                  <a:rPr lang="en-US" sz="2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dirty="0"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28A4A5F-5537-3B87-FACE-FCAB041CE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97" y="390243"/>
                <a:ext cx="6750943" cy="6353534"/>
              </a:xfrm>
              <a:prstGeom prst="rect">
                <a:avLst/>
              </a:prstGeom>
              <a:blipFill>
                <a:blip r:embed="rId7"/>
                <a:stretch>
                  <a:fillRect l="-1504" t="-10379" r="-1692" b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351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0" y="-10603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Finding changes in enthalpy (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b="1" dirty="0"/>
                  <a:t>) along an isotherm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10603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24E01D2-8EA5-01D6-8941-B640F4B8521B}"/>
              </a:ext>
            </a:extLst>
          </p:cNvPr>
          <p:cNvGrpSpPr/>
          <p:nvPr/>
        </p:nvGrpSpPr>
        <p:grpSpPr>
          <a:xfrm>
            <a:off x="5567698" y="743362"/>
            <a:ext cx="6951045" cy="5213284"/>
            <a:chOff x="5601151" y="743362"/>
            <a:chExt cx="6951045" cy="521328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85628FF-BA21-9943-2780-63D0FC6EE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01151" y="743362"/>
              <a:ext cx="6951045" cy="5213284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016C132-2864-CF82-C457-7D2DE640D5A9}"/>
                </a:ext>
              </a:extLst>
            </p:cNvPr>
            <p:cNvGrpSpPr/>
            <p:nvPr/>
          </p:nvGrpSpPr>
          <p:grpSpPr>
            <a:xfrm>
              <a:off x="6448905" y="3934978"/>
              <a:ext cx="2537138" cy="1621395"/>
              <a:chOff x="6448905" y="3934978"/>
              <a:chExt cx="2537138" cy="1621395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789FAF2-7689-D74F-5611-8329346F8D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774297" y="4147051"/>
                <a:ext cx="478749" cy="808076"/>
              </a:xfrm>
              <a:prstGeom prst="line">
                <a:avLst/>
              </a:prstGeom>
              <a:ln w="63500">
                <a:solidFill>
                  <a:srgbClr val="00B050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293C411-071F-514B-C567-BC563D80DC03}"/>
                      </a:ext>
                    </a:extLst>
                  </p:cNvPr>
                  <p:cNvSpPr txBox="1"/>
                  <p:nvPr/>
                </p:nvSpPr>
                <p:spPr>
                  <a:xfrm>
                    <a:off x="8287714" y="4218596"/>
                    <a:ext cx="698329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293C411-071F-514B-C567-BC563D80DC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87714" y="4218596"/>
                    <a:ext cx="698329" cy="46166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822CC1E-3C67-89C3-6D9A-6ED1181C55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8200" y="3934978"/>
                <a:ext cx="0" cy="212073"/>
              </a:xfrm>
              <a:prstGeom prst="line">
                <a:avLst/>
              </a:prstGeom>
              <a:ln w="25400">
                <a:solidFill>
                  <a:schemeClr val="tx1">
                    <a:alpha val="58000"/>
                  </a:schemeClr>
                </a:solidFill>
                <a:prstDash val="solid"/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A0EF817C-2F10-C4EB-2BAD-57228665793C}"/>
                      </a:ext>
                    </a:extLst>
                  </p:cNvPr>
                  <p:cNvSpPr txBox="1"/>
                  <p:nvPr/>
                </p:nvSpPr>
                <p:spPr>
                  <a:xfrm>
                    <a:off x="6448905" y="4047422"/>
                    <a:ext cx="75814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A0EF817C-2F10-C4EB-2BAD-5722866579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8905" y="4047422"/>
                    <a:ext cx="758142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63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7CE679A-A89D-4E32-6446-A0A5184A456D}"/>
                      </a:ext>
                    </a:extLst>
                  </p:cNvPr>
                  <p:cNvSpPr txBox="1"/>
                  <p:nvPr/>
                </p:nvSpPr>
                <p:spPr>
                  <a:xfrm>
                    <a:off x="7016155" y="5094708"/>
                    <a:ext cx="758142" cy="46166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17CE679A-A89D-4E32-6446-A0A5184A45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6155" y="5094708"/>
                    <a:ext cx="758142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70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18A847D-8DBB-721A-8FE7-82589DECB743}"/>
              </a:ext>
            </a:extLst>
          </p:cNvPr>
          <p:cNvCxnSpPr>
            <a:cxnSpLocks/>
          </p:cNvCxnSpPr>
          <p:nvPr/>
        </p:nvCxnSpPr>
        <p:spPr>
          <a:xfrm>
            <a:off x="8261149" y="4147051"/>
            <a:ext cx="0" cy="808076"/>
          </a:xfrm>
          <a:prstGeom prst="line">
            <a:avLst/>
          </a:prstGeom>
          <a:ln w="25400">
            <a:solidFill>
              <a:schemeClr val="tx1">
                <a:alpha val="58000"/>
              </a:schemeClr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878E89-411E-8F0C-4408-1A78C5097E93}"/>
                  </a:ext>
                </a:extLst>
              </p:cNvPr>
              <p:cNvSpPr txBox="1"/>
              <p:nvPr/>
            </p:nvSpPr>
            <p:spPr>
              <a:xfrm>
                <a:off x="203295" y="662934"/>
                <a:ext cx="6493414" cy="5984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Along an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isotherm</a:t>
                </a:r>
                <a:r>
                  <a:rPr lang="en-US" sz="24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𝑑𝑃</m:t>
                        </m:r>
                      </m:e>
                    </m:nary>
                  </m:oMath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pressure-independent</a:t>
                </a:r>
                <a:r>
                  <a:rPr lang="en-US" sz="2400" dirty="0">
                    <a:solidFill>
                      <a:schemeClr val="tx1"/>
                    </a:solidFill>
                  </a:rPr>
                  <a:t> – which is true for ideal and even vdw </a:t>
                </a:r>
                <a:r>
                  <a:rPr lang="en-US" sz="2400" dirty="0"/>
                  <a:t>gases –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comes out of the integral, leaving behind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so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pressure-dependent </a:t>
                </a:r>
                <a:r>
                  <a:rPr lang="en-US" sz="2400" dirty="0"/>
                  <a:t>– which is probably true for most real gases –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/>
                  <a:t> can’t come out of the integral (we’ll come back to that later). If we’re happy with an approximate answer, however, we could say 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878E89-411E-8F0C-4408-1A78C5097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95" y="662934"/>
                <a:ext cx="6493414" cy="5984202"/>
              </a:xfrm>
              <a:prstGeom prst="rect">
                <a:avLst/>
              </a:prstGeom>
              <a:blipFill>
                <a:blip r:embed="rId7"/>
                <a:stretch>
                  <a:fillRect l="-1365" t="-1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14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</cp:revision>
  <dcterms:created xsi:type="dcterms:W3CDTF">2025-10-15T06:45:38Z</dcterms:created>
  <dcterms:modified xsi:type="dcterms:W3CDTF">2025-10-15T06:46:08Z</dcterms:modified>
</cp:coreProperties>
</file>