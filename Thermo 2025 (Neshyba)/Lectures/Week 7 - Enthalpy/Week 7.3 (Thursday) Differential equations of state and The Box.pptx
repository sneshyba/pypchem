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60" r:id="rId2"/>
    <p:sldId id="362" r:id="rId3"/>
    <p:sldId id="363" r:id="rId4"/>
    <p:sldId id="339" r:id="rId5"/>
    <p:sldId id="321" r:id="rId6"/>
    <p:sldId id="343" r:id="rId7"/>
    <p:sldId id="367" r:id="rId8"/>
    <p:sldId id="396" r:id="rId9"/>
    <p:sldId id="368" r:id="rId10"/>
    <p:sldId id="369" r:id="rId11"/>
    <p:sldId id="373" r:id="rId12"/>
    <p:sldId id="378" r:id="rId13"/>
    <p:sldId id="397" r:id="rId14"/>
    <p:sldId id="379" r:id="rId15"/>
    <p:sldId id="380" r:id="rId16"/>
    <p:sldId id="381" r:id="rId17"/>
    <p:sldId id="382" r:id="rId18"/>
    <p:sldId id="385" r:id="rId19"/>
    <p:sldId id="386" r:id="rId20"/>
    <p:sldId id="370" r:id="rId21"/>
    <p:sldId id="388" r:id="rId22"/>
    <p:sldId id="372" r:id="rId23"/>
    <p:sldId id="390" r:id="rId24"/>
    <p:sldId id="391" r:id="rId25"/>
    <p:sldId id="342" r:id="rId26"/>
    <p:sldId id="393" r:id="rId27"/>
    <p:sldId id="394" r:id="rId28"/>
    <p:sldId id="39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/>
    <p:restoredTop sz="95970"/>
  </p:normalViewPr>
  <p:slideViewPr>
    <p:cSldViewPr snapToGrid="0" showGuides="1">
      <p:cViewPr varScale="1">
        <p:scale>
          <a:sx n="85" d="100"/>
          <a:sy n="85" d="100"/>
        </p:scale>
        <p:origin x="1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9CE2A-78A1-774C-94CD-3B5D17AB0F1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A36FC-7851-EC42-9528-26A22FA14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7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4DFB-FCA9-C7AD-D530-77573A092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D29E3-9C96-3CBA-ED07-7632F095B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C6BD-0D60-43E3-9390-B646F2F39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F38C-EF3C-3F2C-FC70-C7C99617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5A8A1-DED9-6750-9EB9-F7B714C0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6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E4DEE-55A6-8187-79C1-CD3EE8E7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B92E4-8B40-A870-1C7A-8ADDD60C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34F3-E3B7-F264-0BF7-211F3721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1DAA2-3299-FB20-93F0-27A07951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680CC-F4B0-B46D-745E-62DC9A81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2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76A8-06E2-3BDB-F0AC-DE87F1FF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A2E53-D29F-792D-79FB-97808B368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F7C0B-3C08-11F1-8458-BB73879B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DC23-DF4A-868E-551C-982F805A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96510-93B7-2E0B-6C5C-3CBC1960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6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0D90-7D6E-01B8-6F9D-29CA52F6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75C93-4A28-B69C-4E95-105A383D6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83F35-E6C8-5BDD-A5B7-7E42101F3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5B243-BB52-5648-F0AD-2A95B973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748BF-FDF2-AD43-2369-015927B1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2A5F-1407-9E49-DD50-CDE225DF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EE70-FAA6-4700-8F3D-EDDE17E6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C14E6-2564-A8E6-FF0E-FB6F2EE48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0E3F8-7FE5-558E-7BF4-86EE879AD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2CA1F-D13C-6ADD-055C-E6743FF87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6EF55-9FA4-318F-8832-D55AD27EE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371D7D-43B7-729C-5417-A77DB05A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41CC9-8D61-06ED-7355-7D20FA22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0552B-8C2C-C839-AFF7-009EFA20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88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3C91-93AA-D7D4-8F03-5DCF5A4A6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3352F6-7E35-BC3F-6003-F4EB86AB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E5BD6-578F-59E0-1D63-23B2BD95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3FFFF-483B-5CFB-176D-BC3A3A18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95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02C92B-2A02-097C-238D-A247A3FF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9AFBF-EF7D-4FE8-CE3F-F1173462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D3927-297F-8E3E-CF12-DF9CE43B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1A39-3529-1D5A-AEFB-7535AE43A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452EC-3188-9E62-16DD-DCDB3931B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0CCA2-18BC-FDD1-1B56-B6A7ED220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84842-E558-386F-38D4-89F0608B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3DE4F-9DFF-A23C-7ACF-3F5C9154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FE45C-6F8A-7B16-7D6E-F3938045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9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9BFA-665E-A015-502B-42537A0D4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1D571-1FE7-7EAF-9ABD-ECC17D209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72DFD-3C20-363F-FF61-801EB9C34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A1068-35E5-E7AA-FFE9-4EB73794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022B1-2191-1E3A-7C14-3F1E9D43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C845C-C003-EB3F-0093-23B095B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69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0E0C-E257-FF22-315B-5FF2FEF0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A178E-C5D0-FE03-047E-61F923F26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8124B-8739-99A6-E70F-08D63D97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D6D16-39EC-4BBF-476C-98A99193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A8DA5-3614-3BED-FB0F-F4DB5FCE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1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D6A0E0-D89A-3017-8A0D-CE43D84F4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CA92B-1601-7CBC-DCB0-00A4A48E7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F5EEE-D7E1-3826-2726-D435D2C0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C57E-AA67-7A93-BBA1-62819038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4E5CD-99B3-1273-74C8-2987256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5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DB8A9-EB84-11FD-D9F6-ECF390DA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B398A-3114-0036-4910-53AFC64C9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FEAC0-DEF7-FBCE-4D51-A120CB29C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8FAC0-3B83-7A40-AC77-C2C165AF207C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70998-892F-CAE5-F6C0-66CF6CC04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481A3-19C6-CC99-2411-70C26D1C8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D32F0-8A23-8B44-8337-533642A0B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7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70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/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Last time: we introduced the enthalpy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i="1" dirty="0"/>
                  <a:t> </a:t>
                </a:r>
                <a:r>
                  <a:rPr lang="en-US" sz="2400" b="1" dirty="0"/>
                  <a:t>in a temperature-pressure state space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8DEB58A-20B3-D968-7449-5C50BD67D4EB}"/>
              </a:ext>
            </a:extLst>
          </p:cNvPr>
          <p:cNvGrpSpPr/>
          <p:nvPr/>
        </p:nvGrpSpPr>
        <p:grpSpPr>
          <a:xfrm>
            <a:off x="6941072" y="746793"/>
            <a:ext cx="4573793" cy="3771916"/>
            <a:chOff x="706418" y="1340535"/>
            <a:chExt cx="5028183" cy="423882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B915EF1-2BD4-F84D-A590-0821EC4DBBF6}"/>
                </a:ext>
              </a:extLst>
            </p:cNvPr>
            <p:cNvGrpSpPr/>
            <p:nvPr/>
          </p:nvGrpSpPr>
          <p:grpSpPr>
            <a:xfrm>
              <a:off x="706418" y="1340535"/>
              <a:ext cx="5028183" cy="4238823"/>
              <a:chOff x="6564824" y="1588496"/>
              <a:chExt cx="5028183" cy="4238823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66475C18-5B24-7408-2C17-C728FDA7B9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4824" y="1588496"/>
                <a:ext cx="4880901" cy="344863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8468268D-0914-B538-DCBF-8C8A25B24438}"/>
                      </a:ext>
                    </a:extLst>
                  </p:cNvPr>
                  <p:cNvSpPr txBox="1"/>
                  <p:nvPr/>
                </p:nvSpPr>
                <p:spPr>
                  <a:xfrm>
                    <a:off x="6564824" y="5031807"/>
                    <a:ext cx="5028183" cy="79551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The </a:t>
                    </a:r>
                    <a:r>
                      <a:rPr lang="en-US" sz="2000" dirty="0" err="1"/>
                      <a:t>isenthalp</a:t>
                    </a:r>
                    <a:r>
                      <a:rPr lang="en-US" sz="2000" dirty="0"/>
                      <a:t> that goes straight up/down in this space must have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r>
                      <a:rPr lang="en-US" sz="2000" dirty="0"/>
                      <a:t>. That’s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oMath>
                    </a14:m>
                    <a:r>
                      <a:rPr lang="en-US" sz="2000" dirty="0"/>
                      <a:t>!</a:t>
                    </a: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8468268D-0914-B538-DCBF-8C8A25B244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64824" y="5031807"/>
                    <a:ext cx="5028183" cy="79551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85" t="-535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B0546A-9DA9-1923-BE4B-9CA051223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3995" y="1461175"/>
              <a:ext cx="11430" cy="2948037"/>
            </a:xfrm>
            <a:prstGeom prst="line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4E361B-8FF8-D1C3-0178-5C72A586E959}"/>
              </a:ext>
            </a:extLst>
          </p:cNvPr>
          <p:cNvGrpSpPr/>
          <p:nvPr/>
        </p:nvGrpSpPr>
        <p:grpSpPr>
          <a:xfrm>
            <a:off x="213211" y="474969"/>
            <a:ext cx="5680358" cy="4101790"/>
            <a:chOff x="213211" y="745902"/>
            <a:chExt cx="5680358" cy="410179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D53EE2C-AF66-3F4D-977C-E2A2693E5EF4}"/>
                </a:ext>
              </a:extLst>
            </p:cNvPr>
            <p:cNvGrpSpPr/>
            <p:nvPr/>
          </p:nvGrpSpPr>
          <p:grpSpPr>
            <a:xfrm>
              <a:off x="213211" y="745902"/>
              <a:ext cx="5680358" cy="4101790"/>
              <a:chOff x="5983806" y="1168927"/>
              <a:chExt cx="5680358" cy="4101790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F0076C8-7E72-72B8-EBEE-57AFBF934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3806" y="1168927"/>
                <a:ext cx="5680358" cy="4101790"/>
              </a:xfrm>
              <a:prstGeom prst="rect">
                <a:avLst/>
              </a:prstGeom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B11108F-3AB5-AD39-0D08-F5F74396AD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61120" y="1703070"/>
                <a:ext cx="1895825" cy="233539"/>
              </a:xfrm>
              <a:prstGeom prst="line">
                <a:avLst/>
              </a:prstGeom>
              <a:ln w="63500">
                <a:solidFill>
                  <a:srgbClr val="00B05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0B91027-D64D-DE90-2C08-87B547E360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00975" y="3147595"/>
                <a:ext cx="1160145" cy="889277"/>
              </a:xfrm>
              <a:prstGeom prst="line">
                <a:avLst/>
              </a:prstGeom>
              <a:ln w="63500">
                <a:solidFill>
                  <a:schemeClr val="accent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D41DF91-CA6B-9F62-5D68-3794354BD5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03920" y="2183130"/>
                <a:ext cx="1691640" cy="491490"/>
              </a:xfrm>
              <a:prstGeom prst="line">
                <a:avLst/>
              </a:prstGeom>
              <a:ln w="635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B0E812-9434-B649-69B8-C2A6FEB01A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4800" y="3443349"/>
              <a:ext cx="1576311" cy="230356"/>
            </a:xfrm>
            <a:prstGeom prst="line">
              <a:avLst/>
            </a:prstGeom>
            <a:ln w="63500">
              <a:solidFill>
                <a:schemeClr val="accent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B0D039-436A-9505-F489-0C9D2C8F34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34080" y="1009227"/>
              <a:ext cx="1652270" cy="488315"/>
            </a:xfrm>
            <a:prstGeom prst="line">
              <a:avLst/>
            </a:prstGeom>
            <a:ln w="63500">
              <a:solidFill>
                <a:srgbClr val="00B05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D0FA0C9-4C0B-79CF-FC51-9F6230E3B4CC}"/>
              </a:ext>
            </a:extLst>
          </p:cNvPr>
          <p:cNvGrpSpPr/>
          <p:nvPr/>
        </p:nvGrpSpPr>
        <p:grpSpPr>
          <a:xfrm>
            <a:off x="3474131" y="4403937"/>
            <a:ext cx="2157632" cy="1000154"/>
            <a:chOff x="3474131" y="5555403"/>
            <a:chExt cx="2157632" cy="100015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B7E41C-65FD-D5F8-C327-6A35068128D3}"/>
                </a:ext>
              </a:extLst>
            </p:cNvPr>
            <p:cNvSpPr txBox="1"/>
            <p:nvPr/>
          </p:nvSpPr>
          <p:spPr>
            <a:xfrm>
              <a:off x="3979493" y="5710584"/>
              <a:ext cx="1652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/>
                <a:t>Isenthalps</a:t>
              </a:r>
              <a:endParaRPr lang="en-US" sz="2400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360359-310B-9FE2-C4E4-8606F0A304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4131" y="5666280"/>
              <a:ext cx="1160145" cy="889277"/>
            </a:xfrm>
            <a:prstGeom prst="line">
              <a:avLst/>
            </a:prstGeom>
            <a:ln w="635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1A9D4AE-C257-BC40-A8B5-7F48D38F91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4131" y="5555403"/>
              <a:ext cx="1895825" cy="233539"/>
            </a:xfrm>
            <a:prstGeom prst="line">
              <a:avLst/>
            </a:prstGeom>
            <a:ln w="63500">
              <a:solidFill>
                <a:srgbClr val="00B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DA13799-4C2A-1496-5651-3277486BDEA2}"/>
              </a:ext>
            </a:extLst>
          </p:cNvPr>
          <p:cNvGrpSpPr/>
          <p:nvPr/>
        </p:nvGrpSpPr>
        <p:grpSpPr>
          <a:xfrm>
            <a:off x="360411" y="4177989"/>
            <a:ext cx="1726832" cy="1055055"/>
            <a:chOff x="674102" y="5188483"/>
            <a:chExt cx="1726832" cy="105505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7501952-4D53-36B4-E177-1F9A8DF810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643" y="5676798"/>
              <a:ext cx="1576311" cy="230356"/>
            </a:xfrm>
            <a:prstGeom prst="line">
              <a:avLst/>
            </a:prstGeom>
            <a:ln w="63500">
              <a:solidFill>
                <a:schemeClr val="accent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ECE0565-9951-6CA0-781F-AA32170257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664" y="5188483"/>
              <a:ext cx="1652270" cy="488315"/>
            </a:xfrm>
            <a:prstGeom prst="line">
              <a:avLst/>
            </a:prstGeom>
            <a:ln w="63500">
              <a:solidFill>
                <a:srgbClr val="00B05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549BD0A-6060-E191-819D-3446859E9334}"/>
                </a:ext>
              </a:extLst>
            </p:cNvPr>
            <p:cNvSpPr txBox="1"/>
            <p:nvPr/>
          </p:nvSpPr>
          <p:spPr>
            <a:xfrm>
              <a:off x="674102" y="5781873"/>
              <a:ext cx="1652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Isotherms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40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E9418-0014-C24B-8ACF-31C8C02B0001}"/>
              </a:ext>
            </a:extLst>
          </p:cNvPr>
          <p:cNvSpPr txBox="1"/>
          <p:nvPr/>
        </p:nvSpPr>
        <p:spPr>
          <a:xfrm>
            <a:off x="5530" y="0"/>
            <a:ext cx="1218647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Let’s get some hands-on familiarity with this </a:t>
            </a:r>
            <a:endParaRPr lang="en-US" sz="2400"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8457A1-43B0-30CF-BF7B-2225812A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1" y="766610"/>
            <a:ext cx="8808319" cy="37641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43A396-5F7C-A085-D510-63A853215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219" y="4751947"/>
            <a:ext cx="8896493" cy="190639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2302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E9418-0014-C24B-8ACF-31C8C02B0001}"/>
              </a:ext>
            </a:extLst>
          </p:cNvPr>
          <p:cNvSpPr txBox="1"/>
          <p:nvPr/>
        </p:nvSpPr>
        <p:spPr>
          <a:xfrm>
            <a:off x="5530" y="0"/>
            <a:ext cx="1218647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groups: predict the inversion temperature for a vdw gas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2069C2-6BF0-DD76-7625-9961587F0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83" y="1456267"/>
            <a:ext cx="8869234" cy="28553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93943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E9418-0014-C24B-8ACF-31C8C02B0001}"/>
              </a:ext>
            </a:extLst>
          </p:cNvPr>
          <p:cNvSpPr txBox="1"/>
          <p:nvPr/>
        </p:nvSpPr>
        <p:spPr>
          <a:xfrm>
            <a:off x="5530" y="0"/>
            <a:ext cx="1218647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groups: predict the inversion temperature for a vdw gas (hopefully you get this)</a:t>
            </a:r>
            <a:endParaRPr lang="en-US" sz="2400" b="1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3FCC24-C1E6-00C4-1B7D-95475D0793C9}"/>
              </a:ext>
            </a:extLst>
          </p:cNvPr>
          <p:cNvGrpSpPr/>
          <p:nvPr/>
        </p:nvGrpSpPr>
        <p:grpSpPr>
          <a:xfrm>
            <a:off x="1620817" y="1628402"/>
            <a:ext cx="4892308" cy="3456695"/>
            <a:chOff x="706418" y="1340535"/>
            <a:chExt cx="4892308" cy="345669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6475C18-5B24-7408-2C17-C728FDA7B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6418" y="1340535"/>
              <a:ext cx="4892308" cy="3456695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B0546A-9DA9-1923-BE4B-9CA051223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3995" y="1461175"/>
              <a:ext cx="11430" cy="2948037"/>
            </a:xfrm>
            <a:prstGeom prst="line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DCEC0A-7994-898F-9F41-48E6929B4AF6}"/>
                  </a:ext>
                </a:extLst>
              </p:cNvPr>
              <p:cNvSpPr txBox="1"/>
              <p:nvPr/>
            </p:nvSpPr>
            <p:spPr>
              <a:xfrm>
                <a:off x="7219228" y="2119296"/>
                <a:ext cx="4193838" cy="220752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𝑹𝑻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𝑹𝒃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(in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𝟐𝟎𝟎𝟎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DCEC0A-7994-898F-9F41-48E6929B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228" y="2119296"/>
                <a:ext cx="4193838" cy="2207527"/>
              </a:xfrm>
              <a:prstGeom prst="rect">
                <a:avLst/>
              </a:prstGeom>
              <a:blipFill>
                <a:blip r:embed="rId3"/>
                <a:stretch>
                  <a:fillRect l="-1802" b="-511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5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B38255A-7CA6-5648-8BA8-2B9AE531AD66}"/>
              </a:ext>
            </a:extLst>
          </p:cNvPr>
          <p:cNvGrpSpPr/>
          <p:nvPr/>
        </p:nvGrpSpPr>
        <p:grpSpPr>
          <a:xfrm>
            <a:off x="574223" y="1135901"/>
            <a:ext cx="5888240" cy="4954945"/>
            <a:chOff x="540356" y="1135901"/>
            <a:chExt cx="5888240" cy="495494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C15D76A-795D-B241-BE76-F434F1FC2E37}"/>
                </a:ext>
              </a:extLst>
            </p:cNvPr>
            <p:cNvGrpSpPr/>
            <p:nvPr/>
          </p:nvGrpSpPr>
          <p:grpSpPr>
            <a:xfrm>
              <a:off x="540356" y="1135901"/>
              <a:ext cx="5888240" cy="4954945"/>
              <a:chOff x="3460831" y="277792"/>
              <a:chExt cx="5888240" cy="495494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2C513A1-AF97-AC44-8C31-1E7210C4C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60831" y="277792"/>
                <a:ext cx="5888240" cy="4954945"/>
              </a:xfrm>
              <a:prstGeom prst="rect">
                <a:avLst/>
              </a:prstGeom>
            </p:spPr>
          </p:pic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02037EC-AA45-164C-83B5-E7FD0C022BB1}"/>
                  </a:ext>
                </a:extLst>
              </p:cNvPr>
              <p:cNvSpPr/>
              <p:nvPr/>
            </p:nvSpPr>
            <p:spPr>
              <a:xfrm>
                <a:off x="6223836" y="1208387"/>
                <a:ext cx="1265535" cy="2431575"/>
              </a:xfrm>
              <a:custGeom>
                <a:avLst/>
                <a:gdLst>
                  <a:gd name="connsiteX0" fmla="*/ 1265535 w 1265535"/>
                  <a:gd name="connsiteY0" fmla="*/ 2431575 h 2431575"/>
                  <a:gd name="connsiteX1" fmla="*/ 917193 w 1265535"/>
                  <a:gd name="connsiteY1" fmla="*/ 2039690 h 2431575"/>
                  <a:gd name="connsiteX2" fmla="*/ 670450 w 1265535"/>
                  <a:gd name="connsiteY2" fmla="*/ 1749404 h 2431575"/>
                  <a:gd name="connsiteX3" fmla="*/ 467250 w 1265535"/>
                  <a:gd name="connsiteY3" fmla="*/ 1488147 h 2431575"/>
                  <a:gd name="connsiteX4" fmla="*/ 365650 w 1265535"/>
                  <a:gd name="connsiteY4" fmla="*/ 1299461 h 2431575"/>
                  <a:gd name="connsiteX5" fmla="*/ 307593 w 1265535"/>
                  <a:gd name="connsiteY5" fmla="*/ 1183347 h 2431575"/>
                  <a:gd name="connsiteX6" fmla="*/ 235021 w 1265535"/>
                  <a:gd name="connsiteY6" fmla="*/ 1168832 h 2431575"/>
                  <a:gd name="connsiteX7" fmla="*/ 176964 w 1265535"/>
                  <a:gd name="connsiteY7" fmla="*/ 1154318 h 2431575"/>
                  <a:gd name="connsiteX8" fmla="*/ 118907 w 1265535"/>
                  <a:gd name="connsiteY8" fmla="*/ 1038204 h 2431575"/>
                  <a:gd name="connsiteX9" fmla="*/ 60850 w 1265535"/>
                  <a:gd name="connsiteY9" fmla="*/ 849518 h 2431575"/>
                  <a:gd name="connsiteX10" fmla="*/ 31821 w 1265535"/>
                  <a:gd name="connsiteY10" fmla="*/ 544718 h 2431575"/>
                  <a:gd name="connsiteX11" fmla="*/ 31821 w 1265535"/>
                  <a:gd name="connsiteY11" fmla="*/ 297975 h 2431575"/>
                  <a:gd name="connsiteX12" fmla="*/ 2793 w 1265535"/>
                  <a:gd name="connsiteY12" fmla="*/ 22204 h 2431575"/>
                  <a:gd name="connsiteX13" fmla="*/ 2793 w 1265535"/>
                  <a:gd name="connsiteY13" fmla="*/ 36718 h 243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65535" h="2431575">
                    <a:moveTo>
                      <a:pt x="1265535" y="2431575"/>
                    </a:moveTo>
                    <a:lnTo>
                      <a:pt x="917193" y="2039690"/>
                    </a:lnTo>
                    <a:cubicBezTo>
                      <a:pt x="818012" y="1925995"/>
                      <a:pt x="745440" y="1841328"/>
                      <a:pt x="670450" y="1749404"/>
                    </a:cubicBezTo>
                    <a:cubicBezTo>
                      <a:pt x="595460" y="1657480"/>
                      <a:pt x="518050" y="1563138"/>
                      <a:pt x="467250" y="1488147"/>
                    </a:cubicBezTo>
                    <a:cubicBezTo>
                      <a:pt x="416450" y="1413156"/>
                      <a:pt x="392259" y="1350261"/>
                      <a:pt x="365650" y="1299461"/>
                    </a:cubicBezTo>
                    <a:cubicBezTo>
                      <a:pt x="339041" y="1248661"/>
                      <a:pt x="307593" y="1183347"/>
                      <a:pt x="307593" y="1183347"/>
                    </a:cubicBezTo>
                    <a:cubicBezTo>
                      <a:pt x="285822" y="1161576"/>
                      <a:pt x="235021" y="1168832"/>
                      <a:pt x="235021" y="1168832"/>
                    </a:cubicBezTo>
                    <a:cubicBezTo>
                      <a:pt x="213249" y="1163994"/>
                      <a:pt x="196316" y="1176089"/>
                      <a:pt x="176964" y="1154318"/>
                    </a:cubicBezTo>
                    <a:cubicBezTo>
                      <a:pt x="157612" y="1132547"/>
                      <a:pt x="138259" y="1089004"/>
                      <a:pt x="118907" y="1038204"/>
                    </a:cubicBezTo>
                    <a:cubicBezTo>
                      <a:pt x="99555" y="987404"/>
                      <a:pt x="75364" y="931766"/>
                      <a:pt x="60850" y="849518"/>
                    </a:cubicBezTo>
                    <a:cubicBezTo>
                      <a:pt x="46336" y="767270"/>
                      <a:pt x="36659" y="636642"/>
                      <a:pt x="31821" y="544718"/>
                    </a:cubicBezTo>
                    <a:cubicBezTo>
                      <a:pt x="26983" y="452794"/>
                      <a:pt x="36659" y="385061"/>
                      <a:pt x="31821" y="297975"/>
                    </a:cubicBezTo>
                    <a:cubicBezTo>
                      <a:pt x="26983" y="210889"/>
                      <a:pt x="2793" y="22204"/>
                      <a:pt x="2793" y="22204"/>
                    </a:cubicBezTo>
                    <a:cubicBezTo>
                      <a:pt x="-2045" y="-21339"/>
                      <a:pt x="374" y="7689"/>
                      <a:pt x="2793" y="3671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alpha val="6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A27C307-E80A-E349-8C81-2CCA760A5EDA}"/>
                </a:ext>
              </a:extLst>
            </p:cNvPr>
            <p:cNvSpPr/>
            <p:nvPr/>
          </p:nvSpPr>
          <p:spPr>
            <a:xfrm>
              <a:off x="3676207" y="2127560"/>
              <a:ext cx="1219200" cy="2017486"/>
            </a:xfrm>
            <a:custGeom>
              <a:avLst/>
              <a:gdLst>
                <a:gd name="connsiteX0" fmla="*/ 1219200 w 1219200"/>
                <a:gd name="connsiteY0" fmla="*/ 2017486 h 2017486"/>
                <a:gd name="connsiteX1" fmla="*/ 885371 w 1219200"/>
                <a:gd name="connsiteY1" fmla="*/ 1698171 h 2017486"/>
                <a:gd name="connsiteX2" fmla="*/ 667657 w 1219200"/>
                <a:gd name="connsiteY2" fmla="*/ 1451428 h 2017486"/>
                <a:gd name="connsiteX3" fmla="*/ 406400 w 1219200"/>
                <a:gd name="connsiteY3" fmla="*/ 1030514 h 2017486"/>
                <a:gd name="connsiteX4" fmla="*/ 188686 w 1219200"/>
                <a:gd name="connsiteY4" fmla="*/ 595086 h 2017486"/>
                <a:gd name="connsiteX5" fmla="*/ 72571 w 1219200"/>
                <a:gd name="connsiteY5" fmla="*/ 217714 h 2017486"/>
                <a:gd name="connsiteX6" fmla="*/ 0 w 1219200"/>
                <a:gd name="connsiteY6" fmla="*/ 0 h 201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" h="2017486">
                  <a:moveTo>
                    <a:pt x="1219200" y="2017486"/>
                  </a:moveTo>
                  <a:cubicBezTo>
                    <a:pt x="1098247" y="1905000"/>
                    <a:pt x="977295" y="1792514"/>
                    <a:pt x="885371" y="1698171"/>
                  </a:cubicBezTo>
                  <a:cubicBezTo>
                    <a:pt x="793447" y="1603828"/>
                    <a:pt x="747485" y="1562704"/>
                    <a:pt x="667657" y="1451428"/>
                  </a:cubicBezTo>
                  <a:cubicBezTo>
                    <a:pt x="587829" y="1340152"/>
                    <a:pt x="486228" y="1173238"/>
                    <a:pt x="406400" y="1030514"/>
                  </a:cubicBezTo>
                  <a:cubicBezTo>
                    <a:pt x="326572" y="887790"/>
                    <a:pt x="244324" y="730553"/>
                    <a:pt x="188686" y="595086"/>
                  </a:cubicBezTo>
                  <a:cubicBezTo>
                    <a:pt x="133048" y="459619"/>
                    <a:pt x="104019" y="316895"/>
                    <a:pt x="72571" y="217714"/>
                  </a:cubicBezTo>
                  <a:cubicBezTo>
                    <a:pt x="41123" y="118533"/>
                    <a:pt x="20561" y="59266"/>
                    <a:pt x="0" y="0"/>
                  </a:cubicBezTo>
                </a:path>
              </a:pathLst>
            </a:custGeom>
            <a:noFill/>
            <a:ln w="127000">
              <a:solidFill>
                <a:schemeClr val="accent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D584ED-8AAB-B94A-8288-0AF32035C59F}"/>
              </a:ext>
            </a:extLst>
          </p:cNvPr>
          <p:cNvSpPr txBox="1"/>
          <p:nvPr/>
        </p:nvSpPr>
        <p:spPr>
          <a:xfrm>
            <a:off x="823784" y="6237615"/>
            <a:ext cx="10948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www.engineeringenotes.com</a:t>
            </a:r>
            <a:r>
              <a:rPr lang="en-US" sz="1200" dirty="0"/>
              <a:t>/thermal-engineering/real-gases/real-gases-properties-van-der-waals-equation-and-equation-of-state-thermal-engineering/49112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46111A-C0F6-B145-BEFE-5E5305FE1D27}"/>
                  </a:ext>
                </a:extLst>
              </p:cNvPr>
              <p:cNvSpPr txBox="1"/>
              <p:nvPr/>
            </p:nvSpPr>
            <p:spPr>
              <a:xfrm>
                <a:off x="5802489" y="1458223"/>
                <a:ext cx="6305863" cy="586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46111A-C0F6-B145-BEFE-5E5305FE1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489" y="1458223"/>
                <a:ext cx="6305863" cy="586571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/>
              <p:nvPr/>
            </p:nvSpPr>
            <p:spPr>
              <a:xfrm>
                <a:off x="0" y="1006"/>
                <a:ext cx="12192000" cy="58657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Remember we talked about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as a unifying idea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06"/>
                <a:ext cx="12192000" cy="586571"/>
              </a:xfrm>
              <a:prstGeom prst="rect">
                <a:avLst/>
              </a:prstGeom>
              <a:blipFill>
                <a:blip r:embed="rId4"/>
                <a:stretch>
                  <a:fillRect l="-832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BA6C00-7DD6-834C-04DA-449E1B9572FE}"/>
              </a:ext>
            </a:extLst>
          </p:cNvPr>
          <p:cNvCxnSpPr>
            <a:cxnSpLocks/>
          </p:cNvCxnSpPr>
          <p:nvPr/>
        </p:nvCxnSpPr>
        <p:spPr>
          <a:xfrm flipH="1">
            <a:off x="3967100" y="1792736"/>
            <a:ext cx="1780297" cy="725197"/>
          </a:xfrm>
          <a:prstGeom prst="straightConnector1">
            <a:avLst/>
          </a:prstGeom>
          <a:ln w="38100">
            <a:solidFill>
              <a:schemeClr val="accent1">
                <a:alpha val="4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/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f>
                      <m:fPr>
                        <m:ctrlP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r>
                  <a:rPr lang="en-US" sz="2400" dirty="0"/>
                  <a:t>	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E4619-DAED-610D-6A92-A5666BE39BAF}"/>
                  </a:ext>
                </a:extLst>
              </p:cNvPr>
              <p:cNvSpPr txBox="1"/>
              <p:nvPr/>
            </p:nvSpPr>
            <p:spPr>
              <a:xfrm>
                <a:off x="1697048" y="643667"/>
                <a:ext cx="6151944" cy="724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𝑅𝑏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E4619-DAED-610D-6A92-A5666BE39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048" y="643667"/>
                <a:ext cx="6151944" cy="724814"/>
              </a:xfrm>
              <a:prstGeom prst="rect">
                <a:avLst/>
              </a:prstGeom>
              <a:blipFill>
                <a:blip r:embed="rId6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>
            <a:extLst>
              <a:ext uri="{FF2B5EF4-FFF2-40B4-BE49-F238E27FC236}">
                <a16:creationId xmlns:a16="http://schemas.microsoft.com/office/drawing/2014/main" id="{FEDFC75A-DE30-09C9-6010-D5C763E801F0}"/>
              </a:ext>
            </a:extLst>
          </p:cNvPr>
          <p:cNvSpPr/>
          <p:nvPr/>
        </p:nvSpPr>
        <p:spPr>
          <a:xfrm>
            <a:off x="4022192" y="1885500"/>
            <a:ext cx="1219200" cy="2017486"/>
          </a:xfrm>
          <a:custGeom>
            <a:avLst/>
            <a:gdLst>
              <a:gd name="connsiteX0" fmla="*/ 1219200 w 1219200"/>
              <a:gd name="connsiteY0" fmla="*/ 2017486 h 2017486"/>
              <a:gd name="connsiteX1" fmla="*/ 885371 w 1219200"/>
              <a:gd name="connsiteY1" fmla="*/ 1698171 h 2017486"/>
              <a:gd name="connsiteX2" fmla="*/ 667657 w 1219200"/>
              <a:gd name="connsiteY2" fmla="*/ 1451428 h 2017486"/>
              <a:gd name="connsiteX3" fmla="*/ 406400 w 1219200"/>
              <a:gd name="connsiteY3" fmla="*/ 1030514 h 2017486"/>
              <a:gd name="connsiteX4" fmla="*/ 188686 w 1219200"/>
              <a:gd name="connsiteY4" fmla="*/ 595086 h 2017486"/>
              <a:gd name="connsiteX5" fmla="*/ 72571 w 1219200"/>
              <a:gd name="connsiteY5" fmla="*/ 217714 h 2017486"/>
              <a:gd name="connsiteX6" fmla="*/ 0 w 1219200"/>
              <a:gd name="connsiteY6" fmla="*/ 0 h 2017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" h="2017486">
                <a:moveTo>
                  <a:pt x="1219200" y="2017486"/>
                </a:moveTo>
                <a:cubicBezTo>
                  <a:pt x="1098247" y="1905000"/>
                  <a:pt x="977295" y="1792514"/>
                  <a:pt x="885371" y="1698171"/>
                </a:cubicBezTo>
                <a:cubicBezTo>
                  <a:pt x="793447" y="1603828"/>
                  <a:pt x="747485" y="1562704"/>
                  <a:pt x="667657" y="1451428"/>
                </a:cubicBezTo>
                <a:cubicBezTo>
                  <a:pt x="587829" y="1340152"/>
                  <a:pt x="486228" y="1173238"/>
                  <a:pt x="406400" y="1030514"/>
                </a:cubicBezTo>
                <a:cubicBezTo>
                  <a:pt x="326572" y="887790"/>
                  <a:pt x="244324" y="730553"/>
                  <a:pt x="188686" y="595086"/>
                </a:cubicBezTo>
                <a:cubicBezTo>
                  <a:pt x="133048" y="459619"/>
                  <a:pt x="104019" y="316895"/>
                  <a:pt x="72571" y="217714"/>
                </a:cubicBezTo>
                <a:cubicBezTo>
                  <a:pt x="41123" y="118533"/>
                  <a:pt x="20561" y="59266"/>
                  <a:pt x="0" y="0"/>
                </a:cubicBezTo>
              </a:path>
            </a:pathLst>
          </a:custGeom>
          <a:noFill/>
          <a:ln w="127000">
            <a:solidFill>
              <a:srgbClr val="FF000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28610B-A802-37D4-8A2D-C4E9BD44F063}"/>
              </a:ext>
            </a:extLst>
          </p:cNvPr>
          <p:cNvCxnSpPr>
            <a:cxnSpLocks/>
          </p:cNvCxnSpPr>
          <p:nvPr/>
        </p:nvCxnSpPr>
        <p:spPr>
          <a:xfrm flipH="1">
            <a:off x="4103554" y="1285097"/>
            <a:ext cx="499209" cy="708014"/>
          </a:xfrm>
          <a:prstGeom prst="straightConnector1">
            <a:avLst/>
          </a:prstGeom>
          <a:ln w="38100">
            <a:solidFill>
              <a:srgbClr val="C00000">
                <a:alpha val="4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CF4A16-FB53-07E6-ADB3-54C085706F99}"/>
                  </a:ext>
                </a:extLst>
              </p:cNvPr>
              <p:cNvSpPr txBox="1"/>
              <p:nvPr/>
            </p:nvSpPr>
            <p:spPr>
              <a:xfrm>
                <a:off x="6632294" y="3541853"/>
                <a:ext cx="4985483" cy="495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CF4A16-FB53-07E6-ADB3-54C085706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94" y="3541853"/>
                <a:ext cx="4985483" cy="495520"/>
              </a:xfrm>
              <a:prstGeom prst="rect">
                <a:avLst/>
              </a:prstGeom>
              <a:blipFill>
                <a:blip r:embed="rId7"/>
                <a:stretch>
                  <a:fillRect l="-2036" t="-50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52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7FED83-B478-7C18-A2D8-D10AD22077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383679" y="910663"/>
            <a:ext cx="6152587" cy="46976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Another unifying idea: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AC17F6-2C82-F8F4-9973-D1F5D6444B52}"/>
                  </a:ext>
                </a:extLst>
              </p:cNvPr>
              <p:cNvSpPr txBox="1"/>
              <p:nvPr/>
            </p:nvSpPr>
            <p:spPr>
              <a:xfrm>
                <a:off x="6536266" y="1181976"/>
                <a:ext cx="5463679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“Vat Tug Ship”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Like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400" b="1" i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are extensive energy functions (we’ll add more details about them later)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i</a:t>
                </a:r>
                <a:r>
                  <a:rPr lang="en-US" sz="2400" dirty="0">
                    <a:solidFill>
                      <a:schemeClr val="tx1"/>
                    </a:solidFill>
                  </a:rPr>
                  <a:t>s called the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entropy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a substance</a:t>
                </a:r>
                <a:r>
                  <a:rPr lang="en-US" sz="2400" dirty="0"/>
                  <a:t> (which w</a:t>
                </a:r>
                <a:r>
                  <a:rPr lang="en-US" sz="2400" dirty="0">
                    <a:solidFill>
                      <a:schemeClr val="tx1"/>
                    </a:solidFill>
                  </a:rPr>
                  <a:t>e’ll also talk about more later).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direction of the arrows are important.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The minus signs by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400" b="1" i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are also important.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AC17F6-2C82-F8F4-9973-D1F5D6444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66" y="1181976"/>
                <a:ext cx="5463679" cy="4154984"/>
              </a:xfrm>
              <a:prstGeom prst="rect">
                <a:avLst/>
              </a:prstGeom>
              <a:blipFill>
                <a:blip r:embed="rId3"/>
                <a:stretch>
                  <a:fillRect l="-1392" t="-1220" r="-928" b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98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</a:t>
                </a:r>
                <a:r>
                  <a:rPr lang="en-US" sz="2400" dirty="0"/>
                  <a:t>:</a:t>
                </a:r>
              </a:p>
              <a:p>
                <a:pPr marL="514350" indent="-514350">
                  <a:buFont typeface="+mj-lt"/>
                  <a:buAutoNum type="romanUcPeriod"/>
                </a:pPr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𝑃𝑑𝑉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The “-” sign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</m:oMath>
                </a14:m>
                <a:r>
                  <a:rPr lang="en-US" sz="2400" dirty="0"/>
                  <a:t> is because of the direction of the arrow </a:t>
                </a:r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blipFill>
                <a:blip r:embed="rId2"/>
                <a:stretch>
                  <a:fillRect l="-1504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7FED83-B478-7C18-A2D8-D10AD22077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451413" y="978397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#1.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differential equations of state</a:t>
            </a:r>
          </a:p>
        </p:txBody>
      </p:sp>
    </p:spTree>
    <p:extLst>
      <p:ext uri="{BB962C8B-B14F-4D97-AF65-F5344CB8AC3E}">
        <p14:creationId xmlns:p14="http://schemas.microsoft.com/office/powerpoint/2010/main" val="149475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</a:t>
                </a:r>
                <a:r>
                  <a:rPr lang="en-US" sz="2400" dirty="0"/>
                  <a:t>:</a:t>
                </a:r>
              </a:p>
              <a:p>
                <a:pPr marL="514350" indent="-514350">
                  <a:buFont typeface="+mj-lt"/>
                  <a:buAutoNum type="romanUcPeriod"/>
                </a:pPr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𝑃𝑑𝑉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The “-” sign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</m:oMath>
                </a14:m>
                <a:r>
                  <a:rPr lang="en-US" sz="2400" dirty="0"/>
                  <a:t> is because of the direction of the arrow </a:t>
                </a:r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blipFill>
                <a:blip r:embed="rId2"/>
                <a:stretch>
                  <a:fillRect l="-1504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7FED83-B478-7C18-A2D8-D10AD22077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451413" y="978397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#1.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differential equations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9ABD95-A9AE-3CFE-8721-CDEA9FA66512}"/>
                  </a:ext>
                </a:extLst>
              </p:cNvPr>
              <p:cNvSpPr txBox="1"/>
              <p:nvPr/>
            </p:nvSpPr>
            <p:spPr>
              <a:xfrm>
                <a:off x="1332673" y="4309943"/>
                <a:ext cx="951728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Your turn</a:t>
                </a:r>
                <a:r>
                  <a:rPr lang="en-US" sz="2400" dirty="0"/>
                  <a:t>: use the box to derive differential equations of state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9ABD95-A9AE-3CFE-8721-CDEA9FA66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673" y="4309943"/>
                <a:ext cx="9517284" cy="830997"/>
              </a:xfrm>
              <a:prstGeom prst="rect">
                <a:avLst/>
              </a:prstGeom>
              <a:blipFill>
                <a:blip r:embed="rId4"/>
                <a:stretch>
                  <a:fillRect l="-1067" t="-4545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423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</a:t>
                </a:r>
                <a:r>
                  <a:rPr lang="en-US" sz="2400" dirty="0"/>
                  <a:t>:</a:t>
                </a:r>
              </a:p>
              <a:p>
                <a:pPr marL="514350" indent="-514350">
                  <a:buFont typeface="+mj-lt"/>
                  <a:buAutoNum type="romanUcPeriod"/>
                </a:pPr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𝑃𝑑𝑉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The “-” sign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</m:oMath>
                </a14:m>
                <a:r>
                  <a:rPr lang="en-US" sz="2400" dirty="0"/>
                  <a:t> is because of the direction of the arrow </a:t>
                </a:r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blipFill>
                <a:blip r:embed="rId2"/>
                <a:stretch>
                  <a:fillRect l="-1504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7FED83-B478-7C18-A2D8-D10AD22077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451413" y="978397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#1.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differential equations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9ABD95-A9AE-3CFE-8721-CDEA9FA66512}"/>
                  </a:ext>
                </a:extLst>
              </p:cNvPr>
              <p:cNvSpPr txBox="1"/>
              <p:nvPr/>
            </p:nvSpPr>
            <p:spPr>
              <a:xfrm>
                <a:off x="1332673" y="4309943"/>
                <a:ext cx="9517284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Your turn</a:t>
                </a:r>
                <a:r>
                  <a:rPr lang="en-US" sz="2400" dirty="0"/>
                  <a:t>: use the box to derive differential equations of state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𝑑𝐻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𝑉𝑑𝑃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9ABD95-A9AE-3CFE-8721-CDEA9FA66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673" y="4309943"/>
                <a:ext cx="9517284" cy="1569660"/>
              </a:xfrm>
              <a:prstGeom prst="rect">
                <a:avLst/>
              </a:prstGeom>
              <a:blipFill>
                <a:blip r:embed="rId4"/>
                <a:stretch>
                  <a:fillRect l="-1067" t="-2400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12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</a:t>
                </a:r>
                <a:r>
                  <a:rPr lang="en-US" sz="2400" dirty="0"/>
                  <a:t>:</a:t>
                </a:r>
              </a:p>
              <a:p>
                <a:pPr marL="514350" indent="-514350">
                  <a:buFont typeface="+mj-lt"/>
                  <a:buAutoNum type="romanUcPeriod"/>
                </a:pPr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𝑃𝑑𝑉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The “-” sign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</m:oMath>
                </a14:m>
                <a:r>
                  <a:rPr lang="en-US" sz="2400" dirty="0"/>
                  <a:t> is because of the direction of the arrow </a:t>
                </a:r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317" y="1191688"/>
                <a:ext cx="6747270" cy="2308324"/>
              </a:xfrm>
              <a:prstGeom prst="rect">
                <a:avLst/>
              </a:prstGeom>
              <a:blipFill>
                <a:blip r:embed="rId2"/>
                <a:stretch>
                  <a:fillRect l="-1504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7FED83-B478-7C18-A2D8-D10AD22077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451413" y="978397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#1.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differential equations of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9ABD95-A9AE-3CFE-8721-CDEA9FA66512}"/>
                  </a:ext>
                </a:extLst>
              </p:cNvPr>
              <p:cNvSpPr txBox="1"/>
              <p:nvPr/>
            </p:nvSpPr>
            <p:spPr>
              <a:xfrm>
                <a:off x="1332673" y="4309943"/>
                <a:ext cx="9517284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Your turn</a:t>
                </a:r>
                <a:r>
                  <a:rPr lang="en-US" sz="2400" dirty="0"/>
                  <a:t>: use the box to derive differential equations of state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𝑑𝐻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𝑉𝑑𝑃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𝑆𝑑𝑇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𝑉𝑑𝑃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9ABD95-A9AE-3CFE-8721-CDEA9FA66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673" y="4309943"/>
                <a:ext cx="9517284" cy="1938992"/>
              </a:xfrm>
              <a:prstGeom prst="rect">
                <a:avLst/>
              </a:prstGeom>
              <a:blipFill>
                <a:blip r:embed="rId4"/>
                <a:stretch>
                  <a:fillRect l="-1067" t="-1948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672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1460576" y="903821"/>
                <a:ext cx="6961616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𝑃𝑑𝑉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76" y="903821"/>
                <a:ext cx="6961616" cy="1589218"/>
              </a:xfrm>
              <a:prstGeom prst="rect">
                <a:avLst/>
              </a:prstGeom>
              <a:blipFill>
                <a:blip r:embed="rId2"/>
                <a:stretch>
                  <a:fillRect l="-1457" t="-3175" b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#1 is useful: differential equations of state get us slopes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76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1460576" y="903821"/>
                <a:ext cx="6961616" cy="1958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𝑃𝑑𝑉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76" y="903821"/>
                <a:ext cx="6961616" cy="1958549"/>
              </a:xfrm>
              <a:prstGeom prst="rect">
                <a:avLst/>
              </a:prstGeom>
              <a:blipFill>
                <a:blip r:embed="rId2"/>
                <a:stretch>
                  <a:fillRect l="-1457" t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#1 is useful: differential equations of state get us slopes (here we also used a no-brainer)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220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1460576" y="903821"/>
                <a:ext cx="6961616" cy="1958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𝑃𝑑𝑉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76" y="903821"/>
                <a:ext cx="6961616" cy="1958549"/>
              </a:xfrm>
              <a:prstGeom prst="rect">
                <a:avLst/>
              </a:prstGeom>
              <a:blipFill>
                <a:blip r:embed="rId2"/>
                <a:stretch>
                  <a:fillRect l="-1457" t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#1 is useful: differential equations of state get us slopes (here we also used a no-brainer)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D196B-FC81-5932-DCDA-584AF1A4E767}"/>
              </a:ext>
            </a:extLst>
          </p:cNvPr>
          <p:cNvSpPr txBox="1"/>
          <p:nvPr/>
        </p:nvSpPr>
        <p:spPr>
          <a:xfrm>
            <a:off x="7944788" y="1808145"/>
            <a:ext cx="2953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(Used a no-brainer)</a:t>
            </a:r>
          </a:p>
        </p:txBody>
      </p:sp>
    </p:spTree>
    <p:extLst>
      <p:ext uri="{BB962C8B-B14F-4D97-AF65-F5344CB8AC3E}">
        <p14:creationId xmlns:p14="http://schemas.microsoft.com/office/powerpoint/2010/main" val="305553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1460576" y="903821"/>
                <a:ext cx="6961616" cy="1958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Your turn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76" y="903821"/>
                <a:ext cx="6961616" cy="1958549"/>
              </a:xfrm>
              <a:prstGeom prst="rect">
                <a:avLst/>
              </a:prstGeom>
              <a:blipFill>
                <a:blip r:embed="rId2"/>
                <a:stretch>
                  <a:fillRect l="-1457" t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#1 is useful: differential equations of state get us slopes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565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1460576" y="903821"/>
                <a:ext cx="6961616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Your turn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76" y="903821"/>
                <a:ext cx="6961616" cy="1589218"/>
              </a:xfrm>
              <a:prstGeom prst="rect">
                <a:avLst/>
              </a:prstGeom>
              <a:blipFill>
                <a:blip r:embed="rId2"/>
                <a:stretch>
                  <a:fillRect l="-1457" t="-3175" b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#1 is useful: differential equations of state get us slopes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456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1460576" y="903821"/>
                <a:ext cx="6961616" cy="2327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Your turn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76" y="903821"/>
                <a:ext cx="6961616" cy="2327881"/>
              </a:xfrm>
              <a:prstGeom prst="rect">
                <a:avLst/>
              </a:prstGeom>
              <a:blipFill>
                <a:blip r:embed="rId2"/>
                <a:stretch>
                  <a:fillRect l="-1457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785441B-0750-1575-D330-8FC28473BA82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#1 is useful: differential equations of state get us slopes (here we also used a no-brainer)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772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99EA8-49B4-D71D-C64E-8DBB553AD7F4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</a:t>
            </a:r>
            <a:r>
              <a:rPr lang="en-US" sz="2400" dirty="0"/>
              <a:t>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F99060-2324-097B-61BE-03845D46AFB2}"/>
              </a:ext>
            </a:extLst>
          </p:cNvPr>
          <p:cNvGrpSpPr/>
          <p:nvPr/>
        </p:nvGrpSpPr>
        <p:grpSpPr>
          <a:xfrm rot="5400000">
            <a:off x="1194790" y="938107"/>
            <a:ext cx="3515779" cy="4022942"/>
            <a:chOff x="1062773" y="1230044"/>
            <a:chExt cx="3515779" cy="3241140"/>
          </a:xfrm>
        </p:grpSpPr>
        <p:sp>
          <p:nvSpPr>
            <p:cNvPr id="14" name="Bent Arrow 13">
              <a:extLst>
                <a:ext uri="{FF2B5EF4-FFF2-40B4-BE49-F238E27FC236}">
                  <a16:creationId xmlns:a16="http://schemas.microsoft.com/office/drawing/2014/main" id="{603F7A35-4B1F-33EB-FA3D-4DCA3628AB29}"/>
                </a:ext>
              </a:extLst>
            </p:cNvPr>
            <p:cNvSpPr/>
            <p:nvPr/>
          </p:nvSpPr>
          <p:spPr>
            <a:xfrm>
              <a:off x="1062776" y="1242384"/>
              <a:ext cx="3343387" cy="3228800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Bent Arrow 14">
              <a:extLst>
                <a:ext uri="{FF2B5EF4-FFF2-40B4-BE49-F238E27FC236}">
                  <a16:creationId xmlns:a16="http://schemas.microsoft.com/office/drawing/2014/main" id="{7798EDA1-8095-CA24-F2AA-ED8A37303ACA}"/>
                </a:ext>
              </a:extLst>
            </p:cNvPr>
            <p:cNvSpPr/>
            <p:nvPr/>
          </p:nvSpPr>
          <p:spPr>
            <a:xfrm flipH="1">
              <a:off x="1062773" y="1230044"/>
              <a:ext cx="3515779" cy="3241139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984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99EA8-49B4-D71D-C64E-8DBB553AD7F4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</a:t>
            </a:r>
            <a:r>
              <a:rPr lang="en-US" sz="2400" dirty="0"/>
              <a:t>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F99060-2324-097B-61BE-03845D46AFB2}"/>
              </a:ext>
            </a:extLst>
          </p:cNvPr>
          <p:cNvGrpSpPr/>
          <p:nvPr/>
        </p:nvGrpSpPr>
        <p:grpSpPr>
          <a:xfrm rot="5400000">
            <a:off x="1194790" y="938107"/>
            <a:ext cx="3515779" cy="4022942"/>
            <a:chOff x="1062773" y="1230044"/>
            <a:chExt cx="3515779" cy="3241140"/>
          </a:xfrm>
        </p:grpSpPr>
        <p:sp>
          <p:nvSpPr>
            <p:cNvPr id="14" name="Bent Arrow 13">
              <a:extLst>
                <a:ext uri="{FF2B5EF4-FFF2-40B4-BE49-F238E27FC236}">
                  <a16:creationId xmlns:a16="http://schemas.microsoft.com/office/drawing/2014/main" id="{603F7A35-4B1F-33EB-FA3D-4DCA3628AB29}"/>
                </a:ext>
              </a:extLst>
            </p:cNvPr>
            <p:cNvSpPr/>
            <p:nvPr/>
          </p:nvSpPr>
          <p:spPr>
            <a:xfrm>
              <a:off x="1062776" y="1242384"/>
              <a:ext cx="3343387" cy="3228800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Bent Arrow 14">
              <a:extLst>
                <a:ext uri="{FF2B5EF4-FFF2-40B4-BE49-F238E27FC236}">
                  <a16:creationId xmlns:a16="http://schemas.microsoft.com/office/drawing/2014/main" id="{7798EDA1-8095-CA24-F2AA-ED8A37303ACA}"/>
                </a:ext>
              </a:extLst>
            </p:cNvPr>
            <p:cNvSpPr/>
            <p:nvPr/>
          </p:nvSpPr>
          <p:spPr>
            <a:xfrm flipH="1">
              <a:off x="1062773" y="1230044"/>
              <a:ext cx="3515779" cy="3241139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6F84C9-E2DB-6146-4821-097A8047B49D}"/>
                  </a:ext>
                </a:extLst>
              </p:cNvPr>
              <p:cNvSpPr txBox="1"/>
              <p:nvPr/>
            </p:nvSpPr>
            <p:spPr>
              <a:xfrm>
                <a:off x="5430026" y="2068775"/>
                <a:ext cx="4222187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6F84C9-E2DB-6146-4821-097A8047B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026" y="2068775"/>
                <a:ext cx="4222187" cy="158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353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99EA8-49B4-D71D-C64E-8DBB553AD7F4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</a:t>
            </a:r>
            <a:r>
              <a:rPr lang="en-US" sz="2400" dirty="0"/>
              <a:t>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F99060-2324-097B-61BE-03845D46AFB2}"/>
              </a:ext>
            </a:extLst>
          </p:cNvPr>
          <p:cNvGrpSpPr/>
          <p:nvPr/>
        </p:nvGrpSpPr>
        <p:grpSpPr>
          <a:xfrm rot="5400000">
            <a:off x="1194790" y="938107"/>
            <a:ext cx="3515779" cy="4022942"/>
            <a:chOff x="1062773" y="1230044"/>
            <a:chExt cx="3515779" cy="3241140"/>
          </a:xfrm>
        </p:grpSpPr>
        <p:sp>
          <p:nvSpPr>
            <p:cNvPr id="14" name="Bent Arrow 13">
              <a:extLst>
                <a:ext uri="{FF2B5EF4-FFF2-40B4-BE49-F238E27FC236}">
                  <a16:creationId xmlns:a16="http://schemas.microsoft.com/office/drawing/2014/main" id="{603F7A35-4B1F-33EB-FA3D-4DCA3628AB29}"/>
                </a:ext>
              </a:extLst>
            </p:cNvPr>
            <p:cNvSpPr/>
            <p:nvPr/>
          </p:nvSpPr>
          <p:spPr>
            <a:xfrm>
              <a:off x="1062776" y="1242384"/>
              <a:ext cx="3343387" cy="3228800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Bent Arrow 14">
              <a:extLst>
                <a:ext uri="{FF2B5EF4-FFF2-40B4-BE49-F238E27FC236}">
                  <a16:creationId xmlns:a16="http://schemas.microsoft.com/office/drawing/2014/main" id="{7798EDA1-8095-CA24-F2AA-ED8A37303ACA}"/>
                </a:ext>
              </a:extLst>
            </p:cNvPr>
            <p:cNvSpPr/>
            <p:nvPr/>
          </p:nvSpPr>
          <p:spPr>
            <a:xfrm flipH="1">
              <a:off x="1062773" y="1230044"/>
              <a:ext cx="3515779" cy="3241139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6F84C9-E2DB-6146-4821-097A8047B49D}"/>
                  </a:ext>
                </a:extLst>
              </p:cNvPr>
              <p:cNvSpPr txBox="1"/>
              <p:nvPr/>
            </p:nvSpPr>
            <p:spPr>
              <a:xfrm>
                <a:off x="5430026" y="2068775"/>
                <a:ext cx="4222187" cy="1219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6F84C9-E2DB-6146-4821-097A8047B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026" y="2068775"/>
                <a:ext cx="4222187" cy="1219886"/>
              </a:xfrm>
              <a:prstGeom prst="rect">
                <a:avLst/>
              </a:prstGeom>
              <a:blipFill>
                <a:blip r:embed="rId3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C63E2-2A30-AC6B-464D-D7A3E41F25F7}"/>
                  </a:ext>
                </a:extLst>
              </p:cNvPr>
              <p:cNvSpPr txBox="1"/>
              <p:nvPr/>
            </p:nvSpPr>
            <p:spPr>
              <a:xfrm>
                <a:off x="8844197" y="2097879"/>
                <a:ext cx="3102964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1800" dirty="0"/>
              </a:p>
              <a:p>
                <a:pPr algn="ctr"/>
                <a:r>
                  <a:rPr lang="en-US" sz="2400" dirty="0"/>
                  <a:t>The “-” sign is because of the overlap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C63E2-2A30-AC6B-464D-D7A3E41F2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197" y="2097879"/>
                <a:ext cx="3102964" cy="1107996"/>
              </a:xfrm>
              <a:prstGeom prst="rect">
                <a:avLst/>
              </a:prstGeom>
              <a:blipFill>
                <a:blip r:embed="rId4"/>
                <a:stretch>
                  <a:fillRect l="-2041" r="-3265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131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1BA3E0-3CFB-C9A8-9A9C-5DCDD4B41840}"/>
              </a:ext>
            </a:extLst>
          </p:cNvPr>
          <p:cNvGrpSpPr/>
          <p:nvPr/>
        </p:nvGrpSpPr>
        <p:grpSpPr>
          <a:xfrm rot="16200000">
            <a:off x="415860" y="938107"/>
            <a:ext cx="3515779" cy="4022942"/>
            <a:chOff x="1062773" y="1230044"/>
            <a:chExt cx="3515779" cy="3241140"/>
          </a:xfrm>
        </p:grpSpPr>
        <p:sp>
          <p:nvSpPr>
            <p:cNvPr id="8" name="Bent Arrow 7">
              <a:extLst>
                <a:ext uri="{FF2B5EF4-FFF2-40B4-BE49-F238E27FC236}">
                  <a16:creationId xmlns:a16="http://schemas.microsoft.com/office/drawing/2014/main" id="{8A7598B7-1DBE-401A-766F-30029E78EB87}"/>
                </a:ext>
              </a:extLst>
            </p:cNvPr>
            <p:cNvSpPr/>
            <p:nvPr/>
          </p:nvSpPr>
          <p:spPr>
            <a:xfrm>
              <a:off x="1062776" y="1242384"/>
              <a:ext cx="3343387" cy="3228800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Bent Arrow 9">
              <a:extLst>
                <a:ext uri="{FF2B5EF4-FFF2-40B4-BE49-F238E27FC236}">
                  <a16:creationId xmlns:a16="http://schemas.microsoft.com/office/drawing/2014/main" id="{C50429BB-2CE0-E65D-FEDB-42E73D5192A2}"/>
                </a:ext>
              </a:extLst>
            </p:cNvPr>
            <p:cNvSpPr/>
            <p:nvPr/>
          </p:nvSpPr>
          <p:spPr>
            <a:xfrm flipH="1">
              <a:off x="1062773" y="1230044"/>
              <a:ext cx="3515779" cy="3241139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E870F11-E091-C209-DE51-E26CCD7CABCD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Your turn</a:t>
            </a:r>
            <a:r>
              <a:rPr lang="en-US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C2F03C-775D-AF9A-8D9D-A2D865A0FBD3}"/>
                  </a:ext>
                </a:extLst>
              </p:cNvPr>
              <p:cNvSpPr txBox="1"/>
              <p:nvPr/>
            </p:nvSpPr>
            <p:spPr>
              <a:xfrm>
                <a:off x="5430026" y="2068775"/>
                <a:ext cx="4222187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…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C2F03C-775D-AF9A-8D9D-A2D865A0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026" y="2068775"/>
                <a:ext cx="4222187" cy="158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137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1BA3E0-3CFB-C9A8-9A9C-5DCDD4B41840}"/>
              </a:ext>
            </a:extLst>
          </p:cNvPr>
          <p:cNvGrpSpPr/>
          <p:nvPr/>
        </p:nvGrpSpPr>
        <p:grpSpPr>
          <a:xfrm rot="16200000">
            <a:off x="415860" y="938107"/>
            <a:ext cx="3515779" cy="4022942"/>
            <a:chOff x="1062773" y="1230044"/>
            <a:chExt cx="3515779" cy="3241140"/>
          </a:xfrm>
        </p:grpSpPr>
        <p:sp>
          <p:nvSpPr>
            <p:cNvPr id="8" name="Bent Arrow 7">
              <a:extLst>
                <a:ext uri="{FF2B5EF4-FFF2-40B4-BE49-F238E27FC236}">
                  <a16:creationId xmlns:a16="http://schemas.microsoft.com/office/drawing/2014/main" id="{8A7598B7-1DBE-401A-766F-30029E78EB87}"/>
                </a:ext>
              </a:extLst>
            </p:cNvPr>
            <p:cNvSpPr/>
            <p:nvPr/>
          </p:nvSpPr>
          <p:spPr>
            <a:xfrm>
              <a:off x="1062776" y="1242384"/>
              <a:ext cx="3343387" cy="3228800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Bent Arrow 9">
              <a:extLst>
                <a:ext uri="{FF2B5EF4-FFF2-40B4-BE49-F238E27FC236}">
                  <a16:creationId xmlns:a16="http://schemas.microsoft.com/office/drawing/2014/main" id="{C50429BB-2CE0-E65D-FEDB-42E73D5192A2}"/>
                </a:ext>
              </a:extLst>
            </p:cNvPr>
            <p:cNvSpPr/>
            <p:nvPr/>
          </p:nvSpPr>
          <p:spPr>
            <a:xfrm flipH="1">
              <a:off x="1062773" y="1230044"/>
              <a:ext cx="3515779" cy="3241139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E870F11-E091-C209-DE51-E26CCD7CABCD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Your turn</a:t>
            </a:r>
            <a:r>
              <a:rPr lang="en-US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C2F03C-775D-AF9A-8D9D-A2D865A0FBD3}"/>
                  </a:ext>
                </a:extLst>
              </p:cNvPr>
              <p:cNvSpPr txBox="1"/>
              <p:nvPr/>
            </p:nvSpPr>
            <p:spPr>
              <a:xfrm>
                <a:off x="5430026" y="2068775"/>
                <a:ext cx="4222187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C2F03C-775D-AF9A-8D9D-A2D865A0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026" y="2068775"/>
                <a:ext cx="4222187" cy="158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011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C9760-B6E8-CA18-A64A-BDCF2105C68F}"/>
                  </a:ext>
                </a:extLst>
              </p:cNvPr>
              <p:cNvSpPr txBox="1"/>
              <p:nvPr/>
            </p:nvSpPr>
            <p:spPr>
              <a:xfrm>
                <a:off x="5337597" y="2052275"/>
                <a:ext cx="5019457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romanUcPeriod"/>
                </a:pPr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C9760-B6E8-CA18-A64A-BDCF2105C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597" y="2052275"/>
                <a:ext cx="5019457" cy="158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6445CC3-C831-FC59-3C00-51A61F6531C0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Your turn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87858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C9760-B6E8-CA18-A64A-BDCF2105C68F}"/>
                  </a:ext>
                </a:extLst>
              </p:cNvPr>
              <p:cNvSpPr txBox="1"/>
              <p:nvPr/>
            </p:nvSpPr>
            <p:spPr>
              <a:xfrm>
                <a:off x="5337597" y="2052275"/>
                <a:ext cx="5019457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romanUcPeriod"/>
                </a:pPr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C9760-B6E8-CA18-A64A-BDCF2105C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597" y="2052275"/>
                <a:ext cx="5019457" cy="158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6445CC3-C831-FC59-3C00-51A61F6531C0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Your turn</a:t>
            </a:r>
            <a:r>
              <a:rPr lang="en-US" sz="2400" dirty="0"/>
              <a:t>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BBDC1-AD86-EE23-9D4F-AAD65A60A071}"/>
              </a:ext>
            </a:extLst>
          </p:cNvPr>
          <p:cNvGrpSpPr/>
          <p:nvPr/>
        </p:nvGrpSpPr>
        <p:grpSpPr>
          <a:xfrm>
            <a:off x="415860" y="938107"/>
            <a:ext cx="4444007" cy="4022942"/>
            <a:chOff x="1062773" y="1230044"/>
            <a:chExt cx="3515779" cy="3241140"/>
          </a:xfrm>
        </p:grpSpPr>
        <p:sp>
          <p:nvSpPr>
            <p:cNvPr id="6" name="Bent Arrow 5">
              <a:extLst>
                <a:ext uri="{FF2B5EF4-FFF2-40B4-BE49-F238E27FC236}">
                  <a16:creationId xmlns:a16="http://schemas.microsoft.com/office/drawing/2014/main" id="{58F1BFD4-0BD5-0116-257F-E6816E4D195B}"/>
                </a:ext>
              </a:extLst>
            </p:cNvPr>
            <p:cNvSpPr/>
            <p:nvPr/>
          </p:nvSpPr>
          <p:spPr>
            <a:xfrm>
              <a:off x="1062776" y="1242384"/>
              <a:ext cx="3343387" cy="3228800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Bent Arrow 6">
              <a:extLst>
                <a:ext uri="{FF2B5EF4-FFF2-40B4-BE49-F238E27FC236}">
                  <a16:creationId xmlns:a16="http://schemas.microsoft.com/office/drawing/2014/main" id="{C8D00340-EF77-28A8-0FD5-D3F03E719AB4}"/>
                </a:ext>
              </a:extLst>
            </p:cNvPr>
            <p:cNvSpPr/>
            <p:nvPr/>
          </p:nvSpPr>
          <p:spPr>
            <a:xfrm flipH="1">
              <a:off x="1062773" y="1230044"/>
              <a:ext cx="3515779" cy="3241139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9151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056"/>
          <a:stretch/>
        </p:blipFill>
        <p:spPr>
          <a:xfrm>
            <a:off x="508001" y="1463488"/>
            <a:ext cx="4022942" cy="307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D38E2-4863-769E-113C-ABAA0CE4F4D1}"/>
              </a:ext>
            </a:extLst>
          </p:cNvPr>
          <p:cNvSpPr txBox="1"/>
          <p:nvPr/>
        </p:nvSpPr>
        <p:spPr>
          <a:xfrm>
            <a:off x="-9369" y="1791"/>
            <a:ext cx="122013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#2. U</a:t>
            </a:r>
            <a:r>
              <a:rPr lang="en-US" sz="2400" b="1" dirty="0">
                <a:solidFill>
                  <a:schemeClr val="tx1"/>
                </a:solidFill>
              </a:rPr>
              <a:t>sing </a:t>
            </a:r>
            <a:r>
              <a:rPr lang="en-US" sz="2400" b="1" dirty="0"/>
              <a:t>t</a:t>
            </a:r>
            <a:r>
              <a:rPr lang="en-US" sz="2400" b="1" dirty="0">
                <a:solidFill>
                  <a:schemeClr val="tx1"/>
                </a:solidFill>
              </a:rPr>
              <a:t>he Box to get Maxwell relations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C9760-B6E8-CA18-A64A-BDCF2105C68F}"/>
                  </a:ext>
                </a:extLst>
              </p:cNvPr>
              <p:cNvSpPr txBox="1"/>
              <p:nvPr/>
            </p:nvSpPr>
            <p:spPr>
              <a:xfrm>
                <a:off x="5337597" y="2052275"/>
                <a:ext cx="5019457" cy="1589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romanUcPeriod"/>
                </a:pPr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C9760-B6E8-CA18-A64A-BDCF2105C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597" y="2052275"/>
                <a:ext cx="5019457" cy="158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6445CC3-C831-FC59-3C00-51A61F6531C0}"/>
              </a:ext>
            </a:extLst>
          </p:cNvPr>
          <p:cNvSpPr txBox="1"/>
          <p:nvPr/>
        </p:nvSpPr>
        <p:spPr>
          <a:xfrm>
            <a:off x="793850" y="596739"/>
            <a:ext cx="674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Your turn</a:t>
            </a:r>
            <a:r>
              <a:rPr lang="en-US" sz="2400" dirty="0"/>
              <a:t>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BBDC1-AD86-EE23-9D4F-AAD65A60A071}"/>
              </a:ext>
            </a:extLst>
          </p:cNvPr>
          <p:cNvGrpSpPr/>
          <p:nvPr/>
        </p:nvGrpSpPr>
        <p:grpSpPr>
          <a:xfrm>
            <a:off x="415860" y="938107"/>
            <a:ext cx="4444007" cy="4022942"/>
            <a:chOff x="1062773" y="1230044"/>
            <a:chExt cx="3515779" cy="3241140"/>
          </a:xfrm>
        </p:grpSpPr>
        <p:sp>
          <p:nvSpPr>
            <p:cNvPr id="6" name="Bent Arrow 5">
              <a:extLst>
                <a:ext uri="{FF2B5EF4-FFF2-40B4-BE49-F238E27FC236}">
                  <a16:creationId xmlns:a16="http://schemas.microsoft.com/office/drawing/2014/main" id="{58F1BFD4-0BD5-0116-257F-E6816E4D195B}"/>
                </a:ext>
              </a:extLst>
            </p:cNvPr>
            <p:cNvSpPr/>
            <p:nvPr/>
          </p:nvSpPr>
          <p:spPr>
            <a:xfrm>
              <a:off x="1062776" y="1242384"/>
              <a:ext cx="3343387" cy="3228800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Bent Arrow 6">
              <a:extLst>
                <a:ext uri="{FF2B5EF4-FFF2-40B4-BE49-F238E27FC236}">
                  <a16:creationId xmlns:a16="http://schemas.microsoft.com/office/drawing/2014/main" id="{C8D00340-EF77-28A8-0FD5-D3F03E719AB4}"/>
                </a:ext>
              </a:extLst>
            </p:cNvPr>
            <p:cNvSpPr/>
            <p:nvPr/>
          </p:nvSpPr>
          <p:spPr>
            <a:xfrm flipH="1">
              <a:off x="1062773" y="1230044"/>
              <a:ext cx="3515779" cy="3241139"/>
            </a:xfrm>
            <a:prstGeom prst="bentArrow">
              <a:avLst>
                <a:gd name="adj1" fmla="val 5011"/>
                <a:gd name="adj2" fmla="val 6989"/>
                <a:gd name="adj3" fmla="val 12807"/>
                <a:gd name="adj4" fmla="val 43750"/>
              </a:avLst>
            </a:prstGeom>
            <a:solidFill>
              <a:schemeClr val="accent1">
                <a:alpha val="3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5979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224276" y="3944364"/>
                <a:ext cx="1174394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6" y="3944364"/>
                <a:ext cx="11743947" cy="1569660"/>
              </a:xfrm>
              <a:prstGeom prst="rect">
                <a:avLst/>
              </a:prstGeom>
              <a:blipFill>
                <a:blip r:embed="rId2"/>
                <a:stretch>
                  <a:fillRect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3657600" y="872776"/>
            <a:ext cx="4022942" cy="3071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/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work: Use #1 and #2 to find expressions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that have only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b="1" dirty="0"/>
                  <a:t>,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b="1" dirty="0"/>
                  <a:t>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462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224276" y="3944364"/>
                <a:ext cx="11743947" cy="1959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6" y="3944364"/>
                <a:ext cx="11743947" cy="1959319"/>
              </a:xfrm>
              <a:prstGeom prst="rect">
                <a:avLst/>
              </a:prstGeom>
              <a:blipFill>
                <a:blip r:embed="rId2"/>
                <a:stretch>
                  <a:fillRect b="-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3657600" y="872776"/>
            <a:ext cx="4022942" cy="3071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/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work: Use #1 and #2 to find expressions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that have only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b="1" dirty="0"/>
                  <a:t>,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b="1" dirty="0"/>
                  <a:t>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492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224276" y="3944364"/>
                <a:ext cx="11743947" cy="2717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6" y="3944364"/>
                <a:ext cx="11743947" cy="27175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3657600" y="872776"/>
            <a:ext cx="4022942" cy="3071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/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work: Use #1 and #2 to find expressions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that have only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b="1" dirty="0"/>
                  <a:t>,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b="1" dirty="0"/>
                  <a:t>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863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/>
              <p:nvPr/>
            </p:nvSpPr>
            <p:spPr>
              <a:xfrm>
                <a:off x="224276" y="3944364"/>
                <a:ext cx="11743947" cy="2717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24B5F7-E5C5-24F9-297A-ADBF182C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6" y="3944364"/>
                <a:ext cx="11743947" cy="27175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858DDDE-4BD7-8123-AF04-C3D6E8CD19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3657600" y="872776"/>
            <a:ext cx="4022942" cy="3071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/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work: Use #1 and #2 to find expressions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that have only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b="1" dirty="0"/>
                  <a:t>,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b="1" dirty="0"/>
                  <a:t>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52731C-C013-F967-BD54-60F4973DB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69" y="1791"/>
                <a:ext cx="12201369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56934F-D687-3DDC-F153-A9AD0C315DAA}"/>
                  </a:ext>
                </a:extLst>
              </p:cNvPr>
              <p:cNvSpPr txBox="1"/>
              <p:nvPr/>
            </p:nvSpPr>
            <p:spPr>
              <a:xfrm>
                <a:off x="8169057" y="4033234"/>
                <a:ext cx="4022943" cy="2539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One last issue has is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awkward, since we usually know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not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(Not to dismay: there’s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Euler Chain Relation</a:t>
                </a:r>
                <a:r>
                  <a:rPr lang="en-US" sz="2400" dirty="0"/>
                  <a:t>, next time.)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56934F-D687-3DDC-F153-A9AD0C315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057" y="4033234"/>
                <a:ext cx="4022943" cy="2539798"/>
              </a:xfrm>
              <a:prstGeom prst="rect">
                <a:avLst/>
              </a:prstGeom>
              <a:blipFill>
                <a:blip r:embed="rId5"/>
                <a:stretch>
                  <a:fillRect l="-2516" t="-1990" b="-4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2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904</Words>
  <Application>Microsoft Macintosh PowerPoint</Application>
  <PresentationFormat>Widescreen</PresentationFormat>
  <Paragraphs>135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44</cp:revision>
  <dcterms:created xsi:type="dcterms:W3CDTF">2023-10-12T22:58:15Z</dcterms:created>
  <dcterms:modified xsi:type="dcterms:W3CDTF">2025-10-17T02:50:46Z</dcterms:modified>
</cp:coreProperties>
</file>