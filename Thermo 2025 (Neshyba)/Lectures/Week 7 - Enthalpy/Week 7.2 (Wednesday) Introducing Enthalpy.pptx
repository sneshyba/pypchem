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318" r:id="rId2"/>
    <p:sldId id="316" r:id="rId3"/>
    <p:sldId id="322" r:id="rId4"/>
    <p:sldId id="259" r:id="rId5"/>
    <p:sldId id="282" r:id="rId6"/>
    <p:sldId id="283" r:id="rId7"/>
    <p:sldId id="285" r:id="rId8"/>
    <p:sldId id="351" r:id="rId9"/>
    <p:sldId id="326" r:id="rId10"/>
    <p:sldId id="336" r:id="rId11"/>
    <p:sldId id="335" r:id="rId12"/>
    <p:sldId id="337" r:id="rId13"/>
    <p:sldId id="339" r:id="rId14"/>
    <p:sldId id="321" r:id="rId15"/>
    <p:sldId id="34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58"/>
  </p:normalViewPr>
  <p:slideViewPr>
    <p:cSldViewPr snapToGrid="0" snapToObjects="1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FE065-6C57-4D44-83DD-50785A6DF888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51097-B930-3F43-ACFF-89CA226B9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75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3328-F741-5847-8707-E7F9B325D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254B5-B14E-5145-8C90-8D4B90B36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5599A-DDE9-F94F-8770-F5D24C9EA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3FE5D-E5C5-6A45-890F-3C0DF652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D988A-B2F0-4445-99F5-B87ACAF79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1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6F39-A853-DD45-8684-36C814F1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1416-0380-D343-ACEA-AC11E6A23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AABD2-023B-5743-A0D1-80750B45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FD55F-B8AC-7446-A407-B5EC9ACC9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7CB98-7C7F-2C4E-AF1F-2C95F8421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466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00BEB-947E-5642-A821-2F46C3C1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DAC9-D6CE-7742-9CB4-932E9D781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84F4D-F8C3-3E48-BAC7-F2D5271BA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F988F-0DFC-194F-8E84-8CE23E41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273C3-743A-A54D-BAA5-5579F0B5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9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97BCF-B8E9-374F-AF33-DB092416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8670B-95A6-4643-A20A-B2FA80B9F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3722F-A0B9-5648-9EC6-8908DB213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E1A39-A9E1-AF47-A3BB-D4F004D8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0367C-8837-F344-AC41-87BB28BC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EC8AC-D294-6F46-ABB4-10F9991C8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68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5DDDE-0998-6340-923A-C4E3987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9A35-153B-AA41-8475-400A356ED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A0D90-C4E4-5748-A09C-49069E954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BA3DCA-1348-CC43-BDC8-25F85A6D6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DDD7C0-4531-3648-9BA8-9E8F8BD6C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9FA44F-4172-304F-B9FF-2F56928C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B22C20-4BEA-A841-9CC3-C36E0B36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0BE89-9F3C-6844-BDA8-E36501E1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08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461E-A728-EA44-A5D4-F24C72DF6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9448C-AB1E-BE40-9C1E-269B358A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4483E-72AB-884B-B4DA-20063020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DAD0F-0CB7-6845-ADF0-1FB2602C5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0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944996-D60C-9A4E-8C87-4A747FFA4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49BF3A-15FE-4E4C-BAA9-E28A58CF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A2474-5E3F-794B-84C5-2F4AB7476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33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690E-82ED-9944-B7B0-37689733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D3FE5-950A-0940-B697-1164C9149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182DA-8130-9640-AD52-44C55DD26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F142C-9F50-7C47-9A98-97F2243D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59703-0293-6E4F-A03F-2A4871E49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7AD34-66ED-C947-9669-3AC60FE15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4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A575-1AB5-E341-9B24-DB1A44D9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749A7-C57E-4F48-BC01-2D91158C5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36C1B-0569-3E4C-BE34-005CC4C75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B576-29E8-3241-93E9-79C33CC99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6B011-A5CC-CE47-9386-D21C6E9E1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689E4-011E-6C49-ADD8-BC5CBDC4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05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9479-514A-AD47-BBB4-2425DA2F4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55B6C-6DFC-4442-BF6F-9BECFF607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56E19-0013-024D-80F8-175D2A45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BCAC2-6798-5D4A-A247-D095AD1C3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52527-AB9F-874F-8830-C689A27F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0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DACD3-7B31-2C49-831B-CEEAC095C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7112F-ED3C-3C47-AB69-6CBFA550A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F4BFA-97C3-ED41-BFAD-BF160DF55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C113B-8C95-E143-998F-FAD91038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3FFF2-8153-CA4F-98D3-CF8B2752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23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5DC8A-4619-F24D-915A-F922FAF67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60CDC-EA9C-BD46-A743-7513FD368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8E075-D5DD-9A49-B28E-3D7C2FF486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C8570-C44E-1D46-97D5-0FBE407E85E6}" type="datetimeFigureOut">
              <a:rPr lang="en-US" smtClean="0"/>
              <a:t>10/15/25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6E94C-99F9-D744-9D38-2ABA70979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12905-FF2D-DC4F-A2E2-8D1AFC93B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5AEEB-F4DA-9D4F-AD4A-CBEE0EB47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1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739B93-EBE7-1805-AFEF-E60FC796FEBB}"/>
              </a:ext>
            </a:extLst>
          </p:cNvPr>
          <p:cNvSpPr txBox="1"/>
          <p:nvPr/>
        </p:nvSpPr>
        <p:spPr>
          <a:xfrm>
            <a:off x="0" y="1006"/>
            <a:ext cx="11772275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Critical points of a </a:t>
            </a:r>
            <a:r>
              <a:rPr lang="en-US" sz="2400" b="1" dirty="0" err="1"/>
              <a:t>vdw</a:t>
            </a:r>
            <a:r>
              <a:rPr lang="en-US" sz="2400" b="1" dirty="0"/>
              <a:t> gas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AD4FBE-8412-E57F-CA0C-7E468BAF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399" y="1020122"/>
            <a:ext cx="5056266" cy="37922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2277397-957E-4209-A4DE-5DEA5C15FC33}"/>
              </a:ext>
            </a:extLst>
          </p:cNvPr>
          <p:cNvGrpSpPr/>
          <p:nvPr/>
        </p:nvGrpSpPr>
        <p:grpSpPr>
          <a:xfrm>
            <a:off x="319360" y="672540"/>
            <a:ext cx="6691039" cy="6063926"/>
            <a:chOff x="319360" y="672540"/>
            <a:chExt cx="6691039" cy="60639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54A3425-8B71-10E5-6146-498AE69986A5}"/>
                    </a:ext>
                  </a:extLst>
                </p:cNvPr>
                <p:cNvSpPr txBox="1"/>
                <p:nvPr/>
              </p:nvSpPr>
              <p:spPr>
                <a:xfrm>
                  <a:off x="319360" y="672540"/>
                  <a:ext cx="6691039" cy="57452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dirty="0"/>
                    <a:t>The critical state (e.g.,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a14:m>
                  <a:r>
                    <a:rPr lang="en-US" sz="24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a14:m>
                  <a:r>
                    <a:rPr lang="en-US" sz="2400" dirty="0"/>
                    <a:t>,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𝑐𝑟𝑖𝑡</m:t>
                          </m:r>
                        </m:sub>
                      </m:sSub>
                    </m:oMath>
                  </a14:m>
                  <a:r>
                    <a:rPr lang="en-US" sz="2400" dirty="0"/>
                    <a:t>) can be derived for a </a:t>
                  </a:r>
                  <a:r>
                    <a:rPr lang="en-US" sz="2400" dirty="0" err="1"/>
                    <a:t>vdw</a:t>
                  </a:r>
                  <a:r>
                    <a:rPr lang="en-US" sz="2400" dirty="0"/>
                    <a:t> gas by noticing that it’s an inflection point:</a:t>
                  </a:r>
                </a:p>
                <a:p>
                  <a:endParaRPr lang="en-US" sz="2400" dirty="0"/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400" dirty="0">
                      <a:solidFill>
                        <a:schemeClr val="tx1"/>
                      </a:solidFill>
                      <a:latin typeface="+mn-lt"/>
                    </a:rPr>
                    <a:t>   and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400" dirty="0">
                    <a:solidFill>
                      <a:schemeClr val="tx1"/>
                    </a:solidFill>
                    <a:latin typeface="+mn-lt"/>
                  </a:endParaRPr>
                </a:p>
                <a:p>
                  <a:endParaRPr lang="en-US" sz="2400" dirty="0"/>
                </a:p>
                <a:p>
                  <a:r>
                    <a:rPr lang="en-US" sz="2400" dirty="0"/>
                    <a:t>The results are</a:t>
                  </a:r>
                </a:p>
                <a:p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𝑐𝑟𝑖𝑡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</m:den>
                        </m:f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𝑅𝑏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𝑅𝑏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  <a:p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𝑐𝑟𝑖𝑡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sz="2400" dirty="0"/>
                </a:p>
                <a:p>
                  <a:endParaRPr lang="en-US" sz="24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𝑐𝑟𝑖𝑡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27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54A3425-8B71-10E5-6146-498AE6998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60" y="672540"/>
                  <a:ext cx="6691039" cy="5745291"/>
                </a:xfrm>
                <a:prstGeom prst="rect">
                  <a:avLst/>
                </a:prstGeom>
                <a:blipFill>
                  <a:blip r:embed="rId3"/>
                  <a:stretch>
                    <a:fillRect l="-1326" t="-661" b="-22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Frame 2">
              <a:extLst>
                <a:ext uri="{FF2B5EF4-FFF2-40B4-BE49-F238E27FC236}">
                  <a16:creationId xmlns:a16="http://schemas.microsoft.com/office/drawing/2014/main" id="{554DF05D-E557-0045-B005-07ECA345EA81}"/>
                </a:ext>
              </a:extLst>
            </p:cNvPr>
            <p:cNvSpPr/>
            <p:nvPr/>
          </p:nvSpPr>
          <p:spPr>
            <a:xfrm>
              <a:off x="1979271" y="3599727"/>
              <a:ext cx="3958542" cy="3136739"/>
            </a:xfrm>
            <a:prstGeom prst="frame">
              <a:avLst>
                <a:gd name="adj1" fmla="val 143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5545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C15D76A-795D-B241-BE76-F434F1FC2E37}"/>
              </a:ext>
            </a:extLst>
          </p:cNvPr>
          <p:cNvGrpSpPr/>
          <p:nvPr/>
        </p:nvGrpSpPr>
        <p:grpSpPr>
          <a:xfrm>
            <a:off x="574223" y="1135901"/>
            <a:ext cx="5888240" cy="4954945"/>
            <a:chOff x="3460831" y="277792"/>
            <a:chExt cx="5888240" cy="49549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2C513A1-AF97-AC44-8C31-1E7210C4C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0831" y="277792"/>
              <a:ext cx="5888240" cy="4954945"/>
            </a:xfrm>
            <a:prstGeom prst="rect">
              <a:avLst/>
            </a:prstGeom>
          </p:spPr>
        </p:pic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02037EC-AA45-164C-83B5-E7FD0C022BB1}"/>
                </a:ext>
              </a:extLst>
            </p:cNvPr>
            <p:cNvSpPr/>
            <p:nvPr/>
          </p:nvSpPr>
          <p:spPr>
            <a:xfrm>
              <a:off x="6223836" y="1208387"/>
              <a:ext cx="1265535" cy="2431575"/>
            </a:xfrm>
            <a:custGeom>
              <a:avLst/>
              <a:gdLst>
                <a:gd name="connsiteX0" fmla="*/ 1265535 w 1265535"/>
                <a:gd name="connsiteY0" fmla="*/ 2431575 h 2431575"/>
                <a:gd name="connsiteX1" fmla="*/ 917193 w 1265535"/>
                <a:gd name="connsiteY1" fmla="*/ 2039690 h 2431575"/>
                <a:gd name="connsiteX2" fmla="*/ 670450 w 1265535"/>
                <a:gd name="connsiteY2" fmla="*/ 1749404 h 2431575"/>
                <a:gd name="connsiteX3" fmla="*/ 467250 w 1265535"/>
                <a:gd name="connsiteY3" fmla="*/ 1488147 h 2431575"/>
                <a:gd name="connsiteX4" fmla="*/ 365650 w 1265535"/>
                <a:gd name="connsiteY4" fmla="*/ 1299461 h 2431575"/>
                <a:gd name="connsiteX5" fmla="*/ 307593 w 1265535"/>
                <a:gd name="connsiteY5" fmla="*/ 1183347 h 2431575"/>
                <a:gd name="connsiteX6" fmla="*/ 235021 w 1265535"/>
                <a:gd name="connsiteY6" fmla="*/ 1168832 h 2431575"/>
                <a:gd name="connsiteX7" fmla="*/ 176964 w 1265535"/>
                <a:gd name="connsiteY7" fmla="*/ 1154318 h 2431575"/>
                <a:gd name="connsiteX8" fmla="*/ 118907 w 1265535"/>
                <a:gd name="connsiteY8" fmla="*/ 1038204 h 2431575"/>
                <a:gd name="connsiteX9" fmla="*/ 60850 w 1265535"/>
                <a:gd name="connsiteY9" fmla="*/ 849518 h 2431575"/>
                <a:gd name="connsiteX10" fmla="*/ 31821 w 1265535"/>
                <a:gd name="connsiteY10" fmla="*/ 544718 h 2431575"/>
                <a:gd name="connsiteX11" fmla="*/ 31821 w 1265535"/>
                <a:gd name="connsiteY11" fmla="*/ 297975 h 2431575"/>
                <a:gd name="connsiteX12" fmla="*/ 2793 w 1265535"/>
                <a:gd name="connsiteY12" fmla="*/ 22204 h 2431575"/>
                <a:gd name="connsiteX13" fmla="*/ 2793 w 1265535"/>
                <a:gd name="connsiteY13" fmla="*/ 36718 h 2431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65535" h="2431575">
                  <a:moveTo>
                    <a:pt x="1265535" y="2431575"/>
                  </a:moveTo>
                  <a:lnTo>
                    <a:pt x="917193" y="2039690"/>
                  </a:lnTo>
                  <a:cubicBezTo>
                    <a:pt x="818012" y="1925995"/>
                    <a:pt x="745440" y="1841328"/>
                    <a:pt x="670450" y="1749404"/>
                  </a:cubicBezTo>
                  <a:cubicBezTo>
                    <a:pt x="595460" y="1657480"/>
                    <a:pt x="518050" y="1563138"/>
                    <a:pt x="467250" y="1488147"/>
                  </a:cubicBezTo>
                  <a:cubicBezTo>
                    <a:pt x="416450" y="1413156"/>
                    <a:pt x="392259" y="1350261"/>
                    <a:pt x="365650" y="1299461"/>
                  </a:cubicBezTo>
                  <a:cubicBezTo>
                    <a:pt x="339041" y="1248661"/>
                    <a:pt x="307593" y="1183347"/>
                    <a:pt x="307593" y="1183347"/>
                  </a:cubicBezTo>
                  <a:cubicBezTo>
                    <a:pt x="285822" y="1161576"/>
                    <a:pt x="235021" y="1168832"/>
                    <a:pt x="235021" y="1168832"/>
                  </a:cubicBezTo>
                  <a:cubicBezTo>
                    <a:pt x="213249" y="1163994"/>
                    <a:pt x="196316" y="1176089"/>
                    <a:pt x="176964" y="1154318"/>
                  </a:cubicBezTo>
                  <a:cubicBezTo>
                    <a:pt x="157612" y="1132547"/>
                    <a:pt x="138259" y="1089004"/>
                    <a:pt x="118907" y="1038204"/>
                  </a:cubicBezTo>
                  <a:cubicBezTo>
                    <a:pt x="99555" y="987404"/>
                    <a:pt x="75364" y="931766"/>
                    <a:pt x="60850" y="849518"/>
                  </a:cubicBezTo>
                  <a:cubicBezTo>
                    <a:pt x="46336" y="767270"/>
                    <a:pt x="36659" y="636642"/>
                    <a:pt x="31821" y="544718"/>
                  </a:cubicBezTo>
                  <a:cubicBezTo>
                    <a:pt x="26983" y="452794"/>
                    <a:pt x="36659" y="385061"/>
                    <a:pt x="31821" y="297975"/>
                  </a:cubicBezTo>
                  <a:cubicBezTo>
                    <a:pt x="26983" y="210889"/>
                    <a:pt x="2793" y="22204"/>
                    <a:pt x="2793" y="22204"/>
                  </a:cubicBezTo>
                  <a:cubicBezTo>
                    <a:pt x="-2045" y="-21339"/>
                    <a:pt x="374" y="7689"/>
                    <a:pt x="2793" y="36718"/>
                  </a:cubicBezTo>
                </a:path>
              </a:pathLst>
            </a:custGeom>
            <a:noFill/>
            <a:ln w="127000">
              <a:solidFill>
                <a:schemeClr val="accent2">
                  <a:alpha val="6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D584ED-8AAB-B94A-8288-0AF32035C59F}"/>
              </a:ext>
            </a:extLst>
          </p:cNvPr>
          <p:cNvSpPr txBox="1"/>
          <p:nvPr/>
        </p:nvSpPr>
        <p:spPr>
          <a:xfrm>
            <a:off x="823784" y="6237615"/>
            <a:ext cx="10948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www.engineeringenotes.com</a:t>
            </a:r>
            <a:r>
              <a:rPr lang="en-US" sz="1200" dirty="0"/>
              <a:t>/thermal-engineering/real-gases/real-gases-properties-van-der-waals-equation-and-equation-of-state-thermal-engineering/49112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/>
              <p:nvPr/>
            </p:nvSpPr>
            <p:spPr>
              <a:xfrm>
                <a:off x="0" y="1006"/>
                <a:ext cx="11772275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Here’s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</m:oMath>
                </a14:m>
                <a:r>
                  <a:rPr lang="en-US" sz="2400" b="1" dirty="0"/>
                  <a:t> in our “corresponding states” diagram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06"/>
                <a:ext cx="11772275" cy="461665"/>
              </a:xfrm>
              <a:prstGeom prst="rect">
                <a:avLst/>
              </a:prstGeom>
              <a:blipFill>
                <a:blip r:embed="rId3"/>
                <a:stretch>
                  <a:fillRect l="-86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/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den>
                    </m:f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(for a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vdw</a:t>
                </a:r>
                <a:r>
                  <a:rPr lang="en-US" sz="2400" dirty="0">
                    <a:solidFill>
                      <a:schemeClr val="tx1"/>
                    </a:solidFill>
                  </a:rPr>
                  <a:t> gas)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45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B38255A-7CA6-5648-8BA8-2B9AE531AD66}"/>
              </a:ext>
            </a:extLst>
          </p:cNvPr>
          <p:cNvGrpSpPr/>
          <p:nvPr/>
        </p:nvGrpSpPr>
        <p:grpSpPr>
          <a:xfrm>
            <a:off x="574223" y="1135901"/>
            <a:ext cx="5888240" cy="4954945"/>
            <a:chOff x="540356" y="1135901"/>
            <a:chExt cx="5888240" cy="495494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C15D76A-795D-B241-BE76-F434F1FC2E37}"/>
                </a:ext>
              </a:extLst>
            </p:cNvPr>
            <p:cNvGrpSpPr/>
            <p:nvPr/>
          </p:nvGrpSpPr>
          <p:grpSpPr>
            <a:xfrm>
              <a:off x="540356" y="1135901"/>
              <a:ext cx="5888240" cy="4954945"/>
              <a:chOff x="3460831" y="277792"/>
              <a:chExt cx="5888240" cy="4954945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B2C513A1-AF97-AC44-8C31-1E7210C4C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60831" y="277792"/>
                <a:ext cx="5888240" cy="4954945"/>
              </a:xfrm>
              <a:prstGeom prst="rect">
                <a:avLst/>
              </a:prstGeom>
            </p:spPr>
          </p:pic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02037EC-AA45-164C-83B5-E7FD0C022BB1}"/>
                  </a:ext>
                </a:extLst>
              </p:cNvPr>
              <p:cNvSpPr/>
              <p:nvPr/>
            </p:nvSpPr>
            <p:spPr>
              <a:xfrm>
                <a:off x="6223836" y="1208387"/>
                <a:ext cx="1265535" cy="2431575"/>
              </a:xfrm>
              <a:custGeom>
                <a:avLst/>
                <a:gdLst>
                  <a:gd name="connsiteX0" fmla="*/ 1265535 w 1265535"/>
                  <a:gd name="connsiteY0" fmla="*/ 2431575 h 2431575"/>
                  <a:gd name="connsiteX1" fmla="*/ 917193 w 1265535"/>
                  <a:gd name="connsiteY1" fmla="*/ 2039690 h 2431575"/>
                  <a:gd name="connsiteX2" fmla="*/ 670450 w 1265535"/>
                  <a:gd name="connsiteY2" fmla="*/ 1749404 h 2431575"/>
                  <a:gd name="connsiteX3" fmla="*/ 467250 w 1265535"/>
                  <a:gd name="connsiteY3" fmla="*/ 1488147 h 2431575"/>
                  <a:gd name="connsiteX4" fmla="*/ 365650 w 1265535"/>
                  <a:gd name="connsiteY4" fmla="*/ 1299461 h 2431575"/>
                  <a:gd name="connsiteX5" fmla="*/ 307593 w 1265535"/>
                  <a:gd name="connsiteY5" fmla="*/ 1183347 h 2431575"/>
                  <a:gd name="connsiteX6" fmla="*/ 235021 w 1265535"/>
                  <a:gd name="connsiteY6" fmla="*/ 1168832 h 2431575"/>
                  <a:gd name="connsiteX7" fmla="*/ 176964 w 1265535"/>
                  <a:gd name="connsiteY7" fmla="*/ 1154318 h 2431575"/>
                  <a:gd name="connsiteX8" fmla="*/ 118907 w 1265535"/>
                  <a:gd name="connsiteY8" fmla="*/ 1038204 h 2431575"/>
                  <a:gd name="connsiteX9" fmla="*/ 60850 w 1265535"/>
                  <a:gd name="connsiteY9" fmla="*/ 849518 h 2431575"/>
                  <a:gd name="connsiteX10" fmla="*/ 31821 w 1265535"/>
                  <a:gd name="connsiteY10" fmla="*/ 544718 h 2431575"/>
                  <a:gd name="connsiteX11" fmla="*/ 31821 w 1265535"/>
                  <a:gd name="connsiteY11" fmla="*/ 297975 h 2431575"/>
                  <a:gd name="connsiteX12" fmla="*/ 2793 w 1265535"/>
                  <a:gd name="connsiteY12" fmla="*/ 22204 h 2431575"/>
                  <a:gd name="connsiteX13" fmla="*/ 2793 w 1265535"/>
                  <a:gd name="connsiteY13" fmla="*/ 36718 h 243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65535" h="2431575">
                    <a:moveTo>
                      <a:pt x="1265535" y="2431575"/>
                    </a:moveTo>
                    <a:lnTo>
                      <a:pt x="917193" y="2039690"/>
                    </a:lnTo>
                    <a:cubicBezTo>
                      <a:pt x="818012" y="1925995"/>
                      <a:pt x="745440" y="1841328"/>
                      <a:pt x="670450" y="1749404"/>
                    </a:cubicBezTo>
                    <a:cubicBezTo>
                      <a:pt x="595460" y="1657480"/>
                      <a:pt x="518050" y="1563138"/>
                      <a:pt x="467250" y="1488147"/>
                    </a:cubicBezTo>
                    <a:cubicBezTo>
                      <a:pt x="416450" y="1413156"/>
                      <a:pt x="392259" y="1350261"/>
                      <a:pt x="365650" y="1299461"/>
                    </a:cubicBezTo>
                    <a:cubicBezTo>
                      <a:pt x="339041" y="1248661"/>
                      <a:pt x="307593" y="1183347"/>
                      <a:pt x="307593" y="1183347"/>
                    </a:cubicBezTo>
                    <a:cubicBezTo>
                      <a:pt x="285822" y="1161576"/>
                      <a:pt x="235021" y="1168832"/>
                      <a:pt x="235021" y="1168832"/>
                    </a:cubicBezTo>
                    <a:cubicBezTo>
                      <a:pt x="213249" y="1163994"/>
                      <a:pt x="196316" y="1176089"/>
                      <a:pt x="176964" y="1154318"/>
                    </a:cubicBezTo>
                    <a:cubicBezTo>
                      <a:pt x="157612" y="1132547"/>
                      <a:pt x="138259" y="1089004"/>
                      <a:pt x="118907" y="1038204"/>
                    </a:cubicBezTo>
                    <a:cubicBezTo>
                      <a:pt x="99555" y="987404"/>
                      <a:pt x="75364" y="931766"/>
                      <a:pt x="60850" y="849518"/>
                    </a:cubicBezTo>
                    <a:cubicBezTo>
                      <a:pt x="46336" y="767270"/>
                      <a:pt x="36659" y="636642"/>
                      <a:pt x="31821" y="544718"/>
                    </a:cubicBezTo>
                    <a:cubicBezTo>
                      <a:pt x="26983" y="452794"/>
                      <a:pt x="36659" y="385061"/>
                      <a:pt x="31821" y="297975"/>
                    </a:cubicBezTo>
                    <a:cubicBezTo>
                      <a:pt x="26983" y="210889"/>
                      <a:pt x="2793" y="22204"/>
                      <a:pt x="2793" y="22204"/>
                    </a:cubicBezTo>
                    <a:cubicBezTo>
                      <a:pt x="-2045" y="-21339"/>
                      <a:pt x="374" y="7689"/>
                      <a:pt x="2793" y="36718"/>
                    </a:cubicBezTo>
                  </a:path>
                </a:pathLst>
              </a:custGeom>
              <a:noFill/>
              <a:ln w="127000">
                <a:solidFill>
                  <a:schemeClr val="accent2">
                    <a:alpha val="62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A27C307-E80A-E349-8C81-2CCA760A5EDA}"/>
                </a:ext>
              </a:extLst>
            </p:cNvPr>
            <p:cNvSpPr/>
            <p:nvPr/>
          </p:nvSpPr>
          <p:spPr>
            <a:xfrm>
              <a:off x="3676207" y="2127560"/>
              <a:ext cx="1219200" cy="2017486"/>
            </a:xfrm>
            <a:custGeom>
              <a:avLst/>
              <a:gdLst>
                <a:gd name="connsiteX0" fmla="*/ 1219200 w 1219200"/>
                <a:gd name="connsiteY0" fmla="*/ 2017486 h 2017486"/>
                <a:gd name="connsiteX1" fmla="*/ 885371 w 1219200"/>
                <a:gd name="connsiteY1" fmla="*/ 1698171 h 2017486"/>
                <a:gd name="connsiteX2" fmla="*/ 667657 w 1219200"/>
                <a:gd name="connsiteY2" fmla="*/ 1451428 h 2017486"/>
                <a:gd name="connsiteX3" fmla="*/ 406400 w 1219200"/>
                <a:gd name="connsiteY3" fmla="*/ 1030514 h 2017486"/>
                <a:gd name="connsiteX4" fmla="*/ 188686 w 1219200"/>
                <a:gd name="connsiteY4" fmla="*/ 595086 h 2017486"/>
                <a:gd name="connsiteX5" fmla="*/ 72571 w 1219200"/>
                <a:gd name="connsiteY5" fmla="*/ 217714 h 2017486"/>
                <a:gd name="connsiteX6" fmla="*/ 0 w 1219200"/>
                <a:gd name="connsiteY6" fmla="*/ 0 h 2017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" h="2017486">
                  <a:moveTo>
                    <a:pt x="1219200" y="2017486"/>
                  </a:moveTo>
                  <a:cubicBezTo>
                    <a:pt x="1098247" y="1905000"/>
                    <a:pt x="977295" y="1792514"/>
                    <a:pt x="885371" y="1698171"/>
                  </a:cubicBezTo>
                  <a:cubicBezTo>
                    <a:pt x="793447" y="1603828"/>
                    <a:pt x="747485" y="1562704"/>
                    <a:pt x="667657" y="1451428"/>
                  </a:cubicBezTo>
                  <a:cubicBezTo>
                    <a:pt x="587829" y="1340152"/>
                    <a:pt x="486228" y="1173238"/>
                    <a:pt x="406400" y="1030514"/>
                  </a:cubicBezTo>
                  <a:cubicBezTo>
                    <a:pt x="326572" y="887790"/>
                    <a:pt x="244324" y="730553"/>
                    <a:pt x="188686" y="595086"/>
                  </a:cubicBezTo>
                  <a:cubicBezTo>
                    <a:pt x="133048" y="459619"/>
                    <a:pt x="104019" y="316895"/>
                    <a:pt x="72571" y="217714"/>
                  </a:cubicBezTo>
                  <a:cubicBezTo>
                    <a:pt x="41123" y="118533"/>
                    <a:pt x="20561" y="59266"/>
                    <a:pt x="0" y="0"/>
                  </a:cubicBezTo>
                </a:path>
              </a:pathLst>
            </a:custGeom>
            <a:noFill/>
            <a:ln w="127000">
              <a:solidFill>
                <a:schemeClr val="accent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3D584ED-8AAB-B94A-8288-0AF32035C59F}"/>
              </a:ext>
            </a:extLst>
          </p:cNvPr>
          <p:cNvSpPr txBox="1"/>
          <p:nvPr/>
        </p:nvSpPr>
        <p:spPr>
          <a:xfrm>
            <a:off x="823784" y="6237615"/>
            <a:ext cx="10948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www.engineeringenotes.com</a:t>
            </a:r>
            <a:r>
              <a:rPr lang="en-US" sz="1200" dirty="0"/>
              <a:t>/thermal-engineering/real-gases/real-gases-properties-van-der-waals-equation-and-equation-of-state-thermal-engineering/49112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46111A-C0F6-B145-BEFE-5E5305FE1D27}"/>
                  </a:ext>
                </a:extLst>
              </p:cNvPr>
              <p:cNvSpPr txBox="1"/>
              <p:nvPr/>
            </p:nvSpPr>
            <p:spPr>
              <a:xfrm>
                <a:off x="5802489" y="1458223"/>
                <a:ext cx="6305863" cy="586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B46111A-C0F6-B145-BEFE-5E5305FE1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2489" y="1458223"/>
                <a:ext cx="6305863" cy="586571"/>
              </a:xfrm>
              <a:prstGeom prst="rect">
                <a:avLst/>
              </a:prstGeom>
              <a:blipFill>
                <a:blip r:embed="rId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/>
              <p:nvPr/>
            </p:nvSpPr>
            <p:spPr>
              <a:xfrm>
                <a:off x="0" y="1006"/>
                <a:ext cx="11772275" cy="584904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For reference 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</m:oMath>
                </a14:m>
                <a:r>
                  <a:rPr lang="en-US" sz="2400" b="1" dirty="0"/>
                  <a:t> (if you remember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)  </a:t>
                </a:r>
                <a:endParaRPr lang="en-US" sz="2400" b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06"/>
                <a:ext cx="11772275" cy="584904"/>
              </a:xfrm>
              <a:prstGeom prst="rect">
                <a:avLst/>
              </a:prstGeom>
              <a:blipFill>
                <a:blip r:embed="rId4"/>
                <a:stretch>
                  <a:fillRect l="-863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BA6C00-7DD6-834C-04DA-449E1B9572FE}"/>
              </a:ext>
            </a:extLst>
          </p:cNvPr>
          <p:cNvCxnSpPr>
            <a:cxnSpLocks/>
          </p:cNvCxnSpPr>
          <p:nvPr/>
        </p:nvCxnSpPr>
        <p:spPr>
          <a:xfrm flipH="1">
            <a:off x="3967100" y="1792736"/>
            <a:ext cx="1780297" cy="725197"/>
          </a:xfrm>
          <a:prstGeom prst="straightConnector1">
            <a:avLst/>
          </a:prstGeom>
          <a:ln w="38100">
            <a:solidFill>
              <a:schemeClr val="accent1">
                <a:alpha val="4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/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𝑐𝑟𝑖𝑡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	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151999-928C-5917-FB04-FB56C0901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30" y="2450549"/>
                <a:ext cx="6305863" cy="625812"/>
              </a:xfrm>
              <a:prstGeom prst="rect">
                <a:avLst/>
              </a:prstGeom>
              <a:blipFill>
                <a:blip r:embed="rId5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4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419725" y="679514"/>
                <a:ext cx="1017588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By definition,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𝑷𝑽</m:t>
                    </m:r>
                  </m:oMath>
                </a14:m>
                <a:r>
                  <a:rPr lang="en-US" sz="2400" dirty="0"/>
                  <a:t>, so it’s an energy. Other properties: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is numerically larger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(since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dirty="0"/>
                  <a:t> is an extensive function (since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is extensive).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Usually we like to visualize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400" dirty="0"/>
                  <a:t>, so let’s do that next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679514"/>
                <a:ext cx="10175885" cy="1938992"/>
              </a:xfrm>
              <a:prstGeom prst="rect">
                <a:avLst/>
              </a:prstGeom>
              <a:blipFill>
                <a:blip r:embed="rId2"/>
                <a:stretch>
                  <a:fillRect l="-998" t="-1948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0041CB-7CCF-2D7C-BF27-1B58BB4E77FD}"/>
                  </a:ext>
                </a:extLst>
              </p:cNvPr>
              <p:cNvSpPr txBox="1"/>
              <p:nvPr/>
            </p:nvSpPr>
            <p:spPr>
              <a:xfrm>
                <a:off x="0" y="-537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Introducing the Enthalpy,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60041CB-7CCF-2D7C-BF27-1B58BB4E7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5371"/>
                <a:ext cx="12192000" cy="461665"/>
              </a:xfrm>
              <a:prstGeom prst="rect">
                <a:avLst/>
              </a:prstGeom>
              <a:blipFill>
                <a:blip r:embed="rId3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867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0" y="-5371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Slopes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d>
                  </m:oMath>
                </a14:m>
                <a:r>
                  <a:rPr lang="en-US" sz="2400" b="1" dirty="0"/>
                  <a:t> compared to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𝑼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</m:d>
                  </m:oMath>
                </a14:m>
                <a:r>
                  <a:rPr lang="en-US" sz="2400" b="1" dirty="0"/>
                  <a:t> 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5371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66416C2-C926-F644-99BB-FEFA8DB56C48}"/>
              </a:ext>
            </a:extLst>
          </p:cNvPr>
          <p:cNvGrpSpPr/>
          <p:nvPr/>
        </p:nvGrpSpPr>
        <p:grpSpPr>
          <a:xfrm>
            <a:off x="-3946274" y="1018257"/>
            <a:ext cx="9364523" cy="4814995"/>
            <a:chOff x="-3656149" y="1444487"/>
            <a:chExt cx="9364523" cy="4814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05F3F37-5C4D-4E43-AAE9-310B3B462EFD}"/>
                    </a:ext>
                  </a:extLst>
                </p:cNvPr>
                <p:cNvSpPr txBox="1"/>
                <p:nvPr/>
              </p:nvSpPr>
              <p:spPr>
                <a:xfrm>
                  <a:off x="728870" y="1444487"/>
                  <a:ext cx="405516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Differential Equation of State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05F3F37-5C4D-4E43-AAE9-310B3B462E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870" y="1444487"/>
                  <a:ext cx="4055165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2500" t="-60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CFF48DE-F909-B448-A82F-3911E3BF6359}"/>
                </a:ext>
              </a:extLst>
            </p:cNvPr>
            <p:cNvGrpSpPr/>
            <p:nvPr/>
          </p:nvGrpSpPr>
          <p:grpSpPr>
            <a:xfrm>
              <a:off x="-3656149" y="2093844"/>
              <a:ext cx="9364523" cy="4165638"/>
              <a:chOff x="-7264053" y="-1522649"/>
              <a:chExt cx="17025401" cy="7273754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0DC45A6D-FBC0-1349-B6CA-63C2E4C6DDFE}"/>
                  </a:ext>
                </a:extLst>
              </p:cNvPr>
              <p:cNvGrpSpPr/>
              <p:nvPr/>
            </p:nvGrpSpPr>
            <p:grpSpPr>
              <a:xfrm>
                <a:off x="588319" y="1301259"/>
                <a:ext cx="6706530" cy="4449846"/>
                <a:chOff x="-286325" y="1539799"/>
                <a:chExt cx="6706530" cy="4449846"/>
              </a:xfrm>
            </p:grpSpPr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037CD3B2-C528-4F40-B096-76D4D4FA2FF9}"/>
                    </a:ext>
                  </a:extLst>
                </p:cNvPr>
                <p:cNvGrpSpPr/>
                <p:nvPr/>
              </p:nvGrpSpPr>
              <p:grpSpPr>
                <a:xfrm>
                  <a:off x="-286325" y="1539799"/>
                  <a:ext cx="6703708" cy="4449846"/>
                  <a:chOff x="569020" y="1859897"/>
                  <a:chExt cx="6703708" cy="4449846"/>
                </a:xfrm>
              </p:grpSpPr>
              <p:sp>
                <p:nvSpPr>
                  <p:cNvPr id="52" name="Frame 51">
                    <a:extLst>
                      <a:ext uri="{FF2B5EF4-FFF2-40B4-BE49-F238E27FC236}">
                        <a16:creationId xmlns:a16="http://schemas.microsoft.com/office/drawing/2014/main" id="{C6D5A761-38CA-6145-ABF9-82A17CA55CB1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3" name="Frame 52">
                    <a:extLst>
                      <a:ext uri="{FF2B5EF4-FFF2-40B4-BE49-F238E27FC236}">
                        <a16:creationId xmlns:a16="http://schemas.microsoft.com/office/drawing/2014/main" id="{EAB7667D-F823-6149-B928-8682D114D4A6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EDCA5AAF-4AE3-5347-A5EF-E39130860C5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EBAFFC58-F8CF-724A-ABE2-3F736B9E774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E0DA5A4D-C178-2A42-B6B9-82D94102C0C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5334001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73D9411F-57D3-614B-A972-D323E02989E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193D6AD8-B54E-EE4A-ADE1-61F9FC62CEF0}"/>
                      </a:ext>
                    </a:extLst>
                  </p:cNvPr>
                  <p:cNvSpPr/>
                  <p:nvPr/>
                </p:nvSpPr>
                <p:spPr>
                  <a:xfrm>
                    <a:off x="569020" y="2690712"/>
                    <a:ext cx="2169023" cy="8061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/>
                      <a:t>U(T,V)</a:t>
                    </a:r>
                  </a:p>
                </p:txBody>
              </p:sp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92BBDDF-B732-2942-825E-0F5C7D73AAE6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80E2BAEE-0C00-9C43-B6B0-30C7D17F5409}"/>
                      </a:ext>
                    </a:extLst>
                  </p:cNvPr>
                  <p:cNvSpPr/>
                  <p:nvPr/>
                </p:nvSpPr>
                <p:spPr>
                  <a:xfrm>
                    <a:off x="1653533" y="5103168"/>
                    <a:ext cx="550022" cy="8061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06CAEFA5-3A00-304E-A73C-099E3BCF23D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4B9EACE-15E2-E34E-8CD0-C68C8C5B6605}"/>
                    </a:ext>
                  </a:extLst>
                </p:cNvPr>
                <p:cNvCxnSpPr/>
                <p:nvPr/>
              </p:nvCxnSpPr>
              <p:spPr>
                <a:xfrm flipV="1">
                  <a:off x="1361461" y="4222012"/>
                  <a:ext cx="662066" cy="408928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1104307F-1856-C747-AE1A-B1B6BD8E4B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43150" y="3469430"/>
                  <a:ext cx="677055" cy="486636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Arc 41">
                <a:extLst>
                  <a:ext uri="{FF2B5EF4-FFF2-40B4-BE49-F238E27FC236}">
                    <a16:creationId xmlns:a16="http://schemas.microsoft.com/office/drawing/2014/main" id="{055755FC-007A-1647-BAD0-249B47DAFCD0}"/>
                  </a:ext>
                </a:extLst>
              </p:cNvPr>
              <p:cNvSpPr/>
              <p:nvPr/>
            </p:nvSpPr>
            <p:spPr>
              <a:xfrm>
                <a:off x="-6548553" y="-1522649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47E74B6E-D1E2-5042-BECB-05C13882107F}"/>
                  </a:ext>
                </a:extLst>
              </p:cNvPr>
              <p:cNvSpPr/>
              <p:nvPr/>
            </p:nvSpPr>
            <p:spPr>
              <a:xfrm>
                <a:off x="-7264053" y="-1075780"/>
                <a:ext cx="16309901" cy="552194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2B29ED9-B4CF-D14D-AC81-0F2E7CD7B4D5}"/>
              </a:ext>
            </a:extLst>
          </p:cNvPr>
          <p:cNvGrpSpPr/>
          <p:nvPr/>
        </p:nvGrpSpPr>
        <p:grpSpPr>
          <a:xfrm>
            <a:off x="1185866" y="132520"/>
            <a:ext cx="9236970" cy="5619963"/>
            <a:chOff x="1450908" y="556592"/>
            <a:chExt cx="9236970" cy="56199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C393092-C4E8-6045-ADFD-DEF4F3795091}"/>
                    </a:ext>
                  </a:extLst>
                </p:cNvPr>
                <p:cNvSpPr txBox="1"/>
                <p:nvPr/>
              </p:nvSpPr>
              <p:spPr>
                <a:xfrm>
                  <a:off x="6632713" y="1444486"/>
                  <a:ext cx="4055165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Differential Equation of State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𝒅𝑻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en-US" sz="2400" b="1" dirty="0"/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C393092-C4E8-6045-ADFD-DEF4F37950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2713" y="1444486"/>
                  <a:ext cx="4055165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2500" t="-42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27C4FFA-3224-D34B-A467-665ED3BDC612}"/>
                </a:ext>
              </a:extLst>
            </p:cNvPr>
            <p:cNvGrpSpPr/>
            <p:nvPr/>
          </p:nvGrpSpPr>
          <p:grpSpPr>
            <a:xfrm>
              <a:off x="1450908" y="556592"/>
              <a:ext cx="8636735" cy="5619963"/>
              <a:chOff x="-7264053" y="-4062094"/>
              <a:chExt cx="15702228" cy="9813199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8C1AA367-1904-304B-8341-D0C5CB0B3C71}"/>
                  </a:ext>
                </a:extLst>
              </p:cNvPr>
              <p:cNvGrpSpPr/>
              <p:nvPr/>
            </p:nvGrpSpPr>
            <p:grpSpPr>
              <a:xfrm>
                <a:off x="588319" y="1301259"/>
                <a:ext cx="6703708" cy="4449846"/>
                <a:chOff x="-286325" y="1539799"/>
                <a:chExt cx="6703708" cy="4449846"/>
              </a:xfrm>
            </p:grpSpPr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7BB90D15-DA1D-694E-8A2A-075E3A7ECA79}"/>
                    </a:ext>
                  </a:extLst>
                </p:cNvPr>
                <p:cNvGrpSpPr/>
                <p:nvPr/>
              </p:nvGrpSpPr>
              <p:grpSpPr>
                <a:xfrm>
                  <a:off x="-286325" y="1539799"/>
                  <a:ext cx="6703708" cy="4449846"/>
                  <a:chOff x="569020" y="1859897"/>
                  <a:chExt cx="6703708" cy="4449846"/>
                </a:xfrm>
              </p:grpSpPr>
              <p:sp>
                <p:nvSpPr>
                  <p:cNvPr id="69" name="Frame 68">
                    <a:extLst>
                      <a:ext uri="{FF2B5EF4-FFF2-40B4-BE49-F238E27FC236}">
                        <a16:creationId xmlns:a16="http://schemas.microsoft.com/office/drawing/2014/main" id="{BE0FCB8F-4E3F-B64F-BF16-4AE60F357D83}"/>
                      </a:ext>
                    </a:extLst>
                  </p:cNvPr>
                  <p:cNvSpPr/>
                  <p:nvPr/>
                </p:nvSpPr>
                <p:spPr>
                  <a:xfrm>
                    <a:off x="2188564" y="2338466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0" name="Frame 69">
                    <a:extLst>
                      <a:ext uri="{FF2B5EF4-FFF2-40B4-BE49-F238E27FC236}">
                        <a16:creationId xmlns:a16="http://schemas.microsoft.com/office/drawing/2014/main" id="{57BD5A46-FA8F-4C44-826B-EA2C7EC47F1A}"/>
                      </a:ext>
                    </a:extLst>
                  </p:cNvPr>
                  <p:cNvSpPr/>
                  <p:nvPr/>
                </p:nvSpPr>
                <p:spPr>
                  <a:xfrm>
                    <a:off x="2865620" y="1859897"/>
                    <a:ext cx="4407108" cy="3492708"/>
                  </a:xfrm>
                  <a:prstGeom prst="frame">
                    <a:avLst>
                      <a:gd name="adj1" fmla="val 1770"/>
                    </a:avLst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2F59235E-7DDC-C041-95A3-EA47124C03F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03554" y="1866835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1A4636B1-D9AB-2049-90D5-E999C68E4E6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1917358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25BCFD2E-D63B-C048-9787-FAC481DCD8A5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535711" y="5334001"/>
                    <a:ext cx="719528" cy="494675"/>
                  </a:xfrm>
                  <a:prstGeom prst="line">
                    <a:avLst/>
                  </a:prstGeom>
                  <a:ln w="6350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E036D2AD-70C6-9240-96D4-F9CA2DEAF66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177322" y="5334001"/>
                    <a:ext cx="719528" cy="494675"/>
                  </a:xfrm>
                  <a:prstGeom prst="line">
                    <a:avLst/>
                  </a:prstGeom>
                  <a:ln w="63500">
                    <a:solidFill>
                      <a:schemeClr val="accent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9BAD9945-4216-1845-98B7-A51108C49E05}"/>
                      </a:ext>
                    </a:extLst>
                  </p:cNvPr>
                  <p:cNvSpPr/>
                  <p:nvPr/>
                </p:nvSpPr>
                <p:spPr>
                  <a:xfrm>
                    <a:off x="569020" y="2690712"/>
                    <a:ext cx="2169023" cy="8061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/>
                      <a:t>H(T,P)</a:t>
                    </a:r>
                  </a:p>
                </p:txBody>
              </p:sp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2F2678B4-562E-7146-AA84-1267C2B2AA1C}"/>
                      </a:ext>
                    </a:extLst>
                  </p:cNvPr>
                  <p:cNvSpPr/>
                  <p:nvPr/>
                </p:nvSpPr>
                <p:spPr>
                  <a:xfrm>
                    <a:off x="3933242" y="5848078"/>
                    <a:ext cx="335348" cy="46166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sz="2400" dirty="0"/>
                      <a:t>T</a:t>
                    </a: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EC553CFC-0300-4042-8E52-003A7E20FCAD}"/>
                      </a:ext>
                    </a:extLst>
                  </p:cNvPr>
                  <p:cNvSpPr/>
                  <p:nvPr/>
                </p:nvSpPr>
                <p:spPr>
                  <a:xfrm>
                    <a:off x="1653533" y="5103168"/>
                    <a:ext cx="550022" cy="806128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/>
                      <a:t>P</a:t>
                    </a:r>
                  </a:p>
                </p:txBody>
              </p: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F0E0E0FD-A472-C644-A8DB-3571846BC7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03554" y="5824238"/>
                    <a:ext cx="4314668" cy="0"/>
                  </a:xfrm>
                  <a:prstGeom prst="line">
                    <a:avLst/>
                  </a:prstGeom>
                  <a:ln w="63500"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92CC8F07-C778-B24A-98C8-8386F8DD8E85}"/>
                    </a:ext>
                  </a:extLst>
                </p:cNvPr>
                <p:cNvCxnSpPr/>
                <p:nvPr/>
              </p:nvCxnSpPr>
              <p:spPr>
                <a:xfrm flipV="1">
                  <a:off x="1350707" y="3902508"/>
                  <a:ext cx="662066" cy="408929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AB694C33-1BA3-4E47-8D92-242B891FE5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701603" y="2339884"/>
                  <a:ext cx="677055" cy="486637"/>
                </a:xfrm>
                <a:prstGeom prst="line">
                  <a:avLst/>
                </a:prstGeom>
                <a:ln w="63500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0E2B14B1-0D6C-1141-B21C-F55DAFFB7433}"/>
                  </a:ext>
                </a:extLst>
              </p:cNvPr>
              <p:cNvSpPr/>
              <p:nvPr/>
            </p:nvSpPr>
            <p:spPr>
              <a:xfrm>
                <a:off x="-6548552" y="-4062094"/>
                <a:ext cx="14986727" cy="7876272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Arc 64">
                <a:extLst>
                  <a:ext uri="{FF2B5EF4-FFF2-40B4-BE49-F238E27FC236}">
                    <a16:creationId xmlns:a16="http://schemas.microsoft.com/office/drawing/2014/main" id="{39FE1664-ED93-9C49-8DB0-D39F6DB50977}"/>
                  </a:ext>
                </a:extLst>
              </p:cNvPr>
              <p:cNvSpPr/>
              <p:nvPr/>
            </p:nvSpPr>
            <p:spPr>
              <a:xfrm>
                <a:off x="-7264053" y="-3225379"/>
                <a:ext cx="15167194" cy="7441665"/>
              </a:xfrm>
              <a:prstGeom prst="arc">
                <a:avLst>
                  <a:gd name="adj1" fmla="val 1153804"/>
                  <a:gd name="adj2" fmla="val 3865988"/>
                </a:avLst>
              </a:prstGeom>
              <a:ln w="635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370356-E024-4B4E-A1CC-109120F25EE1}"/>
                  </a:ext>
                </a:extLst>
              </p:cNvPr>
              <p:cNvSpPr txBox="1"/>
              <p:nvPr/>
            </p:nvSpPr>
            <p:spPr>
              <a:xfrm>
                <a:off x="9658628" y="4086358"/>
                <a:ext cx="20492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Steeper in T-direction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370356-E024-4B4E-A1CC-109120F25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628" y="4086358"/>
                <a:ext cx="2049295" cy="1200329"/>
              </a:xfrm>
              <a:prstGeom prst="rect">
                <a:avLst/>
              </a:prstGeom>
              <a:blipFill>
                <a:blip r:embed="rId5"/>
                <a:stretch>
                  <a:fillRect l="-4294" t="-4167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54B955AD-78F8-264C-82FA-29965EA056D2}"/>
              </a:ext>
            </a:extLst>
          </p:cNvPr>
          <p:cNvSpPr txBox="1"/>
          <p:nvPr/>
        </p:nvSpPr>
        <p:spPr>
          <a:xfrm>
            <a:off x="1455285" y="6018671"/>
            <a:ext cx="2049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T-V state space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152B40-0630-5F44-B36E-FBB98C739F87}"/>
              </a:ext>
            </a:extLst>
          </p:cNvPr>
          <p:cNvSpPr txBox="1"/>
          <p:nvPr/>
        </p:nvSpPr>
        <p:spPr>
          <a:xfrm>
            <a:off x="6799736" y="6018670"/>
            <a:ext cx="2049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T-P state space</a:t>
            </a:r>
          </a:p>
        </p:txBody>
      </p:sp>
    </p:spTree>
    <p:extLst>
      <p:ext uri="{BB962C8B-B14F-4D97-AF65-F5344CB8AC3E}">
        <p14:creationId xmlns:p14="http://schemas.microsoft.com/office/powerpoint/2010/main" val="1589244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0" y="-2915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… the physical argument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-2915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33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25AF997B-40FB-3841-B9A0-66F656AC9224}"/>
              </a:ext>
            </a:extLst>
          </p:cNvPr>
          <p:cNvGrpSpPr/>
          <p:nvPr/>
        </p:nvGrpSpPr>
        <p:grpSpPr>
          <a:xfrm>
            <a:off x="555861" y="1869192"/>
            <a:ext cx="3740714" cy="1688950"/>
            <a:chOff x="580913" y="1869192"/>
            <a:chExt cx="3740714" cy="1688950"/>
          </a:xfrm>
        </p:grpSpPr>
        <p:sp>
          <p:nvSpPr>
            <p:cNvPr id="9" name="Frame 8">
              <a:extLst>
                <a:ext uri="{FF2B5EF4-FFF2-40B4-BE49-F238E27FC236}">
                  <a16:creationId xmlns:a16="http://schemas.microsoft.com/office/drawing/2014/main" id="{0F50170E-A18A-344A-8F7F-3B2F7B0C958D}"/>
                </a:ext>
              </a:extLst>
            </p:cNvPr>
            <p:cNvSpPr/>
            <p:nvPr/>
          </p:nvSpPr>
          <p:spPr>
            <a:xfrm>
              <a:off x="2406765" y="1869192"/>
              <a:ext cx="1914862" cy="1688950"/>
            </a:xfrm>
            <a:prstGeom prst="frame">
              <a:avLst>
                <a:gd name="adj1" fmla="val 459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BBE832-C25E-7449-B085-918B0540D391}"/>
                </a:ext>
              </a:extLst>
            </p:cNvPr>
            <p:cNvSpPr txBox="1"/>
            <p:nvPr/>
          </p:nvSpPr>
          <p:spPr>
            <a:xfrm>
              <a:off x="580913" y="2367419"/>
              <a:ext cx="8175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q</a:t>
              </a:r>
            </a:p>
          </p:txBody>
        </p:sp>
        <p:cxnSp>
          <p:nvCxnSpPr>
            <p:cNvPr id="15" name="Curved Connector 14">
              <a:extLst>
                <a:ext uri="{FF2B5EF4-FFF2-40B4-BE49-F238E27FC236}">
                  <a16:creationId xmlns:a16="http://schemas.microsoft.com/office/drawing/2014/main" id="{6440CACD-71A0-3749-A4F1-7BD7BE2A1DE8}"/>
                </a:ext>
              </a:extLst>
            </p:cNvPr>
            <p:cNvCxnSpPr>
              <a:cxnSpLocks/>
            </p:cNvCxnSpPr>
            <p:nvPr/>
          </p:nvCxnSpPr>
          <p:spPr>
            <a:xfrm>
              <a:off x="989703" y="2598251"/>
              <a:ext cx="1390242" cy="230833"/>
            </a:xfrm>
            <a:prstGeom prst="curvedConnector3">
              <a:avLst/>
            </a:prstGeom>
            <a:ln w="635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3D6F767-34DD-164D-BDDB-7C738C75F1F7}"/>
                    </a:ext>
                  </a:extLst>
                </p:cNvPr>
                <p:cNvSpPr txBox="1"/>
                <p:nvPr/>
              </p:nvSpPr>
              <p:spPr>
                <a:xfrm>
                  <a:off x="2757346" y="2289924"/>
                  <a:ext cx="1173077" cy="69506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3D6F767-34DD-164D-BDDB-7C738C75F1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7346" y="2289924"/>
                  <a:ext cx="1173077" cy="695062"/>
                </a:xfrm>
                <a:prstGeom prst="rect">
                  <a:avLst/>
                </a:prstGeom>
                <a:blipFill>
                  <a:blip r:embed="rId3"/>
                  <a:stretch>
                    <a:fillRect l="-5319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3355048-801E-9A4E-89B8-4F7A88CD2E54}"/>
              </a:ext>
            </a:extLst>
          </p:cNvPr>
          <p:cNvGrpSpPr/>
          <p:nvPr/>
        </p:nvGrpSpPr>
        <p:grpSpPr>
          <a:xfrm>
            <a:off x="5984335" y="1277655"/>
            <a:ext cx="5038567" cy="2768252"/>
            <a:chOff x="5182671" y="1277655"/>
            <a:chExt cx="5038567" cy="276825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E6DFDD6-2314-134E-BC38-607E75150ABD}"/>
                </a:ext>
              </a:extLst>
            </p:cNvPr>
            <p:cNvGrpSpPr/>
            <p:nvPr/>
          </p:nvGrpSpPr>
          <p:grpSpPr>
            <a:xfrm>
              <a:off x="5182671" y="1869192"/>
              <a:ext cx="4301299" cy="1688950"/>
              <a:chOff x="20328" y="1869192"/>
              <a:chExt cx="4301299" cy="1688950"/>
            </a:xfrm>
          </p:grpSpPr>
          <p:sp>
            <p:nvSpPr>
              <p:cNvPr id="20" name="Frame 19">
                <a:extLst>
                  <a:ext uri="{FF2B5EF4-FFF2-40B4-BE49-F238E27FC236}">
                    <a16:creationId xmlns:a16="http://schemas.microsoft.com/office/drawing/2014/main" id="{D0491BD4-BF1E-C54C-B735-74ED939C2455}"/>
                  </a:ext>
                </a:extLst>
              </p:cNvPr>
              <p:cNvSpPr/>
              <p:nvPr/>
            </p:nvSpPr>
            <p:spPr>
              <a:xfrm>
                <a:off x="2406765" y="1869192"/>
                <a:ext cx="1914862" cy="1688950"/>
              </a:xfrm>
              <a:prstGeom prst="frame">
                <a:avLst>
                  <a:gd name="adj1" fmla="val 459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8421FD2-6098-BE42-B54F-7299353623A3}"/>
                  </a:ext>
                </a:extLst>
              </p:cNvPr>
              <p:cNvSpPr txBox="1"/>
              <p:nvPr/>
            </p:nvSpPr>
            <p:spPr>
              <a:xfrm>
                <a:off x="20328" y="2289924"/>
                <a:ext cx="8175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q</a:t>
                </a:r>
              </a:p>
            </p:txBody>
          </p:sp>
          <p:cxnSp>
            <p:nvCxnSpPr>
              <p:cNvPr id="22" name="Curved Connector 21">
                <a:extLst>
                  <a:ext uri="{FF2B5EF4-FFF2-40B4-BE49-F238E27FC236}">
                    <a16:creationId xmlns:a16="http://schemas.microsoft.com/office/drawing/2014/main" id="{795F203D-25B5-E84A-91EE-0434F147B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3070" y="2558334"/>
                <a:ext cx="1390242" cy="230833"/>
              </a:xfrm>
              <a:prstGeom prst="curvedConnector3">
                <a:avLst>
                  <a:gd name="adj1" fmla="val 44594"/>
                </a:avLst>
              </a:prstGeom>
              <a:ln w="635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B6A1DB3-B6FD-9D41-A0DA-FF7495BBF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757346" y="2289924"/>
                    <a:ext cx="1244956" cy="6929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′=</m:t>
                          </m:r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B6A1DB3-B6FD-9D41-A0DA-FF7495BBF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7346" y="2289924"/>
                    <a:ext cx="1244956" cy="69294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051"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Frame 23">
              <a:extLst>
                <a:ext uri="{FF2B5EF4-FFF2-40B4-BE49-F238E27FC236}">
                  <a16:creationId xmlns:a16="http://schemas.microsoft.com/office/drawing/2014/main" id="{E63D12FD-93D2-8C45-8B98-2ED45ADF9C60}"/>
                </a:ext>
              </a:extLst>
            </p:cNvPr>
            <p:cNvSpPr/>
            <p:nvPr/>
          </p:nvSpPr>
          <p:spPr>
            <a:xfrm>
              <a:off x="6964471" y="1277655"/>
              <a:ext cx="3256767" cy="2768252"/>
            </a:xfrm>
            <a:prstGeom prst="frame">
              <a:avLst>
                <a:gd name="adj1" fmla="val 459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9CA305-F3AB-D349-ADBF-1F683E6547D1}"/>
                </a:ext>
              </a:extLst>
            </p:cNvPr>
            <p:cNvSpPr txBox="1"/>
            <p:nvPr/>
          </p:nvSpPr>
          <p:spPr>
            <a:xfrm>
              <a:off x="8412003" y="1358168"/>
              <a:ext cx="8175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ABF6E63E-D0E3-4243-8D23-E54CFDA031DD}"/>
                </a:ext>
              </a:extLst>
            </p:cNvPr>
            <p:cNvCxnSpPr/>
            <p:nvPr/>
          </p:nvCxnSpPr>
          <p:spPr>
            <a:xfrm flipV="1">
              <a:off x="8824778" y="1540702"/>
              <a:ext cx="0" cy="1656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0758E94-25C6-2745-A7FF-78072008BDF8}"/>
                </a:ext>
              </a:extLst>
            </p:cNvPr>
            <p:cNvCxnSpPr>
              <a:cxnSpLocks/>
            </p:cNvCxnSpPr>
            <p:nvPr/>
          </p:nvCxnSpPr>
          <p:spPr>
            <a:xfrm>
              <a:off x="8820794" y="3645824"/>
              <a:ext cx="0" cy="1871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DB6FC81-9E7B-CE44-B9E6-A5D2C19137D1}"/>
                </a:ext>
              </a:extLst>
            </p:cNvPr>
            <p:cNvCxnSpPr>
              <a:cxnSpLocks/>
            </p:cNvCxnSpPr>
            <p:nvPr/>
          </p:nvCxnSpPr>
          <p:spPr>
            <a:xfrm>
              <a:off x="9705454" y="2684823"/>
              <a:ext cx="21515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B10DC349-8C33-CD4F-B082-67D4D69CBC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14327" y="2710249"/>
              <a:ext cx="24204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6EF4745-E226-0C4C-92B9-36A715D1F2F0}"/>
                  </a:ext>
                </a:extLst>
              </p:cNvPr>
              <p:cNvSpPr txBox="1"/>
              <p:nvPr/>
            </p:nvSpPr>
            <p:spPr>
              <a:xfrm>
                <a:off x="5984335" y="4371584"/>
                <a:ext cx="6003073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Here, some heat will go into pushing against the surroundings, so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That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6EF4745-E226-0C4C-92B9-36A715D1F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4335" y="4371584"/>
                <a:ext cx="6003073" cy="1569660"/>
              </a:xfrm>
              <a:prstGeom prst="rect">
                <a:avLst/>
              </a:prstGeom>
              <a:blipFill>
                <a:blip r:embed="rId5"/>
                <a:stretch>
                  <a:fillRect l="-1691" t="-3200" b="-7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808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sz="2400" b="1" dirty="0"/>
                  <a:t> … the mathematical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argument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6EF4745-E226-0C4C-92B9-36A715D1F2F0}"/>
                  </a:ext>
                </a:extLst>
              </p:cNvPr>
              <p:cNvSpPr txBox="1"/>
              <p:nvPr/>
            </p:nvSpPr>
            <p:spPr>
              <a:xfrm>
                <a:off x="428263" y="780572"/>
                <a:ext cx="11389489" cy="3968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>
                    <a:solidFill>
                      <a:schemeClr val="tx1"/>
                    </a:solidFill>
                  </a:rPr>
                  <a:t>For an ideal monatomic gas, we know that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which means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𝒏𝑹𝑻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𝑷𝑽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we said ideal gas, so </a:t>
                </a:r>
                <a14:m>
                  <m:oMath xmlns:m="http://schemas.openxmlformats.org/officeDocument/2006/math"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</a:t>
                </a:r>
                <a:r>
                  <a:rPr lang="en-US" sz="2400" dirty="0"/>
                  <a:t>therefore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By definition,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4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𝑛𝑅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The same thinking is generalizable: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for any ideal gas.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(Crazy, bu</a:t>
                </a:r>
                <a:r>
                  <a:rPr lang="en-US" sz="2400" dirty="0"/>
                  <a:t>t useful: w</a:t>
                </a:r>
                <a:r>
                  <a:rPr lang="en-US" sz="2400" dirty="0">
                    <a:solidFill>
                      <a:schemeClr val="tx1"/>
                    </a:solidFill>
                  </a:rPr>
                  <a:t>e’ll say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even for real gases!)</a:t>
                </a: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6EF4745-E226-0C4C-92B9-36A715D1F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263" y="780572"/>
                <a:ext cx="11389489" cy="3968459"/>
              </a:xfrm>
              <a:prstGeom prst="rect">
                <a:avLst/>
              </a:prstGeom>
              <a:blipFill>
                <a:blip r:embed="rId3"/>
                <a:stretch>
                  <a:fillRect l="-780" b="-3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0134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In-class exercise about isotherms and </a:t>
                </a:r>
                <a:r>
                  <a:rPr lang="en-US" sz="2400" b="1" dirty="0" err="1"/>
                  <a:t>isenthalps</a:t>
                </a:r>
                <a:r>
                  <a:rPr lang="en-US" sz="2400" b="1" dirty="0"/>
                  <a:t>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8C26B1-9801-794B-9631-E02DF8102880}"/>
                  </a:ext>
                </a:extLst>
              </p:cNvPr>
              <p:cNvSpPr txBox="1"/>
              <p:nvPr/>
            </p:nvSpPr>
            <p:spPr>
              <a:xfrm>
                <a:off x="278106" y="1461175"/>
                <a:ext cx="6282714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u="sng" dirty="0"/>
                  <a:t>Part 1. About </a:t>
                </a:r>
                <a:r>
                  <a:rPr lang="en-US" sz="2000" i="1" u="sng" dirty="0"/>
                  <a:t>isotherms</a:t>
                </a:r>
                <a:r>
                  <a:rPr lang="en-US" sz="2000" u="sng" dirty="0"/>
                  <a:t> (paths of constant temperature</a:t>
                </a:r>
                <a:endParaRPr lang="en-US" sz="2000" i="1" u="sng" dirty="0"/>
              </a:p>
              <a:p>
                <a:r>
                  <a:rPr lang="en-US" sz="2000" dirty="0"/>
                  <a:t>Draw isotherms corresponding to the highest temperature, the lowest temperature, and around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2000 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r>
                  <a:rPr lang="en-US" sz="2000" u="sng" dirty="0"/>
                  <a:t>Part 2. About </a:t>
                </a:r>
                <a:r>
                  <a:rPr lang="en-US" sz="2000" i="1" u="sng" dirty="0" err="1"/>
                  <a:t>isenthalps</a:t>
                </a:r>
                <a:r>
                  <a:rPr lang="en-US" sz="2000" i="1" u="sng" dirty="0"/>
                  <a:t> (paths of constant enthalpy)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Draw the </a:t>
                </a:r>
                <a:r>
                  <a:rPr lang="en-US" sz="2000" dirty="0" err="1"/>
                  <a:t>isenthalp</a:t>
                </a:r>
                <a:r>
                  <a:rPr lang="en-US" sz="2000" dirty="0"/>
                  <a:t> that the </a:t>
                </a:r>
                <a:r>
                  <a:rPr lang="en-US" sz="2000" b="1" dirty="0">
                    <a:solidFill>
                      <a:srgbClr val="00B050"/>
                    </a:solidFill>
                  </a:rPr>
                  <a:t>green</a:t>
                </a:r>
                <a:r>
                  <a:rPr lang="en-US" sz="2000" dirty="0"/>
                  <a:t> dot is part of.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Draw the </a:t>
                </a:r>
                <a:r>
                  <a:rPr lang="en-US" sz="2000" dirty="0" err="1"/>
                  <a:t>isenthalp</a:t>
                </a:r>
                <a:r>
                  <a:rPr lang="en-US" sz="2000" dirty="0"/>
                  <a:t> that the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blue</a:t>
                </a:r>
                <a:r>
                  <a:rPr lang="en-US" sz="2000" dirty="0"/>
                  <a:t> dot is part of.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Draw the </a:t>
                </a:r>
                <a:r>
                  <a:rPr lang="en-US" sz="2000" dirty="0" err="1"/>
                  <a:t>isenthalp</a:t>
                </a:r>
                <a:r>
                  <a:rPr lang="en-US" sz="2000" dirty="0"/>
                  <a:t> that the </a:t>
                </a:r>
                <a:r>
                  <a:rPr lang="en-US" sz="2000" b="1" dirty="0"/>
                  <a:t>black</a:t>
                </a:r>
                <a:r>
                  <a:rPr lang="en-US" sz="2000" dirty="0"/>
                  <a:t> dot is part of.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8C26B1-9801-794B-9631-E02DF8102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06" y="1461175"/>
                <a:ext cx="6282714" cy="3170099"/>
              </a:xfrm>
              <a:prstGeom prst="rect">
                <a:avLst/>
              </a:prstGeom>
              <a:blipFill>
                <a:blip r:embed="rId3"/>
                <a:stretch>
                  <a:fillRect l="-1212" t="-1200" r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40EC8CB-CD87-C30E-14FD-626B9011AC7D}"/>
              </a:ext>
            </a:extLst>
          </p:cNvPr>
          <p:cNvGrpSpPr/>
          <p:nvPr/>
        </p:nvGrpSpPr>
        <p:grpSpPr>
          <a:xfrm>
            <a:off x="6360996" y="1168927"/>
            <a:ext cx="5680358" cy="4101790"/>
            <a:chOff x="5983806" y="1168927"/>
            <a:chExt cx="5680358" cy="41017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0A28C8D-EB07-E808-D6E4-A1819A8E9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83806" y="1168927"/>
              <a:ext cx="5680358" cy="4101790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0594CF0-5813-AF42-A72E-EC17A6471D67}"/>
                </a:ext>
              </a:extLst>
            </p:cNvPr>
            <p:cNvSpPr/>
            <p:nvPr/>
          </p:nvSpPr>
          <p:spPr>
            <a:xfrm>
              <a:off x="10812780" y="1863090"/>
              <a:ext cx="160020" cy="16002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E78A87-5FDA-7E91-0346-21F7E60E0246}"/>
                </a:ext>
              </a:extLst>
            </p:cNvPr>
            <p:cNvSpPr/>
            <p:nvPr/>
          </p:nvSpPr>
          <p:spPr>
            <a:xfrm>
              <a:off x="9929949" y="2804523"/>
              <a:ext cx="160020" cy="16002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3A56053-861A-7A81-CBC6-CD47A8FA23E1}"/>
                </a:ext>
              </a:extLst>
            </p:cNvPr>
            <p:cNvSpPr/>
            <p:nvPr/>
          </p:nvSpPr>
          <p:spPr>
            <a:xfrm>
              <a:off x="8877664" y="3972924"/>
              <a:ext cx="160020" cy="160020"/>
            </a:xfrm>
            <a:prstGeom prst="ellipse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309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/>
                    </a:solidFill>
                  </a:rPr>
                  <a:t>The </a:t>
                </a:r>
                <a:r>
                  <a:rPr lang="en-US" sz="2400" b="1" dirty="0"/>
                  <a:t>temperature dependence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8C26B1-9801-794B-9631-E02DF8102880}"/>
                  </a:ext>
                </a:extLst>
              </p:cNvPr>
              <p:cNvSpPr txBox="1"/>
              <p:nvPr/>
            </p:nvSpPr>
            <p:spPr>
              <a:xfrm>
                <a:off x="278106" y="1461175"/>
                <a:ext cx="5817894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Ideal gas: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vdw gas: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=&gt;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how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has a kind of a surprise …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1"/>
                    </a:solidFill>
                  </a:rPr>
                  <a:t>At low temperature: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B050"/>
                    </a:solidFill>
                  </a:rPr>
                  <a:t>At high temperature: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rgbClr val="00B050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8C26B1-9801-794B-9631-E02DF8102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06" y="1461175"/>
                <a:ext cx="5817894" cy="3046988"/>
              </a:xfrm>
              <a:prstGeom prst="rect">
                <a:avLst/>
              </a:prstGeom>
              <a:blipFill>
                <a:blip r:embed="rId3"/>
                <a:stretch>
                  <a:fillRect l="-1743" t="-1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3153D0F-B769-FC48-721B-FD5DAC9234D8}"/>
              </a:ext>
            </a:extLst>
          </p:cNvPr>
          <p:cNvGrpSpPr/>
          <p:nvPr/>
        </p:nvGrpSpPr>
        <p:grpSpPr>
          <a:xfrm>
            <a:off x="5983806" y="1091843"/>
            <a:ext cx="5680358" cy="4178874"/>
            <a:chOff x="5983806" y="1091843"/>
            <a:chExt cx="5680358" cy="417887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7753B4A-F944-414D-9823-B17663E40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3806" y="1168927"/>
              <a:ext cx="5680358" cy="410179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398EB6D-A00F-2BAF-6CE8-8ED0B6934B63}"/>
                </a:ext>
              </a:extLst>
            </p:cNvPr>
            <p:cNvGrpSpPr/>
            <p:nvPr/>
          </p:nvGrpSpPr>
          <p:grpSpPr>
            <a:xfrm>
              <a:off x="9357825" y="1091843"/>
              <a:ext cx="1363914" cy="3173333"/>
              <a:chOff x="9357825" y="1091843"/>
              <a:chExt cx="1363914" cy="317333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E24AA45-8CC8-A42F-3517-B0B638BC2D1E}"/>
                      </a:ext>
                    </a:extLst>
                  </p:cNvPr>
                  <p:cNvSpPr txBox="1"/>
                  <p:nvPr/>
                </p:nvSpPr>
                <p:spPr>
                  <a:xfrm>
                    <a:off x="9357825" y="3895844"/>
                    <a:ext cx="984313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0C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&lt;0</m:t>
                          </m:r>
                        </m:oMath>
                      </m:oMathPara>
                    </a14:m>
                    <a:endParaRPr 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E24AA45-8CC8-A42F-3517-B0B638BC2D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57825" y="3895844"/>
                    <a:ext cx="984313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3226"/>
                    </a:stretch>
                  </a:blipFill>
                  <a:ln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19CA4C0-BF98-9C24-8005-EDDABC60C39A}"/>
                      </a:ext>
                    </a:extLst>
                  </p:cNvPr>
                  <p:cNvSpPr txBox="1"/>
                  <p:nvPr/>
                </p:nvSpPr>
                <p:spPr>
                  <a:xfrm>
                    <a:off x="9849982" y="1091843"/>
                    <a:ext cx="871757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0070C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&gt;0</m:t>
                          </m:r>
                        </m:oMath>
                      </m:oMathPara>
                    </a14:m>
                    <a:endParaRPr lang="en-US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E19CA4C0-BF98-9C24-8005-EDDABC60C3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49982" y="1091843"/>
                    <a:ext cx="87175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3226"/>
                    </a:stretch>
                  </a:blipFill>
                  <a:ln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BB9BC47-6EF5-94A0-8F0A-F1BDB4E45BE9}"/>
              </a:ext>
            </a:extLst>
          </p:cNvPr>
          <p:cNvCxnSpPr>
            <a:cxnSpLocks/>
          </p:cNvCxnSpPr>
          <p:nvPr/>
        </p:nvCxnSpPr>
        <p:spPr>
          <a:xfrm flipH="1" flipV="1">
            <a:off x="9178290" y="1461175"/>
            <a:ext cx="1783080" cy="504785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CF4A9B-F6DB-3E5F-5A37-093C63D189D4}"/>
              </a:ext>
            </a:extLst>
          </p:cNvPr>
          <p:cNvCxnSpPr>
            <a:cxnSpLocks/>
          </p:cNvCxnSpPr>
          <p:nvPr/>
        </p:nvCxnSpPr>
        <p:spPr>
          <a:xfrm flipH="1" flipV="1">
            <a:off x="7338060" y="3840401"/>
            <a:ext cx="1623060" cy="240109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67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E9418-0014-C24B-8ACF-31C8C02B0001}"/>
              </a:ext>
            </a:extLst>
          </p:cNvPr>
          <p:cNvSpPr txBox="1"/>
          <p:nvPr/>
        </p:nvSpPr>
        <p:spPr>
          <a:xfrm>
            <a:off x="5530" y="0"/>
            <a:ext cx="1218647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The inversion </a:t>
            </a:r>
            <a:r>
              <a:rPr lang="en-US" sz="2400" b="1" dirty="0"/>
              <a:t>temperature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8C26B1-9801-794B-9631-E02DF8102880}"/>
                  </a:ext>
                </a:extLst>
              </p:cNvPr>
              <p:cNvSpPr txBox="1"/>
              <p:nvPr/>
            </p:nvSpPr>
            <p:spPr>
              <a:xfrm>
                <a:off x="278106" y="1461175"/>
                <a:ext cx="5817894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Ideal gas: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vdw gas: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/>
                  <a:t>=&gt;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But </a:t>
                </a:r>
                <a:r>
                  <a:rPr lang="en-US" sz="2400" i="1" dirty="0">
                    <a:solidFill>
                      <a:schemeClr val="tx1"/>
                    </a:solidFill>
                  </a:rPr>
                  <a:t>how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has a kind of a surprise …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accent1"/>
                    </a:solidFill>
                  </a:rPr>
                  <a:t>At low temperature: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chemeClr val="accent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B050"/>
                    </a:solidFill>
                  </a:rPr>
                  <a:t>At high temperature: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solidFill>
                    <a:srgbClr val="00B050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/>
                  <a:t>=&gt; i</a:t>
                </a:r>
                <a:r>
                  <a:rPr lang="en-US" sz="2400" dirty="0">
                    <a:solidFill>
                      <a:schemeClr val="tx1"/>
                    </a:solidFill>
                  </a:rPr>
                  <a:t>n between those temperatures there must be an “inversion temperature”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),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18C26B1-9801-794B-9631-E02DF8102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06" y="1461175"/>
                <a:ext cx="5817894" cy="4524315"/>
              </a:xfrm>
              <a:prstGeom prst="rect">
                <a:avLst/>
              </a:prstGeom>
              <a:blipFill>
                <a:blip r:embed="rId2"/>
                <a:stretch>
                  <a:fillRect l="-1743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09404348-E3E4-FCB2-204B-D61A098725F0}"/>
              </a:ext>
            </a:extLst>
          </p:cNvPr>
          <p:cNvGrpSpPr/>
          <p:nvPr/>
        </p:nvGrpSpPr>
        <p:grpSpPr>
          <a:xfrm>
            <a:off x="5983806" y="1091843"/>
            <a:ext cx="5680358" cy="4178874"/>
            <a:chOff x="5983806" y="1091843"/>
            <a:chExt cx="5680358" cy="417887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3153D0F-B769-FC48-721B-FD5DAC9234D8}"/>
                </a:ext>
              </a:extLst>
            </p:cNvPr>
            <p:cNvGrpSpPr/>
            <p:nvPr/>
          </p:nvGrpSpPr>
          <p:grpSpPr>
            <a:xfrm>
              <a:off x="5983806" y="1091843"/>
              <a:ext cx="5680358" cy="4178874"/>
              <a:chOff x="5983806" y="1091843"/>
              <a:chExt cx="5680358" cy="4178874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7753B4A-F944-414D-9823-B17663E40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83806" y="1168927"/>
                <a:ext cx="5680358" cy="4101790"/>
              </a:xfrm>
              <a:prstGeom prst="rect">
                <a:avLst/>
              </a:prstGeom>
            </p:spPr>
          </p:pic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398EB6D-A00F-2BAF-6CE8-8ED0B6934B63}"/>
                  </a:ext>
                </a:extLst>
              </p:cNvPr>
              <p:cNvGrpSpPr/>
              <p:nvPr/>
            </p:nvGrpSpPr>
            <p:grpSpPr>
              <a:xfrm>
                <a:off x="9357825" y="1091843"/>
                <a:ext cx="1363914" cy="3173333"/>
                <a:chOff x="9357825" y="1091843"/>
                <a:chExt cx="1363914" cy="317333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6E24AA45-8CC8-A42F-3517-B0B638BC2D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57825" y="3895844"/>
                      <a:ext cx="984313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70C0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&lt;0</m:t>
                            </m:r>
                          </m:oMath>
                        </m:oMathPara>
                      </a14:m>
                      <a:endParaRPr lang="en-US" dirty="0">
                        <a:solidFill>
                          <a:schemeClr val="accent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6E24AA45-8CC8-A42F-3517-B0B638BC2D1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357825" y="3895844"/>
                      <a:ext cx="984313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3226"/>
                      </a:stretch>
                    </a:blipFill>
                    <a:ln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E19CA4C0-BF98-9C24-8005-EDDABC60C3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49982" y="1091843"/>
                      <a:ext cx="871757" cy="36933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rgbClr val="0070C0"/>
                      </a:solidFill>
                    </a:ln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&gt;0</m:t>
                            </m:r>
                          </m:oMath>
                        </m:oMathPara>
                      </a14:m>
                      <a:endParaRPr lang="en-US" dirty="0">
                        <a:solidFill>
                          <a:srgbClr val="FF000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" name="TextBox 10">
                      <a:extLst>
                        <a:ext uri="{FF2B5EF4-FFF2-40B4-BE49-F238E27FC236}">
                          <a16:creationId xmlns:a16="http://schemas.microsoft.com/office/drawing/2014/main" id="{E19CA4C0-BF98-9C24-8005-EDDABC60C39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49982" y="1091843"/>
                      <a:ext cx="871757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3226"/>
                      </a:stretch>
                    </a:blipFill>
                    <a:ln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BB9BC47-6EF5-94A0-8F0A-F1BDB4E45B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78290" y="1461175"/>
              <a:ext cx="1783080" cy="504785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CF4A9B-F6DB-3E5F-5A37-093C63D189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8060" y="3840401"/>
              <a:ext cx="1623060" cy="240109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ED602F96-4AB3-623A-DF71-D57C8544ED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3920" y="2183130"/>
              <a:ext cx="1691640" cy="491490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54973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identify the inversion temperature by looking at </a:t>
                </a:r>
                <a:r>
                  <a:rPr lang="en-US" sz="2400" b="1" dirty="0" err="1"/>
                  <a:t>isenthalps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(contours)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D53EE2C-AF66-3F4D-977C-E2A2693E5EF4}"/>
              </a:ext>
            </a:extLst>
          </p:cNvPr>
          <p:cNvGrpSpPr/>
          <p:nvPr/>
        </p:nvGrpSpPr>
        <p:grpSpPr>
          <a:xfrm>
            <a:off x="5983806" y="1168927"/>
            <a:ext cx="5680358" cy="4101790"/>
            <a:chOff x="5983806" y="1168927"/>
            <a:chExt cx="5680358" cy="410179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F0076C8-7E72-72B8-EBEE-57AFBF934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3806" y="1168927"/>
              <a:ext cx="5680358" cy="4101790"/>
            </a:xfrm>
            <a:prstGeom prst="rect">
              <a:avLst/>
            </a:prstGeom>
          </p:spPr>
        </p:pic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11108F-3AB5-AD39-0D08-F5F74396AD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1120" y="1703070"/>
              <a:ext cx="2000250" cy="262890"/>
            </a:xfrm>
            <a:prstGeom prst="line">
              <a:avLst/>
            </a:prstGeom>
            <a:ln w="63500">
              <a:solidFill>
                <a:srgbClr val="00B05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0B91027-D64D-DE90-2C08-87B547E360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5230" y="3429000"/>
              <a:ext cx="1405890" cy="651510"/>
            </a:xfrm>
            <a:prstGeom prst="line">
              <a:avLst/>
            </a:prstGeom>
            <a:ln w="635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D41DF91-CA6B-9F62-5D68-3794354BD5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3920" y="2183130"/>
              <a:ext cx="1691640" cy="491490"/>
            </a:xfrm>
            <a:prstGeom prst="line">
              <a:avLst/>
            </a:prstGeom>
            <a:ln w="635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915EF1-2BD4-F84D-A590-0821EC4DBBF6}"/>
              </a:ext>
            </a:extLst>
          </p:cNvPr>
          <p:cNvGrpSpPr/>
          <p:nvPr/>
        </p:nvGrpSpPr>
        <p:grpSpPr>
          <a:xfrm>
            <a:off x="263084" y="1340535"/>
            <a:ext cx="6244683" cy="4753314"/>
            <a:chOff x="6121490" y="1588496"/>
            <a:chExt cx="6244683" cy="475331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475C18-5B24-7408-2C17-C728FDA7B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64824" y="1588496"/>
              <a:ext cx="4892308" cy="34566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468268D-0914-B538-DCBF-8C8A25B24438}"/>
                    </a:ext>
                  </a:extLst>
                </p:cNvPr>
                <p:cNvSpPr txBox="1"/>
                <p:nvPr/>
              </p:nvSpPr>
              <p:spPr>
                <a:xfrm>
                  <a:off x="6121490" y="5141481"/>
                  <a:ext cx="624468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The </a:t>
                  </a:r>
                  <a:r>
                    <a:rPr lang="en-US" sz="2400" dirty="0" err="1"/>
                    <a:t>isenthalp</a:t>
                  </a:r>
                  <a:r>
                    <a:rPr lang="en-US" sz="2400" dirty="0"/>
                    <a:t> that goes straight up/down in this space must have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400" dirty="0"/>
                    <a:t>. That’s the inversion temperature!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468268D-0914-B538-DCBF-8C8A25B24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490" y="5141481"/>
                  <a:ext cx="6244683" cy="1200329"/>
                </a:xfrm>
                <a:prstGeom prst="rect">
                  <a:avLst/>
                </a:prstGeom>
                <a:blipFill>
                  <a:blip r:embed="rId5"/>
                  <a:stretch>
                    <a:fillRect l="-1623" t="-4167" r="-203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B0546A-9DA9-1923-BE4B-9CA051223F72}"/>
              </a:ext>
            </a:extLst>
          </p:cNvPr>
          <p:cNvCxnSpPr>
            <a:cxnSpLocks/>
          </p:cNvCxnSpPr>
          <p:nvPr/>
        </p:nvCxnSpPr>
        <p:spPr>
          <a:xfrm flipV="1">
            <a:off x="3373995" y="1461175"/>
            <a:ext cx="11430" cy="2948037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889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/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We can identify the inversion temperature by looking at </a:t>
                </a:r>
                <a:r>
                  <a:rPr lang="en-US" sz="2400" b="1" dirty="0" err="1"/>
                  <a:t>isenthalps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(contours) of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endParaRPr lang="en-US" sz="2400" b="1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6E9418-0014-C24B-8ACF-31C8C02B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" y="0"/>
                <a:ext cx="1218647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3B915EF1-2BD4-F84D-A590-0821EC4DBBF6}"/>
              </a:ext>
            </a:extLst>
          </p:cNvPr>
          <p:cNvGrpSpPr/>
          <p:nvPr/>
        </p:nvGrpSpPr>
        <p:grpSpPr>
          <a:xfrm>
            <a:off x="263084" y="1340535"/>
            <a:ext cx="6244683" cy="4753314"/>
            <a:chOff x="6121490" y="1588496"/>
            <a:chExt cx="6244683" cy="475331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475C18-5B24-7408-2C17-C728FDA7B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4824" y="1588496"/>
              <a:ext cx="4892308" cy="34566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468268D-0914-B538-DCBF-8C8A25B24438}"/>
                    </a:ext>
                  </a:extLst>
                </p:cNvPr>
                <p:cNvSpPr txBox="1"/>
                <p:nvPr/>
              </p:nvSpPr>
              <p:spPr>
                <a:xfrm>
                  <a:off x="6121490" y="5141481"/>
                  <a:ext cx="624468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The </a:t>
                  </a:r>
                  <a:r>
                    <a:rPr lang="en-US" sz="2400" dirty="0" err="1"/>
                    <a:t>isenthalp</a:t>
                  </a:r>
                  <a:r>
                    <a:rPr lang="en-US" sz="2400" dirty="0"/>
                    <a:t> that goes straight up/down in this space must have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400" dirty="0"/>
                    <a:t>. That’s the inversion temperature!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468268D-0914-B538-DCBF-8C8A25B24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490" y="5141481"/>
                  <a:ext cx="6244683" cy="1200329"/>
                </a:xfrm>
                <a:prstGeom prst="rect">
                  <a:avLst/>
                </a:prstGeom>
                <a:blipFill>
                  <a:blip r:embed="rId4"/>
                  <a:stretch>
                    <a:fillRect l="-1623" t="-4167" r="-203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B0546A-9DA9-1923-BE4B-9CA051223F72}"/>
              </a:ext>
            </a:extLst>
          </p:cNvPr>
          <p:cNvCxnSpPr>
            <a:cxnSpLocks/>
          </p:cNvCxnSpPr>
          <p:nvPr/>
        </p:nvCxnSpPr>
        <p:spPr>
          <a:xfrm flipV="1">
            <a:off x="3373995" y="1461175"/>
            <a:ext cx="11430" cy="2948037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DCEC0A-7994-898F-9F41-48E6929B4AF6}"/>
                  </a:ext>
                </a:extLst>
              </p:cNvPr>
              <p:cNvSpPr txBox="1"/>
              <p:nvPr/>
            </p:nvSpPr>
            <p:spPr>
              <a:xfrm>
                <a:off x="6053002" y="2642741"/>
                <a:ext cx="52654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𝟐𝟎𝟎𝟎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(for this gas)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DCEC0A-7994-898F-9F41-48E6929B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002" y="2642741"/>
                <a:ext cx="5265420" cy="461665"/>
              </a:xfrm>
              <a:prstGeom prst="rect">
                <a:avLst/>
              </a:prstGeom>
              <a:blipFill>
                <a:blip r:embed="rId5"/>
                <a:stretch>
                  <a:fillRect l="-240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2585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6E9418-0014-C24B-8ACF-31C8C02B0001}"/>
              </a:ext>
            </a:extLst>
          </p:cNvPr>
          <p:cNvSpPr txBox="1"/>
          <p:nvPr/>
        </p:nvSpPr>
        <p:spPr>
          <a:xfrm>
            <a:off x="5530" y="0"/>
            <a:ext cx="1218647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We can also predict the inversion temperature from vdw parameters (a job for Thursday)</a:t>
            </a:r>
            <a:endParaRPr lang="en-US" sz="2400" b="1" i="1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915EF1-2BD4-F84D-A590-0821EC4DBBF6}"/>
              </a:ext>
            </a:extLst>
          </p:cNvPr>
          <p:cNvGrpSpPr/>
          <p:nvPr/>
        </p:nvGrpSpPr>
        <p:grpSpPr>
          <a:xfrm>
            <a:off x="263084" y="1340535"/>
            <a:ext cx="6244683" cy="4753314"/>
            <a:chOff x="6121490" y="1588496"/>
            <a:chExt cx="6244683" cy="4753314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6475C18-5B24-7408-2C17-C728FDA7B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64824" y="1588496"/>
              <a:ext cx="4892308" cy="345669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468268D-0914-B538-DCBF-8C8A25B24438}"/>
                    </a:ext>
                  </a:extLst>
                </p:cNvPr>
                <p:cNvSpPr txBox="1"/>
                <p:nvPr/>
              </p:nvSpPr>
              <p:spPr>
                <a:xfrm>
                  <a:off x="6121490" y="5141481"/>
                  <a:ext cx="624468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The </a:t>
                  </a:r>
                  <a:r>
                    <a:rPr lang="en-US" sz="2400" dirty="0" err="1"/>
                    <a:t>isenthalp</a:t>
                  </a:r>
                  <a:r>
                    <a:rPr lang="en-US" sz="2400" dirty="0"/>
                    <a:t> that goes straight up/down in this space must have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400" dirty="0"/>
                    <a:t>. That’s the inversion temperature!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468268D-0914-B538-DCBF-8C8A25B244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490" y="5141481"/>
                  <a:ext cx="6244683" cy="1200329"/>
                </a:xfrm>
                <a:prstGeom prst="rect">
                  <a:avLst/>
                </a:prstGeom>
                <a:blipFill>
                  <a:blip r:embed="rId3"/>
                  <a:stretch>
                    <a:fillRect l="-1623" t="-4167" r="-203" b="-93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B0546A-9DA9-1923-BE4B-9CA051223F72}"/>
              </a:ext>
            </a:extLst>
          </p:cNvPr>
          <p:cNvCxnSpPr>
            <a:cxnSpLocks/>
          </p:cNvCxnSpPr>
          <p:nvPr/>
        </p:nvCxnSpPr>
        <p:spPr>
          <a:xfrm flipV="1">
            <a:off x="3373995" y="1461175"/>
            <a:ext cx="11430" cy="2948037"/>
          </a:xfrm>
          <a:prstGeom prst="line">
            <a:avLst/>
          </a:prstGeom>
          <a:ln w="635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DCEC0A-7994-898F-9F41-48E6929B4AF6}"/>
                  </a:ext>
                </a:extLst>
              </p:cNvPr>
              <p:cNvSpPr txBox="1"/>
              <p:nvPr/>
            </p:nvSpPr>
            <p:spPr>
              <a:xfrm>
                <a:off x="6053002" y="2597021"/>
                <a:ext cx="5265420" cy="584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𝟐𝟎𝟎𝟎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𝑲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(for this gas)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𝑹𝒃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9DCEC0A-7994-898F-9F41-48E6929B4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3002" y="2597021"/>
                <a:ext cx="5265420" cy="584904"/>
              </a:xfrm>
              <a:prstGeom prst="rect">
                <a:avLst/>
              </a:prstGeom>
              <a:blipFill>
                <a:blip r:embed="rId4"/>
                <a:stretch>
                  <a:fillRect l="-240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5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3D584ED-8AAB-B94A-8288-0AF32035C59F}"/>
              </a:ext>
            </a:extLst>
          </p:cNvPr>
          <p:cNvSpPr txBox="1"/>
          <p:nvPr/>
        </p:nvSpPr>
        <p:spPr>
          <a:xfrm>
            <a:off x="823784" y="6237615"/>
            <a:ext cx="109484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www.engineeringenotes.com</a:t>
            </a:r>
            <a:r>
              <a:rPr lang="en-US" sz="1200" dirty="0"/>
              <a:t>/thermal-engineering/real-gases/real-gases-properties-van-der-waals-equation-and-equation-of-state-thermal-engineering/49112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/>
              <p:nvPr/>
            </p:nvSpPr>
            <p:spPr>
              <a:xfrm>
                <a:off x="0" y="1006"/>
                <a:ext cx="12192000" cy="4955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For reference 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𝒄𝒓𝒊𝒕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𝑩𝒐𝒚𝒍𝒆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𝑰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 </a:t>
                </a:r>
                <a:endParaRPr lang="en-US" sz="2400" b="1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06B9D96-0D05-9A42-989B-1D8B55A2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06"/>
                <a:ext cx="12192000" cy="495520"/>
              </a:xfrm>
              <a:prstGeom prst="rect">
                <a:avLst/>
              </a:prstGeom>
              <a:blipFill>
                <a:blip r:embed="rId2"/>
                <a:stretch>
                  <a:fillRect l="-832"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43FCC9E-0B50-0583-71FD-8DBDB97F2ECE}"/>
              </a:ext>
            </a:extLst>
          </p:cNvPr>
          <p:cNvGrpSpPr/>
          <p:nvPr/>
        </p:nvGrpSpPr>
        <p:grpSpPr>
          <a:xfrm>
            <a:off x="2254433" y="643667"/>
            <a:ext cx="7442184" cy="5447179"/>
            <a:chOff x="425633" y="643667"/>
            <a:chExt cx="7442184" cy="544717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587C5E8-2341-A913-8875-24712E1C9187}"/>
                </a:ext>
              </a:extLst>
            </p:cNvPr>
            <p:cNvGrpSpPr/>
            <p:nvPr/>
          </p:nvGrpSpPr>
          <p:grpSpPr>
            <a:xfrm>
              <a:off x="425633" y="643667"/>
              <a:ext cx="7274770" cy="5447179"/>
              <a:chOff x="608513" y="643667"/>
              <a:chExt cx="7274770" cy="5447179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3B38255A-7CA6-5648-8BA8-2B9AE531AD66}"/>
                  </a:ext>
                </a:extLst>
              </p:cNvPr>
              <p:cNvGrpSpPr/>
              <p:nvPr/>
            </p:nvGrpSpPr>
            <p:grpSpPr>
              <a:xfrm>
                <a:off x="608513" y="1135901"/>
                <a:ext cx="5888240" cy="4954945"/>
                <a:chOff x="540356" y="1135901"/>
                <a:chExt cx="5888240" cy="4954945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C15D76A-795D-B241-BE76-F434F1FC2E37}"/>
                    </a:ext>
                  </a:extLst>
                </p:cNvPr>
                <p:cNvGrpSpPr/>
                <p:nvPr/>
              </p:nvGrpSpPr>
              <p:grpSpPr>
                <a:xfrm>
                  <a:off x="540356" y="1135901"/>
                  <a:ext cx="5888240" cy="4954945"/>
                  <a:chOff x="3460831" y="277792"/>
                  <a:chExt cx="5888240" cy="4954945"/>
                </a:xfrm>
              </p:grpSpPr>
              <p:pic>
                <p:nvPicPr>
                  <p:cNvPr id="4" name="Picture 3">
                    <a:extLst>
                      <a:ext uri="{FF2B5EF4-FFF2-40B4-BE49-F238E27FC236}">
                        <a16:creationId xmlns:a16="http://schemas.microsoft.com/office/drawing/2014/main" id="{B2C513A1-AF97-AC44-8C31-1E7210C4C5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460831" y="277792"/>
                    <a:ext cx="5888240" cy="4954945"/>
                  </a:xfrm>
                  <a:prstGeom prst="rect">
                    <a:avLst/>
                  </a:prstGeom>
                </p:spPr>
              </p:pic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B02037EC-AA45-164C-83B5-E7FD0C022BB1}"/>
                      </a:ext>
                    </a:extLst>
                  </p:cNvPr>
                  <p:cNvSpPr/>
                  <p:nvPr/>
                </p:nvSpPr>
                <p:spPr>
                  <a:xfrm>
                    <a:off x="6223836" y="1208387"/>
                    <a:ext cx="1265535" cy="2431575"/>
                  </a:xfrm>
                  <a:custGeom>
                    <a:avLst/>
                    <a:gdLst>
                      <a:gd name="connsiteX0" fmla="*/ 1265535 w 1265535"/>
                      <a:gd name="connsiteY0" fmla="*/ 2431575 h 2431575"/>
                      <a:gd name="connsiteX1" fmla="*/ 917193 w 1265535"/>
                      <a:gd name="connsiteY1" fmla="*/ 2039690 h 2431575"/>
                      <a:gd name="connsiteX2" fmla="*/ 670450 w 1265535"/>
                      <a:gd name="connsiteY2" fmla="*/ 1749404 h 2431575"/>
                      <a:gd name="connsiteX3" fmla="*/ 467250 w 1265535"/>
                      <a:gd name="connsiteY3" fmla="*/ 1488147 h 2431575"/>
                      <a:gd name="connsiteX4" fmla="*/ 365650 w 1265535"/>
                      <a:gd name="connsiteY4" fmla="*/ 1299461 h 2431575"/>
                      <a:gd name="connsiteX5" fmla="*/ 307593 w 1265535"/>
                      <a:gd name="connsiteY5" fmla="*/ 1183347 h 2431575"/>
                      <a:gd name="connsiteX6" fmla="*/ 235021 w 1265535"/>
                      <a:gd name="connsiteY6" fmla="*/ 1168832 h 2431575"/>
                      <a:gd name="connsiteX7" fmla="*/ 176964 w 1265535"/>
                      <a:gd name="connsiteY7" fmla="*/ 1154318 h 2431575"/>
                      <a:gd name="connsiteX8" fmla="*/ 118907 w 1265535"/>
                      <a:gd name="connsiteY8" fmla="*/ 1038204 h 2431575"/>
                      <a:gd name="connsiteX9" fmla="*/ 60850 w 1265535"/>
                      <a:gd name="connsiteY9" fmla="*/ 849518 h 2431575"/>
                      <a:gd name="connsiteX10" fmla="*/ 31821 w 1265535"/>
                      <a:gd name="connsiteY10" fmla="*/ 544718 h 2431575"/>
                      <a:gd name="connsiteX11" fmla="*/ 31821 w 1265535"/>
                      <a:gd name="connsiteY11" fmla="*/ 297975 h 2431575"/>
                      <a:gd name="connsiteX12" fmla="*/ 2793 w 1265535"/>
                      <a:gd name="connsiteY12" fmla="*/ 22204 h 2431575"/>
                      <a:gd name="connsiteX13" fmla="*/ 2793 w 1265535"/>
                      <a:gd name="connsiteY13" fmla="*/ 36718 h 2431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265535" h="2431575">
                        <a:moveTo>
                          <a:pt x="1265535" y="2431575"/>
                        </a:moveTo>
                        <a:lnTo>
                          <a:pt x="917193" y="2039690"/>
                        </a:lnTo>
                        <a:cubicBezTo>
                          <a:pt x="818012" y="1925995"/>
                          <a:pt x="745440" y="1841328"/>
                          <a:pt x="670450" y="1749404"/>
                        </a:cubicBezTo>
                        <a:cubicBezTo>
                          <a:pt x="595460" y="1657480"/>
                          <a:pt x="518050" y="1563138"/>
                          <a:pt x="467250" y="1488147"/>
                        </a:cubicBezTo>
                        <a:cubicBezTo>
                          <a:pt x="416450" y="1413156"/>
                          <a:pt x="392259" y="1350261"/>
                          <a:pt x="365650" y="1299461"/>
                        </a:cubicBezTo>
                        <a:cubicBezTo>
                          <a:pt x="339041" y="1248661"/>
                          <a:pt x="307593" y="1183347"/>
                          <a:pt x="307593" y="1183347"/>
                        </a:cubicBezTo>
                        <a:cubicBezTo>
                          <a:pt x="285822" y="1161576"/>
                          <a:pt x="235021" y="1168832"/>
                          <a:pt x="235021" y="1168832"/>
                        </a:cubicBezTo>
                        <a:cubicBezTo>
                          <a:pt x="213249" y="1163994"/>
                          <a:pt x="196316" y="1176089"/>
                          <a:pt x="176964" y="1154318"/>
                        </a:cubicBezTo>
                        <a:cubicBezTo>
                          <a:pt x="157612" y="1132547"/>
                          <a:pt x="138259" y="1089004"/>
                          <a:pt x="118907" y="1038204"/>
                        </a:cubicBezTo>
                        <a:cubicBezTo>
                          <a:pt x="99555" y="987404"/>
                          <a:pt x="75364" y="931766"/>
                          <a:pt x="60850" y="849518"/>
                        </a:cubicBezTo>
                        <a:cubicBezTo>
                          <a:pt x="46336" y="767270"/>
                          <a:pt x="36659" y="636642"/>
                          <a:pt x="31821" y="544718"/>
                        </a:cubicBezTo>
                        <a:cubicBezTo>
                          <a:pt x="26983" y="452794"/>
                          <a:pt x="36659" y="385061"/>
                          <a:pt x="31821" y="297975"/>
                        </a:cubicBezTo>
                        <a:cubicBezTo>
                          <a:pt x="26983" y="210889"/>
                          <a:pt x="2793" y="22204"/>
                          <a:pt x="2793" y="22204"/>
                        </a:cubicBezTo>
                        <a:cubicBezTo>
                          <a:pt x="-2045" y="-21339"/>
                          <a:pt x="374" y="7689"/>
                          <a:pt x="2793" y="36718"/>
                        </a:cubicBezTo>
                      </a:path>
                    </a:pathLst>
                  </a:custGeom>
                  <a:noFill/>
                  <a:ln w="127000">
                    <a:solidFill>
                      <a:schemeClr val="accent2">
                        <a:alpha val="6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FA27C307-E80A-E349-8C81-2CCA760A5EDA}"/>
                    </a:ext>
                  </a:extLst>
                </p:cNvPr>
                <p:cNvSpPr/>
                <p:nvPr/>
              </p:nvSpPr>
              <p:spPr>
                <a:xfrm>
                  <a:off x="3676207" y="2127560"/>
                  <a:ext cx="1219200" cy="2017486"/>
                </a:xfrm>
                <a:custGeom>
                  <a:avLst/>
                  <a:gdLst>
                    <a:gd name="connsiteX0" fmla="*/ 1219200 w 1219200"/>
                    <a:gd name="connsiteY0" fmla="*/ 2017486 h 2017486"/>
                    <a:gd name="connsiteX1" fmla="*/ 885371 w 1219200"/>
                    <a:gd name="connsiteY1" fmla="*/ 1698171 h 2017486"/>
                    <a:gd name="connsiteX2" fmla="*/ 667657 w 1219200"/>
                    <a:gd name="connsiteY2" fmla="*/ 1451428 h 2017486"/>
                    <a:gd name="connsiteX3" fmla="*/ 406400 w 1219200"/>
                    <a:gd name="connsiteY3" fmla="*/ 1030514 h 2017486"/>
                    <a:gd name="connsiteX4" fmla="*/ 188686 w 1219200"/>
                    <a:gd name="connsiteY4" fmla="*/ 595086 h 2017486"/>
                    <a:gd name="connsiteX5" fmla="*/ 72571 w 1219200"/>
                    <a:gd name="connsiteY5" fmla="*/ 217714 h 2017486"/>
                    <a:gd name="connsiteX6" fmla="*/ 0 w 1219200"/>
                    <a:gd name="connsiteY6" fmla="*/ 0 h 2017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219200" h="2017486">
                      <a:moveTo>
                        <a:pt x="1219200" y="2017486"/>
                      </a:moveTo>
                      <a:cubicBezTo>
                        <a:pt x="1098247" y="1905000"/>
                        <a:pt x="977295" y="1792514"/>
                        <a:pt x="885371" y="1698171"/>
                      </a:cubicBezTo>
                      <a:cubicBezTo>
                        <a:pt x="793447" y="1603828"/>
                        <a:pt x="747485" y="1562704"/>
                        <a:pt x="667657" y="1451428"/>
                      </a:cubicBezTo>
                      <a:cubicBezTo>
                        <a:pt x="587829" y="1340152"/>
                        <a:pt x="486228" y="1173238"/>
                        <a:pt x="406400" y="1030514"/>
                      </a:cubicBezTo>
                      <a:cubicBezTo>
                        <a:pt x="326572" y="887790"/>
                        <a:pt x="244324" y="730553"/>
                        <a:pt x="188686" y="595086"/>
                      </a:cubicBezTo>
                      <a:cubicBezTo>
                        <a:pt x="133048" y="459619"/>
                        <a:pt x="104019" y="316895"/>
                        <a:pt x="72571" y="217714"/>
                      </a:cubicBezTo>
                      <a:cubicBezTo>
                        <a:pt x="41123" y="118533"/>
                        <a:pt x="20561" y="59266"/>
                        <a:pt x="0" y="0"/>
                      </a:cubicBezTo>
                    </a:path>
                  </a:pathLst>
                </a:custGeom>
                <a:noFill/>
                <a:ln w="127000">
                  <a:solidFill>
                    <a:schemeClr val="tx1">
                      <a:alpha val="46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C5BA6C00-7DD6-834C-04DA-449E1B9572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01390" y="1792736"/>
                <a:ext cx="1780297" cy="725197"/>
              </a:xfrm>
              <a:prstGeom prst="straightConnector1">
                <a:avLst/>
              </a:prstGeom>
              <a:ln w="38100">
                <a:solidFill>
                  <a:schemeClr val="tx1">
                    <a:alpha val="46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9151999-928C-5917-FB04-FB56C0901C88}"/>
                      </a:ext>
                    </a:extLst>
                  </p:cNvPr>
                  <p:cNvSpPr txBox="1"/>
                  <p:nvPr/>
                </p:nvSpPr>
                <p:spPr>
                  <a:xfrm>
                    <a:off x="5317031" y="2450549"/>
                    <a:ext cx="2566252" cy="7862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𝑐𝑟𝑖𝑡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>
                            <m:fPr>
                              <m:ctrlPr>
                                <a:rPr lang="en-US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𝑅𝑏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19151999-928C-5917-FB04-FB56C0901C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7031" y="2450549"/>
                    <a:ext cx="2566252" cy="78624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793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60E4619-DAED-610D-6A92-A5666BE39BAF}"/>
                      </a:ext>
                    </a:extLst>
                  </p:cNvPr>
                  <p:cNvSpPr txBox="1"/>
                  <p:nvPr/>
                </p:nvSpPr>
                <p:spPr>
                  <a:xfrm>
                    <a:off x="1731338" y="643667"/>
                    <a:ext cx="6151944" cy="72481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≈2</m:t>
                          </m:r>
                          <m:f>
                            <m:f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𝑅𝑏</m:t>
                              </m:r>
                            </m:den>
                          </m:f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60E4619-DAED-610D-6A92-A5666BE39BA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1338" y="643667"/>
                    <a:ext cx="6151944" cy="72481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89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FEDFC75A-DE30-09C9-6010-D5C763E801F0}"/>
                  </a:ext>
                </a:extLst>
              </p:cNvPr>
              <p:cNvSpPr/>
              <p:nvPr/>
            </p:nvSpPr>
            <p:spPr>
              <a:xfrm>
                <a:off x="4056482" y="1885500"/>
                <a:ext cx="1219200" cy="2017486"/>
              </a:xfrm>
              <a:custGeom>
                <a:avLst/>
                <a:gdLst>
                  <a:gd name="connsiteX0" fmla="*/ 1219200 w 1219200"/>
                  <a:gd name="connsiteY0" fmla="*/ 2017486 h 2017486"/>
                  <a:gd name="connsiteX1" fmla="*/ 885371 w 1219200"/>
                  <a:gd name="connsiteY1" fmla="*/ 1698171 h 2017486"/>
                  <a:gd name="connsiteX2" fmla="*/ 667657 w 1219200"/>
                  <a:gd name="connsiteY2" fmla="*/ 1451428 h 2017486"/>
                  <a:gd name="connsiteX3" fmla="*/ 406400 w 1219200"/>
                  <a:gd name="connsiteY3" fmla="*/ 1030514 h 2017486"/>
                  <a:gd name="connsiteX4" fmla="*/ 188686 w 1219200"/>
                  <a:gd name="connsiteY4" fmla="*/ 595086 h 2017486"/>
                  <a:gd name="connsiteX5" fmla="*/ 72571 w 1219200"/>
                  <a:gd name="connsiteY5" fmla="*/ 217714 h 2017486"/>
                  <a:gd name="connsiteX6" fmla="*/ 0 w 1219200"/>
                  <a:gd name="connsiteY6" fmla="*/ 0 h 2017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9200" h="2017486">
                    <a:moveTo>
                      <a:pt x="1219200" y="2017486"/>
                    </a:moveTo>
                    <a:cubicBezTo>
                      <a:pt x="1098247" y="1905000"/>
                      <a:pt x="977295" y="1792514"/>
                      <a:pt x="885371" y="1698171"/>
                    </a:cubicBezTo>
                    <a:cubicBezTo>
                      <a:pt x="793447" y="1603828"/>
                      <a:pt x="747485" y="1562704"/>
                      <a:pt x="667657" y="1451428"/>
                    </a:cubicBezTo>
                    <a:cubicBezTo>
                      <a:pt x="587829" y="1340152"/>
                      <a:pt x="486228" y="1173238"/>
                      <a:pt x="406400" y="1030514"/>
                    </a:cubicBezTo>
                    <a:cubicBezTo>
                      <a:pt x="326572" y="887790"/>
                      <a:pt x="244324" y="730553"/>
                      <a:pt x="188686" y="595086"/>
                    </a:cubicBezTo>
                    <a:cubicBezTo>
                      <a:pt x="133048" y="459619"/>
                      <a:pt x="104019" y="316895"/>
                      <a:pt x="72571" y="217714"/>
                    </a:cubicBezTo>
                    <a:cubicBezTo>
                      <a:pt x="41123" y="118533"/>
                      <a:pt x="20561" y="59266"/>
                      <a:pt x="0" y="0"/>
                    </a:cubicBezTo>
                  </a:path>
                </a:pathLst>
              </a:custGeom>
              <a:noFill/>
              <a:ln w="127000">
                <a:solidFill>
                  <a:srgbClr val="00B050">
                    <a:alpha val="46000"/>
                  </a:srgb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728610B-A802-37D4-8A2D-C4E9BD44F0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37844" y="1285097"/>
                <a:ext cx="499209" cy="708014"/>
              </a:xfrm>
              <a:prstGeom prst="straightConnector1">
                <a:avLst/>
              </a:prstGeom>
              <a:ln w="38100">
                <a:solidFill>
                  <a:schemeClr val="tx1">
                    <a:alpha val="46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F6E7AAB-D6EA-9C54-F012-06FF5A607672}"/>
                    </a:ext>
                  </a:extLst>
                </p:cNvPr>
                <p:cNvSpPr txBox="1"/>
                <p:nvPr/>
              </p:nvSpPr>
              <p:spPr>
                <a:xfrm>
                  <a:off x="5474996" y="1355082"/>
                  <a:ext cx="2392821" cy="7248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𝐵𝑜𝑦𝑙𝑒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𝑅𝑏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F6E7AAB-D6EA-9C54-F012-06FF5A6076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4996" y="1355082"/>
                  <a:ext cx="2392821" cy="724814"/>
                </a:xfrm>
                <a:prstGeom prst="rect">
                  <a:avLst/>
                </a:prstGeom>
                <a:blipFill>
                  <a:blip r:embed="rId6"/>
                  <a:stretch>
                    <a:fillRect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25524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/>
              <p:nvPr/>
            </p:nvSpPr>
            <p:spPr>
              <a:xfrm>
                <a:off x="419725" y="679514"/>
                <a:ext cx="11547485" cy="42585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Start with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(remember that’s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</a:rPr>
                      <m:t>𝒏𝑹𝑻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plus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𝑷𝑽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good for an ideal gas) and apply some corrections: </a:t>
                </a:r>
                <a:endParaRPr lang="en-US" sz="2400" b="1" dirty="0">
                  <a:solidFill>
                    <a:schemeClr val="tx1"/>
                  </a:solidFill>
                </a:endParaRP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𝑟𝑜𝑡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𝑣𝑖𝑏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𝑖𝑛𝑡𝑒𝑟𝑚𝑜𝑙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𝑟𝑜𝑡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2400" dirty="0"/>
                  <a:t> are our old friends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(for a vdw gas) we’re going to say that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𝑖𝑛𝑡𝑒𝑟𝑚𝑜𝑙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CB63A21-7279-9D42-8077-C7DDE7E0E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725" y="679514"/>
                <a:ext cx="11547485" cy="4258538"/>
              </a:xfrm>
              <a:prstGeom prst="rect">
                <a:avLst/>
              </a:prstGeom>
              <a:blipFill>
                <a:blip r:embed="rId2"/>
                <a:stretch>
                  <a:fillRect l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660041CB-7CCF-2D7C-BF27-1B58BB4E77FD}"/>
              </a:ext>
            </a:extLst>
          </p:cNvPr>
          <p:cNvSpPr txBox="1"/>
          <p:nvPr/>
        </p:nvSpPr>
        <p:spPr>
          <a:xfrm>
            <a:off x="0" y="-5371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 approximation for the Enthalpy of a vdw gas</a:t>
            </a:r>
          </a:p>
        </p:txBody>
      </p:sp>
    </p:spTree>
    <p:extLst>
      <p:ext uri="{BB962C8B-B14F-4D97-AF65-F5344CB8AC3E}">
        <p14:creationId xmlns:p14="http://schemas.microsoft.com/office/powerpoint/2010/main" val="1859903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35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1947</TotalTime>
  <Words>868</Words>
  <Application>Microsoft Macintosh PowerPoint</Application>
  <PresentationFormat>Widescreen</PresentationFormat>
  <Paragraphs>109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78</cp:revision>
  <cp:lastPrinted>2025-10-15T14:37:52Z</cp:lastPrinted>
  <dcterms:created xsi:type="dcterms:W3CDTF">2021-10-10T19:43:58Z</dcterms:created>
  <dcterms:modified xsi:type="dcterms:W3CDTF">2025-10-15T14:56:56Z</dcterms:modified>
</cp:coreProperties>
</file>