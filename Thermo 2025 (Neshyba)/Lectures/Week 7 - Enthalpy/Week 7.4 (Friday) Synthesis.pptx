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56" r:id="rId3"/>
    <p:sldId id="321" r:id="rId4"/>
    <p:sldId id="377" r:id="rId5"/>
    <p:sldId id="347" r:id="rId6"/>
    <p:sldId id="348" r:id="rId7"/>
    <p:sldId id="371" r:id="rId8"/>
    <p:sldId id="375" r:id="rId9"/>
    <p:sldId id="355" r:id="rId10"/>
    <p:sldId id="374" r:id="rId11"/>
    <p:sldId id="3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49"/>
    <p:restoredTop sz="95958"/>
  </p:normalViewPr>
  <p:slideViewPr>
    <p:cSldViewPr snapToGrid="0" snapToObjects="1">
      <p:cViewPr varScale="1">
        <p:scale>
          <a:sx n="92" d="100"/>
          <a:sy n="92" d="100"/>
        </p:scale>
        <p:origin x="18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2FB1C-FECF-C444-A7A7-9FFFAD583521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50F4D-116E-8742-9905-A227DDEEC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2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BA7F-40FA-9C49-A379-1C6D0E65D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34D7F-9589-2F4B-9687-212B06368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A6AE0-A549-F340-8CC5-E805586A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BCCF-03DD-154A-8523-4927D78E4453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020EA-B510-7440-8F97-E371A4F0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AD8E2-E941-3C41-89C6-E58109F1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0FF1-2E8B-0F46-83F4-2017B798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280D-FC7D-1344-BE06-19FB4C35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B8A9-3E0C-8A4F-BDEE-99526566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3BB6-CE9A-F14C-B639-695E5A031AFF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5662D-A40E-3444-AC63-995C33AA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45CC-505D-C44C-AD15-50D99957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3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ADF4-2D47-3A44-B4BB-A94D6EE8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4BF14-1528-844C-BACE-E86003AE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986A-4D83-474D-88C1-E58BAE01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463B6-D6CB-7048-84A7-2A125DA02713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A385-C754-8A4E-BFD4-079190F8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CA81D-E1F8-BF44-A6DF-7CA19FDC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3B7D-17D5-AA49-93B2-7FE1095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0A04-6C35-DC40-8DB0-6D3689159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89B69-D55D-FA4D-8529-194AD706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CDCEE-651C-DC4F-A7DE-9929BE7F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7725F-A987-9242-913D-BE85BE8D2216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CA530-2E9E-234E-A851-FB4C2449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1D0A-01A4-6547-AFED-5752A459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09B5-3DEF-CC42-AB19-9B44A48F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6823-F107-304E-AA0F-E4EFAA4A8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05B7-6247-9F43-B526-E48DDBB14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E5ED2-8CD4-7348-9D4B-D7BB52C7E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C41D4-6D0B-FD47-B609-7814D319F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7BA43-56C7-A643-840F-30F37384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58BE-0C9B-9942-AC4F-8BD267C948D8}" type="datetime1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F81AE-E9F3-F143-830D-4C5B0B31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0A42D-E66B-1945-A802-9E1A7534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2F1E-D17D-BE47-BA6A-A7C67416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41889-7DDC-B544-BD40-7FCF99E7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B900-6AF0-9C40-95B8-DED6C1AF3269}" type="datetime1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76E8C-3029-E549-9ED2-5C9EE637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0FE87-111A-C348-A931-942891B4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9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CDBC5-55E4-0E40-9492-9B408AC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51DE9-98BE-2549-92E8-EA97483C74AA}" type="datetime1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56EF8-5DB7-2848-987A-692A2051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2889C-2CFC-8845-B141-6B04DBC7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3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99F0-6169-E64F-9D72-91685239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6001-BFA9-8141-A7B4-85A94E74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C684E-A207-2748-ACCE-7A99DF83A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419B6-FC8E-7346-ADEA-1D968B79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6DE2-F5B3-3D46-A5BC-C71A105E6A1B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53D7A-3B52-754B-911D-5356909B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CB4D-AFA0-B64C-A5BB-C2A0E272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E194-C34A-0D46-8D65-FF8916BB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EF9DE-2874-8E44-836C-5C5DD9B43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CF13F-EF39-BC42-8D47-4BD919749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29416-846E-2F48-A1A7-72798008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488EB-228D-D449-8851-D76E611791D0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D1F83-75F2-E04F-92A9-86720F84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F7C89-84F1-8246-ACDD-778A2977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7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61CF-CDD4-3949-8514-AD8445C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3BA93-2284-1C42-BE2D-E2587C0FC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C829D-746F-C34F-8CEA-624A5F5E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20A0-03EE-924A-AFED-8186BDBC4BE1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9997-0A2C-D248-8EAB-8915B4A1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79DA4-D830-2341-97BA-A0F5F123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3BAD4-24A3-A648-A610-98353DE8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401F5-2B12-BA41-8E7B-C03EADB45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984E1-B7C8-F14A-8F90-009A8F1B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AB4E-9455-674A-A454-AC75181E0333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D6911-FCB5-2447-8D17-9FFED95A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3AC03-4975-D849-8984-31088168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3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D9DA8-DD9E-6C48-827F-EE2AF09C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4BDCC-FF40-7149-8305-CEB6C4E9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E005-25C2-AD43-8FD1-DA594B23D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32001-FA6E-4642-BE89-E45634BC9E83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E04F-B428-EF43-8D52-C2A163626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2F74-9374-5F4C-A967-F6FA4B7BD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5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7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ule%E2%80%93Thomson_effec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6FAAA3D-3862-57E1-836B-ABCA76887CDB}"/>
              </a:ext>
            </a:extLst>
          </p:cNvPr>
          <p:cNvGrpSpPr>
            <a:grpSpLocks noChangeAspect="1"/>
          </p:cNvGrpSpPr>
          <p:nvPr/>
        </p:nvGrpSpPr>
        <p:grpSpPr>
          <a:xfrm>
            <a:off x="2962656" y="1568055"/>
            <a:ext cx="5650991" cy="4855193"/>
            <a:chOff x="7023586" y="-66471"/>
            <a:chExt cx="3578824" cy="307483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89A48AD-72F0-ABB1-92BC-59726DDE707B}"/>
                </a:ext>
              </a:extLst>
            </p:cNvPr>
            <p:cNvGrpSpPr/>
            <p:nvPr/>
          </p:nvGrpSpPr>
          <p:grpSpPr>
            <a:xfrm>
              <a:off x="7023586" y="324248"/>
              <a:ext cx="3578824" cy="2684119"/>
              <a:chOff x="6595323" y="324248"/>
              <a:chExt cx="3578824" cy="268411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EEF6178-1D04-B2A1-D484-FAD7C321C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95323" y="324248"/>
                <a:ext cx="3578824" cy="2684119"/>
              </a:xfrm>
              <a:prstGeom prst="rect">
                <a:avLst/>
              </a:prstGeom>
            </p:spPr>
          </p:pic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16ED7AC-AFEC-44C4-3EE7-F8E922ACED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5328" y="766263"/>
                <a:ext cx="178289" cy="12182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0445B80-D726-3931-5402-253D1B351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9266" y="-66471"/>
              <a:ext cx="2807463" cy="5969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22944BF-B3F8-1F5E-63C6-9EEEE8FE442A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did this week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8C26A-AA1C-16A8-D563-56FB2454A23E}"/>
              </a:ext>
            </a:extLst>
          </p:cNvPr>
          <p:cNvSpPr txBox="1"/>
          <p:nvPr/>
        </p:nvSpPr>
        <p:spPr>
          <a:xfrm>
            <a:off x="1452505" y="568375"/>
            <a:ext cx="86712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We got acquainted with critical points and corresponding states (as well as computer-assisted calculus in </a:t>
            </a:r>
            <a:r>
              <a:rPr lang="en-US" sz="2400" dirty="0" err="1"/>
              <a:t>AnalyticalTcrit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5380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22944BF-B3F8-1F5E-63C6-9EEEE8FE442A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did this week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68C26A-AA1C-16A8-D563-56FB2454A23E}"/>
                  </a:ext>
                </a:extLst>
              </p:cNvPr>
              <p:cNvSpPr txBox="1"/>
              <p:nvPr/>
            </p:nvSpPr>
            <p:spPr>
              <a:xfrm>
                <a:off x="104007" y="463456"/>
                <a:ext cx="7972142" cy="601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introduced the Enthalpy,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𝑃𝑉</m:t>
                    </m:r>
                  </m:oMath>
                </a14:m>
                <a:r>
                  <a:rPr lang="en-US" sz="2400" b="0" dirty="0"/>
                  <a:t>, </a:t>
                </a:r>
                <a:r>
                  <a:rPr lang="en-US" sz="2400" dirty="0"/>
                  <a:t>visualized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400" dirty="0"/>
                  <a:t> as a thermodynamic surface, and identified its slopes: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r>
                  <a:rPr lang="en-US" sz="2400" b="0" dirty="0"/>
                  <a:t>We noticed the twist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400" b="0" dirty="0"/>
                  <a:t>, and the inversion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400" b="0" dirty="0"/>
                  <a:t>. </a:t>
                </a:r>
                <a:r>
                  <a:rPr lang="en-US" sz="2400" dirty="0"/>
                  <a:t>We also said that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𝑟𝑜𝑡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𝑖𝑛𝑡𝑒𝑟𝑚𝑜𝑙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are our old friends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68C26A-AA1C-16A8-D563-56FB2454A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7" y="463456"/>
                <a:ext cx="7972142" cy="6013377"/>
              </a:xfrm>
              <a:prstGeom prst="rect">
                <a:avLst/>
              </a:prstGeom>
              <a:blipFill>
                <a:blip r:embed="rId2"/>
                <a:stretch>
                  <a:fillRect l="-1274" t="-633" b="-12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9FE0B01-BFDB-BC69-C03B-1EE17364B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085" y="667754"/>
            <a:ext cx="3823908" cy="276124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17EF312-2342-5B94-02FF-1007B58E9F0E}"/>
              </a:ext>
            </a:extLst>
          </p:cNvPr>
          <p:cNvGrpSpPr>
            <a:grpSpLocks noChangeAspect="1"/>
          </p:cNvGrpSpPr>
          <p:nvPr/>
        </p:nvGrpSpPr>
        <p:grpSpPr>
          <a:xfrm>
            <a:off x="8301614" y="3527226"/>
            <a:ext cx="3598443" cy="2487214"/>
            <a:chOff x="706418" y="1340535"/>
            <a:chExt cx="4880900" cy="34486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9128C86-4B88-4A3F-07BC-C37CABF9C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418" y="1340535"/>
              <a:ext cx="4880900" cy="34486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7EBDDFF-F87F-AA1C-FD5E-8D88E244E4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995" y="1461175"/>
              <a:ext cx="11430" cy="2948037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375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38255A-7CA6-5648-8BA8-2B9AE531AD66}"/>
              </a:ext>
            </a:extLst>
          </p:cNvPr>
          <p:cNvGrpSpPr/>
          <p:nvPr/>
        </p:nvGrpSpPr>
        <p:grpSpPr>
          <a:xfrm>
            <a:off x="574223" y="1135901"/>
            <a:ext cx="5888240" cy="4954945"/>
            <a:chOff x="540356" y="1135901"/>
            <a:chExt cx="5888240" cy="495494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15D76A-795D-B241-BE76-F434F1FC2E37}"/>
                </a:ext>
              </a:extLst>
            </p:cNvPr>
            <p:cNvGrpSpPr/>
            <p:nvPr/>
          </p:nvGrpSpPr>
          <p:grpSpPr>
            <a:xfrm>
              <a:off x="540356" y="1135901"/>
              <a:ext cx="5888240" cy="4954945"/>
              <a:chOff x="3460831" y="277792"/>
              <a:chExt cx="5888240" cy="495494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2C513A1-AF97-AC44-8C31-1E7210C4C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60831" y="277792"/>
                <a:ext cx="5888240" cy="4954945"/>
              </a:xfrm>
              <a:prstGeom prst="rect">
                <a:avLst/>
              </a:prstGeom>
            </p:spPr>
          </p:pic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2037EC-AA45-164C-83B5-E7FD0C022BB1}"/>
                  </a:ext>
                </a:extLst>
              </p:cNvPr>
              <p:cNvSpPr/>
              <p:nvPr/>
            </p:nvSpPr>
            <p:spPr>
              <a:xfrm>
                <a:off x="6223836" y="1208387"/>
                <a:ext cx="1265535" cy="2431575"/>
              </a:xfrm>
              <a:custGeom>
                <a:avLst/>
                <a:gdLst>
                  <a:gd name="connsiteX0" fmla="*/ 1265535 w 1265535"/>
                  <a:gd name="connsiteY0" fmla="*/ 2431575 h 2431575"/>
                  <a:gd name="connsiteX1" fmla="*/ 917193 w 1265535"/>
                  <a:gd name="connsiteY1" fmla="*/ 2039690 h 2431575"/>
                  <a:gd name="connsiteX2" fmla="*/ 670450 w 1265535"/>
                  <a:gd name="connsiteY2" fmla="*/ 1749404 h 2431575"/>
                  <a:gd name="connsiteX3" fmla="*/ 467250 w 1265535"/>
                  <a:gd name="connsiteY3" fmla="*/ 1488147 h 2431575"/>
                  <a:gd name="connsiteX4" fmla="*/ 365650 w 1265535"/>
                  <a:gd name="connsiteY4" fmla="*/ 1299461 h 2431575"/>
                  <a:gd name="connsiteX5" fmla="*/ 307593 w 1265535"/>
                  <a:gd name="connsiteY5" fmla="*/ 1183347 h 2431575"/>
                  <a:gd name="connsiteX6" fmla="*/ 235021 w 1265535"/>
                  <a:gd name="connsiteY6" fmla="*/ 1168832 h 2431575"/>
                  <a:gd name="connsiteX7" fmla="*/ 176964 w 1265535"/>
                  <a:gd name="connsiteY7" fmla="*/ 1154318 h 2431575"/>
                  <a:gd name="connsiteX8" fmla="*/ 118907 w 1265535"/>
                  <a:gd name="connsiteY8" fmla="*/ 1038204 h 2431575"/>
                  <a:gd name="connsiteX9" fmla="*/ 60850 w 1265535"/>
                  <a:gd name="connsiteY9" fmla="*/ 849518 h 2431575"/>
                  <a:gd name="connsiteX10" fmla="*/ 31821 w 1265535"/>
                  <a:gd name="connsiteY10" fmla="*/ 544718 h 2431575"/>
                  <a:gd name="connsiteX11" fmla="*/ 31821 w 1265535"/>
                  <a:gd name="connsiteY11" fmla="*/ 297975 h 2431575"/>
                  <a:gd name="connsiteX12" fmla="*/ 2793 w 1265535"/>
                  <a:gd name="connsiteY12" fmla="*/ 22204 h 2431575"/>
                  <a:gd name="connsiteX13" fmla="*/ 2793 w 1265535"/>
                  <a:gd name="connsiteY13" fmla="*/ 36718 h 243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5535" h="2431575">
                    <a:moveTo>
                      <a:pt x="1265535" y="2431575"/>
                    </a:moveTo>
                    <a:lnTo>
                      <a:pt x="917193" y="2039690"/>
                    </a:lnTo>
                    <a:cubicBezTo>
                      <a:pt x="818012" y="1925995"/>
                      <a:pt x="745440" y="1841328"/>
                      <a:pt x="670450" y="1749404"/>
                    </a:cubicBezTo>
                    <a:cubicBezTo>
                      <a:pt x="595460" y="1657480"/>
                      <a:pt x="518050" y="1563138"/>
                      <a:pt x="467250" y="1488147"/>
                    </a:cubicBezTo>
                    <a:cubicBezTo>
                      <a:pt x="416450" y="1413156"/>
                      <a:pt x="392259" y="1350261"/>
                      <a:pt x="365650" y="1299461"/>
                    </a:cubicBezTo>
                    <a:cubicBezTo>
                      <a:pt x="339041" y="1248661"/>
                      <a:pt x="307593" y="1183347"/>
                      <a:pt x="307593" y="1183347"/>
                    </a:cubicBezTo>
                    <a:cubicBezTo>
                      <a:pt x="285822" y="1161576"/>
                      <a:pt x="235021" y="1168832"/>
                      <a:pt x="235021" y="1168832"/>
                    </a:cubicBezTo>
                    <a:cubicBezTo>
                      <a:pt x="213249" y="1163994"/>
                      <a:pt x="196316" y="1176089"/>
                      <a:pt x="176964" y="1154318"/>
                    </a:cubicBezTo>
                    <a:cubicBezTo>
                      <a:pt x="157612" y="1132547"/>
                      <a:pt x="138259" y="1089004"/>
                      <a:pt x="118907" y="1038204"/>
                    </a:cubicBezTo>
                    <a:cubicBezTo>
                      <a:pt x="99555" y="987404"/>
                      <a:pt x="75364" y="931766"/>
                      <a:pt x="60850" y="849518"/>
                    </a:cubicBezTo>
                    <a:cubicBezTo>
                      <a:pt x="46336" y="767270"/>
                      <a:pt x="36659" y="636642"/>
                      <a:pt x="31821" y="544718"/>
                    </a:cubicBezTo>
                    <a:cubicBezTo>
                      <a:pt x="26983" y="452794"/>
                      <a:pt x="36659" y="385061"/>
                      <a:pt x="31821" y="297975"/>
                    </a:cubicBezTo>
                    <a:cubicBezTo>
                      <a:pt x="26983" y="210889"/>
                      <a:pt x="2793" y="22204"/>
                      <a:pt x="2793" y="22204"/>
                    </a:cubicBezTo>
                    <a:cubicBezTo>
                      <a:pt x="-2045" y="-21339"/>
                      <a:pt x="374" y="7689"/>
                      <a:pt x="2793" y="3671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alpha val="6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A27C307-E80A-E349-8C81-2CCA760A5EDA}"/>
                </a:ext>
              </a:extLst>
            </p:cNvPr>
            <p:cNvSpPr/>
            <p:nvPr/>
          </p:nvSpPr>
          <p:spPr>
            <a:xfrm>
              <a:off x="3676207" y="2127560"/>
              <a:ext cx="1219200" cy="2017486"/>
            </a:xfrm>
            <a:custGeom>
              <a:avLst/>
              <a:gdLst>
                <a:gd name="connsiteX0" fmla="*/ 1219200 w 1219200"/>
                <a:gd name="connsiteY0" fmla="*/ 2017486 h 2017486"/>
                <a:gd name="connsiteX1" fmla="*/ 885371 w 1219200"/>
                <a:gd name="connsiteY1" fmla="*/ 1698171 h 2017486"/>
                <a:gd name="connsiteX2" fmla="*/ 667657 w 1219200"/>
                <a:gd name="connsiteY2" fmla="*/ 1451428 h 2017486"/>
                <a:gd name="connsiteX3" fmla="*/ 406400 w 1219200"/>
                <a:gd name="connsiteY3" fmla="*/ 1030514 h 2017486"/>
                <a:gd name="connsiteX4" fmla="*/ 188686 w 1219200"/>
                <a:gd name="connsiteY4" fmla="*/ 595086 h 2017486"/>
                <a:gd name="connsiteX5" fmla="*/ 72571 w 1219200"/>
                <a:gd name="connsiteY5" fmla="*/ 217714 h 2017486"/>
                <a:gd name="connsiteX6" fmla="*/ 0 w 1219200"/>
                <a:gd name="connsiteY6" fmla="*/ 0 h 201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" h="2017486">
                  <a:moveTo>
                    <a:pt x="1219200" y="2017486"/>
                  </a:moveTo>
                  <a:cubicBezTo>
                    <a:pt x="1098247" y="1905000"/>
                    <a:pt x="977295" y="1792514"/>
                    <a:pt x="885371" y="1698171"/>
                  </a:cubicBezTo>
                  <a:cubicBezTo>
                    <a:pt x="793447" y="1603828"/>
                    <a:pt x="747485" y="1562704"/>
                    <a:pt x="667657" y="1451428"/>
                  </a:cubicBezTo>
                  <a:cubicBezTo>
                    <a:pt x="587829" y="1340152"/>
                    <a:pt x="486228" y="1173238"/>
                    <a:pt x="406400" y="1030514"/>
                  </a:cubicBezTo>
                  <a:cubicBezTo>
                    <a:pt x="326572" y="887790"/>
                    <a:pt x="244324" y="730553"/>
                    <a:pt x="188686" y="595086"/>
                  </a:cubicBezTo>
                  <a:cubicBezTo>
                    <a:pt x="133048" y="459619"/>
                    <a:pt x="104019" y="316895"/>
                    <a:pt x="72571" y="217714"/>
                  </a:cubicBezTo>
                  <a:cubicBezTo>
                    <a:pt x="41123" y="118533"/>
                    <a:pt x="20561" y="59266"/>
                    <a:pt x="0" y="0"/>
                  </a:cubicBezTo>
                </a:path>
              </a:pathLst>
            </a:custGeom>
            <a:noFill/>
            <a:ln w="127000">
              <a:solidFill>
                <a:schemeClr val="accent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D584ED-8AAB-B94A-8288-0AF32035C59F}"/>
              </a:ext>
            </a:extLst>
          </p:cNvPr>
          <p:cNvSpPr txBox="1"/>
          <p:nvPr/>
        </p:nvSpPr>
        <p:spPr>
          <a:xfrm>
            <a:off x="823784" y="6237615"/>
            <a:ext cx="1094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/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/>
              <p:nvPr/>
            </p:nvSpPr>
            <p:spPr>
              <a:xfrm>
                <a:off x="0" y="1006"/>
                <a:ext cx="12192000" cy="58657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W</a:t>
                </a:r>
                <a:r>
                  <a: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 talked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as a unifying idea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6"/>
                <a:ext cx="12192000" cy="586571"/>
              </a:xfrm>
              <a:prstGeom prst="rect">
                <a:avLst/>
              </a:prstGeom>
              <a:blipFill>
                <a:blip r:embed="rId4"/>
                <a:stretch>
                  <a:fillRect l="-832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BA6C00-7DD6-834C-04DA-449E1B9572FE}"/>
              </a:ext>
            </a:extLst>
          </p:cNvPr>
          <p:cNvCxnSpPr>
            <a:cxnSpLocks/>
          </p:cNvCxnSpPr>
          <p:nvPr/>
        </p:nvCxnSpPr>
        <p:spPr>
          <a:xfrm flipH="1">
            <a:off x="3967100" y="1792736"/>
            <a:ext cx="1780297" cy="725197"/>
          </a:xfrm>
          <a:prstGeom prst="straightConnector1">
            <a:avLst/>
          </a:prstGeom>
          <a:ln w="38100">
            <a:solidFill>
              <a:schemeClr val="accent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/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dirty="0"/>
                  <a:t>	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E4619-DAED-610D-6A92-A5666BE39BAF}"/>
                  </a:ext>
                </a:extLst>
              </p:cNvPr>
              <p:cNvSpPr txBox="1"/>
              <p:nvPr/>
            </p:nvSpPr>
            <p:spPr>
              <a:xfrm>
                <a:off x="1697048" y="643667"/>
                <a:ext cx="6151944" cy="724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𝑅𝑏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E4619-DAED-610D-6A92-A5666BE39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048" y="643667"/>
                <a:ext cx="6151944" cy="724814"/>
              </a:xfrm>
              <a:prstGeom prst="rect">
                <a:avLst/>
              </a:prstGeom>
              <a:blipFill>
                <a:blip r:embed="rId6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>
            <a:extLst>
              <a:ext uri="{FF2B5EF4-FFF2-40B4-BE49-F238E27FC236}">
                <a16:creationId xmlns:a16="http://schemas.microsoft.com/office/drawing/2014/main" id="{FEDFC75A-DE30-09C9-6010-D5C763E801F0}"/>
              </a:ext>
            </a:extLst>
          </p:cNvPr>
          <p:cNvSpPr/>
          <p:nvPr/>
        </p:nvSpPr>
        <p:spPr>
          <a:xfrm>
            <a:off x="4022192" y="1885500"/>
            <a:ext cx="1219200" cy="2017486"/>
          </a:xfrm>
          <a:custGeom>
            <a:avLst/>
            <a:gdLst>
              <a:gd name="connsiteX0" fmla="*/ 1219200 w 1219200"/>
              <a:gd name="connsiteY0" fmla="*/ 2017486 h 2017486"/>
              <a:gd name="connsiteX1" fmla="*/ 885371 w 1219200"/>
              <a:gd name="connsiteY1" fmla="*/ 1698171 h 2017486"/>
              <a:gd name="connsiteX2" fmla="*/ 667657 w 1219200"/>
              <a:gd name="connsiteY2" fmla="*/ 1451428 h 2017486"/>
              <a:gd name="connsiteX3" fmla="*/ 406400 w 1219200"/>
              <a:gd name="connsiteY3" fmla="*/ 1030514 h 2017486"/>
              <a:gd name="connsiteX4" fmla="*/ 188686 w 1219200"/>
              <a:gd name="connsiteY4" fmla="*/ 595086 h 2017486"/>
              <a:gd name="connsiteX5" fmla="*/ 72571 w 1219200"/>
              <a:gd name="connsiteY5" fmla="*/ 217714 h 2017486"/>
              <a:gd name="connsiteX6" fmla="*/ 0 w 1219200"/>
              <a:gd name="connsiteY6" fmla="*/ 0 h 2017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" h="2017486">
                <a:moveTo>
                  <a:pt x="1219200" y="2017486"/>
                </a:moveTo>
                <a:cubicBezTo>
                  <a:pt x="1098247" y="1905000"/>
                  <a:pt x="977295" y="1792514"/>
                  <a:pt x="885371" y="1698171"/>
                </a:cubicBezTo>
                <a:cubicBezTo>
                  <a:pt x="793447" y="1603828"/>
                  <a:pt x="747485" y="1562704"/>
                  <a:pt x="667657" y="1451428"/>
                </a:cubicBezTo>
                <a:cubicBezTo>
                  <a:pt x="587829" y="1340152"/>
                  <a:pt x="486228" y="1173238"/>
                  <a:pt x="406400" y="1030514"/>
                </a:cubicBezTo>
                <a:cubicBezTo>
                  <a:pt x="326572" y="887790"/>
                  <a:pt x="244324" y="730553"/>
                  <a:pt x="188686" y="595086"/>
                </a:cubicBezTo>
                <a:cubicBezTo>
                  <a:pt x="133048" y="459619"/>
                  <a:pt x="104019" y="316895"/>
                  <a:pt x="72571" y="217714"/>
                </a:cubicBezTo>
                <a:cubicBezTo>
                  <a:pt x="41123" y="118533"/>
                  <a:pt x="20561" y="59266"/>
                  <a:pt x="0" y="0"/>
                </a:cubicBezTo>
              </a:path>
            </a:pathLst>
          </a:custGeom>
          <a:noFill/>
          <a:ln w="127000">
            <a:solidFill>
              <a:srgbClr val="FF000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28610B-A802-37D4-8A2D-C4E9BD44F063}"/>
              </a:ext>
            </a:extLst>
          </p:cNvPr>
          <p:cNvCxnSpPr>
            <a:cxnSpLocks/>
          </p:cNvCxnSpPr>
          <p:nvPr/>
        </p:nvCxnSpPr>
        <p:spPr>
          <a:xfrm flipH="1">
            <a:off x="4103554" y="1285097"/>
            <a:ext cx="499209" cy="708014"/>
          </a:xfrm>
          <a:prstGeom prst="straightConnector1">
            <a:avLst/>
          </a:prstGeom>
          <a:ln w="38100">
            <a:solidFill>
              <a:srgbClr val="C00000">
                <a:alpha val="4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F4A16-FB53-07E6-ADB3-54C085706F99}"/>
                  </a:ext>
                </a:extLst>
              </p:cNvPr>
              <p:cNvSpPr txBox="1"/>
              <p:nvPr/>
            </p:nvSpPr>
            <p:spPr>
              <a:xfrm>
                <a:off x="6632294" y="3541853"/>
                <a:ext cx="4985483" cy="495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F4A16-FB53-07E6-ADB3-54C085706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94" y="3541853"/>
                <a:ext cx="4985483" cy="495520"/>
              </a:xfrm>
              <a:prstGeom prst="rect">
                <a:avLst/>
              </a:prstGeom>
              <a:blipFill>
                <a:blip r:embed="rId7"/>
                <a:stretch>
                  <a:fillRect l="-2036" t="-5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52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06B9D96-0D05-9A42-989B-1D8B55A29725}"/>
              </a:ext>
            </a:extLst>
          </p:cNvPr>
          <p:cNvSpPr txBox="1"/>
          <p:nvPr/>
        </p:nvSpPr>
        <p:spPr>
          <a:xfrm>
            <a:off x="0" y="100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a typeface="Cambria Math" panose="02040503050406030204" pitchFamily="18" charset="0"/>
              </a:rPr>
              <a:t>Most gases have really high inversion temperatures (where these curves cross zero) 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0F6B43-85AB-BE4B-933D-847381F8681E}"/>
                  </a:ext>
                </a:extLst>
              </p:cNvPr>
              <p:cNvSpPr txBox="1"/>
              <p:nvPr/>
            </p:nvSpPr>
            <p:spPr>
              <a:xfrm>
                <a:off x="7798799" y="853296"/>
                <a:ext cx="4265821" cy="5623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Recalling that vdw says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200" dirty="0"/>
                  <a:t>, we can explain why He and H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have such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/>
                  <a:t> by noting there’s not much intermolecular attraction between them, so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is really small.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Since He and H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/>
                  <a:t> lower than room temperature, they will warm up in a room-temperature Joule-Thomson throttle expansion.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All the other gases shown here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/>
                  <a:t> greater than room temperature, so they’ll cool down in a room-temperature Joule-Thomson throttle expansion.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0F6B43-85AB-BE4B-933D-847381F86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799" y="853296"/>
                <a:ext cx="4265821" cy="5623655"/>
              </a:xfrm>
              <a:prstGeom prst="rect">
                <a:avLst/>
              </a:prstGeom>
              <a:blipFill>
                <a:blip r:embed="rId2"/>
                <a:stretch>
                  <a:fillRect l="-1484" r="-1484" b="-1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D39F14A-7E89-FA12-3418-34009079E3FC}"/>
              </a:ext>
            </a:extLst>
          </p:cNvPr>
          <p:cNvGrpSpPr/>
          <p:nvPr/>
        </p:nvGrpSpPr>
        <p:grpSpPr>
          <a:xfrm>
            <a:off x="6932" y="617716"/>
            <a:ext cx="8042227" cy="5672074"/>
            <a:chOff x="143412" y="617716"/>
            <a:chExt cx="8042227" cy="56720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B390DC-705B-40E8-186E-BB1106F92D60}"/>
                </a:ext>
              </a:extLst>
            </p:cNvPr>
            <p:cNvSpPr txBox="1"/>
            <p:nvPr/>
          </p:nvSpPr>
          <p:spPr>
            <a:xfrm>
              <a:off x="1037625" y="5920458"/>
              <a:ext cx="71480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hlinkClick r:id="rId3"/>
                </a:rPr>
                <a:t>https://</a:t>
              </a:r>
              <a:r>
                <a:rPr lang="en-US" dirty="0" err="1">
                  <a:hlinkClick r:id="rId3"/>
                </a:rPr>
                <a:t>en.wikipedia.org</a:t>
              </a:r>
              <a:r>
                <a:rPr lang="en-US" dirty="0">
                  <a:hlinkClick r:id="rId3"/>
                </a:rPr>
                <a:t>/wiki/Joule%E2%80%93Thomson_effect</a:t>
              </a:r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BF11B4-4A89-9F5D-BF5D-EDDACC7BC2EB}"/>
                </a:ext>
              </a:extLst>
            </p:cNvPr>
            <p:cNvGrpSpPr/>
            <p:nvPr/>
          </p:nvGrpSpPr>
          <p:grpSpPr>
            <a:xfrm>
              <a:off x="143412" y="617716"/>
              <a:ext cx="7737276" cy="5139436"/>
              <a:chOff x="47485" y="556230"/>
              <a:chExt cx="7737276" cy="513943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F9846BA-9F2C-5FD5-81A6-44CF6285DBBB}"/>
                  </a:ext>
                </a:extLst>
              </p:cNvPr>
              <p:cNvGrpSpPr/>
              <p:nvPr/>
            </p:nvGrpSpPr>
            <p:grpSpPr>
              <a:xfrm>
                <a:off x="47485" y="556230"/>
                <a:ext cx="7737276" cy="5139436"/>
                <a:chOff x="-127634" y="1451742"/>
                <a:chExt cx="8901787" cy="5693744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BFC06E11-055C-3D8E-2BB0-04A111FA2F71}"/>
                    </a:ext>
                  </a:extLst>
                </p:cNvPr>
                <p:cNvGrpSpPr/>
                <p:nvPr/>
              </p:nvGrpSpPr>
              <p:grpSpPr>
                <a:xfrm>
                  <a:off x="-127634" y="1451742"/>
                  <a:ext cx="8901787" cy="5693744"/>
                  <a:chOff x="-148072" y="1854046"/>
                  <a:chExt cx="8901787" cy="5693744"/>
                </a:xfrm>
              </p:grpSpPr>
              <p:pic>
                <p:nvPicPr>
                  <p:cNvPr id="1026" name="Picture 2" descr="undefined">
                    <a:extLst>
                      <a:ext uri="{FF2B5EF4-FFF2-40B4-BE49-F238E27FC236}">
                        <a16:creationId xmlns:a16="http://schemas.microsoft.com/office/drawing/2014/main" id="{D6ED3E77-6572-24E2-F90E-1290311FEA7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148072" y="1854046"/>
                    <a:ext cx="8901787" cy="569374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0899CBF8-9912-CDD8-3176-67D368065805}"/>
                      </a:ext>
                    </a:extLst>
                  </p:cNvPr>
                  <p:cNvSpPr/>
                  <p:nvPr/>
                </p:nvSpPr>
                <p:spPr>
                  <a:xfrm>
                    <a:off x="2790665" y="5674821"/>
                    <a:ext cx="198783" cy="198782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253FC70B-0B95-3A0E-C492-AD7B2BD52A0B}"/>
                      </a:ext>
                    </a:extLst>
                  </p:cNvPr>
                  <p:cNvSpPr/>
                  <p:nvPr/>
                </p:nvSpPr>
                <p:spPr>
                  <a:xfrm>
                    <a:off x="1666848" y="5677093"/>
                    <a:ext cx="198783" cy="198782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FFE4B8CB-E6C8-1C06-D0C9-AF7091241768}"/>
                    </a:ext>
                  </a:extLst>
                </p:cNvPr>
                <p:cNvSpPr/>
                <p:nvPr/>
              </p:nvSpPr>
              <p:spPr>
                <a:xfrm>
                  <a:off x="5768157" y="5302723"/>
                  <a:ext cx="198783" cy="19878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866B883-011F-EFBE-8172-022A2257985C}"/>
                      </a:ext>
                    </a:extLst>
                  </p:cNvPr>
                  <p:cNvSpPr txBox="1"/>
                  <p:nvPr/>
                </p:nvSpPr>
                <p:spPr>
                  <a:xfrm>
                    <a:off x="5342204" y="1157132"/>
                    <a:ext cx="1842052" cy="78277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C866B883-011F-EFBE-8172-022A225798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2204" y="1157132"/>
                    <a:ext cx="1842052" cy="78277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175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7923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did this week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248EA7-36EA-6E43-AF27-F1D07251C2A0}"/>
                  </a:ext>
                </a:extLst>
              </p:cNvPr>
              <p:cNvSpPr txBox="1"/>
              <p:nvPr/>
            </p:nvSpPr>
            <p:spPr>
              <a:xfrm>
                <a:off x="5053789" y="1244395"/>
                <a:ext cx="6800603" cy="32784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Thing #1</a:t>
                </a:r>
                <a:r>
                  <a:rPr lang="en-US" sz="2400" dirty="0"/>
                  <a:t>: Differential equations of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𝑃𝑑𝑉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𝑇𝑑𝑆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𝑉𝑑𝑃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𝑆𝑑𝑇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𝑆𝑑𝑇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How to get slopes from differential Eqs. of state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248EA7-36EA-6E43-AF27-F1D07251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789" y="1244395"/>
                <a:ext cx="6800603" cy="3278462"/>
              </a:xfrm>
              <a:prstGeom prst="rect">
                <a:avLst/>
              </a:prstGeom>
              <a:blipFill>
                <a:blip r:embed="rId2"/>
                <a:stretch>
                  <a:fillRect l="-1301" t="-11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5E32F5D5-893E-0B39-363D-5347B48C10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56"/>
          <a:stretch/>
        </p:blipFill>
        <p:spPr>
          <a:xfrm>
            <a:off x="-9368" y="1544719"/>
            <a:ext cx="5053789" cy="38586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36832E-FE26-D83B-6DBF-570A04637AF1}"/>
                  </a:ext>
                </a:extLst>
              </p:cNvPr>
              <p:cNvSpPr txBox="1"/>
              <p:nvPr/>
            </p:nvSpPr>
            <p:spPr>
              <a:xfrm>
                <a:off x="5053789" y="4871085"/>
                <a:ext cx="6800603" cy="10645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Thing #2</a:t>
                </a:r>
                <a:r>
                  <a:rPr lang="en-US" sz="2400" dirty="0"/>
                  <a:t>: Maxwell relations: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 (+ three others)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36832E-FE26-D83B-6DBF-570A0463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789" y="4871085"/>
                <a:ext cx="6800603" cy="1064587"/>
              </a:xfrm>
              <a:prstGeom prst="rect">
                <a:avLst/>
              </a:prstGeom>
              <a:blipFill>
                <a:blip r:embed="rId4"/>
                <a:stretch>
                  <a:fillRect l="-1301" t="-46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5D83ABF-CD56-AE59-3E82-A1B5B24DDBB9}"/>
              </a:ext>
            </a:extLst>
          </p:cNvPr>
          <p:cNvSpPr txBox="1"/>
          <p:nvPr/>
        </p:nvSpPr>
        <p:spPr>
          <a:xfrm>
            <a:off x="-1" y="598148"/>
            <a:ext cx="12060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introduced the Box and found new things we could do with it</a:t>
            </a:r>
          </a:p>
        </p:txBody>
      </p:sp>
    </p:spTree>
    <p:extLst>
      <p:ext uri="{BB962C8B-B14F-4D97-AF65-F5344CB8AC3E}">
        <p14:creationId xmlns:p14="http://schemas.microsoft.com/office/powerpoint/2010/main" val="147942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did this week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9A4946-7125-363B-419D-F4DEB932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3" y="1558965"/>
            <a:ext cx="4977388" cy="3931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/>
              <p:nvPr/>
            </p:nvSpPr>
            <p:spPr>
              <a:xfrm>
                <a:off x="5329857" y="629654"/>
                <a:ext cx="6204342" cy="15913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Box led to this </a:t>
                </a:r>
                <a:r>
                  <a:rPr lang="en-US" sz="2400" b="1" dirty="0"/>
                  <a:t>general relationship</a:t>
                </a:r>
                <a:r>
                  <a:rPr lang="en-US" sz="2400" dirty="0"/>
                  <a:t>: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629654"/>
                <a:ext cx="6204342" cy="1591333"/>
              </a:xfrm>
              <a:prstGeom prst="rect">
                <a:avLst/>
              </a:prstGeom>
              <a:blipFill>
                <a:blip r:embed="rId3"/>
                <a:stretch>
                  <a:fillRect l="-1429" t="-2344" b="-15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/>
              <p:nvPr/>
            </p:nvSpPr>
            <p:spPr>
              <a:xfrm>
                <a:off x="5329857" y="3561372"/>
                <a:ext cx="6204342" cy="14096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b="1" dirty="0"/>
                  <a:t>vdw 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we got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3561372"/>
                <a:ext cx="6204342" cy="1409681"/>
              </a:xfrm>
              <a:prstGeom prst="rect">
                <a:avLst/>
              </a:prstGeom>
              <a:blipFill>
                <a:blip r:embed="rId4"/>
                <a:stretch>
                  <a:fillRect l="-1429" b="-26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/>
              <p:nvPr/>
            </p:nvSpPr>
            <p:spPr>
              <a:xfrm>
                <a:off x="5329857" y="2396625"/>
                <a:ext cx="6204342" cy="9862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US" sz="2400" dirty="0">
                    <a:solidFill>
                      <a:schemeClr val="tx1"/>
                    </a:solidFill>
                  </a:rPr>
                  <a:t>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ideal gas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sz="2400" dirty="0"/>
                  <a:t>, we got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2396625"/>
                <a:ext cx="6204342" cy="986296"/>
              </a:xfrm>
              <a:prstGeom prst="rect">
                <a:avLst/>
              </a:prstGeom>
              <a:blipFill>
                <a:blip r:embed="rId5"/>
                <a:stretch>
                  <a:fillRect l="-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65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Moving on a bit: Berthelot also had a gas (model)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9A4946-7125-363B-419D-F4DEB932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3" y="1558965"/>
            <a:ext cx="4977388" cy="3931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/>
              <p:nvPr/>
            </p:nvSpPr>
            <p:spPr>
              <a:xfrm>
                <a:off x="5329857" y="629654"/>
                <a:ext cx="6204342" cy="15913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Box led to this </a:t>
                </a:r>
                <a:r>
                  <a:rPr lang="en-US" sz="2400" b="1" dirty="0"/>
                  <a:t>general relationship</a:t>
                </a:r>
                <a:r>
                  <a:rPr lang="en-US" sz="2400" dirty="0"/>
                  <a:t>: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629654"/>
                <a:ext cx="6204342" cy="1591333"/>
              </a:xfrm>
              <a:prstGeom prst="rect">
                <a:avLst/>
              </a:prstGeom>
              <a:blipFill>
                <a:blip r:embed="rId3"/>
                <a:stretch>
                  <a:fillRect l="-1429" t="-2344" b="-15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/>
              <p:nvPr/>
            </p:nvSpPr>
            <p:spPr>
              <a:xfrm>
                <a:off x="5329857" y="3561372"/>
                <a:ext cx="6204342" cy="14096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b="1" dirty="0"/>
                  <a:t>vdw 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we got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3561372"/>
                <a:ext cx="6204342" cy="1409681"/>
              </a:xfrm>
              <a:prstGeom prst="rect">
                <a:avLst/>
              </a:prstGeom>
              <a:blipFill>
                <a:blip r:embed="rId4"/>
                <a:stretch>
                  <a:fillRect l="-1429" b="-26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/>
              <p:nvPr/>
            </p:nvSpPr>
            <p:spPr>
              <a:xfrm>
                <a:off x="5329857" y="2396625"/>
                <a:ext cx="6204342" cy="9862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US" sz="2400" dirty="0">
                    <a:solidFill>
                      <a:schemeClr val="tx1"/>
                    </a:solidFill>
                  </a:rPr>
                  <a:t>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ideal gas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sz="2400" dirty="0"/>
                  <a:t>, we got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2396625"/>
                <a:ext cx="6204342" cy="986296"/>
              </a:xfrm>
              <a:prstGeom prst="rect">
                <a:avLst/>
              </a:prstGeom>
              <a:blipFill>
                <a:blip r:embed="rId5"/>
                <a:stretch>
                  <a:fillRect l="-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0F3206-76CE-CD92-7448-86CE5C1B1A5C}"/>
                  </a:ext>
                </a:extLst>
              </p:cNvPr>
              <p:cNvSpPr txBox="1"/>
              <p:nvPr/>
            </p:nvSpPr>
            <p:spPr>
              <a:xfrm>
                <a:off x="5329857" y="5179716"/>
                <a:ext cx="6204342" cy="14096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b="1" dirty="0"/>
                  <a:t>Berthelot 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𝑇𝑉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0F3206-76CE-CD92-7448-86CE5C1B1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5179716"/>
                <a:ext cx="6204342" cy="1409681"/>
              </a:xfrm>
              <a:prstGeom prst="rect">
                <a:avLst/>
              </a:prstGeom>
              <a:blipFill>
                <a:blip r:embed="rId6"/>
                <a:stretch>
                  <a:fillRect l="-1429" b="-17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B5995A-ED26-5D0C-C86F-CF740C26EB20}"/>
              </a:ext>
            </a:extLst>
          </p:cNvPr>
          <p:cNvCxnSpPr>
            <a:cxnSpLocks/>
          </p:cNvCxnSpPr>
          <p:nvPr/>
        </p:nvCxnSpPr>
        <p:spPr>
          <a:xfrm>
            <a:off x="4638261" y="6240092"/>
            <a:ext cx="2226364" cy="0"/>
          </a:xfrm>
          <a:prstGeom prst="straightConnector1">
            <a:avLst/>
          </a:prstGeom>
          <a:ln w="127000">
            <a:solidFill>
              <a:schemeClr val="accent1">
                <a:alpha val="5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5ADAD1-12A5-BB87-3563-05B1FAD84AE8}"/>
              </a:ext>
            </a:extLst>
          </p:cNvPr>
          <p:cNvSpPr txBox="1"/>
          <p:nvPr/>
        </p:nvSpPr>
        <p:spPr>
          <a:xfrm>
            <a:off x="1774550" y="5989546"/>
            <a:ext cx="257092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We’ll get this today</a:t>
            </a:r>
          </a:p>
        </p:txBody>
      </p:sp>
    </p:spTree>
    <p:extLst>
      <p:ext uri="{BB962C8B-B14F-4D97-AF65-F5344CB8AC3E}">
        <p14:creationId xmlns:p14="http://schemas.microsoft.com/office/powerpoint/2010/main" val="123449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Moving on a bit: Berthelot also had a gas (model)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/>
              <p:nvPr/>
            </p:nvSpPr>
            <p:spPr>
              <a:xfrm>
                <a:off x="5329857" y="529940"/>
                <a:ext cx="6204342" cy="15913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Box also led to this </a:t>
                </a:r>
                <a:r>
                  <a:rPr lang="en-US" sz="2400" b="1" dirty="0"/>
                  <a:t>general relationship</a:t>
                </a:r>
                <a:r>
                  <a:rPr lang="en-US" sz="2400" dirty="0"/>
                  <a:t>: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443F7B-CEFB-584F-34AA-51F168D6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529940"/>
                <a:ext cx="6204342" cy="1591333"/>
              </a:xfrm>
              <a:prstGeom prst="rect">
                <a:avLst/>
              </a:prstGeom>
              <a:blipFill>
                <a:blip r:embed="rId2"/>
                <a:stretch>
                  <a:fillRect l="-1429" t="-3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/>
              <p:nvPr/>
            </p:nvSpPr>
            <p:spPr>
              <a:xfrm>
                <a:off x="5329857" y="3242061"/>
                <a:ext cx="6204342" cy="13599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b="1" dirty="0"/>
                  <a:t>vdw 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the result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843F7F-8DE6-A768-90AB-7585ACC5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3242061"/>
                <a:ext cx="6204342" cy="1359988"/>
              </a:xfrm>
              <a:prstGeom prst="rect">
                <a:avLst/>
              </a:prstGeom>
              <a:blipFill>
                <a:blip r:embed="rId3"/>
                <a:stretch>
                  <a:fillRect l="-1429" b="-36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/>
              <p:nvPr/>
            </p:nvSpPr>
            <p:spPr>
              <a:xfrm>
                <a:off x="5329857" y="2193425"/>
                <a:ext cx="6204342" cy="9862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US" sz="2400" dirty="0">
                    <a:solidFill>
                      <a:schemeClr val="tx1"/>
                    </a:solidFill>
                  </a:rPr>
                  <a:t>or an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ideal gas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sz="2400" dirty="0"/>
                  <a:t>, we got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8CF180-42A3-2FEF-ECA9-4D1D5079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2193425"/>
                <a:ext cx="6204342" cy="986296"/>
              </a:xfrm>
              <a:prstGeom prst="rect">
                <a:avLst/>
              </a:prstGeom>
              <a:blipFill>
                <a:blip r:embed="rId4"/>
                <a:stretch>
                  <a:fillRect l="-1429" b="-12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A11D4A0-88D0-C223-B87C-7C95DB61A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5" y="1796160"/>
            <a:ext cx="4264799" cy="30796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EBA756-F17F-DE03-2741-D03A897719FE}"/>
              </a:ext>
            </a:extLst>
          </p:cNvPr>
          <p:cNvSpPr txBox="1"/>
          <p:nvPr/>
        </p:nvSpPr>
        <p:spPr>
          <a:xfrm>
            <a:off x="238540" y="4875774"/>
            <a:ext cx="4399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Didn’t derive, but we can argue that these are plausible formulas if they reproduce the twist … do they? (That’s a blackboard activity for today.)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605F0F-5C48-648F-2331-3F359E8C5AFC}"/>
              </a:ext>
            </a:extLst>
          </p:cNvPr>
          <p:cNvCxnSpPr/>
          <p:nvPr/>
        </p:nvCxnSpPr>
        <p:spPr>
          <a:xfrm flipV="1">
            <a:off x="4638262" y="4346713"/>
            <a:ext cx="2199860" cy="529061"/>
          </a:xfrm>
          <a:prstGeom prst="straightConnector1">
            <a:avLst/>
          </a:prstGeom>
          <a:ln w="127000">
            <a:solidFill>
              <a:schemeClr val="accent1">
                <a:alpha val="5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9F381-53C8-DDF1-9D5D-33AEB9C8F26E}"/>
                  </a:ext>
                </a:extLst>
              </p:cNvPr>
              <p:cNvSpPr txBox="1"/>
              <p:nvPr/>
            </p:nvSpPr>
            <p:spPr>
              <a:xfrm>
                <a:off x="5329857" y="5033721"/>
                <a:ext cx="6204342" cy="13599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b="1" dirty="0"/>
                  <a:t>Berthelot 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9F381-53C8-DDF1-9D5D-33AEB9C8F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57" y="5033721"/>
                <a:ext cx="6204342" cy="1359988"/>
              </a:xfrm>
              <a:prstGeom prst="rect">
                <a:avLst/>
              </a:prstGeom>
              <a:blipFill>
                <a:blip r:embed="rId6"/>
                <a:stretch>
                  <a:fillRect l="-1429" b="-27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8C750F-5636-25C0-992D-026AC0ED076D}"/>
              </a:ext>
            </a:extLst>
          </p:cNvPr>
          <p:cNvCxnSpPr>
            <a:cxnSpLocks/>
          </p:cNvCxnSpPr>
          <p:nvPr/>
        </p:nvCxnSpPr>
        <p:spPr>
          <a:xfrm>
            <a:off x="4638262" y="5091610"/>
            <a:ext cx="2080590" cy="677431"/>
          </a:xfrm>
          <a:prstGeom prst="straightConnector1">
            <a:avLst/>
          </a:prstGeom>
          <a:ln w="127000">
            <a:solidFill>
              <a:schemeClr val="accent1">
                <a:alpha val="5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24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2944BF-B3F8-1F5E-63C6-9EEEE8FE442A}"/>
                  </a:ext>
                </a:extLst>
              </p:cNvPr>
              <p:cNvSpPr txBox="1"/>
              <p:nvPr/>
            </p:nvSpPr>
            <p:spPr>
              <a:xfrm>
                <a:off x="-9368" y="1791"/>
                <a:ext cx="1220136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Blackboard: Show how </a:t>
                </a:r>
                <a:r>
                  <a:rPr lang="en-US" sz="2400" b="1" dirty="0" err="1"/>
                  <a:t>vdw’s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and Berthelot’s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each explain the twist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2944BF-B3F8-1F5E-63C6-9EEEE8FE4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8" y="1791"/>
                <a:ext cx="12201368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415E599-EBDE-BAA5-A6CF-F368814DCD29}"/>
              </a:ext>
            </a:extLst>
          </p:cNvPr>
          <p:cNvGrpSpPr/>
          <p:nvPr/>
        </p:nvGrpSpPr>
        <p:grpSpPr>
          <a:xfrm>
            <a:off x="3891454" y="1378105"/>
            <a:ext cx="5680358" cy="4101790"/>
            <a:chOff x="213211" y="745902"/>
            <a:chExt cx="5680358" cy="41017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26BCAA-43B2-2E37-2BD6-12849D260DE7}"/>
                </a:ext>
              </a:extLst>
            </p:cNvPr>
            <p:cNvGrpSpPr/>
            <p:nvPr/>
          </p:nvGrpSpPr>
          <p:grpSpPr>
            <a:xfrm>
              <a:off x="213211" y="745902"/>
              <a:ext cx="5680358" cy="4101790"/>
              <a:chOff x="5983806" y="1168927"/>
              <a:chExt cx="5680358" cy="410179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5D994DD-34B4-6E5B-6905-B264C2A720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3806" y="1168927"/>
                <a:ext cx="5680358" cy="4101790"/>
              </a:xfrm>
              <a:prstGeom prst="rect">
                <a:avLst/>
              </a:prstGeom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865D7A1-B4A0-E1CB-1476-539922CB13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03920" y="2183130"/>
                <a:ext cx="1691640" cy="491490"/>
              </a:xfrm>
              <a:prstGeom prst="line">
                <a:avLst/>
              </a:prstGeom>
              <a:ln w="635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6B6D8E9-998C-05A2-385C-38A3B17CAC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4800" y="3443349"/>
              <a:ext cx="1576311" cy="230356"/>
            </a:xfrm>
            <a:prstGeom prst="line">
              <a:avLst/>
            </a:prstGeom>
            <a:ln w="63500">
              <a:solidFill>
                <a:schemeClr val="accent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815892-5E3E-38CE-A907-4191803898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4080" y="1009227"/>
              <a:ext cx="1652270" cy="488315"/>
            </a:xfrm>
            <a:prstGeom prst="line">
              <a:avLst/>
            </a:prstGeom>
            <a:ln w="63500">
              <a:solidFill>
                <a:srgbClr val="00B05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3D037DB-B949-156C-A8AE-A8EDBD94214D}"/>
              </a:ext>
            </a:extLst>
          </p:cNvPr>
          <p:cNvSpPr txBox="1"/>
          <p:nvPr/>
        </p:nvSpPr>
        <p:spPr>
          <a:xfrm>
            <a:off x="96392" y="2551678"/>
            <a:ext cx="61564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 high temperature …</a:t>
            </a:r>
          </a:p>
          <a:p>
            <a:r>
              <a:rPr lang="en-US" sz="2400" dirty="0"/>
              <a:t>At low temperature …</a:t>
            </a:r>
          </a:p>
        </p:txBody>
      </p:sp>
    </p:spTree>
    <p:extLst>
      <p:ext uri="{BB962C8B-B14F-4D97-AF65-F5344CB8AC3E}">
        <p14:creationId xmlns:p14="http://schemas.microsoft.com/office/powerpoint/2010/main" val="126610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22944BF-B3F8-1F5E-63C6-9EEEE8FE442A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After the blackboard: skipping </a:t>
            </a:r>
            <a:r>
              <a:rPr lang="en-US" sz="2400" b="1" dirty="0" err="1"/>
              <a:t>AnalyticalmuT</a:t>
            </a:r>
            <a:r>
              <a:rPr lang="en-US" sz="2400" b="1" dirty="0"/>
              <a:t>, instead going on to </a:t>
            </a:r>
            <a:r>
              <a:rPr lang="en-US" sz="2400" b="1" dirty="0" err="1"/>
              <a:t>AnalyticalU&amp;H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3B730B-7889-2DE9-0A35-39515F304B68}"/>
                  </a:ext>
                </a:extLst>
              </p:cNvPr>
              <p:cNvSpPr txBox="1"/>
              <p:nvPr/>
            </p:nvSpPr>
            <p:spPr>
              <a:xfrm>
                <a:off x="104006" y="4198332"/>
                <a:ext cx="11963497" cy="1981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Enthalpy,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𝑣𝑖𝑏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𝑖𝑛𝑡𝑒𝑟𝑚𝑜𝑙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and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b="0" dirty="0"/>
                  <a:t>, then it must be that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3B730B-7889-2DE9-0A35-39515F304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6" y="4198332"/>
                <a:ext cx="11963497" cy="1981825"/>
              </a:xfrm>
              <a:prstGeom prst="rect">
                <a:avLst/>
              </a:prstGeom>
              <a:blipFill>
                <a:blip r:embed="rId3"/>
                <a:stretch>
                  <a:fillRect l="-8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BF69183-0226-965C-151B-D06A5438D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019" y="5615189"/>
            <a:ext cx="4708440" cy="115760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DED695-1255-7F1E-D197-E9B0ABEC9C6F}"/>
                  </a:ext>
                </a:extLst>
              </p:cNvPr>
              <p:cNvSpPr txBox="1"/>
              <p:nvPr/>
            </p:nvSpPr>
            <p:spPr>
              <a:xfrm>
                <a:off x="0" y="677843"/>
                <a:ext cx="11963497" cy="1981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the internal energy,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𝑣𝑖𝑏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𝑖𝑛𝑡𝑒𝑟𝑚𝑜𝑙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and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b="0" dirty="0"/>
                  <a:t>, then it must be that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DED695-1255-7F1E-D197-E9B0ABEC9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77843"/>
                <a:ext cx="11963497" cy="1981825"/>
              </a:xfrm>
              <a:prstGeom prst="rect">
                <a:avLst/>
              </a:prstGeom>
              <a:blipFill>
                <a:blip r:embed="rId5"/>
                <a:stretch>
                  <a:fillRect l="-8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89F2218-38CD-08F4-9362-03DFE1311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294" y="2107218"/>
            <a:ext cx="4533900" cy="1104900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C17043-B903-7678-5FCA-51AEBFE15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566" y="4998162"/>
            <a:ext cx="2226190" cy="1607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28C5FE-E0C1-B4FF-1AC0-2D457996D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6197" y="1514031"/>
            <a:ext cx="2174559" cy="171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9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22944BF-B3F8-1F5E-63C6-9EEEE8FE442A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Then we’ll work on the CGI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AF970-D7F6-A052-6AA6-1C35F388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91" y="1668755"/>
            <a:ext cx="9560550" cy="3685032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07438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4096</TotalTime>
  <Words>649</Words>
  <Application>Microsoft Macintosh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157</cp:revision>
  <cp:lastPrinted>2021-10-08T15:50:44Z</cp:lastPrinted>
  <dcterms:created xsi:type="dcterms:W3CDTF">2021-10-08T15:12:45Z</dcterms:created>
  <dcterms:modified xsi:type="dcterms:W3CDTF">2025-10-24T15:05:24Z</dcterms:modified>
</cp:coreProperties>
</file>