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450" r:id="rId2"/>
    <p:sldId id="442" r:id="rId3"/>
    <p:sldId id="440" r:id="rId4"/>
    <p:sldId id="433" r:id="rId5"/>
    <p:sldId id="443" r:id="rId6"/>
    <p:sldId id="438" r:id="rId7"/>
    <p:sldId id="449" r:id="rId8"/>
    <p:sldId id="380" r:id="rId9"/>
    <p:sldId id="444" r:id="rId10"/>
    <p:sldId id="445" r:id="rId11"/>
    <p:sldId id="446" r:id="rId12"/>
    <p:sldId id="447" r:id="rId13"/>
    <p:sldId id="448" r:id="rId14"/>
    <p:sldId id="336" r:id="rId15"/>
    <p:sldId id="338" r:id="rId16"/>
    <p:sldId id="343" r:id="rId17"/>
    <p:sldId id="455" r:id="rId18"/>
    <p:sldId id="342" r:id="rId19"/>
    <p:sldId id="456" r:id="rId20"/>
    <p:sldId id="429" r:id="rId21"/>
    <p:sldId id="451" r:id="rId22"/>
    <p:sldId id="452" r:id="rId23"/>
    <p:sldId id="430" r:id="rId24"/>
    <p:sldId id="439" r:id="rId25"/>
    <p:sldId id="431" r:id="rId26"/>
    <p:sldId id="453" r:id="rId27"/>
    <p:sldId id="42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8"/>
    <p:restoredTop sz="95964"/>
  </p:normalViewPr>
  <p:slideViewPr>
    <p:cSldViewPr snapToGrid="0" snapToObjects="1">
      <p:cViewPr varScale="1">
        <p:scale>
          <a:sx n="110" d="100"/>
          <a:sy n="110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12244-1B5D-0D42-BE76-C1C672F422F6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7F5E6-DAA9-8D4A-91A0-D3839000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9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04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7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41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18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47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52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28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28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E827-FFB1-AA45-98AB-8040E5462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7B6D6-320D-D447-BC4B-05C7B6673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FF8F9-1B5C-2348-A4C1-811019FB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CD1E-FCE2-BA4D-B808-3B854086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5BCF7-AE2F-9E46-9B54-F6727DC8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9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F647-9AD9-BC41-BB01-F4D67B56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4A680-7F1D-084B-B657-90BFEA991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3BDC4-9306-FD4E-BC82-CC05CE72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4E9B2-D631-A845-BF5B-B5519FB1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C883D-7395-4C4C-830F-50928B8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D8C5-DB54-3D4F-AA67-AF0CDEDE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BFA8E-5348-1E40-829B-DFD68906C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4B336-D33C-3744-9DE7-08370611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7C99F-7F18-3440-B152-EC733367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BD5D4-27A2-D049-91B3-D43517E7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2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F2770-16E4-EE49-93CC-AC73E515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F4E0-7C71-754C-890A-28DCA4803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44754-88A3-CF46-A99B-D1EF509A5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D63FD-A33D-844E-8AE2-3DD1B3AD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0EBEC-442D-9A40-AF2A-72048DE7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F7420-4F98-D54F-9586-380ED5C7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5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EE93-A81E-A742-B961-4BFAE3CF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94A37-02B6-1948-A6D3-73BF59D5C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68088-2002-2C4B-9712-FA71C2FE2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5474F-61A1-2148-9E99-2438A9578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67CF1-D2C3-344E-8804-BD06657EB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5A60D-245F-5F49-A02D-51CC34D6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60469-DF82-B748-A5E6-AD02708B7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9AF6D-1C36-CF43-ACAC-015AC15E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0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AE4E7-3018-CB43-93D3-84439FE5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83A68-E991-BC46-8270-027F34FE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E755D-2A2E-304C-850A-F7DD099F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EB076-939A-7B40-B93E-7C4ED072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0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E8110-893F-694A-85BB-5EC5FDF5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94E3C-9BC0-B746-90D1-07B5D677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67677-FF69-F44F-A728-64D8FA98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9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8C0A-47F9-0F45-BE38-6BEDF65C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78E3-73BD-124D-AB4C-E22931829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1E65A-CCAB-334D-9C9A-21CD28C5D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A4E9A-B03A-C942-ABEC-114B8823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38244-AD8F-AB4D-931F-0F9EF43A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49A19-07A2-E245-92F7-497BA11C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9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4237-D308-4F43-8D7D-C9D18A595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30AB8-9EB4-0E4D-AE5D-F515B1CE6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33D2D-4485-8846-B07F-42E6ACA79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BEB23-1639-1B45-B480-D8BD72402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3FDC1-6426-7F4A-B487-B4D31C95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96D1E-E74E-1947-BBD1-4A8A0BF7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4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60DC-0DD8-C24D-8A2F-A1F8306E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9A41E-A4B4-314A-8B5E-2E2CC5237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98D57-B204-5E4C-AE69-3995402B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F261-D520-2249-BD00-15FB0B3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9512-B9F8-9242-ADA2-29D1BE0F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7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448942-8F12-4C45-A51D-10B5F2949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7A0B7-67AE-F648-97B5-196558633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E26C5-91CE-194F-A4DB-775D84EA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F84C4-C4E6-9647-BEA8-B9353BED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18952-D6F1-BB4B-99E6-A7B851E7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9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8859E-9ADE-7147-B360-81B6C998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9A6D4-029D-3C4A-B690-C535A54A5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21BC8-F423-B043-A5B4-577ADED53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36DB2-A8C7-8B4A-8973-DAA3698E894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CE7E0-0C39-DC4E-9F7A-B71DFBD1F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4CD5D-8D87-8046-AB82-3BCBCAB42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4B7A6-E1D4-6549-9B2A-FAFAA169D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3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svg"/><Relationship Id="rId5" Type="http://schemas.openxmlformats.org/officeDocument/2006/relationships/image" Target="../media/image9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13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26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10.png"/><Relationship Id="rId7" Type="http://schemas.openxmlformats.org/officeDocument/2006/relationships/image" Target="../media/image5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Water_%28data_page%29" TargetMode="External"/><Relationship Id="rId5" Type="http://schemas.openxmlformats.org/officeDocument/2006/relationships/image" Target="../media/image50.png"/><Relationship Id="rId10" Type="http://schemas.openxmlformats.org/officeDocument/2006/relationships/image" Target="../media/image90.png"/><Relationship Id="rId4" Type="http://schemas.openxmlformats.org/officeDocument/2006/relationships/image" Target="../media/image49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33.png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70.png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5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34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34.png"/><Relationship Id="rId9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8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8.png"/><Relationship Id="rId4" Type="http://schemas.openxmlformats.org/officeDocument/2006/relationships/image" Target="../media/image55.png"/><Relationship Id="rId9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Scope of today’s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2D670-FD1C-9744-9FBA-400862CE6324}"/>
              </a:ext>
            </a:extLst>
          </p:cNvPr>
          <p:cNvSpPr txBox="1"/>
          <p:nvPr/>
        </p:nvSpPr>
        <p:spPr>
          <a:xfrm>
            <a:off x="755301" y="934497"/>
            <a:ext cx="106813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Bomb calorimetry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Why enthalpy was invented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Entropy of phase transformations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How enthalpies of reaction tell us about entropy changes of the surroundings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Law of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104373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Bomb calorimeters tell us the heat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/>
                  <a:t>) evolved during a chemical reaction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8E15BC0-F48F-A443-299F-1E7E3303F217}"/>
              </a:ext>
            </a:extLst>
          </p:cNvPr>
          <p:cNvGrpSpPr/>
          <p:nvPr/>
        </p:nvGrpSpPr>
        <p:grpSpPr>
          <a:xfrm>
            <a:off x="1524000" y="924510"/>
            <a:ext cx="7876032" cy="5189777"/>
            <a:chOff x="1524000" y="924510"/>
            <a:chExt cx="7876032" cy="518977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290DC3E-4492-D8F9-C76A-F81EC593FB62}"/>
                </a:ext>
              </a:extLst>
            </p:cNvPr>
            <p:cNvGrpSpPr/>
            <p:nvPr/>
          </p:nvGrpSpPr>
          <p:grpSpPr>
            <a:xfrm>
              <a:off x="1524000" y="924510"/>
              <a:ext cx="7876032" cy="5189777"/>
              <a:chOff x="1524000" y="924510"/>
              <a:chExt cx="7876032" cy="5189777"/>
            </a:xfrm>
          </p:grpSpPr>
          <p:pic>
            <p:nvPicPr>
              <p:cNvPr id="2050" name="Picture 2" descr="Bomb Calorimeter — Structure &amp; Function - Expii">
                <a:extLst>
                  <a:ext uri="{FF2B5EF4-FFF2-40B4-BE49-F238E27FC236}">
                    <a16:creationId xmlns:a16="http://schemas.microsoft.com/office/drawing/2014/main" id="{7C3C65B3-8EFA-9B5F-8686-058FB637A6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924510"/>
                <a:ext cx="7402640" cy="5189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D3B605-CD51-B834-634F-6BF3AF20BB67}"/>
                  </a:ext>
                </a:extLst>
              </p:cNvPr>
              <p:cNvSpPr txBox="1"/>
              <p:nvPr/>
            </p:nvSpPr>
            <p:spPr>
              <a:xfrm>
                <a:off x="7583424" y="4572000"/>
                <a:ext cx="1816608" cy="8309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Reaction vessel</a:t>
                </a:r>
              </a:p>
            </p:txBody>
          </p:sp>
        </p:grp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6DF687D1-F3D9-7397-C128-43417566AF64}"/>
                </a:ext>
              </a:extLst>
            </p:cNvPr>
            <p:cNvSpPr/>
            <p:nvPr/>
          </p:nvSpPr>
          <p:spPr>
            <a:xfrm rot="9781782">
              <a:off x="5690270" y="5338089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7B22A4B0-59A4-DE04-A961-A8D345BAB1E9}"/>
                </a:ext>
              </a:extLst>
            </p:cNvPr>
            <p:cNvSpPr/>
            <p:nvPr/>
          </p:nvSpPr>
          <p:spPr>
            <a:xfrm rot="12646621">
              <a:off x="5713494" y="4767612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9A5525-1FC5-DCC4-76A9-8201D0225C6D}"/>
                    </a:ext>
                  </a:extLst>
                </p:cNvPr>
                <p:cNvSpPr txBox="1"/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9A5525-1FC5-DCC4-76A9-8201D0225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0698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the reaction takes place at a constant volume and temperature,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/>
                  <a:t> tells us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B2D670-FD1C-9744-9FBA-400862CE6324}"/>
                  </a:ext>
                </a:extLst>
              </p:cNvPr>
              <p:cNvSpPr txBox="1"/>
              <p:nvPr/>
            </p:nvSpPr>
            <p:spPr>
              <a:xfrm>
                <a:off x="755301" y="714578"/>
                <a:ext cx="106813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Law says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. When there’s no PV work done (no expansion or contraction),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B2D670-FD1C-9744-9FBA-400862CE6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01" y="714578"/>
                <a:ext cx="10681397" cy="830997"/>
              </a:xfrm>
              <a:prstGeom prst="rect">
                <a:avLst/>
              </a:prstGeom>
              <a:blipFill>
                <a:blip r:embed="rId3"/>
                <a:stretch>
                  <a:fillRect l="-950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E95582D2-FBBC-0079-7E8C-21E42E5DE24A}"/>
              </a:ext>
            </a:extLst>
          </p:cNvPr>
          <p:cNvGrpSpPr/>
          <p:nvPr/>
        </p:nvGrpSpPr>
        <p:grpSpPr>
          <a:xfrm>
            <a:off x="2210463" y="3663463"/>
            <a:ext cx="4776999" cy="2982301"/>
            <a:chOff x="2210463" y="3663463"/>
            <a:chExt cx="4776999" cy="298230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7BB0D52-2A76-FC42-5062-A626E56798AD}"/>
                </a:ext>
              </a:extLst>
            </p:cNvPr>
            <p:cNvGrpSpPr/>
            <p:nvPr/>
          </p:nvGrpSpPr>
          <p:grpSpPr>
            <a:xfrm>
              <a:off x="2749240" y="3663463"/>
              <a:ext cx="4238222" cy="2982301"/>
              <a:chOff x="2749240" y="3663463"/>
              <a:chExt cx="4238222" cy="2982301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6C706F2-E7B6-177F-09F0-D30AAA554E90}"/>
                  </a:ext>
                </a:extLst>
              </p:cNvPr>
              <p:cNvGrpSpPr/>
              <p:nvPr/>
            </p:nvGrpSpPr>
            <p:grpSpPr>
              <a:xfrm>
                <a:off x="2824308" y="3663463"/>
                <a:ext cx="4163154" cy="2982301"/>
                <a:chOff x="2824308" y="3663463"/>
                <a:chExt cx="4163154" cy="2982301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748E2A94-133B-4AD2-13FB-6EAF24CE478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824308" y="3663463"/>
                  <a:ext cx="4163154" cy="2982301"/>
                  <a:chOff x="7975518" y="3333878"/>
                  <a:chExt cx="3420141" cy="2450039"/>
                </a:xfrm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C698359C-7184-305A-3B50-4A10FF542429}"/>
                      </a:ext>
                    </a:extLst>
                  </p:cNvPr>
                  <p:cNvGrpSpPr/>
                  <p:nvPr/>
                </p:nvGrpSpPr>
                <p:grpSpPr>
                  <a:xfrm>
                    <a:off x="7975518" y="3333878"/>
                    <a:ext cx="3420141" cy="2450039"/>
                    <a:chOff x="7975518" y="1299338"/>
                    <a:chExt cx="3420141" cy="2450039"/>
                  </a:xfrm>
                </p:grpSpPr>
                <p:pic>
                  <p:nvPicPr>
                    <p:cNvPr id="29" name="Picture 28">
                      <a:extLst>
                        <a:ext uri="{FF2B5EF4-FFF2-40B4-BE49-F238E27FC236}">
                          <a16:creationId xmlns:a16="http://schemas.microsoft.com/office/drawing/2014/main" id="{7CC263C8-B720-E1DC-EBFA-28039C4A0B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7975518" y="1299338"/>
                      <a:ext cx="3420141" cy="2450039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28" name="Straight Arrow Connector 27">
                      <a:extLst>
                        <a:ext uri="{FF2B5EF4-FFF2-40B4-BE49-F238E27FC236}">
                          <a16:creationId xmlns:a16="http://schemas.microsoft.com/office/drawing/2014/main" id="{4ACE2A3F-AC39-89B4-5868-DC3D1D30943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480475" y="2404533"/>
                      <a:ext cx="0" cy="719433"/>
                    </a:xfrm>
                    <a:prstGeom prst="straightConnector1">
                      <a:avLst/>
                    </a:prstGeom>
                    <a:ln w="63500">
                      <a:solidFill>
                        <a:schemeClr val="accent3"/>
                      </a:solidFill>
                      <a:headEnd type="stealth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17E5D847-AD66-401E-19D6-97E2B128B2B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𝑝𝑟𝑜𝑑𝑢𝑐𝑡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17E5D847-AD66-401E-19D6-97E2B128B2B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0364CB6-0A0D-1977-64C6-41ED4D6082F6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𝑟𝑒𝑎𝑐𝑡𝑎𝑛𝑡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0364CB6-0A0D-1977-64C6-41ED4D6082F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1FBDBBD-E997-7047-3207-568FE8B6B38C}"/>
                    </a:ext>
                  </a:extLst>
                </p:cNvPr>
                <p:cNvSpPr txBox="1"/>
                <p:nvPr/>
              </p:nvSpPr>
              <p:spPr>
                <a:xfrm rot="1850984">
                  <a:off x="3173871" y="5935021"/>
                  <a:ext cx="117047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Volume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A043881-C8BA-0AE5-E63B-D6475AB51CC2}"/>
                    </a:ext>
                  </a:extLst>
                </p:cNvPr>
                <p:cNvSpPr txBox="1"/>
                <p:nvPr/>
              </p:nvSpPr>
              <p:spPr>
                <a:xfrm rot="21103745">
                  <a:off x="4493790" y="6102643"/>
                  <a:ext cx="2360574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Temperature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3CAA32-7BB3-024A-51FE-7062B1B01AE4}"/>
                  </a:ext>
                </a:extLst>
              </p:cNvPr>
              <p:cNvSpPr txBox="1"/>
              <p:nvPr/>
            </p:nvSpPr>
            <p:spPr>
              <a:xfrm rot="16200000">
                <a:off x="1753619" y="4886390"/>
                <a:ext cx="23605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8605274-E88A-A5E5-4F46-322A8B6CEE56}"/>
                    </a:ext>
                  </a:extLst>
                </p:cNvPr>
                <p:cNvSpPr txBox="1"/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8605274-E88A-A5E5-4F46-322A8B6CE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9444" r="-15278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53DCC7-9EBA-581A-E3F7-33856616470A}"/>
              </a:ext>
            </a:extLst>
          </p:cNvPr>
          <p:cNvGrpSpPr/>
          <p:nvPr/>
        </p:nvGrpSpPr>
        <p:grpSpPr>
          <a:xfrm>
            <a:off x="115748" y="1820649"/>
            <a:ext cx="11863995" cy="1815026"/>
            <a:chOff x="115748" y="1820649"/>
            <a:chExt cx="11863995" cy="181502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B84C87-7815-53F6-3BC7-47D1CB9A616B}"/>
                </a:ext>
              </a:extLst>
            </p:cNvPr>
            <p:cNvGrpSpPr/>
            <p:nvPr/>
          </p:nvGrpSpPr>
          <p:grpSpPr>
            <a:xfrm>
              <a:off x="115748" y="1820649"/>
              <a:ext cx="11863995" cy="1815026"/>
              <a:chOff x="115748" y="1820649"/>
              <a:chExt cx="11863995" cy="181502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960A118-323F-C31A-4909-85E054C74D4E}"/>
                  </a:ext>
                </a:extLst>
              </p:cNvPr>
              <p:cNvGrpSpPr/>
              <p:nvPr/>
            </p:nvGrpSpPr>
            <p:grpSpPr>
              <a:xfrm>
                <a:off x="115748" y="1820649"/>
                <a:ext cx="11320950" cy="1815026"/>
                <a:chOff x="115748" y="2086867"/>
                <a:chExt cx="11320950" cy="1815026"/>
              </a:xfrm>
            </p:grpSpPr>
            <p:sp>
              <p:nvSpPr>
                <p:cNvPr id="7" name="Right Arrow 6">
                  <a:extLst>
                    <a:ext uri="{FF2B5EF4-FFF2-40B4-BE49-F238E27FC236}">
                      <a16:creationId xmlns:a16="http://schemas.microsoft.com/office/drawing/2014/main" id="{FA9880BC-726C-B8FB-7372-C4E305F5C1B7}"/>
                    </a:ext>
                  </a:extLst>
                </p:cNvPr>
                <p:cNvSpPr/>
                <p:nvPr/>
              </p:nvSpPr>
              <p:spPr>
                <a:xfrm>
                  <a:off x="4641448" y="2685327"/>
                  <a:ext cx="810228" cy="462987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042BC6AC-C84F-06F3-FD8F-CAF4351B52DF}"/>
                    </a:ext>
                  </a:extLst>
                </p:cNvPr>
                <p:cNvGrpSpPr/>
                <p:nvPr/>
              </p:nvGrpSpPr>
              <p:grpSpPr>
                <a:xfrm>
                  <a:off x="115748" y="2086867"/>
                  <a:ext cx="4158204" cy="1815026"/>
                  <a:chOff x="115748" y="2086867"/>
                  <a:chExt cx="4158204" cy="1815026"/>
                </a:xfrm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310C2B2F-887D-28C3-E2BB-86B755C165C0}"/>
                      </a:ext>
                    </a:extLst>
                  </p:cNvPr>
                  <p:cNvGrpSpPr/>
                  <p:nvPr/>
                </p:nvGrpSpPr>
                <p:grpSpPr>
                  <a:xfrm>
                    <a:off x="1435262" y="2086867"/>
                    <a:ext cx="2838690" cy="1815026"/>
                    <a:chOff x="1435262" y="2086867"/>
                    <a:chExt cx="2838690" cy="1815026"/>
                  </a:xfrm>
                </p:grpSpPr>
                <p:grpSp>
                  <p:nvGrpSpPr>
                    <p:cNvPr id="6" name="Group 5">
                      <a:extLst>
                        <a:ext uri="{FF2B5EF4-FFF2-40B4-BE49-F238E27FC236}">
                          <a16:creationId xmlns:a16="http://schemas.microsoft.com/office/drawing/2014/main" id="{08A19964-0B48-ABD8-4C09-52F2D65BB7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7440" y="2086867"/>
                      <a:ext cx="2326512" cy="1815026"/>
                      <a:chOff x="2040037" y="1968921"/>
                      <a:chExt cx="2326512" cy="1815026"/>
                    </a:xfrm>
                  </p:grpSpPr>
                  <p:sp>
                    <p:nvSpPr>
                      <p:cNvPr id="2" name="Rounded Rectangle 1">
                        <a:extLst>
                          <a:ext uri="{FF2B5EF4-FFF2-40B4-BE49-F238E27FC236}">
                            <a16:creationId xmlns:a16="http://schemas.microsoft.com/office/drawing/2014/main" id="{EDACDE16-B357-15C7-CC91-9C7B1C3FC7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40037" y="1968921"/>
                        <a:ext cx="2326512" cy="1815026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" name="TextBox 2">
                        <a:extLst>
                          <a:ext uri="{FF2B5EF4-FFF2-40B4-BE49-F238E27FC236}">
                            <a16:creationId xmlns:a16="http://schemas.microsoft.com/office/drawing/2014/main" id="{6BC8BF03-4F7C-66FE-99B3-484C6CCA46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528" y="2091604"/>
                        <a:ext cx="2135529" cy="15696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400" dirty="0"/>
                          <a:t>System undergoes an exothermic reaction</a:t>
                        </a:r>
                      </a:p>
                    </p:txBody>
                  </p:sp>
                </p:grpSp>
                <p:sp>
                  <p:nvSpPr>
                    <p:cNvPr id="8" name="Right Arrow 7">
                      <a:extLst>
                        <a:ext uri="{FF2B5EF4-FFF2-40B4-BE49-F238E27FC236}">
                          <a16:creationId xmlns:a16="http://schemas.microsoft.com/office/drawing/2014/main" id="{C714B807-59A7-3932-BB96-2A8C7BCF799E}"/>
                        </a:ext>
                      </a:extLst>
                    </p:cNvPr>
                    <p:cNvSpPr/>
                    <p:nvPr/>
                  </p:nvSpPr>
                  <p:spPr>
                    <a:xfrm rot="9781782">
                      <a:off x="1435262" y="3275635"/>
                      <a:ext cx="370390" cy="243069"/>
                    </a:xfrm>
                    <a:prstGeom prst="rightArrow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" name="Right Arrow 8">
                      <a:extLst>
                        <a:ext uri="{FF2B5EF4-FFF2-40B4-BE49-F238E27FC236}">
                          <a16:creationId xmlns:a16="http://schemas.microsoft.com/office/drawing/2014/main" id="{4EDF920D-7FB9-0D06-7C45-EDB418ACFD19}"/>
                        </a:ext>
                      </a:extLst>
                    </p:cNvPr>
                    <p:cNvSpPr/>
                    <p:nvPr/>
                  </p:nvSpPr>
                  <p:spPr>
                    <a:xfrm rot="12646621">
                      <a:off x="1495062" y="2351590"/>
                      <a:ext cx="370390" cy="243069"/>
                    </a:xfrm>
                    <a:prstGeom prst="rightArrow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0F8E4025-F6C3-3580-CE08-C303D480BD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5748" y="2694011"/>
                        <a:ext cx="1831692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=−10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𝑘𝐽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0F8E4025-F6C3-3580-CE08-C303D480BD8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5748" y="2694011"/>
                        <a:ext cx="1831692" cy="46166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216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84C88326-A0A7-E637-3455-94624E303FF9}"/>
                    </a:ext>
                  </a:extLst>
                </p:cNvPr>
                <p:cNvSpPr/>
                <p:nvPr/>
              </p:nvSpPr>
              <p:spPr>
                <a:xfrm>
                  <a:off x="5819172" y="2086867"/>
                  <a:ext cx="2326512" cy="181502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B9A8E08D-4E75-0ADD-01CA-108FA210CF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1529" y="2763547"/>
                      <a:ext cx="320516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=−10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𝑘𝐽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B9A8E08D-4E75-0ADD-01CA-108FA210CF9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31529" y="2763547"/>
                      <a:ext cx="3205169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216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25" name="Graphic 24" descr="Smiling face with no fill">
                <a:extLst>
                  <a:ext uri="{FF2B5EF4-FFF2-40B4-BE49-F238E27FC236}">
                    <a16:creationId xmlns:a16="http://schemas.microsoft.com/office/drawing/2014/main" id="{2F5AEE78-4E15-06D9-660A-24EF69B13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65343" y="2217266"/>
                <a:ext cx="914400" cy="91440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FBB772E-DEB2-484C-E714-5E511F8FAD71}"/>
                    </a:ext>
                  </a:extLst>
                </p:cNvPr>
                <p:cNvSpPr txBox="1"/>
                <p:nvPr/>
              </p:nvSpPr>
              <p:spPr>
                <a:xfrm>
                  <a:off x="5910374" y="1924658"/>
                  <a:ext cx="2235310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System’s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a14:m>
                  <a:r>
                    <a:rPr lang="en-US" sz="2400" dirty="0"/>
                    <a:t> is down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𝑘𝐽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FBB772E-DEB2-484C-E714-5E511F8FA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374" y="1924658"/>
                  <a:ext cx="2235310" cy="830997"/>
                </a:xfrm>
                <a:prstGeom prst="rect">
                  <a:avLst/>
                </a:prstGeom>
                <a:blipFill>
                  <a:blip r:embed="rId12"/>
                  <a:stretch>
                    <a:fillRect l="-4520" t="-4545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687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397BB83-20FF-A648-96F8-578883A41BFC}"/>
              </a:ext>
            </a:extLst>
          </p:cNvPr>
          <p:cNvGrpSpPr/>
          <p:nvPr/>
        </p:nvGrpSpPr>
        <p:grpSpPr>
          <a:xfrm>
            <a:off x="2210463" y="3663463"/>
            <a:ext cx="4776999" cy="2982301"/>
            <a:chOff x="2210463" y="3663463"/>
            <a:chExt cx="4776999" cy="29823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BB7CC2B-E2D4-F444-2D60-062EA9A84419}"/>
                </a:ext>
              </a:extLst>
            </p:cNvPr>
            <p:cNvGrpSpPr/>
            <p:nvPr/>
          </p:nvGrpSpPr>
          <p:grpSpPr>
            <a:xfrm>
              <a:off x="2749240" y="3663463"/>
              <a:ext cx="4238222" cy="2982301"/>
              <a:chOff x="2749240" y="3663463"/>
              <a:chExt cx="4238222" cy="298230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8BC127F-C41B-8345-9CB1-8F0C89B98528}"/>
                  </a:ext>
                </a:extLst>
              </p:cNvPr>
              <p:cNvGrpSpPr/>
              <p:nvPr/>
            </p:nvGrpSpPr>
            <p:grpSpPr>
              <a:xfrm>
                <a:off x="2824308" y="3663463"/>
                <a:ext cx="4163154" cy="2982301"/>
                <a:chOff x="2824308" y="3663463"/>
                <a:chExt cx="4163154" cy="2982301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CCD341D6-CE58-0A0F-0A28-9E83D378BE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824308" y="3663463"/>
                  <a:ext cx="4163154" cy="2982301"/>
                  <a:chOff x="7975518" y="3333878"/>
                  <a:chExt cx="3420141" cy="2450039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3BB9042A-98B3-C2BA-CE81-802F0241E5C8}"/>
                      </a:ext>
                    </a:extLst>
                  </p:cNvPr>
                  <p:cNvGrpSpPr/>
                  <p:nvPr/>
                </p:nvGrpSpPr>
                <p:grpSpPr>
                  <a:xfrm>
                    <a:off x="7975518" y="3333878"/>
                    <a:ext cx="3420141" cy="2450039"/>
                    <a:chOff x="7975518" y="1299338"/>
                    <a:chExt cx="3420141" cy="2450039"/>
                  </a:xfrm>
                </p:grpSpPr>
                <p:pic>
                  <p:nvPicPr>
                    <p:cNvPr id="44" name="Picture 43">
                      <a:extLst>
                        <a:ext uri="{FF2B5EF4-FFF2-40B4-BE49-F238E27FC236}">
                          <a16:creationId xmlns:a16="http://schemas.microsoft.com/office/drawing/2014/main" id="{6C849D24-5953-925D-5824-82FF938251F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7975518" y="1299338"/>
                      <a:ext cx="3420141" cy="2450039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FA150B38-9F25-2B8F-5A59-73A309D20B0C}"/>
                        </a:ext>
                      </a:extLst>
                    </p:cNvPr>
                    <p:cNvCxnSpPr>
                      <a:cxnSpLocks/>
                      <a:stCxn id="39" idx="1"/>
                    </p:cNvCxnSpPr>
                    <p:nvPr/>
                  </p:nvCxnSpPr>
                  <p:spPr>
                    <a:xfrm flipV="1">
                      <a:off x="9232690" y="2404533"/>
                      <a:ext cx="247785" cy="752070"/>
                    </a:xfrm>
                    <a:prstGeom prst="straightConnector1">
                      <a:avLst/>
                    </a:prstGeom>
                    <a:ln w="63500">
                      <a:solidFill>
                        <a:schemeClr val="accent3"/>
                      </a:solidFill>
                      <a:headEnd type="stealth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58EC80FF-BEE8-B2DF-12A6-C31DA19C3448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𝑝𝑟𝑜𝑑𝑢𝑐𝑡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58EC80FF-BEE8-B2DF-12A6-C31DA19C344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02BE1789-FAE8-40A1-71AF-45AC386B59EF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𝑟𝑒𝑎𝑐𝑡𝑎𝑛𝑡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02BE1789-FAE8-40A1-71AF-45AC386B59E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9C09485-046F-FEB9-A740-A4062E8139D6}"/>
                    </a:ext>
                  </a:extLst>
                </p:cNvPr>
                <p:cNvSpPr txBox="1"/>
                <p:nvPr/>
              </p:nvSpPr>
              <p:spPr>
                <a:xfrm rot="1850984">
                  <a:off x="3173871" y="5935021"/>
                  <a:ext cx="117047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Volume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60AD150-779A-E186-D7A9-3C2F89A0B348}"/>
                    </a:ext>
                  </a:extLst>
                </p:cNvPr>
                <p:cNvSpPr txBox="1"/>
                <p:nvPr/>
              </p:nvSpPr>
              <p:spPr>
                <a:xfrm rot="21103745">
                  <a:off x="4493790" y="6102643"/>
                  <a:ext cx="2360574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Temperature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17EAA5-2282-9EAE-5AE1-54A78DED44C4}"/>
                  </a:ext>
                </a:extLst>
              </p:cNvPr>
              <p:cNvSpPr txBox="1"/>
              <p:nvPr/>
            </p:nvSpPr>
            <p:spPr>
              <a:xfrm rot="16200000">
                <a:off x="1753619" y="4886390"/>
                <a:ext cx="23605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279065-F4E4-CD9E-18B4-C48A4F60FE01}"/>
                    </a:ext>
                  </a:extLst>
                </p:cNvPr>
                <p:cNvSpPr txBox="1"/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279065-F4E4-CD9E-18B4-C48A4F60F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9444" r="-15278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But what if the system </a:t>
                </a:r>
                <a:r>
                  <a:rPr lang="en-US" sz="2400" b="1" i="1" dirty="0"/>
                  <a:t>can</a:t>
                </a:r>
                <a:r>
                  <a:rPr lang="en-US" sz="2400" b="1" dirty="0"/>
                  <a:t> expand during a reaction (which is the typical case),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blipFill>
                <a:blip r:embed="rId6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B2D670-FD1C-9744-9FBA-400862CE6324}"/>
                  </a:ext>
                </a:extLst>
              </p:cNvPr>
              <p:cNvSpPr txBox="1"/>
              <p:nvPr/>
            </p:nvSpPr>
            <p:spPr>
              <a:xfrm>
                <a:off x="755301" y="714578"/>
                <a:ext cx="106813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Law says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. Since there’s PV work done (expansion or contraction),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B2D670-FD1C-9744-9FBA-400862CE6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01" y="714578"/>
                <a:ext cx="10681397" cy="830997"/>
              </a:xfrm>
              <a:prstGeom prst="rect">
                <a:avLst/>
              </a:prstGeom>
              <a:blipFill>
                <a:blip r:embed="rId7"/>
                <a:stretch>
                  <a:fillRect l="-950" t="-4545" r="-1544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EF927D4-F57C-1217-906D-1846771C447C}"/>
              </a:ext>
            </a:extLst>
          </p:cNvPr>
          <p:cNvGrpSpPr/>
          <p:nvPr/>
        </p:nvGrpSpPr>
        <p:grpSpPr>
          <a:xfrm>
            <a:off x="121920" y="1582151"/>
            <a:ext cx="11823538" cy="2266653"/>
            <a:chOff x="121920" y="1582151"/>
            <a:chExt cx="11823538" cy="226665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18CD2A2-5D4C-8D51-60C8-996D1530B79F}"/>
                </a:ext>
              </a:extLst>
            </p:cNvPr>
            <p:cNvGrpSpPr/>
            <p:nvPr/>
          </p:nvGrpSpPr>
          <p:grpSpPr>
            <a:xfrm>
              <a:off x="121920" y="1582151"/>
              <a:ext cx="11823538" cy="2266653"/>
              <a:chOff x="115747" y="4293012"/>
              <a:chExt cx="11823538" cy="226665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8FFBD0C-564A-984D-9CDC-42ED3B6A0097}"/>
                  </a:ext>
                </a:extLst>
              </p:cNvPr>
              <p:cNvGrpSpPr/>
              <p:nvPr/>
            </p:nvGrpSpPr>
            <p:grpSpPr>
              <a:xfrm>
                <a:off x="115747" y="4293012"/>
                <a:ext cx="11320951" cy="2266653"/>
                <a:chOff x="115747" y="1845382"/>
                <a:chExt cx="11320951" cy="2266653"/>
              </a:xfrm>
            </p:grpSpPr>
            <p:sp>
              <p:nvSpPr>
                <p:cNvPr id="15" name="Right Arrow 14">
                  <a:extLst>
                    <a:ext uri="{FF2B5EF4-FFF2-40B4-BE49-F238E27FC236}">
                      <a16:creationId xmlns:a16="http://schemas.microsoft.com/office/drawing/2014/main" id="{A81588F1-607D-3182-BEF7-B69BB916E8DD}"/>
                    </a:ext>
                  </a:extLst>
                </p:cNvPr>
                <p:cNvSpPr/>
                <p:nvPr/>
              </p:nvSpPr>
              <p:spPr>
                <a:xfrm>
                  <a:off x="4637281" y="2685327"/>
                  <a:ext cx="810228" cy="462987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6D62FCE-EE5F-7FB8-8816-6CD4B0820CF1}"/>
                    </a:ext>
                  </a:extLst>
                </p:cNvPr>
                <p:cNvGrpSpPr/>
                <p:nvPr/>
              </p:nvGrpSpPr>
              <p:grpSpPr>
                <a:xfrm>
                  <a:off x="115747" y="2086867"/>
                  <a:ext cx="4158205" cy="1815026"/>
                  <a:chOff x="115747" y="2086867"/>
                  <a:chExt cx="4158205" cy="1815026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89CF4B71-47A0-6C26-81CA-1F91802037D7}"/>
                      </a:ext>
                    </a:extLst>
                  </p:cNvPr>
                  <p:cNvGrpSpPr/>
                  <p:nvPr/>
                </p:nvGrpSpPr>
                <p:grpSpPr>
                  <a:xfrm>
                    <a:off x="1435262" y="2086867"/>
                    <a:ext cx="2838690" cy="1815026"/>
                    <a:chOff x="1435262" y="2086867"/>
                    <a:chExt cx="2838690" cy="1815026"/>
                  </a:xfrm>
                </p:grpSpPr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1D5CFFE7-A02B-6344-9886-F6E628DA9A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7440" y="2086867"/>
                      <a:ext cx="2326512" cy="1815026"/>
                      <a:chOff x="2040037" y="1968921"/>
                      <a:chExt cx="2326512" cy="1815026"/>
                    </a:xfrm>
                  </p:grpSpPr>
                  <p:sp>
                    <p:nvSpPr>
                      <p:cNvPr id="31" name="Rounded Rectangle 30">
                        <a:extLst>
                          <a:ext uri="{FF2B5EF4-FFF2-40B4-BE49-F238E27FC236}">
                            <a16:creationId xmlns:a16="http://schemas.microsoft.com/office/drawing/2014/main" id="{B6568B3B-272D-D602-96EF-953F56C51D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40037" y="1968921"/>
                        <a:ext cx="2326512" cy="1815026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A8F470DE-C63F-55B4-7E73-8839849065C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528" y="2091604"/>
                        <a:ext cx="2135529" cy="15696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400" dirty="0"/>
                          <a:t>System undergoes an exothermic reaction</a:t>
                        </a:r>
                      </a:p>
                    </p:txBody>
                  </p:sp>
                </p:grpSp>
                <p:sp>
                  <p:nvSpPr>
                    <p:cNvPr id="29" name="Right Arrow 28">
                      <a:extLst>
                        <a:ext uri="{FF2B5EF4-FFF2-40B4-BE49-F238E27FC236}">
                          <a16:creationId xmlns:a16="http://schemas.microsoft.com/office/drawing/2014/main" id="{A8AD93C4-8824-FDE1-3688-96CEC3863520}"/>
                        </a:ext>
                      </a:extLst>
                    </p:cNvPr>
                    <p:cNvSpPr/>
                    <p:nvPr/>
                  </p:nvSpPr>
                  <p:spPr>
                    <a:xfrm rot="9781782">
                      <a:off x="1435262" y="3275635"/>
                      <a:ext cx="370390" cy="243069"/>
                    </a:xfrm>
                    <a:prstGeom prst="rightArrow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" name="Right Arrow 29">
                      <a:extLst>
                        <a:ext uri="{FF2B5EF4-FFF2-40B4-BE49-F238E27FC236}">
                          <a16:creationId xmlns:a16="http://schemas.microsoft.com/office/drawing/2014/main" id="{27445DFD-A1EC-0229-6642-11031D57B750}"/>
                        </a:ext>
                      </a:extLst>
                    </p:cNvPr>
                    <p:cNvSpPr/>
                    <p:nvPr/>
                  </p:nvSpPr>
                  <p:spPr>
                    <a:xfrm rot="12646621">
                      <a:off x="1495062" y="2351590"/>
                      <a:ext cx="370390" cy="243069"/>
                    </a:xfrm>
                    <a:prstGeom prst="rightArrow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A722B93E-D860-C685-D754-578FC793992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5747" y="2687701"/>
                        <a:ext cx="1831692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=−10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𝑘𝐽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A722B93E-D860-C685-D754-578FC793992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5747" y="2687701"/>
                        <a:ext cx="1831692" cy="46166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216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610CD764-E45D-C9B7-4E77-7801E5D866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1529" y="2720350"/>
                      <a:ext cx="320516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≠−10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𝑘𝐽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610CD764-E45D-C9B7-4E77-7801E5D866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31529" y="2720350"/>
                      <a:ext cx="3205169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216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1FF3EA62-366F-EAE6-8BB5-F5074BE830A9}"/>
                    </a:ext>
                  </a:extLst>
                </p:cNvPr>
                <p:cNvSpPr/>
                <p:nvPr/>
              </p:nvSpPr>
              <p:spPr>
                <a:xfrm>
                  <a:off x="5501834" y="1845382"/>
                  <a:ext cx="3047035" cy="226665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4" name="Graphic 33" descr="Sad face with no fill">
                <a:extLst>
                  <a:ext uri="{FF2B5EF4-FFF2-40B4-BE49-F238E27FC236}">
                    <a16:creationId xmlns:a16="http://schemas.microsoft.com/office/drawing/2014/main" id="{5E5F6B23-1EC1-303C-D22D-F9051BA72C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24885" y="4907250"/>
                <a:ext cx="914400" cy="91440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A655207-46E1-A0A4-8923-0800A1245347}"/>
                    </a:ext>
                  </a:extLst>
                </p:cNvPr>
                <p:cNvSpPr txBox="1"/>
                <p:nvPr/>
              </p:nvSpPr>
              <p:spPr>
                <a:xfrm>
                  <a:off x="5910374" y="1924658"/>
                  <a:ext cx="2235310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System’s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a14:m>
                  <a:r>
                    <a:rPr lang="en-US" sz="2400" dirty="0"/>
                    <a:t> is down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𝑘𝐽</m:t>
                      </m:r>
                    </m:oMath>
                  </a14:m>
                  <a:r>
                    <a:rPr lang="en-US" sz="2400" dirty="0"/>
                    <a:t> minus whatever work was done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A655207-46E1-A0A4-8923-0800A1245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374" y="1924658"/>
                  <a:ext cx="2235310" cy="1569660"/>
                </a:xfrm>
                <a:prstGeom prst="rect">
                  <a:avLst/>
                </a:prstGeom>
                <a:blipFill>
                  <a:blip r:embed="rId12"/>
                  <a:stretch>
                    <a:fillRect l="-4520" t="-2400" r="-3955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8676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Enthalpy was invented so that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would tell us about changes in it: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9D46741-9D19-1CB5-B05D-C976FF2EDC68}"/>
              </a:ext>
            </a:extLst>
          </p:cNvPr>
          <p:cNvGrpSpPr/>
          <p:nvPr/>
        </p:nvGrpSpPr>
        <p:grpSpPr>
          <a:xfrm>
            <a:off x="2210463" y="3663463"/>
            <a:ext cx="4776999" cy="2982301"/>
            <a:chOff x="2210463" y="3663463"/>
            <a:chExt cx="4776999" cy="298230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A40C3A1-96FD-A78F-685D-7FDE8D64CC3C}"/>
                </a:ext>
              </a:extLst>
            </p:cNvPr>
            <p:cNvGrpSpPr/>
            <p:nvPr/>
          </p:nvGrpSpPr>
          <p:grpSpPr>
            <a:xfrm>
              <a:off x="2749240" y="3663463"/>
              <a:ext cx="4238222" cy="2982301"/>
              <a:chOff x="2749240" y="3663463"/>
              <a:chExt cx="4238222" cy="298230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E63D2EB6-05AF-41C1-F6AF-21748DEA9B25}"/>
                  </a:ext>
                </a:extLst>
              </p:cNvPr>
              <p:cNvGrpSpPr/>
              <p:nvPr/>
            </p:nvGrpSpPr>
            <p:grpSpPr>
              <a:xfrm>
                <a:off x="2824308" y="3663463"/>
                <a:ext cx="4163154" cy="2982301"/>
                <a:chOff x="2824308" y="3663463"/>
                <a:chExt cx="4163154" cy="2982301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F609D61-7867-9EF3-DA2F-93E1E139660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824308" y="3663463"/>
                  <a:ext cx="4163154" cy="2982301"/>
                  <a:chOff x="7975518" y="3333878"/>
                  <a:chExt cx="3420141" cy="2450039"/>
                </a:xfrm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C1339C0E-3205-F38C-C8AB-184109E7A97F}"/>
                      </a:ext>
                    </a:extLst>
                  </p:cNvPr>
                  <p:cNvGrpSpPr/>
                  <p:nvPr/>
                </p:nvGrpSpPr>
                <p:grpSpPr>
                  <a:xfrm>
                    <a:off x="7975518" y="3333878"/>
                    <a:ext cx="3420141" cy="2450039"/>
                    <a:chOff x="7975518" y="1299338"/>
                    <a:chExt cx="3420141" cy="2450039"/>
                  </a:xfrm>
                </p:grpSpPr>
                <p:pic>
                  <p:nvPicPr>
                    <p:cNvPr id="37" name="Picture 36">
                      <a:extLst>
                        <a:ext uri="{FF2B5EF4-FFF2-40B4-BE49-F238E27FC236}">
                          <a16:creationId xmlns:a16="http://schemas.microsoft.com/office/drawing/2014/main" id="{D62CCFE7-4AA3-C8C0-11F5-07986B548E4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7975518" y="1299338"/>
                      <a:ext cx="3420141" cy="2450039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04D84BDC-6371-510F-1F17-67C1C45336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480475" y="2404533"/>
                      <a:ext cx="0" cy="719433"/>
                    </a:xfrm>
                    <a:prstGeom prst="straightConnector1">
                      <a:avLst/>
                    </a:prstGeom>
                    <a:ln w="63500">
                      <a:solidFill>
                        <a:schemeClr val="accent3"/>
                      </a:solidFill>
                      <a:headEnd type="stealth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CD726714-0FEC-3146-E720-33F95E221CCE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𝑝𝑟𝑜𝑑𝑢𝑐𝑡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3" name="TextBox 22">
                        <a:extLst>
                          <a:ext uri="{FF2B5EF4-FFF2-40B4-BE49-F238E27FC236}">
                            <a16:creationId xmlns:a16="http://schemas.microsoft.com/office/drawing/2014/main" id="{CD726714-0FEC-3146-E720-33F95E221CC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6695EE17-C984-9196-CC2D-666AB992AEF4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𝑟𝑒𝑎𝑐𝑡𝑎𝑛𝑡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6695EE17-C984-9196-CC2D-666AB992AEF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A73AB10-37C8-7B83-0A47-9454BA31BEBB}"/>
                    </a:ext>
                  </a:extLst>
                </p:cNvPr>
                <p:cNvSpPr txBox="1"/>
                <p:nvPr/>
              </p:nvSpPr>
              <p:spPr>
                <a:xfrm rot="1850984">
                  <a:off x="3167341" y="5958687"/>
                  <a:ext cx="1262774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Pressure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4218A71-D76F-ACB6-6372-FD1747236E49}"/>
                    </a:ext>
                  </a:extLst>
                </p:cNvPr>
                <p:cNvSpPr txBox="1"/>
                <p:nvPr/>
              </p:nvSpPr>
              <p:spPr>
                <a:xfrm rot="21103745">
                  <a:off x="4493790" y="6102643"/>
                  <a:ext cx="2360574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Temperature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F7004E-8FEF-2052-F143-8457DB5CBD96}"/>
                  </a:ext>
                </a:extLst>
              </p:cNvPr>
              <p:cNvSpPr txBox="1"/>
              <p:nvPr/>
            </p:nvSpPr>
            <p:spPr>
              <a:xfrm rot="16200000">
                <a:off x="1753619" y="4886390"/>
                <a:ext cx="23605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7327B70-E9C6-173B-0114-CE89E46F479E}"/>
                    </a:ext>
                  </a:extLst>
                </p:cNvPr>
                <p:cNvSpPr txBox="1"/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7327B70-E9C6-173B-0114-CE89E46F4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9444" r="-15278"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1185BA5-7923-30F4-E90B-6C3C349EAE00}"/>
              </a:ext>
            </a:extLst>
          </p:cNvPr>
          <p:cNvGrpSpPr/>
          <p:nvPr/>
        </p:nvGrpSpPr>
        <p:grpSpPr>
          <a:xfrm>
            <a:off x="121920" y="1582151"/>
            <a:ext cx="11857823" cy="2266653"/>
            <a:chOff x="121920" y="1582151"/>
            <a:chExt cx="11857823" cy="226665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EF927D4-F57C-1217-906D-1846771C447C}"/>
                </a:ext>
              </a:extLst>
            </p:cNvPr>
            <p:cNvGrpSpPr/>
            <p:nvPr/>
          </p:nvGrpSpPr>
          <p:grpSpPr>
            <a:xfrm>
              <a:off x="121920" y="1582151"/>
              <a:ext cx="11320951" cy="2266653"/>
              <a:chOff x="121920" y="1582151"/>
              <a:chExt cx="11320951" cy="226665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8FFBD0C-564A-984D-9CDC-42ED3B6A0097}"/>
                  </a:ext>
                </a:extLst>
              </p:cNvPr>
              <p:cNvGrpSpPr/>
              <p:nvPr/>
            </p:nvGrpSpPr>
            <p:grpSpPr>
              <a:xfrm>
                <a:off x="121920" y="1582151"/>
                <a:ext cx="11320951" cy="2266653"/>
                <a:chOff x="115747" y="1845382"/>
                <a:chExt cx="11320951" cy="2266653"/>
              </a:xfrm>
            </p:grpSpPr>
            <p:sp>
              <p:nvSpPr>
                <p:cNvPr id="15" name="Right Arrow 14">
                  <a:extLst>
                    <a:ext uri="{FF2B5EF4-FFF2-40B4-BE49-F238E27FC236}">
                      <a16:creationId xmlns:a16="http://schemas.microsoft.com/office/drawing/2014/main" id="{A81588F1-607D-3182-BEF7-B69BB916E8DD}"/>
                    </a:ext>
                  </a:extLst>
                </p:cNvPr>
                <p:cNvSpPr/>
                <p:nvPr/>
              </p:nvSpPr>
              <p:spPr>
                <a:xfrm>
                  <a:off x="4637281" y="2685327"/>
                  <a:ext cx="810228" cy="462987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6D62FCE-EE5F-7FB8-8816-6CD4B0820CF1}"/>
                    </a:ext>
                  </a:extLst>
                </p:cNvPr>
                <p:cNvGrpSpPr/>
                <p:nvPr/>
              </p:nvGrpSpPr>
              <p:grpSpPr>
                <a:xfrm>
                  <a:off x="115747" y="2086867"/>
                  <a:ext cx="4158205" cy="1815026"/>
                  <a:chOff x="115747" y="2086867"/>
                  <a:chExt cx="4158205" cy="1815026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89CF4B71-47A0-6C26-81CA-1F91802037D7}"/>
                      </a:ext>
                    </a:extLst>
                  </p:cNvPr>
                  <p:cNvGrpSpPr/>
                  <p:nvPr/>
                </p:nvGrpSpPr>
                <p:grpSpPr>
                  <a:xfrm>
                    <a:off x="1435262" y="2086867"/>
                    <a:ext cx="2838690" cy="1815026"/>
                    <a:chOff x="1435262" y="2086867"/>
                    <a:chExt cx="2838690" cy="1815026"/>
                  </a:xfrm>
                </p:grpSpPr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1D5CFFE7-A02B-6344-9886-F6E628DA9A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47440" y="2086867"/>
                      <a:ext cx="2326512" cy="1815026"/>
                      <a:chOff x="2040037" y="1968921"/>
                      <a:chExt cx="2326512" cy="1815026"/>
                    </a:xfrm>
                  </p:grpSpPr>
                  <p:sp>
                    <p:nvSpPr>
                      <p:cNvPr id="31" name="Rounded Rectangle 30">
                        <a:extLst>
                          <a:ext uri="{FF2B5EF4-FFF2-40B4-BE49-F238E27FC236}">
                            <a16:creationId xmlns:a16="http://schemas.microsoft.com/office/drawing/2014/main" id="{B6568B3B-272D-D602-96EF-953F56C51D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40037" y="1968921"/>
                        <a:ext cx="2326512" cy="1815026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A8F470DE-C63F-55B4-7E73-8839849065C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5528" y="2091604"/>
                        <a:ext cx="2135529" cy="156966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2400" dirty="0"/>
                          <a:t>System undergoes an exothermic reaction</a:t>
                        </a:r>
                      </a:p>
                    </p:txBody>
                  </p:sp>
                </p:grpSp>
                <p:sp>
                  <p:nvSpPr>
                    <p:cNvPr id="29" name="Right Arrow 28">
                      <a:extLst>
                        <a:ext uri="{FF2B5EF4-FFF2-40B4-BE49-F238E27FC236}">
                          <a16:creationId xmlns:a16="http://schemas.microsoft.com/office/drawing/2014/main" id="{A8AD93C4-8824-FDE1-3688-96CEC3863520}"/>
                        </a:ext>
                      </a:extLst>
                    </p:cNvPr>
                    <p:cNvSpPr/>
                    <p:nvPr/>
                  </p:nvSpPr>
                  <p:spPr>
                    <a:xfrm rot="9781782">
                      <a:off x="1435262" y="3275635"/>
                      <a:ext cx="370390" cy="243069"/>
                    </a:xfrm>
                    <a:prstGeom prst="rightArrow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" name="Right Arrow 29">
                      <a:extLst>
                        <a:ext uri="{FF2B5EF4-FFF2-40B4-BE49-F238E27FC236}">
                          <a16:creationId xmlns:a16="http://schemas.microsoft.com/office/drawing/2014/main" id="{27445DFD-A1EC-0229-6642-11031D57B750}"/>
                        </a:ext>
                      </a:extLst>
                    </p:cNvPr>
                    <p:cNvSpPr/>
                    <p:nvPr/>
                  </p:nvSpPr>
                  <p:spPr>
                    <a:xfrm rot="12646621">
                      <a:off x="1495062" y="2351590"/>
                      <a:ext cx="370390" cy="243069"/>
                    </a:xfrm>
                    <a:prstGeom prst="rightArrow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A722B93E-D860-C685-D754-578FC793992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5747" y="2687701"/>
                        <a:ext cx="1831692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=−10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𝑘𝐽</m:t>
                              </m:r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A722B93E-D860-C685-D754-578FC793992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5747" y="2687701"/>
                        <a:ext cx="1831692" cy="46166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216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610CD764-E45D-C9B7-4E77-7801E5D866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1529" y="2720350"/>
                      <a:ext cx="3205169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=−10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𝑘𝐽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610CD764-E45D-C9B7-4E77-7801E5D866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31529" y="2720350"/>
                      <a:ext cx="3205169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216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1FF3EA62-366F-EAE6-8BB5-F5074BE830A9}"/>
                    </a:ext>
                  </a:extLst>
                </p:cNvPr>
                <p:cNvSpPr/>
                <p:nvPr/>
              </p:nvSpPr>
              <p:spPr>
                <a:xfrm>
                  <a:off x="5501834" y="1845382"/>
                  <a:ext cx="3047035" cy="226665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A655207-46E1-A0A4-8923-0800A1245347}"/>
                      </a:ext>
                    </a:extLst>
                  </p:cNvPr>
                  <p:cNvSpPr txBox="1"/>
                  <p:nvPr/>
                </p:nvSpPr>
                <p:spPr>
                  <a:xfrm>
                    <a:off x="5910374" y="1924658"/>
                    <a:ext cx="2235310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b="0" dirty="0"/>
                      <a:t>System’s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a14:m>
                    <a:r>
                      <a:rPr lang="en-US" sz="2400" dirty="0"/>
                      <a:t> is down </a:t>
                    </a:r>
                    <a14:m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oMath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A655207-46E1-A0A4-8923-0800A1245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10374" y="1924658"/>
                    <a:ext cx="2235310" cy="83099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20" t="-4545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40" name="Graphic 39" descr="Smiling face with no fill">
              <a:extLst>
                <a:ext uri="{FF2B5EF4-FFF2-40B4-BE49-F238E27FC236}">
                  <a16:creationId xmlns:a16="http://schemas.microsoft.com/office/drawing/2014/main" id="{DA13E25E-67A6-EB86-AAD5-4519C62E6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65343" y="2217266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940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390CC8-643A-80EC-4188-25D7383F9D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5" t="23146" r="8848" b="29796"/>
          <a:stretch/>
        </p:blipFill>
        <p:spPr>
          <a:xfrm>
            <a:off x="155389" y="2825269"/>
            <a:ext cx="9518937" cy="384980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EB7065FD-FFC9-6C0D-7B20-681A86E245C9}"/>
              </a:ext>
            </a:extLst>
          </p:cNvPr>
          <p:cNvSpPr/>
          <p:nvPr/>
        </p:nvSpPr>
        <p:spPr>
          <a:xfrm>
            <a:off x="7144512" y="1041693"/>
            <a:ext cx="4810441" cy="29152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already saw that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in the adiabatic Joule-Thomson experiment. Here’s a sketch of a a more general proof about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/>
                  <a:t> for chemical reactions that take place at a fixed pressure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830997"/>
              </a:xfrm>
              <a:prstGeom prst="rect">
                <a:avLst/>
              </a:prstGeom>
              <a:blipFill>
                <a:blip r:embed="rId3"/>
                <a:stretch>
                  <a:fillRect l="-832" t="-4478" r="-1249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24258E-C11D-D6B9-E863-CA0149F17D6B}"/>
                  </a:ext>
                </a:extLst>
              </p:cNvPr>
              <p:cNvSpPr txBox="1"/>
              <p:nvPr/>
            </p:nvSpPr>
            <p:spPr>
              <a:xfrm>
                <a:off x="175529" y="1041693"/>
                <a:ext cx="6150634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a process takes place at </a:t>
                </a:r>
                <a:r>
                  <a:rPr lang="en-US" sz="2400" i="1" dirty="0"/>
                  <a:t>constant-pressure, </a:t>
                </a:r>
                <a:r>
                  <a:rPr lang="en-US" sz="2400" dirty="0"/>
                  <a:t>and is </a:t>
                </a:r>
                <a:r>
                  <a:rPr lang="en-US" sz="2400" i="1" dirty="0"/>
                  <a:t>mechanically reversible </a:t>
                </a:r>
                <a:r>
                  <a:rPr lang="en-US" sz="2400" dirty="0"/>
                  <a:t>(so that the system’s pressure equals the pressure of the surroundings),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24258E-C11D-D6B9-E863-CA0149F17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9" y="1041693"/>
                <a:ext cx="6150634" cy="1569660"/>
              </a:xfrm>
              <a:prstGeom prst="rect">
                <a:avLst/>
              </a:prstGeom>
              <a:blipFill>
                <a:blip r:embed="rId4"/>
                <a:stretch>
                  <a:fillRect l="-1440" t="-2400" r="-2263" b="-8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14C04E8-F78E-E009-0305-A817E648EC97}"/>
              </a:ext>
            </a:extLst>
          </p:cNvPr>
          <p:cNvGrpSpPr/>
          <p:nvPr/>
        </p:nvGrpSpPr>
        <p:grpSpPr>
          <a:xfrm>
            <a:off x="7393699" y="1041693"/>
            <a:ext cx="4561254" cy="2832775"/>
            <a:chOff x="2210463" y="3663463"/>
            <a:chExt cx="4776999" cy="298230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C21FE26-82BA-4CAC-5E6C-5CFF7B5C3B95}"/>
                </a:ext>
              </a:extLst>
            </p:cNvPr>
            <p:cNvGrpSpPr/>
            <p:nvPr/>
          </p:nvGrpSpPr>
          <p:grpSpPr>
            <a:xfrm>
              <a:off x="2749240" y="3663463"/>
              <a:ext cx="4238222" cy="2982301"/>
              <a:chOff x="2749240" y="3663463"/>
              <a:chExt cx="4238222" cy="298230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FDEB9CE-7CB1-BB17-DA9D-8EDDE9BE6026}"/>
                  </a:ext>
                </a:extLst>
              </p:cNvPr>
              <p:cNvGrpSpPr/>
              <p:nvPr/>
            </p:nvGrpSpPr>
            <p:grpSpPr>
              <a:xfrm>
                <a:off x="2824308" y="3663463"/>
                <a:ext cx="4163154" cy="2982301"/>
                <a:chOff x="2824308" y="3663463"/>
                <a:chExt cx="4163154" cy="2982301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277D0057-4756-4F81-8DE7-F47E4FC93C4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824308" y="3663463"/>
                  <a:ext cx="4163154" cy="2982301"/>
                  <a:chOff x="7975518" y="3333878"/>
                  <a:chExt cx="3420141" cy="2450039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619B19B5-1166-CEDF-987D-BC46EE22D567}"/>
                      </a:ext>
                    </a:extLst>
                  </p:cNvPr>
                  <p:cNvGrpSpPr/>
                  <p:nvPr/>
                </p:nvGrpSpPr>
                <p:grpSpPr>
                  <a:xfrm>
                    <a:off x="7975518" y="3333878"/>
                    <a:ext cx="3420141" cy="2450039"/>
                    <a:chOff x="7975518" y="1299338"/>
                    <a:chExt cx="3420141" cy="2450039"/>
                  </a:xfrm>
                </p:grpSpPr>
                <p:pic>
                  <p:nvPicPr>
                    <p:cNvPr id="29" name="Picture 28">
                      <a:extLst>
                        <a:ext uri="{FF2B5EF4-FFF2-40B4-BE49-F238E27FC236}">
                          <a16:creationId xmlns:a16="http://schemas.microsoft.com/office/drawing/2014/main" id="{F84788F4-D803-3657-8510-C6488BD9C44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975518" y="1299338"/>
                      <a:ext cx="3420141" cy="2450039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30" name="Straight Arrow Connector 29">
                      <a:extLst>
                        <a:ext uri="{FF2B5EF4-FFF2-40B4-BE49-F238E27FC236}">
                          <a16:creationId xmlns:a16="http://schemas.microsoft.com/office/drawing/2014/main" id="{EEDEB5D1-5271-1500-CF8A-8AB214736F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480475" y="2404533"/>
                      <a:ext cx="0" cy="719433"/>
                    </a:xfrm>
                    <a:prstGeom prst="straightConnector1">
                      <a:avLst/>
                    </a:prstGeom>
                    <a:ln w="63500">
                      <a:solidFill>
                        <a:schemeClr val="accent3"/>
                      </a:solidFill>
                      <a:headEnd type="stealth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0FFBF20A-D8B9-1689-1F4F-6C0DCCA0ADFB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𝑝𝑟𝑜𝑑𝑢𝑐𝑡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0FFBF20A-D8B9-1689-1F4F-6C0DCCA0ADF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106547">
                        <a:off x="8933865" y="4218936"/>
                        <a:ext cx="2374357" cy="36933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041019A5-9587-A225-7F3A-F266CA0A7816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𝑟𝑒𝑎𝑐𝑡𝑎𝑛𝑡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041019A5-9587-A225-7F3A-F266CA0A781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9999697">
                        <a:off x="8553019" y="3717291"/>
                        <a:ext cx="1980247" cy="369332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C7E4E6F-EC43-C67C-A8A7-B2AA5DECD706}"/>
                    </a:ext>
                  </a:extLst>
                </p:cNvPr>
                <p:cNvSpPr txBox="1"/>
                <p:nvPr/>
              </p:nvSpPr>
              <p:spPr>
                <a:xfrm rot="1850984">
                  <a:off x="2970272" y="5891845"/>
                  <a:ext cx="1474845" cy="4860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Pressure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B30D302-D651-C381-3348-3B9523AB00A2}"/>
                    </a:ext>
                  </a:extLst>
                </p:cNvPr>
                <p:cNvSpPr txBox="1"/>
                <p:nvPr/>
              </p:nvSpPr>
              <p:spPr>
                <a:xfrm rot="21103745">
                  <a:off x="4493790" y="6102643"/>
                  <a:ext cx="2360574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Temperature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EF20684-E11D-B3EB-9078-EEC03A3F764F}"/>
                  </a:ext>
                </a:extLst>
              </p:cNvPr>
              <p:cNvSpPr txBox="1"/>
              <p:nvPr/>
            </p:nvSpPr>
            <p:spPr>
              <a:xfrm rot="16200000">
                <a:off x="1753619" y="4886390"/>
                <a:ext cx="236057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F8E366-BDCF-A5E3-7899-3BB46722A943}"/>
                    </a:ext>
                  </a:extLst>
                </p:cNvPr>
                <p:cNvSpPr txBox="1"/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EF8E366-BDCF-A5E3-7899-3BB46722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0463" y="4481062"/>
                  <a:ext cx="90811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3188" r="-18841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5" name="Graphic 44" descr="Smiling face with no fill">
            <a:extLst>
              <a:ext uri="{FF2B5EF4-FFF2-40B4-BE49-F238E27FC236}">
                <a16:creationId xmlns:a16="http://schemas.microsoft.com/office/drawing/2014/main" id="{DC572371-76B6-C46E-4724-82D7E62CEF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65343" y="221726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1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Scope of today’s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2D670-FD1C-9744-9FBA-400862CE6324}"/>
              </a:ext>
            </a:extLst>
          </p:cNvPr>
          <p:cNvSpPr txBox="1"/>
          <p:nvPr/>
        </p:nvSpPr>
        <p:spPr>
          <a:xfrm>
            <a:off x="755301" y="934497"/>
            <a:ext cx="106813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Bomb calorimetry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Why enthalpy was invented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Entropy of phase transformations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How enthalpies of reaction tell us about entropy changes of the surroundings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Law of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117758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2974848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Today, the “chemical reactions” we’ll talk about are phase transformations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44867B-5696-81C1-E68A-A6452B78059C}"/>
              </a:ext>
            </a:extLst>
          </p:cNvPr>
          <p:cNvGrpSpPr/>
          <p:nvPr/>
        </p:nvGrpSpPr>
        <p:grpSpPr>
          <a:xfrm>
            <a:off x="2550989" y="3242846"/>
            <a:ext cx="7322319" cy="3335577"/>
            <a:chOff x="1011749" y="2496086"/>
            <a:chExt cx="7322319" cy="3335577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5F78C226-6867-0AF4-D255-151B4D85CF00}"/>
                </a:ext>
              </a:extLst>
            </p:cNvPr>
            <p:cNvSpPr/>
            <p:nvPr/>
          </p:nvSpPr>
          <p:spPr>
            <a:xfrm>
              <a:off x="2524039" y="5048024"/>
              <a:ext cx="793020" cy="766203"/>
            </a:xfrm>
            <a:prstGeom prst="can">
              <a:avLst>
                <a:gd name="adj" fmla="val 25860"/>
              </a:avLst>
            </a:prstGeom>
            <a:pattFill prst="pct7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E69B9568-8150-C9F7-5061-5376EE9C7031}"/>
                </a:ext>
              </a:extLst>
            </p:cNvPr>
            <p:cNvSpPr/>
            <p:nvPr/>
          </p:nvSpPr>
          <p:spPr>
            <a:xfrm>
              <a:off x="2536216" y="4881133"/>
              <a:ext cx="793020" cy="362526"/>
            </a:xfrm>
            <a:prstGeom prst="can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EB9FDB3-9F22-52B5-CB99-E32CD93866D4}"/>
                </a:ext>
              </a:extLst>
            </p:cNvPr>
            <p:cNvGrpSpPr/>
            <p:nvPr/>
          </p:nvGrpSpPr>
          <p:grpSpPr>
            <a:xfrm>
              <a:off x="7357260" y="2496086"/>
              <a:ext cx="976808" cy="3295547"/>
              <a:chOff x="1139340" y="2496086"/>
              <a:chExt cx="976808" cy="329554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0A9CAC7-3D2A-9192-B3E9-1CD65445DAC9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26" name="Can 25">
                  <a:extLst>
                    <a:ext uri="{FF2B5EF4-FFF2-40B4-BE49-F238E27FC236}">
                      <a16:creationId xmlns:a16="http://schemas.microsoft.com/office/drawing/2014/main" id="{84143660-FA8B-ABB0-7036-E2543B00BB1F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a16="http://schemas.microsoft.com/office/drawing/2014/main" id="{271A6E24-62BD-21DC-1124-268FA099D0D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Down Arrow 27">
                  <a:extLst>
                    <a:ext uri="{FF2B5EF4-FFF2-40B4-BE49-F238E27FC236}">
                      <a16:creationId xmlns:a16="http://schemas.microsoft.com/office/drawing/2014/main" id="{379F8B9E-957E-211E-34AE-AE6613B019F6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D8A58D-736C-F69B-15EF-3A8EE7153ACA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8E22B-F2AD-CCBF-D601-DCF7432E11A8}"/>
                </a:ext>
              </a:extLst>
            </p:cNvPr>
            <p:cNvGrpSpPr/>
            <p:nvPr/>
          </p:nvGrpSpPr>
          <p:grpSpPr>
            <a:xfrm>
              <a:off x="5882496" y="2508097"/>
              <a:ext cx="1083342" cy="3316716"/>
              <a:chOff x="2257189" y="2496081"/>
              <a:chExt cx="1083342" cy="33167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0A6BDAC-AC3F-34AC-9BFC-008774748D50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1083342" cy="3295547"/>
                <a:chOff x="422480" y="1868557"/>
                <a:chExt cx="1083342" cy="329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0CF47CB-6D9D-8AD1-8C80-25DA0F3C96DD}"/>
                    </a:ext>
                  </a:extLst>
                </p:cNvPr>
                <p:cNvGrpSpPr/>
                <p:nvPr/>
              </p:nvGrpSpPr>
              <p:grpSpPr>
                <a:xfrm>
                  <a:off x="422480" y="1868557"/>
                  <a:ext cx="804450" cy="3295547"/>
                  <a:chOff x="2459100" y="1868557"/>
                  <a:chExt cx="804450" cy="3295547"/>
                </a:xfrm>
              </p:grpSpPr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02BFA886-947B-E94B-7578-154071C504F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9F4CFFF1-0E9C-FC73-1AEC-F7D843DF8185}"/>
                      </a:ext>
                    </a:extLst>
                  </p:cNvPr>
                  <p:cNvSpPr/>
                  <p:nvPr/>
                </p:nvSpPr>
                <p:spPr>
                  <a:xfrm>
                    <a:off x="245910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Down Arrow 22">
                    <a:extLst>
                      <a:ext uri="{FF2B5EF4-FFF2-40B4-BE49-F238E27FC236}">
                        <a16:creationId xmlns:a16="http://schemas.microsoft.com/office/drawing/2014/main" id="{6CBB39A0-153D-A7AC-72CC-6207A2DAE204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EFD752-E6E7-A163-0B13-51FBDAFF6962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25494-FC11-F815-A8C6-CF113C1AD288}"/>
                  </a:ext>
                </a:extLst>
              </p:cNvPr>
              <p:cNvSpPr txBox="1"/>
              <p:nvPr/>
            </p:nvSpPr>
            <p:spPr>
              <a:xfrm>
                <a:off x="2315283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CB64727-E562-7389-29CA-0418684D81D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29EBB2-8521-B595-E5B3-73CA83C852E7}"/>
                </a:ext>
              </a:extLst>
            </p:cNvPr>
            <p:cNvGrpSpPr/>
            <p:nvPr/>
          </p:nvGrpSpPr>
          <p:grpSpPr>
            <a:xfrm>
              <a:off x="4206907" y="2508097"/>
              <a:ext cx="974801" cy="3316716"/>
              <a:chOff x="3405510" y="2496081"/>
              <a:chExt cx="974801" cy="3316716"/>
            </a:xfrm>
          </p:grpSpPr>
          <p:sp>
            <p:nvSpPr>
              <p:cNvPr id="10" name="Can 9">
                <a:extLst>
                  <a:ext uri="{FF2B5EF4-FFF2-40B4-BE49-F238E27FC236}">
                    <a16:creationId xmlns:a16="http://schemas.microsoft.com/office/drawing/2014/main" id="{E3D7F867-E4CF-B4F3-A441-0A68AA8A3689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21C07B-BB56-C70C-A32A-8C12EBB887C8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7292D39-D1C1-B723-C255-DEFD8D9C2902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374EE74C-70AE-3407-B229-934FB4E7A6BE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Down Arrow 14">
                  <a:extLst>
                    <a:ext uri="{FF2B5EF4-FFF2-40B4-BE49-F238E27FC236}">
                      <a16:creationId xmlns:a16="http://schemas.microsoft.com/office/drawing/2014/main" id="{C165A1FE-BC1B-3F1B-5897-A55C0960C23D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7DC75-F52B-1365-0729-C5A2C61C3B9C}"/>
                  </a:ext>
                </a:extLst>
              </p:cNvPr>
              <p:cNvSpPr txBox="1"/>
              <p:nvPr/>
            </p:nvSpPr>
            <p:spPr>
              <a:xfrm>
                <a:off x="3452174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1D0CF-2F09-5B1A-E59B-6CD9216A8D9E}"/>
                </a:ext>
              </a:extLst>
            </p:cNvPr>
            <p:cNvGrpSpPr/>
            <p:nvPr/>
          </p:nvGrpSpPr>
          <p:grpSpPr>
            <a:xfrm>
              <a:off x="1011749" y="2520113"/>
              <a:ext cx="974801" cy="3311550"/>
              <a:chOff x="3405510" y="2496081"/>
              <a:chExt cx="974801" cy="3311550"/>
            </a:xfrm>
          </p:grpSpPr>
          <p:sp>
            <p:nvSpPr>
              <p:cNvPr id="34" name="Can 33">
                <a:extLst>
                  <a:ext uri="{FF2B5EF4-FFF2-40B4-BE49-F238E27FC236}">
                    <a16:creationId xmlns:a16="http://schemas.microsoft.com/office/drawing/2014/main" id="{37AEE127-1567-9250-FE59-4BA88B050032}"/>
                  </a:ext>
                </a:extLst>
              </p:cNvPr>
              <p:cNvSpPr/>
              <p:nvPr/>
            </p:nvSpPr>
            <p:spPr>
              <a:xfrm>
                <a:off x="3405821" y="5096959"/>
                <a:ext cx="793020" cy="705254"/>
              </a:xfrm>
              <a:prstGeom prst="can">
                <a:avLst>
                  <a:gd name="adj" fmla="val 25860"/>
                </a:avLst>
              </a:prstGeom>
              <a:pattFill prst="pct7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9105CC7-7964-5728-B742-81184F753860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37" name="Can 36">
                  <a:extLst>
                    <a:ext uri="{FF2B5EF4-FFF2-40B4-BE49-F238E27FC236}">
                      <a16:creationId xmlns:a16="http://schemas.microsoft.com/office/drawing/2014/main" id="{5C68DEB5-D891-0FB6-DA1C-B6C585EDAF1C}"/>
                    </a:ext>
                  </a:extLst>
                </p:cNvPr>
                <p:cNvSpPr/>
                <p:nvPr/>
              </p:nvSpPr>
              <p:spPr>
                <a:xfrm>
                  <a:off x="2470530" y="426919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4DCCA9BC-F5F7-AE99-5415-C783903B2493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C97F96E6-472C-7607-10AB-6246F71AA355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1129E3-EEC4-5259-7132-5973F1150347}"/>
                  </a:ext>
                </a:extLst>
              </p:cNvPr>
              <p:cNvSpPr txBox="1"/>
              <p:nvPr/>
            </p:nvSpPr>
            <p:spPr>
              <a:xfrm>
                <a:off x="3452174" y="5438299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solid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BE41F7-E08F-59F9-9A46-89CD178B517E}"/>
                </a:ext>
              </a:extLst>
            </p:cNvPr>
            <p:cNvGrpSpPr/>
            <p:nvPr/>
          </p:nvGrpSpPr>
          <p:grpSpPr>
            <a:xfrm>
              <a:off x="2526107" y="2509528"/>
              <a:ext cx="793020" cy="3295547"/>
              <a:chOff x="2470530" y="1868557"/>
              <a:chExt cx="793020" cy="3295547"/>
            </a:xfrm>
          </p:grpSpPr>
          <p:sp>
            <p:nvSpPr>
              <p:cNvPr id="45" name="Can 44">
                <a:extLst>
                  <a:ext uri="{FF2B5EF4-FFF2-40B4-BE49-F238E27FC236}">
                    <a16:creationId xmlns:a16="http://schemas.microsoft.com/office/drawing/2014/main" id="{0072978D-628A-4E74-4AB9-B0DCAA2FB1CB}"/>
                  </a:ext>
                </a:extLst>
              </p:cNvPr>
              <p:cNvSpPr/>
              <p:nvPr/>
            </p:nvSpPr>
            <p:spPr>
              <a:xfrm>
                <a:off x="2470530" y="1868557"/>
                <a:ext cx="793020" cy="3295547"/>
              </a:xfrm>
              <a:prstGeom prst="can">
                <a:avLst>
                  <a:gd name="adj" fmla="val 1549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own Arrow 45">
                <a:extLst>
                  <a:ext uri="{FF2B5EF4-FFF2-40B4-BE49-F238E27FC236}">
                    <a16:creationId xmlns:a16="http://schemas.microsoft.com/office/drawing/2014/main" id="{AB28C150-5EF3-AAF2-87E4-F1F07F724533}"/>
                  </a:ext>
                </a:extLst>
              </p:cNvPr>
              <p:cNvSpPr/>
              <p:nvPr/>
            </p:nvSpPr>
            <p:spPr>
              <a:xfrm>
                <a:off x="2771028" y="4027002"/>
                <a:ext cx="212242" cy="263249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3FAFABE1-F19F-3E67-4754-F8EAE8D1FA7B}"/>
                  </a:ext>
                </a:extLst>
              </p:cNvPr>
              <p:cNvSpPr/>
              <p:nvPr/>
            </p:nvSpPr>
            <p:spPr>
              <a:xfrm>
                <a:off x="2470530" y="3972124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52824-6991-21D5-72A1-1E77A11DBFA1}"/>
                </a:ext>
              </a:extLst>
            </p:cNvPr>
            <p:cNvSpPr txBox="1"/>
            <p:nvPr/>
          </p:nvSpPr>
          <p:spPr>
            <a:xfrm>
              <a:off x="2572771" y="5456912"/>
              <a:ext cx="92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solid</a:t>
              </a:r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2807E1B-E6B3-DE14-3E93-D87E57DF7EE8}"/>
                </a:ext>
              </a:extLst>
            </p:cNvPr>
            <p:cNvSpPr/>
            <p:nvPr/>
          </p:nvSpPr>
          <p:spPr>
            <a:xfrm>
              <a:off x="2823851" y="4490325"/>
              <a:ext cx="212242" cy="26324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Heating Curve for Water | Introduction to Chemistry">
            <a:extLst>
              <a:ext uri="{FF2B5EF4-FFF2-40B4-BE49-F238E27FC236}">
                <a16:creationId xmlns:a16="http://schemas.microsoft.com/office/drawing/2014/main" id="{6884031E-6B93-5430-A4BD-E0A7A270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72" y="106465"/>
            <a:ext cx="4011167" cy="297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00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2974848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Today, the “chemical reactions” we’ll talk about are phase transformations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44867B-5696-81C1-E68A-A6452B78059C}"/>
              </a:ext>
            </a:extLst>
          </p:cNvPr>
          <p:cNvGrpSpPr/>
          <p:nvPr/>
        </p:nvGrpSpPr>
        <p:grpSpPr>
          <a:xfrm>
            <a:off x="2550989" y="3242846"/>
            <a:ext cx="7322319" cy="3335577"/>
            <a:chOff x="1011749" y="2496086"/>
            <a:chExt cx="7322319" cy="3335577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5F78C226-6867-0AF4-D255-151B4D85CF00}"/>
                </a:ext>
              </a:extLst>
            </p:cNvPr>
            <p:cNvSpPr/>
            <p:nvPr/>
          </p:nvSpPr>
          <p:spPr>
            <a:xfrm>
              <a:off x="2524039" y="5048024"/>
              <a:ext cx="793020" cy="766203"/>
            </a:xfrm>
            <a:prstGeom prst="can">
              <a:avLst>
                <a:gd name="adj" fmla="val 25860"/>
              </a:avLst>
            </a:prstGeom>
            <a:pattFill prst="pct7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E69B9568-8150-C9F7-5061-5376EE9C7031}"/>
                </a:ext>
              </a:extLst>
            </p:cNvPr>
            <p:cNvSpPr/>
            <p:nvPr/>
          </p:nvSpPr>
          <p:spPr>
            <a:xfrm>
              <a:off x="2536216" y="4881133"/>
              <a:ext cx="793020" cy="362526"/>
            </a:xfrm>
            <a:prstGeom prst="can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EB9FDB3-9F22-52B5-CB99-E32CD93866D4}"/>
                </a:ext>
              </a:extLst>
            </p:cNvPr>
            <p:cNvGrpSpPr/>
            <p:nvPr/>
          </p:nvGrpSpPr>
          <p:grpSpPr>
            <a:xfrm>
              <a:off x="7357260" y="2496086"/>
              <a:ext cx="976808" cy="3295547"/>
              <a:chOff x="1139340" y="2496086"/>
              <a:chExt cx="976808" cy="329554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0A9CAC7-3D2A-9192-B3E9-1CD65445DAC9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26" name="Can 25">
                  <a:extLst>
                    <a:ext uri="{FF2B5EF4-FFF2-40B4-BE49-F238E27FC236}">
                      <a16:creationId xmlns:a16="http://schemas.microsoft.com/office/drawing/2014/main" id="{84143660-FA8B-ABB0-7036-E2543B00BB1F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a16="http://schemas.microsoft.com/office/drawing/2014/main" id="{271A6E24-62BD-21DC-1124-268FA099D0D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Down Arrow 27">
                  <a:extLst>
                    <a:ext uri="{FF2B5EF4-FFF2-40B4-BE49-F238E27FC236}">
                      <a16:creationId xmlns:a16="http://schemas.microsoft.com/office/drawing/2014/main" id="{379F8B9E-957E-211E-34AE-AE6613B019F6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D8A58D-736C-F69B-15EF-3A8EE7153ACA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8E22B-F2AD-CCBF-D601-DCF7432E11A8}"/>
                </a:ext>
              </a:extLst>
            </p:cNvPr>
            <p:cNvGrpSpPr/>
            <p:nvPr/>
          </p:nvGrpSpPr>
          <p:grpSpPr>
            <a:xfrm>
              <a:off x="5882496" y="2508097"/>
              <a:ext cx="1083342" cy="3316716"/>
              <a:chOff x="2257189" y="2496081"/>
              <a:chExt cx="1083342" cy="33167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0A6BDAC-AC3F-34AC-9BFC-008774748D50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1083342" cy="3295547"/>
                <a:chOff x="422480" y="1868557"/>
                <a:chExt cx="1083342" cy="329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0CF47CB-6D9D-8AD1-8C80-25DA0F3C96DD}"/>
                    </a:ext>
                  </a:extLst>
                </p:cNvPr>
                <p:cNvGrpSpPr/>
                <p:nvPr/>
              </p:nvGrpSpPr>
              <p:grpSpPr>
                <a:xfrm>
                  <a:off x="422480" y="1868557"/>
                  <a:ext cx="804450" cy="3295547"/>
                  <a:chOff x="2459100" y="1868557"/>
                  <a:chExt cx="804450" cy="3295547"/>
                </a:xfrm>
              </p:grpSpPr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02BFA886-947B-E94B-7578-154071C504F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9F4CFFF1-0E9C-FC73-1AEC-F7D843DF8185}"/>
                      </a:ext>
                    </a:extLst>
                  </p:cNvPr>
                  <p:cNvSpPr/>
                  <p:nvPr/>
                </p:nvSpPr>
                <p:spPr>
                  <a:xfrm>
                    <a:off x="245910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Down Arrow 22">
                    <a:extLst>
                      <a:ext uri="{FF2B5EF4-FFF2-40B4-BE49-F238E27FC236}">
                        <a16:creationId xmlns:a16="http://schemas.microsoft.com/office/drawing/2014/main" id="{6CBB39A0-153D-A7AC-72CC-6207A2DAE204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EFD752-E6E7-A163-0B13-51FBDAFF6962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25494-FC11-F815-A8C6-CF113C1AD288}"/>
                  </a:ext>
                </a:extLst>
              </p:cNvPr>
              <p:cNvSpPr txBox="1"/>
              <p:nvPr/>
            </p:nvSpPr>
            <p:spPr>
              <a:xfrm>
                <a:off x="2315283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CB64727-E562-7389-29CA-0418684D81D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29EBB2-8521-B595-E5B3-73CA83C852E7}"/>
                </a:ext>
              </a:extLst>
            </p:cNvPr>
            <p:cNvGrpSpPr/>
            <p:nvPr/>
          </p:nvGrpSpPr>
          <p:grpSpPr>
            <a:xfrm>
              <a:off x="4206907" y="2508097"/>
              <a:ext cx="974801" cy="3316716"/>
              <a:chOff x="3405510" y="2496081"/>
              <a:chExt cx="974801" cy="3316716"/>
            </a:xfrm>
          </p:grpSpPr>
          <p:sp>
            <p:nvSpPr>
              <p:cNvPr id="10" name="Can 9">
                <a:extLst>
                  <a:ext uri="{FF2B5EF4-FFF2-40B4-BE49-F238E27FC236}">
                    <a16:creationId xmlns:a16="http://schemas.microsoft.com/office/drawing/2014/main" id="{E3D7F867-E4CF-B4F3-A441-0A68AA8A3689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21C07B-BB56-C70C-A32A-8C12EBB887C8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7292D39-D1C1-B723-C255-DEFD8D9C2902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374EE74C-70AE-3407-B229-934FB4E7A6BE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Down Arrow 14">
                  <a:extLst>
                    <a:ext uri="{FF2B5EF4-FFF2-40B4-BE49-F238E27FC236}">
                      <a16:creationId xmlns:a16="http://schemas.microsoft.com/office/drawing/2014/main" id="{C165A1FE-BC1B-3F1B-5897-A55C0960C23D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7DC75-F52B-1365-0729-C5A2C61C3B9C}"/>
                  </a:ext>
                </a:extLst>
              </p:cNvPr>
              <p:cNvSpPr txBox="1"/>
              <p:nvPr/>
            </p:nvSpPr>
            <p:spPr>
              <a:xfrm>
                <a:off x="3452174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1D0CF-2F09-5B1A-E59B-6CD9216A8D9E}"/>
                </a:ext>
              </a:extLst>
            </p:cNvPr>
            <p:cNvGrpSpPr/>
            <p:nvPr/>
          </p:nvGrpSpPr>
          <p:grpSpPr>
            <a:xfrm>
              <a:off x="1011749" y="2520113"/>
              <a:ext cx="974801" cy="3311550"/>
              <a:chOff x="3405510" y="2496081"/>
              <a:chExt cx="974801" cy="3311550"/>
            </a:xfrm>
          </p:grpSpPr>
          <p:sp>
            <p:nvSpPr>
              <p:cNvPr id="34" name="Can 33">
                <a:extLst>
                  <a:ext uri="{FF2B5EF4-FFF2-40B4-BE49-F238E27FC236}">
                    <a16:creationId xmlns:a16="http://schemas.microsoft.com/office/drawing/2014/main" id="{37AEE127-1567-9250-FE59-4BA88B050032}"/>
                  </a:ext>
                </a:extLst>
              </p:cNvPr>
              <p:cNvSpPr/>
              <p:nvPr/>
            </p:nvSpPr>
            <p:spPr>
              <a:xfrm>
                <a:off x="3405821" y="5096959"/>
                <a:ext cx="793020" cy="705254"/>
              </a:xfrm>
              <a:prstGeom prst="can">
                <a:avLst>
                  <a:gd name="adj" fmla="val 25860"/>
                </a:avLst>
              </a:prstGeom>
              <a:pattFill prst="pct7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9105CC7-7964-5728-B742-81184F753860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37" name="Can 36">
                  <a:extLst>
                    <a:ext uri="{FF2B5EF4-FFF2-40B4-BE49-F238E27FC236}">
                      <a16:creationId xmlns:a16="http://schemas.microsoft.com/office/drawing/2014/main" id="{5C68DEB5-D891-0FB6-DA1C-B6C585EDAF1C}"/>
                    </a:ext>
                  </a:extLst>
                </p:cNvPr>
                <p:cNvSpPr/>
                <p:nvPr/>
              </p:nvSpPr>
              <p:spPr>
                <a:xfrm>
                  <a:off x="2470530" y="426919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4DCCA9BC-F5F7-AE99-5415-C783903B2493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C97F96E6-472C-7607-10AB-6246F71AA355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1129E3-EEC4-5259-7132-5973F1150347}"/>
                  </a:ext>
                </a:extLst>
              </p:cNvPr>
              <p:cNvSpPr txBox="1"/>
              <p:nvPr/>
            </p:nvSpPr>
            <p:spPr>
              <a:xfrm>
                <a:off x="3452174" y="5438299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solid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BE41F7-E08F-59F9-9A46-89CD178B517E}"/>
                </a:ext>
              </a:extLst>
            </p:cNvPr>
            <p:cNvGrpSpPr/>
            <p:nvPr/>
          </p:nvGrpSpPr>
          <p:grpSpPr>
            <a:xfrm>
              <a:off x="2526107" y="2509528"/>
              <a:ext cx="793020" cy="3295547"/>
              <a:chOff x="2470530" y="1868557"/>
              <a:chExt cx="793020" cy="3295547"/>
            </a:xfrm>
          </p:grpSpPr>
          <p:sp>
            <p:nvSpPr>
              <p:cNvPr id="45" name="Can 44">
                <a:extLst>
                  <a:ext uri="{FF2B5EF4-FFF2-40B4-BE49-F238E27FC236}">
                    <a16:creationId xmlns:a16="http://schemas.microsoft.com/office/drawing/2014/main" id="{0072978D-628A-4E74-4AB9-B0DCAA2FB1CB}"/>
                  </a:ext>
                </a:extLst>
              </p:cNvPr>
              <p:cNvSpPr/>
              <p:nvPr/>
            </p:nvSpPr>
            <p:spPr>
              <a:xfrm>
                <a:off x="2470530" y="1868557"/>
                <a:ext cx="793020" cy="3295547"/>
              </a:xfrm>
              <a:prstGeom prst="can">
                <a:avLst>
                  <a:gd name="adj" fmla="val 1549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own Arrow 45">
                <a:extLst>
                  <a:ext uri="{FF2B5EF4-FFF2-40B4-BE49-F238E27FC236}">
                    <a16:creationId xmlns:a16="http://schemas.microsoft.com/office/drawing/2014/main" id="{AB28C150-5EF3-AAF2-87E4-F1F07F724533}"/>
                  </a:ext>
                </a:extLst>
              </p:cNvPr>
              <p:cNvSpPr/>
              <p:nvPr/>
            </p:nvSpPr>
            <p:spPr>
              <a:xfrm>
                <a:off x="2771028" y="4027002"/>
                <a:ext cx="212242" cy="263249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3FAFABE1-F19F-3E67-4754-F8EAE8D1FA7B}"/>
                  </a:ext>
                </a:extLst>
              </p:cNvPr>
              <p:cNvSpPr/>
              <p:nvPr/>
            </p:nvSpPr>
            <p:spPr>
              <a:xfrm>
                <a:off x="2470530" y="3972124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52824-6991-21D5-72A1-1E77A11DBFA1}"/>
                </a:ext>
              </a:extLst>
            </p:cNvPr>
            <p:cNvSpPr txBox="1"/>
            <p:nvPr/>
          </p:nvSpPr>
          <p:spPr>
            <a:xfrm>
              <a:off x="2572771" y="5456912"/>
              <a:ext cx="92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solid</a:t>
              </a:r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2807E1B-E6B3-DE14-3E93-D87E57DF7EE8}"/>
                </a:ext>
              </a:extLst>
            </p:cNvPr>
            <p:cNvSpPr/>
            <p:nvPr/>
          </p:nvSpPr>
          <p:spPr>
            <a:xfrm>
              <a:off x="2823851" y="4490325"/>
              <a:ext cx="212242" cy="26324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Heating Curve for Water | Introduction to Chemistry">
            <a:extLst>
              <a:ext uri="{FF2B5EF4-FFF2-40B4-BE49-F238E27FC236}">
                <a16:creationId xmlns:a16="http://schemas.microsoft.com/office/drawing/2014/main" id="{6884031E-6B93-5430-A4BD-E0A7A270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72" y="106465"/>
            <a:ext cx="4011167" cy="297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01BE2A-775C-D834-C08B-5AEC1CD0270B}"/>
              </a:ext>
            </a:extLst>
          </p:cNvPr>
          <p:cNvCxnSpPr>
            <a:cxnSpLocks/>
          </p:cNvCxnSpPr>
          <p:nvPr/>
        </p:nvCxnSpPr>
        <p:spPr>
          <a:xfrm flipV="1">
            <a:off x="3344009" y="2511552"/>
            <a:ext cx="719270" cy="3594527"/>
          </a:xfrm>
          <a:prstGeom prst="straightConnector1">
            <a:avLst/>
          </a:prstGeom>
          <a:ln w="50800">
            <a:solidFill>
              <a:schemeClr val="accent1"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426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2974848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Today, the “chemical reactions” we’ll talk about are phase transformations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44867B-5696-81C1-E68A-A6452B78059C}"/>
              </a:ext>
            </a:extLst>
          </p:cNvPr>
          <p:cNvGrpSpPr/>
          <p:nvPr/>
        </p:nvGrpSpPr>
        <p:grpSpPr>
          <a:xfrm>
            <a:off x="2550989" y="3242846"/>
            <a:ext cx="7322319" cy="3335577"/>
            <a:chOff x="1011749" y="2496086"/>
            <a:chExt cx="7322319" cy="3335577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5F78C226-6867-0AF4-D255-151B4D85CF00}"/>
                </a:ext>
              </a:extLst>
            </p:cNvPr>
            <p:cNvSpPr/>
            <p:nvPr/>
          </p:nvSpPr>
          <p:spPr>
            <a:xfrm>
              <a:off x="2524039" y="5048024"/>
              <a:ext cx="793020" cy="766203"/>
            </a:xfrm>
            <a:prstGeom prst="can">
              <a:avLst>
                <a:gd name="adj" fmla="val 25860"/>
              </a:avLst>
            </a:prstGeom>
            <a:pattFill prst="pct7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E69B9568-8150-C9F7-5061-5376EE9C7031}"/>
                </a:ext>
              </a:extLst>
            </p:cNvPr>
            <p:cNvSpPr/>
            <p:nvPr/>
          </p:nvSpPr>
          <p:spPr>
            <a:xfrm>
              <a:off x="2536216" y="4881133"/>
              <a:ext cx="793020" cy="362526"/>
            </a:xfrm>
            <a:prstGeom prst="can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EB9FDB3-9F22-52B5-CB99-E32CD93866D4}"/>
                </a:ext>
              </a:extLst>
            </p:cNvPr>
            <p:cNvGrpSpPr/>
            <p:nvPr/>
          </p:nvGrpSpPr>
          <p:grpSpPr>
            <a:xfrm>
              <a:off x="7357260" y="2496086"/>
              <a:ext cx="976808" cy="3295547"/>
              <a:chOff x="1139340" y="2496086"/>
              <a:chExt cx="976808" cy="329554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0A9CAC7-3D2A-9192-B3E9-1CD65445DAC9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26" name="Can 25">
                  <a:extLst>
                    <a:ext uri="{FF2B5EF4-FFF2-40B4-BE49-F238E27FC236}">
                      <a16:creationId xmlns:a16="http://schemas.microsoft.com/office/drawing/2014/main" id="{84143660-FA8B-ABB0-7036-E2543B00BB1F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a16="http://schemas.microsoft.com/office/drawing/2014/main" id="{271A6E24-62BD-21DC-1124-268FA099D0D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Down Arrow 27">
                  <a:extLst>
                    <a:ext uri="{FF2B5EF4-FFF2-40B4-BE49-F238E27FC236}">
                      <a16:creationId xmlns:a16="http://schemas.microsoft.com/office/drawing/2014/main" id="{379F8B9E-957E-211E-34AE-AE6613B019F6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D8A58D-736C-F69B-15EF-3A8EE7153ACA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8E22B-F2AD-CCBF-D601-DCF7432E11A8}"/>
                </a:ext>
              </a:extLst>
            </p:cNvPr>
            <p:cNvGrpSpPr/>
            <p:nvPr/>
          </p:nvGrpSpPr>
          <p:grpSpPr>
            <a:xfrm>
              <a:off x="5882496" y="2508097"/>
              <a:ext cx="1083342" cy="3316716"/>
              <a:chOff x="2257189" y="2496081"/>
              <a:chExt cx="1083342" cy="33167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0A6BDAC-AC3F-34AC-9BFC-008774748D50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1083342" cy="3295547"/>
                <a:chOff x="422480" y="1868557"/>
                <a:chExt cx="1083342" cy="329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0CF47CB-6D9D-8AD1-8C80-25DA0F3C96DD}"/>
                    </a:ext>
                  </a:extLst>
                </p:cNvPr>
                <p:cNvGrpSpPr/>
                <p:nvPr/>
              </p:nvGrpSpPr>
              <p:grpSpPr>
                <a:xfrm>
                  <a:off x="422480" y="1868557"/>
                  <a:ext cx="804450" cy="3295547"/>
                  <a:chOff x="2459100" y="1868557"/>
                  <a:chExt cx="804450" cy="3295547"/>
                </a:xfrm>
              </p:grpSpPr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02BFA886-947B-E94B-7578-154071C504F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9F4CFFF1-0E9C-FC73-1AEC-F7D843DF8185}"/>
                      </a:ext>
                    </a:extLst>
                  </p:cNvPr>
                  <p:cNvSpPr/>
                  <p:nvPr/>
                </p:nvSpPr>
                <p:spPr>
                  <a:xfrm>
                    <a:off x="245910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Down Arrow 22">
                    <a:extLst>
                      <a:ext uri="{FF2B5EF4-FFF2-40B4-BE49-F238E27FC236}">
                        <a16:creationId xmlns:a16="http://schemas.microsoft.com/office/drawing/2014/main" id="{6CBB39A0-153D-A7AC-72CC-6207A2DAE204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EFD752-E6E7-A163-0B13-51FBDAFF6962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25494-FC11-F815-A8C6-CF113C1AD288}"/>
                  </a:ext>
                </a:extLst>
              </p:cNvPr>
              <p:cNvSpPr txBox="1"/>
              <p:nvPr/>
            </p:nvSpPr>
            <p:spPr>
              <a:xfrm>
                <a:off x="2315283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CB64727-E562-7389-29CA-0418684D81D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29EBB2-8521-B595-E5B3-73CA83C852E7}"/>
                </a:ext>
              </a:extLst>
            </p:cNvPr>
            <p:cNvGrpSpPr/>
            <p:nvPr/>
          </p:nvGrpSpPr>
          <p:grpSpPr>
            <a:xfrm>
              <a:off x="4206907" y="2508097"/>
              <a:ext cx="974801" cy="3316716"/>
              <a:chOff x="3405510" y="2496081"/>
              <a:chExt cx="974801" cy="3316716"/>
            </a:xfrm>
          </p:grpSpPr>
          <p:sp>
            <p:nvSpPr>
              <p:cNvPr id="10" name="Can 9">
                <a:extLst>
                  <a:ext uri="{FF2B5EF4-FFF2-40B4-BE49-F238E27FC236}">
                    <a16:creationId xmlns:a16="http://schemas.microsoft.com/office/drawing/2014/main" id="{E3D7F867-E4CF-B4F3-A441-0A68AA8A3689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21C07B-BB56-C70C-A32A-8C12EBB887C8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7292D39-D1C1-B723-C255-DEFD8D9C2902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374EE74C-70AE-3407-B229-934FB4E7A6BE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Down Arrow 14">
                  <a:extLst>
                    <a:ext uri="{FF2B5EF4-FFF2-40B4-BE49-F238E27FC236}">
                      <a16:creationId xmlns:a16="http://schemas.microsoft.com/office/drawing/2014/main" id="{C165A1FE-BC1B-3F1B-5897-A55C0960C23D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7DC75-F52B-1365-0729-C5A2C61C3B9C}"/>
                  </a:ext>
                </a:extLst>
              </p:cNvPr>
              <p:cNvSpPr txBox="1"/>
              <p:nvPr/>
            </p:nvSpPr>
            <p:spPr>
              <a:xfrm>
                <a:off x="3452174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1D0CF-2F09-5B1A-E59B-6CD9216A8D9E}"/>
                </a:ext>
              </a:extLst>
            </p:cNvPr>
            <p:cNvGrpSpPr/>
            <p:nvPr/>
          </p:nvGrpSpPr>
          <p:grpSpPr>
            <a:xfrm>
              <a:off x="1011749" y="2520113"/>
              <a:ext cx="974801" cy="3311550"/>
              <a:chOff x="3405510" y="2496081"/>
              <a:chExt cx="974801" cy="3311550"/>
            </a:xfrm>
          </p:grpSpPr>
          <p:sp>
            <p:nvSpPr>
              <p:cNvPr id="34" name="Can 33">
                <a:extLst>
                  <a:ext uri="{FF2B5EF4-FFF2-40B4-BE49-F238E27FC236}">
                    <a16:creationId xmlns:a16="http://schemas.microsoft.com/office/drawing/2014/main" id="{37AEE127-1567-9250-FE59-4BA88B050032}"/>
                  </a:ext>
                </a:extLst>
              </p:cNvPr>
              <p:cNvSpPr/>
              <p:nvPr/>
            </p:nvSpPr>
            <p:spPr>
              <a:xfrm>
                <a:off x="3405821" y="5096959"/>
                <a:ext cx="793020" cy="705254"/>
              </a:xfrm>
              <a:prstGeom prst="can">
                <a:avLst>
                  <a:gd name="adj" fmla="val 25860"/>
                </a:avLst>
              </a:prstGeom>
              <a:pattFill prst="pct7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9105CC7-7964-5728-B742-81184F753860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37" name="Can 36">
                  <a:extLst>
                    <a:ext uri="{FF2B5EF4-FFF2-40B4-BE49-F238E27FC236}">
                      <a16:creationId xmlns:a16="http://schemas.microsoft.com/office/drawing/2014/main" id="{5C68DEB5-D891-0FB6-DA1C-B6C585EDAF1C}"/>
                    </a:ext>
                  </a:extLst>
                </p:cNvPr>
                <p:cNvSpPr/>
                <p:nvPr/>
              </p:nvSpPr>
              <p:spPr>
                <a:xfrm>
                  <a:off x="2470530" y="426919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4DCCA9BC-F5F7-AE99-5415-C783903B2493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C97F96E6-472C-7607-10AB-6246F71AA355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1129E3-EEC4-5259-7132-5973F1150347}"/>
                  </a:ext>
                </a:extLst>
              </p:cNvPr>
              <p:cNvSpPr txBox="1"/>
              <p:nvPr/>
            </p:nvSpPr>
            <p:spPr>
              <a:xfrm>
                <a:off x="3452174" y="5438299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solid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BE41F7-E08F-59F9-9A46-89CD178B517E}"/>
                </a:ext>
              </a:extLst>
            </p:cNvPr>
            <p:cNvGrpSpPr/>
            <p:nvPr/>
          </p:nvGrpSpPr>
          <p:grpSpPr>
            <a:xfrm>
              <a:off x="2526107" y="2509528"/>
              <a:ext cx="793020" cy="3295547"/>
              <a:chOff x="2470530" y="1868557"/>
              <a:chExt cx="793020" cy="3295547"/>
            </a:xfrm>
          </p:grpSpPr>
          <p:sp>
            <p:nvSpPr>
              <p:cNvPr id="45" name="Can 44">
                <a:extLst>
                  <a:ext uri="{FF2B5EF4-FFF2-40B4-BE49-F238E27FC236}">
                    <a16:creationId xmlns:a16="http://schemas.microsoft.com/office/drawing/2014/main" id="{0072978D-628A-4E74-4AB9-B0DCAA2FB1CB}"/>
                  </a:ext>
                </a:extLst>
              </p:cNvPr>
              <p:cNvSpPr/>
              <p:nvPr/>
            </p:nvSpPr>
            <p:spPr>
              <a:xfrm>
                <a:off x="2470530" y="1868557"/>
                <a:ext cx="793020" cy="3295547"/>
              </a:xfrm>
              <a:prstGeom prst="can">
                <a:avLst>
                  <a:gd name="adj" fmla="val 1549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own Arrow 45">
                <a:extLst>
                  <a:ext uri="{FF2B5EF4-FFF2-40B4-BE49-F238E27FC236}">
                    <a16:creationId xmlns:a16="http://schemas.microsoft.com/office/drawing/2014/main" id="{AB28C150-5EF3-AAF2-87E4-F1F07F724533}"/>
                  </a:ext>
                </a:extLst>
              </p:cNvPr>
              <p:cNvSpPr/>
              <p:nvPr/>
            </p:nvSpPr>
            <p:spPr>
              <a:xfrm>
                <a:off x="2771028" y="4027002"/>
                <a:ext cx="212242" cy="263249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3FAFABE1-F19F-3E67-4754-F8EAE8D1FA7B}"/>
                  </a:ext>
                </a:extLst>
              </p:cNvPr>
              <p:cNvSpPr/>
              <p:nvPr/>
            </p:nvSpPr>
            <p:spPr>
              <a:xfrm>
                <a:off x="2470530" y="3972124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52824-6991-21D5-72A1-1E77A11DBFA1}"/>
                </a:ext>
              </a:extLst>
            </p:cNvPr>
            <p:cNvSpPr txBox="1"/>
            <p:nvPr/>
          </p:nvSpPr>
          <p:spPr>
            <a:xfrm>
              <a:off x="2572771" y="5456912"/>
              <a:ext cx="92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solid</a:t>
              </a:r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2807E1B-E6B3-DE14-3E93-D87E57DF7EE8}"/>
                </a:ext>
              </a:extLst>
            </p:cNvPr>
            <p:cNvSpPr/>
            <p:nvPr/>
          </p:nvSpPr>
          <p:spPr>
            <a:xfrm>
              <a:off x="2823851" y="4490325"/>
              <a:ext cx="212242" cy="26324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Heating Curve for Water | Introduction to Chemistry">
            <a:extLst>
              <a:ext uri="{FF2B5EF4-FFF2-40B4-BE49-F238E27FC236}">
                <a16:creationId xmlns:a16="http://schemas.microsoft.com/office/drawing/2014/main" id="{6884031E-6B93-5430-A4BD-E0A7A270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72" y="106465"/>
            <a:ext cx="4011167" cy="297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01BE2A-775C-D834-C08B-5AEC1CD0270B}"/>
              </a:ext>
            </a:extLst>
          </p:cNvPr>
          <p:cNvCxnSpPr>
            <a:cxnSpLocks/>
          </p:cNvCxnSpPr>
          <p:nvPr/>
        </p:nvCxnSpPr>
        <p:spPr>
          <a:xfrm flipV="1">
            <a:off x="4242816" y="2316480"/>
            <a:ext cx="0" cy="3551271"/>
          </a:xfrm>
          <a:prstGeom prst="straightConnector1">
            <a:avLst/>
          </a:prstGeom>
          <a:ln w="50800">
            <a:solidFill>
              <a:schemeClr val="accent1"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404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2974848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Today, the “chemical reactions” we’ll talk about are phase transformations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44867B-5696-81C1-E68A-A6452B78059C}"/>
              </a:ext>
            </a:extLst>
          </p:cNvPr>
          <p:cNvGrpSpPr/>
          <p:nvPr/>
        </p:nvGrpSpPr>
        <p:grpSpPr>
          <a:xfrm>
            <a:off x="2550989" y="3242846"/>
            <a:ext cx="7322319" cy="3335577"/>
            <a:chOff x="1011749" y="2496086"/>
            <a:chExt cx="7322319" cy="3335577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5F78C226-6867-0AF4-D255-151B4D85CF00}"/>
                </a:ext>
              </a:extLst>
            </p:cNvPr>
            <p:cNvSpPr/>
            <p:nvPr/>
          </p:nvSpPr>
          <p:spPr>
            <a:xfrm>
              <a:off x="2524039" y="5048024"/>
              <a:ext cx="793020" cy="766203"/>
            </a:xfrm>
            <a:prstGeom prst="can">
              <a:avLst>
                <a:gd name="adj" fmla="val 25860"/>
              </a:avLst>
            </a:prstGeom>
            <a:pattFill prst="pct7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E69B9568-8150-C9F7-5061-5376EE9C7031}"/>
                </a:ext>
              </a:extLst>
            </p:cNvPr>
            <p:cNvSpPr/>
            <p:nvPr/>
          </p:nvSpPr>
          <p:spPr>
            <a:xfrm>
              <a:off x="2536216" y="4881133"/>
              <a:ext cx="793020" cy="362526"/>
            </a:xfrm>
            <a:prstGeom prst="can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EB9FDB3-9F22-52B5-CB99-E32CD93866D4}"/>
                </a:ext>
              </a:extLst>
            </p:cNvPr>
            <p:cNvGrpSpPr/>
            <p:nvPr/>
          </p:nvGrpSpPr>
          <p:grpSpPr>
            <a:xfrm>
              <a:off x="7357260" y="2496086"/>
              <a:ext cx="976808" cy="3295547"/>
              <a:chOff x="1139340" y="2496086"/>
              <a:chExt cx="976808" cy="329554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0A9CAC7-3D2A-9192-B3E9-1CD65445DAC9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26" name="Can 25">
                  <a:extLst>
                    <a:ext uri="{FF2B5EF4-FFF2-40B4-BE49-F238E27FC236}">
                      <a16:creationId xmlns:a16="http://schemas.microsoft.com/office/drawing/2014/main" id="{84143660-FA8B-ABB0-7036-E2543B00BB1F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a16="http://schemas.microsoft.com/office/drawing/2014/main" id="{271A6E24-62BD-21DC-1124-268FA099D0D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Down Arrow 27">
                  <a:extLst>
                    <a:ext uri="{FF2B5EF4-FFF2-40B4-BE49-F238E27FC236}">
                      <a16:creationId xmlns:a16="http://schemas.microsoft.com/office/drawing/2014/main" id="{379F8B9E-957E-211E-34AE-AE6613B019F6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D8A58D-736C-F69B-15EF-3A8EE7153ACA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8E22B-F2AD-CCBF-D601-DCF7432E11A8}"/>
                </a:ext>
              </a:extLst>
            </p:cNvPr>
            <p:cNvGrpSpPr/>
            <p:nvPr/>
          </p:nvGrpSpPr>
          <p:grpSpPr>
            <a:xfrm>
              <a:off x="5882496" y="2508097"/>
              <a:ext cx="1083342" cy="3316716"/>
              <a:chOff x="2257189" y="2496081"/>
              <a:chExt cx="1083342" cy="33167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0A6BDAC-AC3F-34AC-9BFC-008774748D50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1083342" cy="3295547"/>
                <a:chOff x="422480" y="1868557"/>
                <a:chExt cx="1083342" cy="329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0CF47CB-6D9D-8AD1-8C80-25DA0F3C96DD}"/>
                    </a:ext>
                  </a:extLst>
                </p:cNvPr>
                <p:cNvGrpSpPr/>
                <p:nvPr/>
              </p:nvGrpSpPr>
              <p:grpSpPr>
                <a:xfrm>
                  <a:off x="422480" y="1868557"/>
                  <a:ext cx="804450" cy="3295547"/>
                  <a:chOff x="2459100" y="1868557"/>
                  <a:chExt cx="804450" cy="3295547"/>
                </a:xfrm>
              </p:grpSpPr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02BFA886-947B-E94B-7578-154071C504F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9F4CFFF1-0E9C-FC73-1AEC-F7D843DF8185}"/>
                      </a:ext>
                    </a:extLst>
                  </p:cNvPr>
                  <p:cNvSpPr/>
                  <p:nvPr/>
                </p:nvSpPr>
                <p:spPr>
                  <a:xfrm>
                    <a:off x="245910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Down Arrow 22">
                    <a:extLst>
                      <a:ext uri="{FF2B5EF4-FFF2-40B4-BE49-F238E27FC236}">
                        <a16:creationId xmlns:a16="http://schemas.microsoft.com/office/drawing/2014/main" id="{6CBB39A0-153D-A7AC-72CC-6207A2DAE204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EFD752-E6E7-A163-0B13-51FBDAFF6962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25494-FC11-F815-A8C6-CF113C1AD288}"/>
                  </a:ext>
                </a:extLst>
              </p:cNvPr>
              <p:cNvSpPr txBox="1"/>
              <p:nvPr/>
            </p:nvSpPr>
            <p:spPr>
              <a:xfrm>
                <a:off x="2315283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CB64727-E562-7389-29CA-0418684D81D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29EBB2-8521-B595-E5B3-73CA83C852E7}"/>
                </a:ext>
              </a:extLst>
            </p:cNvPr>
            <p:cNvGrpSpPr/>
            <p:nvPr/>
          </p:nvGrpSpPr>
          <p:grpSpPr>
            <a:xfrm>
              <a:off x="4206907" y="2508097"/>
              <a:ext cx="974801" cy="3316716"/>
              <a:chOff x="3405510" y="2496081"/>
              <a:chExt cx="974801" cy="3316716"/>
            </a:xfrm>
          </p:grpSpPr>
          <p:sp>
            <p:nvSpPr>
              <p:cNvPr id="10" name="Can 9">
                <a:extLst>
                  <a:ext uri="{FF2B5EF4-FFF2-40B4-BE49-F238E27FC236}">
                    <a16:creationId xmlns:a16="http://schemas.microsoft.com/office/drawing/2014/main" id="{E3D7F867-E4CF-B4F3-A441-0A68AA8A3689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21C07B-BB56-C70C-A32A-8C12EBB887C8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7292D39-D1C1-B723-C255-DEFD8D9C2902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374EE74C-70AE-3407-B229-934FB4E7A6BE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Down Arrow 14">
                  <a:extLst>
                    <a:ext uri="{FF2B5EF4-FFF2-40B4-BE49-F238E27FC236}">
                      <a16:creationId xmlns:a16="http://schemas.microsoft.com/office/drawing/2014/main" id="{C165A1FE-BC1B-3F1B-5897-A55C0960C23D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7DC75-F52B-1365-0729-C5A2C61C3B9C}"/>
                  </a:ext>
                </a:extLst>
              </p:cNvPr>
              <p:cNvSpPr txBox="1"/>
              <p:nvPr/>
            </p:nvSpPr>
            <p:spPr>
              <a:xfrm>
                <a:off x="3452174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1D0CF-2F09-5B1A-E59B-6CD9216A8D9E}"/>
                </a:ext>
              </a:extLst>
            </p:cNvPr>
            <p:cNvGrpSpPr/>
            <p:nvPr/>
          </p:nvGrpSpPr>
          <p:grpSpPr>
            <a:xfrm>
              <a:off x="1011749" y="2520113"/>
              <a:ext cx="974801" cy="3311550"/>
              <a:chOff x="3405510" y="2496081"/>
              <a:chExt cx="974801" cy="3311550"/>
            </a:xfrm>
          </p:grpSpPr>
          <p:sp>
            <p:nvSpPr>
              <p:cNvPr id="34" name="Can 33">
                <a:extLst>
                  <a:ext uri="{FF2B5EF4-FFF2-40B4-BE49-F238E27FC236}">
                    <a16:creationId xmlns:a16="http://schemas.microsoft.com/office/drawing/2014/main" id="{37AEE127-1567-9250-FE59-4BA88B050032}"/>
                  </a:ext>
                </a:extLst>
              </p:cNvPr>
              <p:cNvSpPr/>
              <p:nvPr/>
            </p:nvSpPr>
            <p:spPr>
              <a:xfrm>
                <a:off x="3405821" y="5096959"/>
                <a:ext cx="793020" cy="705254"/>
              </a:xfrm>
              <a:prstGeom prst="can">
                <a:avLst>
                  <a:gd name="adj" fmla="val 25860"/>
                </a:avLst>
              </a:prstGeom>
              <a:pattFill prst="pct7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9105CC7-7964-5728-B742-81184F753860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37" name="Can 36">
                  <a:extLst>
                    <a:ext uri="{FF2B5EF4-FFF2-40B4-BE49-F238E27FC236}">
                      <a16:creationId xmlns:a16="http://schemas.microsoft.com/office/drawing/2014/main" id="{5C68DEB5-D891-0FB6-DA1C-B6C585EDAF1C}"/>
                    </a:ext>
                  </a:extLst>
                </p:cNvPr>
                <p:cNvSpPr/>
                <p:nvPr/>
              </p:nvSpPr>
              <p:spPr>
                <a:xfrm>
                  <a:off x="2470530" y="426919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4DCCA9BC-F5F7-AE99-5415-C783903B2493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C97F96E6-472C-7607-10AB-6246F71AA355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1129E3-EEC4-5259-7132-5973F1150347}"/>
                  </a:ext>
                </a:extLst>
              </p:cNvPr>
              <p:cNvSpPr txBox="1"/>
              <p:nvPr/>
            </p:nvSpPr>
            <p:spPr>
              <a:xfrm>
                <a:off x="3452174" y="5438299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solid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BE41F7-E08F-59F9-9A46-89CD178B517E}"/>
                </a:ext>
              </a:extLst>
            </p:cNvPr>
            <p:cNvGrpSpPr/>
            <p:nvPr/>
          </p:nvGrpSpPr>
          <p:grpSpPr>
            <a:xfrm>
              <a:off x="2526107" y="2509528"/>
              <a:ext cx="793020" cy="3295547"/>
              <a:chOff x="2470530" y="1868557"/>
              <a:chExt cx="793020" cy="3295547"/>
            </a:xfrm>
          </p:grpSpPr>
          <p:sp>
            <p:nvSpPr>
              <p:cNvPr id="45" name="Can 44">
                <a:extLst>
                  <a:ext uri="{FF2B5EF4-FFF2-40B4-BE49-F238E27FC236}">
                    <a16:creationId xmlns:a16="http://schemas.microsoft.com/office/drawing/2014/main" id="{0072978D-628A-4E74-4AB9-B0DCAA2FB1CB}"/>
                  </a:ext>
                </a:extLst>
              </p:cNvPr>
              <p:cNvSpPr/>
              <p:nvPr/>
            </p:nvSpPr>
            <p:spPr>
              <a:xfrm>
                <a:off x="2470530" y="1868557"/>
                <a:ext cx="793020" cy="3295547"/>
              </a:xfrm>
              <a:prstGeom prst="can">
                <a:avLst>
                  <a:gd name="adj" fmla="val 1549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own Arrow 45">
                <a:extLst>
                  <a:ext uri="{FF2B5EF4-FFF2-40B4-BE49-F238E27FC236}">
                    <a16:creationId xmlns:a16="http://schemas.microsoft.com/office/drawing/2014/main" id="{AB28C150-5EF3-AAF2-87E4-F1F07F724533}"/>
                  </a:ext>
                </a:extLst>
              </p:cNvPr>
              <p:cNvSpPr/>
              <p:nvPr/>
            </p:nvSpPr>
            <p:spPr>
              <a:xfrm>
                <a:off x="2771028" y="4027002"/>
                <a:ext cx="212242" cy="263249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3FAFABE1-F19F-3E67-4754-F8EAE8D1FA7B}"/>
                  </a:ext>
                </a:extLst>
              </p:cNvPr>
              <p:cNvSpPr/>
              <p:nvPr/>
            </p:nvSpPr>
            <p:spPr>
              <a:xfrm>
                <a:off x="2470530" y="3972124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52824-6991-21D5-72A1-1E77A11DBFA1}"/>
                </a:ext>
              </a:extLst>
            </p:cNvPr>
            <p:cNvSpPr txBox="1"/>
            <p:nvPr/>
          </p:nvSpPr>
          <p:spPr>
            <a:xfrm>
              <a:off x="2572771" y="5456912"/>
              <a:ext cx="92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solid</a:t>
              </a:r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2807E1B-E6B3-DE14-3E93-D87E57DF7EE8}"/>
                </a:ext>
              </a:extLst>
            </p:cNvPr>
            <p:cNvSpPr/>
            <p:nvPr/>
          </p:nvSpPr>
          <p:spPr>
            <a:xfrm>
              <a:off x="2823851" y="4490325"/>
              <a:ext cx="212242" cy="26324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Heating Curve for Water | Introduction to Chemistry">
            <a:extLst>
              <a:ext uri="{FF2B5EF4-FFF2-40B4-BE49-F238E27FC236}">
                <a16:creationId xmlns:a16="http://schemas.microsoft.com/office/drawing/2014/main" id="{6884031E-6B93-5430-A4BD-E0A7A270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72" y="106465"/>
            <a:ext cx="4011167" cy="297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01BE2A-775C-D834-C08B-5AEC1CD0270B}"/>
              </a:ext>
            </a:extLst>
          </p:cNvPr>
          <p:cNvCxnSpPr>
            <a:cxnSpLocks/>
          </p:cNvCxnSpPr>
          <p:nvPr/>
        </p:nvCxnSpPr>
        <p:spPr>
          <a:xfrm flipH="1" flipV="1">
            <a:off x="4595217" y="1716163"/>
            <a:ext cx="1317903" cy="4274256"/>
          </a:xfrm>
          <a:prstGeom prst="straightConnector1">
            <a:avLst/>
          </a:prstGeom>
          <a:ln w="50800">
            <a:solidFill>
              <a:schemeClr val="accent1"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77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2974848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Today, the “chemical reactions” we’ll talk about are phase transformations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44867B-5696-81C1-E68A-A6452B78059C}"/>
              </a:ext>
            </a:extLst>
          </p:cNvPr>
          <p:cNvGrpSpPr/>
          <p:nvPr/>
        </p:nvGrpSpPr>
        <p:grpSpPr>
          <a:xfrm>
            <a:off x="2550989" y="3242846"/>
            <a:ext cx="7322319" cy="3335577"/>
            <a:chOff x="1011749" y="2496086"/>
            <a:chExt cx="7322319" cy="3335577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5F78C226-6867-0AF4-D255-151B4D85CF00}"/>
                </a:ext>
              </a:extLst>
            </p:cNvPr>
            <p:cNvSpPr/>
            <p:nvPr/>
          </p:nvSpPr>
          <p:spPr>
            <a:xfrm>
              <a:off x="2524039" y="5048024"/>
              <a:ext cx="793020" cy="766203"/>
            </a:xfrm>
            <a:prstGeom prst="can">
              <a:avLst>
                <a:gd name="adj" fmla="val 25860"/>
              </a:avLst>
            </a:prstGeom>
            <a:pattFill prst="pct7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E69B9568-8150-C9F7-5061-5376EE9C7031}"/>
                </a:ext>
              </a:extLst>
            </p:cNvPr>
            <p:cNvSpPr/>
            <p:nvPr/>
          </p:nvSpPr>
          <p:spPr>
            <a:xfrm>
              <a:off x="2536216" y="4881133"/>
              <a:ext cx="793020" cy="362526"/>
            </a:xfrm>
            <a:prstGeom prst="can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EB9FDB3-9F22-52B5-CB99-E32CD93866D4}"/>
                </a:ext>
              </a:extLst>
            </p:cNvPr>
            <p:cNvGrpSpPr/>
            <p:nvPr/>
          </p:nvGrpSpPr>
          <p:grpSpPr>
            <a:xfrm>
              <a:off x="7357260" y="2496086"/>
              <a:ext cx="976808" cy="3295547"/>
              <a:chOff x="1139340" y="2496086"/>
              <a:chExt cx="976808" cy="329554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0A9CAC7-3D2A-9192-B3E9-1CD65445DAC9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26" name="Can 25">
                  <a:extLst>
                    <a:ext uri="{FF2B5EF4-FFF2-40B4-BE49-F238E27FC236}">
                      <a16:creationId xmlns:a16="http://schemas.microsoft.com/office/drawing/2014/main" id="{84143660-FA8B-ABB0-7036-E2543B00BB1F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a16="http://schemas.microsoft.com/office/drawing/2014/main" id="{271A6E24-62BD-21DC-1124-268FA099D0D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Down Arrow 27">
                  <a:extLst>
                    <a:ext uri="{FF2B5EF4-FFF2-40B4-BE49-F238E27FC236}">
                      <a16:creationId xmlns:a16="http://schemas.microsoft.com/office/drawing/2014/main" id="{379F8B9E-957E-211E-34AE-AE6613B019F6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D8A58D-736C-F69B-15EF-3A8EE7153ACA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8E22B-F2AD-CCBF-D601-DCF7432E11A8}"/>
                </a:ext>
              </a:extLst>
            </p:cNvPr>
            <p:cNvGrpSpPr/>
            <p:nvPr/>
          </p:nvGrpSpPr>
          <p:grpSpPr>
            <a:xfrm>
              <a:off x="5882496" y="2508097"/>
              <a:ext cx="1083342" cy="3316716"/>
              <a:chOff x="2257189" y="2496081"/>
              <a:chExt cx="1083342" cy="33167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0A6BDAC-AC3F-34AC-9BFC-008774748D50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1083342" cy="3295547"/>
                <a:chOff x="422480" y="1868557"/>
                <a:chExt cx="1083342" cy="329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0CF47CB-6D9D-8AD1-8C80-25DA0F3C96DD}"/>
                    </a:ext>
                  </a:extLst>
                </p:cNvPr>
                <p:cNvGrpSpPr/>
                <p:nvPr/>
              </p:nvGrpSpPr>
              <p:grpSpPr>
                <a:xfrm>
                  <a:off x="422480" y="1868557"/>
                  <a:ext cx="804450" cy="3295547"/>
                  <a:chOff x="2459100" y="1868557"/>
                  <a:chExt cx="804450" cy="3295547"/>
                </a:xfrm>
              </p:grpSpPr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02BFA886-947B-E94B-7578-154071C504F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9F4CFFF1-0E9C-FC73-1AEC-F7D843DF8185}"/>
                      </a:ext>
                    </a:extLst>
                  </p:cNvPr>
                  <p:cNvSpPr/>
                  <p:nvPr/>
                </p:nvSpPr>
                <p:spPr>
                  <a:xfrm>
                    <a:off x="245910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Down Arrow 22">
                    <a:extLst>
                      <a:ext uri="{FF2B5EF4-FFF2-40B4-BE49-F238E27FC236}">
                        <a16:creationId xmlns:a16="http://schemas.microsoft.com/office/drawing/2014/main" id="{6CBB39A0-153D-A7AC-72CC-6207A2DAE204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EFD752-E6E7-A163-0B13-51FBDAFF6962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25494-FC11-F815-A8C6-CF113C1AD288}"/>
                  </a:ext>
                </a:extLst>
              </p:cNvPr>
              <p:cNvSpPr txBox="1"/>
              <p:nvPr/>
            </p:nvSpPr>
            <p:spPr>
              <a:xfrm>
                <a:off x="2315283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CB64727-E562-7389-29CA-0418684D81D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29EBB2-8521-B595-E5B3-73CA83C852E7}"/>
                </a:ext>
              </a:extLst>
            </p:cNvPr>
            <p:cNvGrpSpPr/>
            <p:nvPr/>
          </p:nvGrpSpPr>
          <p:grpSpPr>
            <a:xfrm>
              <a:off x="4206907" y="2508097"/>
              <a:ext cx="974801" cy="3316716"/>
              <a:chOff x="3405510" y="2496081"/>
              <a:chExt cx="974801" cy="3316716"/>
            </a:xfrm>
          </p:grpSpPr>
          <p:sp>
            <p:nvSpPr>
              <p:cNvPr id="10" name="Can 9">
                <a:extLst>
                  <a:ext uri="{FF2B5EF4-FFF2-40B4-BE49-F238E27FC236}">
                    <a16:creationId xmlns:a16="http://schemas.microsoft.com/office/drawing/2014/main" id="{E3D7F867-E4CF-B4F3-A441-0A68AA8A3689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21C07B-BB56-C70C-A32A-8C12EBB887C8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7292D39-D1C1-B723-C255-DEFD8D9C2902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374EE74C-70AE-3407-B229-934FB4E7A6BE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Down Arrow 14">
                  <a:extLst>
                    <a:ext uri="{FF2B5EF4-FFF2-40B4-BE49-F238E27FC236}">
                      <a16:creationId xmlns:a16="http://schemas.microsoft.com/office/drawing/2014/main" id="{C165A1FE-BC1B-3F1B-5897-A55C0960C23D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7DC75-F52B-1365-0729-C5A2C61C3B9C}"/>
                  </a:ext>
                </a:extLst>
              </p:cNvPr>
              <p:cNvSpPr txBox="1"/>
              <p:nvPr/>
            </p:nvSpPr>
            <p:spPr>
              <a:xfrm>
                <a:off x="3452174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1D0CF-2F09-5B1A-E59B-6CD9216A8D9E}"/>
                </a:ext>
              </a:extLst>
            </p:cNvPr>
            <p:cNvGrpSpPr/>
            <p:nvPr/>
          </p:nvGrpSpPr>
          <p:grpSpPr>
            <a:xfrm>
              <a:off x="1011749" y="2520113"/>
              <a:ext cx="974801" cy="3311550"/>
              <a:chOff x="3405510" y="2496081"/>
              <a:chExt cx="974801" cy="3311550"/>
            </a:xfrm>
          </p:grpSpPr>
          <p:sp>
            <p:nvSpPr>
              <p:cNvPr id="34" name="Can 33">
                <a:extLst>
                  <a:ext uri="{FF2B5EF4-FFF2-40B4-BE49-F238E27FC236}">
                    <a16:creationId xmlns:a16="http://schemas.microsoft.com/office/drawing/2014/main" id="{37AEE127-1567-9250-FE59-4BA88B050032}"/>
                  </a:ext>
                </a:extLst>
              </p:cNvPr>
              <p:cNvSpPr/>
              <p:nvPr/>
            </p:nvSpPr>
            <p:spPr>
              <a:xfrm>
                <a:off x="3405821" y="5096959"/>
                <a:ext cx="793020" cy="705254"/>
              </a:xfrm>
              <a:prstGeom prst="can">
                <a:avLst>
                  <a:gd name="adj" fmla="val 25860"/>
                </a:avLst>
              </a:prstGeom>
              <a:pattFill prst="pct7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9105CC7-7964-5728-B742-81184F753860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37" name="Can 36">
                  <a:extLst>
                    <a:ext uri="{FF2B5EF4-FFF2-40B4-BE49-F238E27FC236}">
                      <a16:creationId xmlns:a16="http://schemas.microsoft.com/office/drawing/2014/main" id="{5C68DEB5-D891-0FB6-DA1C-B6C585EDAF1C}"/>
                    </a:ext>
                  </a:extLst>
                </p:cNvPr>
                <p:cNvSpPr/>
                <p:nvPr/>
              </p:nvSpPr>
              <p:spPr>
                <a:xfrm>
                  <a:off x="2470530" y="426919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4DCCA9BC-F5F7-AE99-5415-C783903B2493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C97F96E6-472C-7607-10AB-6246F71AA355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1129E3-EEC4-5259-7132-5973F1150347}"/>
                  </a:ext>
                </a:extLst>
              </p:cNvPr>
              <p:cNvSpPr txBox="1"/>
              <p:nvPr/>
            </p:nvSpPr>
            <p:spPr>
              <a:xfrm>
                <a:off x="3452174" y="5438299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solid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BE41F7-E08F-59F9-9A46-89CD178B517E}"/>
                </a:ext>
              </a:extLst>
            </p:cNvPr>
            <p:cNvGrpSpPr/>
            <p:nvPr/>
          </p:nvGrpSpPr>
          <p:grpSpPr>
            <a:xfrm>
              <a:off x="2526107" y="2509528"/>
              <a:ext cx="793020" cy="3295547"/>
              <a:chOff x="2470530" y="1868557"/>
              <a:chExt cx="793020" cy="3295547"/>
            </a:xfrm>
          </p:grpSpPr>
          <p:sp>
            <p:nvSpPr>
              <p:cNvPr id="45" name="Can 44">
                <a:extLst>
                  <a:ext uri="{FF2B5EF4-FFF2-40B4-BE49-F238E27FC236}">
                    <a16:creationId xmlns:a16="http://schemas.microsoft.com/office/drawing/2014/main" id="{0072978D-628A-4E74-4AB9-B0DCAA2FB1CB}"/>
                  </a:ext>
                </a:extLst>
              </p:cNvPr>
              <p:cNvSpPr/>
              <p:nvPr/>
            </p:nvSpPr>
            <p:spPr>
              <a:xfrm>
                <a:off x="2470530" y="1868557"/>
                <a:ext cx="793020" cy="3295547"/>
              </a:xfrm>
              <a:prstGeom prst="can">
                <a:avLst>
                  <a:gd name="adj" fmla="val 1549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own Arrow 45">
                <a:extLst>
                  <a:ext uri="{FF2B5EF4-FFF2-40B4-BE49-F238E27FC236}">
                    <a16:creationId xmlns:a16="http://schemas.microsoft.com/office/drawing/2014/main" id="{AB28C150-5EF3-AAF2-87E4-F1F07F724533}"/>
                  </a:ext>
                </a:extLst>
              </p:cNvPr>
              <p:cNvSpPr/>
              <p:nvPr/>
            </p:nvSpPr>
            <p:spPr>
              <a:xfrm>
                <a:off x="2771028" y="4027002"/>
                <a:ext cx="212242" cy="263249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3FAFABE1-F19F-3E67-4754-F8EAE8D1FA7B}"/>
                  </a:ext>
                </a:extLst>
              </p:cNvPr>
              <p:cNvSpPr/>
              <p:nvPr/>
            </p:nvSpPr>
            <p:spPr>
              <a:xfrm>
                <a:off x="2470530" y="3972124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52824-6991-21D5-72A1-1E77A11DBFA1}"/>
                </a:ext>
              </a:extLst>
            </p:cNvPr>
            <p:cNvSpPr txBox="1"/>
            <p:nvPr/>
          </p:nvSpPr>
          <p:spPr>
            <a:xfrm>
              <a:off x="2572771" y="5456912"/>
              <a:ext cx="92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solid</a:t>
              </a:r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2807E1B-E6B3-DE14-3E93-D87E57DF7EE8}"/>
                </a:ext>
              </a:extLst>
            </p:cNvPr>
            <p:cNvSpPr/>
            <p:nvPr/>
          </p:nvSpPr>
          <p:spPr>
            <a:xfrm>
              <a:off x="2823851" y="4490325"/>
              <a:ext cx="212242" cy="26324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Heating Curve for Water | Introduction to Chemistry">
            <a:extLst>
              <a:ext uri="{FF2B5EF4-FFF2-40B4-BE49-F238E27FC236}">
                <a16:creationId xmlns:a16="http://schemas.microsoft.com/office/drawing/2014/main" id="{6884031E-6B93-5430-A4BD-E0A7A270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72" y="106465"/>
            <a:ext cx="4011167" cy="297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01BE2A-775C-D834-C08B-5AEC1CD0270B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867581"/>
            <a:ext cx="1637664" cy="4437865"/>
          </a:xfrm>
          <a:prstGeom prst="straightConnector1">
            <a:avLst/>
          </a:prstGeom>
          <a:ln w="50800">
            <a:solidFill>
              <a:schemeClr val="accent1"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452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2974848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Today, the “chemical reactions” we’ll talk about are phase transformations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44867B-5696-81C1-E68A-A6452B78059C}"/>
              </a:ext>
            </a:extLst>
          </p:cNvPr>
          <p:cNvGrpSpPr/>
          <p:nvPr/>
        </p:nvGrpSpPr>
        <p:grpSpPr>
          <a:xfrm>
            <a:off x="2550989" y="3242846"/>
            <a:ext cx="7322319" cy="3335577"/>
            <a:chOff x="1011749" y="2496086"/>
            <a:chExt cx="7322319" cy="3335577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5F78C226-6867-0AF4-D255-151B4D85CF00}"/>
                </a:ext>
              </a:extLst>
            </p:cNvPr>
            <p:cNvSpPr/>
            <p:nvPr/>
          </p:nvSpPr>
          <p:spPr>
            <a:xfrm>
              <a:off x="2524039" y="5048024"/>
              <a:ext cx="793020" cy="766203"/>
            </a:xfrm>
            <a:prstGeom prst="can">
              <a:avLst>
                <a:gd name="adj" fmla="val 25860"/>
              </a:avLst>
            </a:prstGeom>
            <a:pattFill prst="pct75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an 47">
              <a:extLst>
                <a:ext uri="{FF2B5EF4-FFF2-40B4-BE49-F238E27FC236}">
                  <a16:creationId xmlns:a16="http://schemas.microsoft.com/office/drawing/2014/main" id="{E69B9568-8150-C9F7-5061-5376EE9C7031}"/>
                </a:ext>
              </a:extLst>
            </p:cNvPr>
            <p:cNvSpPr/>
            <p:nvPr/>
          </p:nvSpPr>
          <p:spPr>
            <a:xfrm>
              <a:off x="2536216" y="4881133"/>
              <a:ext cx="793020" cy="362526"/>
            </a:xfrm>
            <a:prstGeom prst="can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EB9FDB3-9F22-52B5-CB99-E32CD93866D4}"/>
                </a:ext>
              </a:extLst>
            </p:cNvPr>
            <p:cNvGrpSpPr/>
            <p:nvPr/>
          </p:nvGrpSpPr>
          <p:grpSpPr>
            <a:xfrm>
              <a:off x="7357260" y="2496086"/>
              <a:ext cx="976808" cy="3295547"/>
              <a:chOff x="1139340" y="2496086"/>
              <a:chExt cx="976808" cy="329554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0A9CAC7-3D2A-9192-B3E9-1CD65445DAC9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26" name="Can 25">
                  <a:extLst>
                    <a:ext uri="{FF2B5EF4-FFF2-40B4-BE49-F238E27FC236}">
                      <a16:creationId xmlns:a16="http://schemas.microsoft.com/office/drawing/2014/main" id="{84143660-FA8B-ABB0-7036-E2543B00BB1F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Can 26">
                  <a:extLst>
                    <a:ext uri="{FF2B5EF4-FFF2-40B4-BE49-F238E27FC236}">
                      <a16:creationId xmlns:a16="http://schemas.microsoft.com/office/drawing/2014/main" id="{271A6E24-62BD-21DC-1124-268FA099D0DA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Down Arrow 27">
                  <a:extLst>
                    <a:ext uri="{FF2B5EF4-FFF2-40B4-BE49-F238E27FC236}">
                      <a16:creationId xmlns:a16="http://schemas.microsoft.com/office/drawing/2014/main" id="{379F8B9E-957E-211E-34AE-AE6613B019F6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AD8A58D-736C-F69B-15EF-3A8EE7153ACA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F8E22B-F2AD-CCBF-D601-DCF7432E11A8}"/>
                </a:ext>
              </a:extLst>
            </p:cNvPr>
            <p:cNvGrpSpPr/>
            <p:nvPr/>
          </p:nvGrpSpPr>
          <p:grpSpPr>
            <a:xfrm>
              <a:off x="5882496" y="2508097"/>
              <a:ext cx="1083342" cy="3316716"/>
              <a:chOff x="2257189" y="2496081"/>
              <a:chExt cx="1083342" cy="3316716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0A6BDAC-AC3F-34AC-9BFC-008774748D50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1083342" cy="3295547"/>
                <a:chOff x="422480" y="1868557"/>
                <a:chExt cx="1083342" cy="329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0CF47CB-6D9D-8AD1-8C80-25DA0F3C96DD}"/>
                    </a:ext>
                  </a:extLst>
                </p:cNvPr>
                <p:cNvGrpSpPr/>
                <p:nvPr/>
              </p:nvGrpSpPr>
              <p:grpSpPr>
                <a:xfrm>
                  <a:off x="422480" y="1868557"/>
                  <a:ext cx="804450" cy="3295547"/>
                  <a:chOff x="2459100" y="1868557"/>
                  <a:chExt cx="804450" cy="3295547"/>
                </a:xfrm>
              </p:grpSpPr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02BFA886-947B-E94B-7578-154071C504F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1964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9F4CFFF1-0E9C-FC73-1AEC-F7D843DF8185}"/>
                      </a:ext>
                    </a:extLst>
                  </p:cNvPr>
                  <p:cNvSpPr/>
                  <p:nvPr/>
                </p:nvSpPr>
                <p:spPr>
                  <a:xfrm>
                    <a:off x="245910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Down Arrow 22">
                    <a:extLst>
                      <a:ext uri="{FF2B5EF4-FFF2-40B4-BE49-F238E27FC236}">
                        <a16:creationId xmlns:a16="http://schemas.microsoft.com/office/drawing/2014/main" id="{6CBB39A0-153D-A7AC-72CC-6207A2DAE204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EFD752-E6E7-A163-0B13-51FBDAFF6962}"/>
                    </a:ext>
                  </a:extLst>
                </p:cNvPr>
                <p:cNvSpPr txBox="1"/>
                <p:nvPr/>
              </p:nvSpPr>
              <p:spPr>
                <a:xfrm>
                  <a:off x="577685" y="4043789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25494-FC11-F815-A8C6-CF113C1AD288}"/>
                  </a:ext>
                </a:extLst>
              </p:cNvPr>
              <p:cNvSpPr txBox="1"/>
              <p:nvPr/>
            </p:nvSpPr>
            <p:spPr>
              <a:xfrm>
                <a:off x="2315283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  <p:sp>
            <p:nvSpPr>
              <p:cNvPr id="18" name="Can 17">
                <a:extLst>
                  <a:ext uri="{FF2B5EF4-FFF2-40B4-BE49-F238E27FC236}">
                    <a16:creationId xmlns:a16="http://schemas.microsoft.com/office/drawing/2014/main" id="{BCB64727-E562-7389-29CA-0418684D81D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929EBB2-8521-B595-E5B3-73CA83C852E7}"/>
                </a:ext>
              </a:extLst>
            </p:cNvPr>
            <p:cNvGrpSpPr/>
            <p:nvPr/>
          </p:nvGrpSpPr>
          <p:grpSpPr>
            <a:xfrm>
              <a:off x="4206907" y="2508097"/>
              <a:ext cx="974801" cy="3316716"/>
              <a:chOff x="3405510" y="2496081"/>
              <a:chExt cx="974801" cy="3316716"/>
            </a:xfrm>
          </p:grpSpPr>
          <p:sp>
            <p:nvSpPr>
              <p:cNvPr id="10" name="Can 9">
                <a:extLst>
                  <a:ext uri="{FF2B5EF4-FFF2-40B4-BE49-F238E27FC236}">
                    <a16:creationId xmlns:a16="http://schemas.microsoft.com/office/drawing/2014/main" id="{E3D7F867-E4CF-B4F3-A441-0A68AA8A3689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21C07B-BB56-C70C-A32A-8C12EBB887C8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7292D39-D1C1-B723-C255-DEFD8D9C2902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374EE74C-70AE-3407-B229-934FB4E7A6BE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Down Arrow 14">
                  <a:extLst>
                    <a:ext uri="{FF2B5EF4-FFF2-40B4-BE49-F238E27FC236}">
                      <a16:creationId xmlns:a16="http://schemas.microsoft.com/office/drawing/2014/main" id="{C165A1FE-BC1B-3F1B-5897-A55C0960C23D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7DC75-F52B-1365-0729-C5A2C61C3B9C}"/>
                  </a:ext>
                </a:extLst>
              </p:cNvPr>
              <p:cNvSpPr txBox="1"/>
              <p:nvPr/>
            </p:nvSpPr>
            <p:spPr>
              <a:xfrm>
                <a:off x="3452174" y="5443465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41D0CF-2F09-5B1A-E59B-6CD9216A8D9E}"/>
                </a:ext>
              </a:extLst>
            </p:cNvPr>
            <p:cNvGrpSpPr/>
            <p:nvPr/>
          </p:nvGrpSpPr>
          <p:grpSpPr>
            <a:xfrm>
              <a:off x="1011749" y="2520113"/>
              <a:ext cx="974801" cy="3311550"/>
              <a:chOff x="3405510" y="2496081"/>
              <a:chExt cx="974801" cy="3311550"/>
            </a:xfrm>
          </p:grpSpPr>
          <p:sp>
            <p:nvSpPr>
              <p:cNvPr id="34" name="Can 33">
                <a:extLst>
                  <a:ext uri="{FF2B5EF4-FFF2-40B4-BE49-F238E27FC236}">
                    <a16:creationId xmlns:a16="http://schemas.microsoft.com/office/drawing/2014/main" id="{37AEE127-1567-9250-FE59-4BA88B050032}"/>
                  </a:ext>
                </a:extLst>
              </p:cNvPr>
              <p:cNvSpPr/>
              <p:nvPr/>
            </p:nvSpPr>
            <p:spPr>
              <a:xfrm>
                <a:off x="3405821" y="5096959"/>
                <a:ext cx="793020" cy="705254"/>
              </a:xfrm>
              <a:prstGeom prst="can">
                <a:avLst>
                  <a:gd name="adj" fmla="val 25860"/>
                </a:avLst>
              </a:prstGeom>
              <a:pattFill prst="pct75">
                <a:fgClr>
                  <a:schemeClr val="accent1"/>
                </a:fgClr>
                <a:bgClr>
                  <a:schemeClr val="bg1"/>
                </a:bgClr>
              </a:patt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9105CC7-7964-5728-B742-81184F753860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37" name="Can 36">
                  <a:extLst>
                    <a:ext uri="{FF2B5EF4-FFF2-40B4-BE49-F238E27FC236}">
                      <a16:creationId xmlns:a16="http://schemas.microsoft.com/office/drawing/2014/main" id="{5C68DEB5-D891-0FB6-DA1C-B6C585EDAF1C}"/>
                    </a:ext>
                  </a:extLst>
                </p:cNvPr>
                <p:cNvSpPr/>
                <p:nvPr/>
              </p:nvSpPr>
              <p:spPr>
                <a:xfrm>
                  <a:off x="2470530" y="426919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Can 37">
                  <a:extLst>
                    <a:ext uri="{FF2B5EF4-FFF2-40B4-BE49-F238E27FC236}">
                      <a16:creationId xmlns:a16="http://schemas.microsoft.com/office/drawing/2014/main" id="{4DCCA9BC-F5F7-AE99-5415-C783903B2493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C97F96E6-472C-7607-10AB-6246F71AA355}"/>
                    </a:ext>
                  </a:extLst>
                </p:cNvPr>
                <p:cNvSpPr/>
                <p:nvPr/>
              </p:nvSpPr>
              <p:spPr>
                <a:xfrm>
                  <a:off x="2771028" y="4027002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1129E3-EEC4-5259-7132-5973F1150347}"/>
                  </a:ext>
                </a:extLst>
              </p:cNvPr>
              <p:cNvSpPr txBox="1"/>
              <p:nvPr/>
            </p:nvSpPr>
            <p:spPr>
              <a:xfrm>
                <a:off x="3452174" y="5438299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solid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BE41F7-E08F-59F9-9A46-89CD178B517E}"/>
                </a:ext>
              </a:extLst>
            </p:cNvPr>
            <p:cNvGrpSpPr/>
            <p:nvPr/>
          </p:nvGrpSpPr>
          <p:grpSpPr>
            <a:xfrm>
              <a:off x="2526107" y="2509528"/>
              <a:ext cx="793020" cy="3295547"/>
              <a:chOff x="2470530" y="1868557"/>
              <a:chExt cx="793020" cy="3295547"/>
            </a:xfrm>
          </p:grpSpPr>
          <p:sp>
            <p:nvSpPr>
              <p:cNvPr id="45" name="Can 44">
                <a:extLst>
                  <a:ext uri="{FF2B5EF4-FFF2-40B4-BE49-F238E27FC236}">
                    <a16:creationId xmlns:a16="http://schemas.microsoft.com/office/drawing/2014/main" id="{0072978D-628A-4E74-4AB9-B0DCAA2FB1CB}"/>
                  </a:ext>
                </a:extLst>
              </p:cNvPr>
              <p:cNvSpPr/>
              <p:nvPr/>
            </p:nvSpPr>
            <p:spPr>
              <a:xfrm>
                <a:off x="2470530" y="1868557"/>
                <a:ext cx="793020" cy="3295547"/>
              </a:xfrm>
              <a:prstGeom prst="can">
                <a:avLst>
                  <a:gd name="adj" fmla="val 15499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own Arrow 45">
                <a:extLst>
                  <a:ext uri="{FF2B5EF4-FFF2-40B4-BE49-F238E27FC236}">
                    <a16:creationId xmlns:a16="http://schemas.microsoft.com/office/drawing/2014/main" id="{AB28C150-5EF3-AAF2-87E4-F1F07F724533}"/>
                  </a:ext>
                </a:extLst>
              </p:cNvPr>
              <p:cNvSpPr/>
              <p:nvPr/>
            </p:nvSpPr>
            <p:spPr>
              <a:xfrm>
                <a:off x="2771028" y="4027002"/>
                <a:ext cx="212242" cy="263249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Can 43">
                <a:extLst>
                  <a:ext uri="{FF2B5EF4-FFF2-40B4-BE49-F238E27FC236}">
                    <a16:creationId xmlns:a16="http://schemas.microsoft.com/office/drawing/2014/main" id="{3FAFABE1-F19F-3E67-4754-F8EAE8D1FA7B}"/>
                  </a:ext>
                </a:extLst>
              </p:cNvPr>
              <p:cNvSpPr/>
              <p:nvPr/>
            </p:nvSpPr>
            <p:spPr>
              <a:xfrm>
                <a:off x="2470530" y="3972124"/>
                <a:ext cx="793020" cy="438571"/>
              </a:xfrm>
              <a:prstGeom prst="can">
                <a:avLst>
                  <a:gd name="adj" fmla="val 38571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52824-6991-21D5-72A1-1E77A11DBFA1}"/>
                </a:ext>
              </a:extLst>
            </p:cNvPr>
            <p:cNvSpPr txBox="1"/>
            <p:nvPr/>
          </p:nvSpPr>
          <p:spPr>
            <a:xfrm>
              <a:off x="2572771" y="5456912"/>
              <a:ext cx="92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solid</a:t>
              </a:r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2807E1B-E6B3-DE14-3E93-D87E57DF7EE8}"/>
                </a:ext>
              </a:extLst>
            </p:cNvPr>
            <p:cNvSpPr/>
            <p:nvPr/>
          </p:nvSpPr>
          <p:spPr>
            <a:xfrm>
              <a:off x="2823851" y="4490325"/>
              <a:ext cx="212242" cy="26324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Heating Curve for Water | Introduction to Chemistry">
            <a:extLst>
              <a:ext uri="{FF2B5EF4-FFF2-40B4-BE49-F238E27FC236}">
                <a16:creationId xmlns:a16="http://schemas.microsoft.com/office/drawing/2014/main" id="{6884031E-6B93-5430-A4BD-E0A7A270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72" y="106465"/>
            <a:ext cx="4011167" cy="297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801BE2A-775C-D834-C08B-5AEC1CD0270B}"/>
              </a:ext>
            </a:extLst>
          </p:cNvPr>
          <p:cNvCxnSpPr>
            <a:cxnSpLocks/>
          </p:cNvCxnSpPr>
          <p:nvPr/>
        </p:nvCxnSpPr>
        <p:spPr>
          <a:xfrm flipH="1" flipV="1">
            <a:off x="6891553" y="512064"/>
            <a:ext cx="2155568" cy="4324672"/>
          </a:xfrm>
          <a:prstGeom prst="straightConnector1">
            <a:avLst/>
          </a:prstGeom>
          <a:ln w="50800">
            <a:solidFill>
              <a:schemeClr val="accent1">
                <a:alpha val="6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17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687E00-ECE2-BC42-8DC1-CB10FEA7FB94}"/>
              </a:ext>
            </a:extLst>
          </p:cNvPr>
          <p:cNvGrpSpPr/>
          <p:nvPr/>
        </p:nvGrpSpPr>
        <p:grpSpPr>
          <a:xfrm>
            <a:off x="182753" y="925831"/>
            <a:ext cx="4629277" cy="4274819"/>
            <a:chOff x="205613" y="354330"/>
            <a:chExt cx="6582538" cy="6275069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99C907C8-B5BE-A249-8551-53A27E04AA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9" t="10592" r="5702" b="7549"/>
            <a:stretch/>
          </p:blipFill>
          <p:spPr bwMode="auto">
            <a:xfrm>
              <a:off x="205613" y="354330"/>
              <a:ext cx="6582538" cy="6275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C432723-4F0E-BC41-8B69-E6D912DD1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1445" y="2641600"/>
              <a:ext cx="0" cy="2021840"/>
            </a:xfrm>
            <a:prstGeom prst="straightConnector1">
              <a:avLst/>
            </a:prstGeom>
            <a:ln w="1270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C4CBF3-B7EA-1349-9872-5325494BCE6A}"/>
                  </a:ext>
                </a:extLst>
              </p:cNvPr>
              <p:cNvSpPr txBox="1"/>
              <p:nvPr/>
            </p:nvSpPr>
            <p:spPr>
              <a:xfrm>
                <a:off x="948707" y="2114676"/>
                <a:ext cx="11487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188.8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C4CBF3-B7EA-1349-9872-5325494BC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07" y="2114676"/>
                <a:ext cx="11487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29A6D4-5CA5-4941-81C8-32E2CAC6FE70}"/>
                  </a:ext>
                </a:extLst>
              </p:cNvPr>
              <p:cNvSpPr txBox="1"/>
              <p:nvPr/>
            </p:nvSpPr>
            <p:spPr>
              <a:xfrm>
                <a:off x="685806" y="3667886"/>
                <a:ext cx="10572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29A6D4-5CA5-4941-81C8-32E2CAC6F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6" y="3667886"/>
                <a:ext cx="10572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620F39-A210-BA46-BF2F-5E9C9A61C508}"/>
                  </a:ext>
                </a:extLst>
              </p:cNvPr>
              <p:cNvSpPr txBox="1"/>
              <p:nvPr/>
            </p:nvSpPr>
            <p:spPr>
              <a:xfrm>
                <a:off x="1214440" y="3852552"/>
                <a:ext cx="10572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1.0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620F39-A210-BA46-BF2F-5E9C9A61C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440" y="3852552"/>
                <a:ext cx="10572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B88335F-35FC-6042-9A63-4456E2E0EFE6}"/>
              </a:ext>
            </a:extLst>
          </p:cNvPr>
          <p:cNvGrpSpPr/>
          <p:nvPr/>
        </p:nvGrpSpPr>
        <p:grpSpPr>
          <a:xfrm>
            <a:off x="4812030" y="1713557"/>
            <a:ext cx="7659781" cy="3512500"/>
            <a:chOff x="4812030" y="289705"/>
            <a:chExt cx="7659781" cy="3512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B68D78F-03B6-2241-9E71-FDE8658B5A97}"/>
                    </a:ext>
                  </a:extLst>
                </p:cNvPr>
                <p:cNvSpPr txBox="1"/>
                <p:nvPr/>
              </p:nvSpPr>
              <p:spPr>
                <a:xfrm>
                  <a:off x="4812030" y="289705"/>
                  <a:ext cx="7379969" cy="35125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Standard (298 K) molar entropies of formation </a:t>
                  </a:r>
                  <a:r>
                    <a:rPr lang="en-US" sz="2400" dirty="0">
                      <a:hlinkClick r:id="rId6"/>
                    </a:rPr>
                    <a:t>https://en.wikipedia.org/wiki/Water_%28data_page%29</a:t>
                  </a:r>
                  <a:r>
                    <a:rPr lang="en-US" sz="2400" dirty="0"/>
                    <a:t> :</a:t>
                  </a:r>
                </a:p>
                <a:p>
                  <a:endParaRPr lang="en-US" sz="2400" dirty="0"/>
                </a:p>
                <a:p>
                  <a:r>
                    <a:rPr lang="en-US" sz="2400" dirty="0"/>
                    <a:t>Gas: 	</a:t>
                  </a:r>
                  <a14:m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188.8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Liquid: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0.1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Solid:	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41.0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endParaRPr lang="en-US" sz="2400" dirty="0"/>
                </a:p>
                <a:p>
                  <a:endParaRPr lang="en-US" sz="2400" dirty="0"/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B68D78F-03B6-2241-9E71-FDE8658B5A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2030" y="289705"/>
                  <a:ext cx="7379969" cy="3512500"/>
                </a:xfrm>
                <a:prstGeom prst="rect">
                  <a:avLst/>
                </a:prstGeom>
                <a:blipFill>
                  <a:blip r:embed="rId7"/>
                  <a:stretch>
                    <a:fillRect l="-1201" t="-1079" r="-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D1938A9D-B930-E944-A059-0B0930F02329}"/>
                </a:ext>
              </a:extLst>
            </p:cNvPr>
            <p:cNvSpPr/>
            <p:nvPr/>
          </p:nvSpPr>
          <p:spPr>
            <a:xfrm>
              <a:off x="7338060" y="1474470"/>
              <a:ext cx="217170" cy="1009538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584F9C-8A41-7042-A714-8FF84B3356AA}"/>
                    </a:ext>
                  </a:extLst>
                </p:cNvPr>
                <p:cNvSpPr txBox="1"/>
                <p:nvPr/>
              </p:nvSpPr>
              <p:spPr>
                <a:xfrm>
                  <a:off x="6311041" y="1515409"/>
                  <a:ext cx="6160770" cy="7839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𝑣𝑎𝑝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118.7 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𝑚𝑜𝑙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F584F9C-8A41-7042-A714-8FF84B335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1041" y="1515409"/>
                  <a:ext cx="6160770" cy="783933"/>
                </a:xfrm>
                <a:prstGeom prst="rect">
                  <a:avLst/>
                </a:prstGeom>
                <a:blipFill>
                  <a:blip r:embed="rId8"/>
                  <a:stretch>
                    <a:fillRect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ABF178-64DA-2448-B623-DB4546D5EE39}"/>
                  </a:ext>
                </a:extLst>
              </p:cNvPr>
              <p:cNvSpPr txBox="1"/>
              <p:nvPr/>
            </p:nvSpPr>
            <p:spPr>
              <a:xfrm>
                <a:off x="-1" y="-3220"/>
                <a:ext cx="12191999" cy="49475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Entropy changes of the system: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at the standard-state temperature (298 K)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ABF178-64DA-2448-B623-DB4546D5E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3220"/>
                <a:ext cx="12191999" cy="494751"/>
              </a:xfrm>
              <a:prstGeom prst="rect">
                <a:avLst/>
              </a:prstGeom>
              <a:blipFill>
                <a:blip r:embed="rId9"/>
                <a:stretch>
                  <a:fillRect l="-832" t="-7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EC2F00-2DFF-2A4D-B2EB-F1ED43C27F23}"/>
                  </a:ext>
                </a:extLst>
              </p:cNvPr>
              <p:cNvSpPr txBox="1"/>
              <p:nvPr/>
            </p:nvSpPr>
            <p:spPr>
              <a:xfrm>
                <a:off x="134530" y="3031384"/>
                <a:ext cx="1388530" cy="667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8.7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EC2F00-2DFF-2A4D-B2EB-F1ED43C2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0" y="3031384"/>
                <a:ext cx="1388530" cy="6677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79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953CE65-609C-F745-B954-30157DA81BF5}"/>
              </a:ext>
            </a:extLst>
          </p:cNvPr>
          <p:cNvGrpSpPr/>
          <p:nvPr/>
        </p:nvGrpSpPr>
        <p:grpSpPr>
          <a:xfrm>
            <a:off x="4949713" y="511933"/>
            <a:ext cx="7242288" cy="5945089"/>
            <a:chOff x="4949713" y="511933"/>
            <a:chExt cx="7242288" cy="5945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B68D78F-03B6-2241-9E71-FDE8658B5A97}"/>
                    </a:ext>
                  </a:extLst>
                </p:cNvPr>
                <p:cNvSpPr txBox="1"/>
                <p:nvPr/>
              </p:nvSpPr>
              <p:spPr>
                <a:xfrm>
                  <a:off x="4949713" y="511933"/>
                  <a:ext cx="7242288" cy="594508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From the differential equations of state for liquid and gas,</a:t>
                  </a:r>
                </a:p>
                <a:p>
                  <a:pPr marL="457200" indent="-457200">
                    <a:buFont typeface="+mj-lt"/>
                    <a:buAutoNum type="arabicPeriod"/>
                  </a:pPr>
                  <a:endParaRPr lang="en-US" sz="2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𝑔𝑎𝑠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𝑔𝑎𝑠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𝑉𝑑𝑃</m:t>
                        </m:r>
                      </m:oMath>
                    </m:oMathPara>
                  </a14:m>
                  <a:endParaRPr lang="en-US" sz="2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𝑙𝑖𝑞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𝑙𝑖𝑞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𝑉𝑑𝑃</m:t>
                        </m:r>
                      </m:oMath>
                    </m:oMathPara>
                  </a14:m>
                  <a:endParaRPr lang="en-US" sz="2200" dirty="0"/>
                </a:p>
                <a:p>
                  <a:endParaRPr lang="en-US" sz="2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  <m:sup>
                            <m:r>
                              <a:rPr lang="en-US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98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𝑑𝑇</m:t>
                            </m:r>
                          </m:e>
                        </m:nary>
                      </m:oMath>
                    </m:oMathPara>
                  </a14:m>
                  <a:endParaRPr lang="en-US" sz="2200" dirty="0"/>
                </a:p>
                <a:p>
                  <a:r>
                    <a:rPr lang="en-US" sz="2200" dirty="0"/>
                    <a:t>w/</a:t>
                  </a:r>
                  <a14:m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𝑔𝑎𝑠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𝑙𝑖𝑞</m:t>
                          </m:r>
                        </m:sub>
                      </m:sSub>
                    </m:oMath>
                  </a14:m>
                  <a:r>
                    <a:rPr lang="en-US" sz="2200" dirty="0"/>
                    <a:t>. If we assume </a:t>
                  </a:r>
                  <a14:m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sz="22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a14:m>
                  <a:r>
                    <a:rPr lang="en-US" sz="2200" dirty="0"/>
                    <a:t> (constant), it comes out of the integral, leaving </a:t>
                  </a:r>
                  <a14:m>
                    <m:oMath xmlns:m="http://schemas.openxmlformats.org/officeDocument/2006/math">
                      <m:nary>
                        <m:nary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298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298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a14:m>
                  <a:r>
                    <a:rPr lang="en-US" sz="2200" dirty="0"/>
                    <a:t>. So, we can get the entropy of vaporization at other temperatures using</a:t>
                  </a:r>
                </a:p>
                <a:p>
                  <a:endParaRPr lang="en-US" sz="2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  <m:sup>
                            <m:r>
                              <a:rPr lang="en-US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298</m:t>
                            </m:r>
                          </m:den>
                        </m:f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B68D78F-03B6-2241-9E71-FDE8658B5A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713" y="511933"/>
                  <a:ext cx="7242288" cy="5945089"/>
                </a:xfrm>
                <a:prstGeom prst="rect">
                  <a:avLst/>
                </a:prstGeom>
                <a:blipFill>
                  <a:blip r:embed="rId2"/>
                  <a:stretch>
                    <a:fillRect l="-1049" t="-8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5587481-6C13-E54F-AA96-B595449AEEA4}"/>
                </a:ext>
              </a:extLst>
            </p:cNvPr>
            <p:cNvCxnSpPr/>
            <p:nvPr/>
          </p:nvCxnSpPr>
          <p:spPr>
            <a:xfrm flipV="1">
              <a:off x="9644838" y="1169631"/>
              <a:ext cx="755673" cy="8135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7596E6-5569-7B4D-92FE-9F105F9FB616}"/>
                </a:ext>
              </a:extLst>
            </p:cNvPr>
            <p:cNvCxnSpPr/>
            <p:nvPr/>
          </p:nvCxnSpPr>
          <p:spPr>
            <a:xfrm flipV="1">
              <a:off x="9610543" y="1814306"/>
              <a:ext cx="755673" cy="8135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2D6DF8-2029-7343-B877-5216EE8BC8A0}"/>
              </a:ext>
            </a:extLst>
          </p:cNvPr>
          <p:cNvGrpSpPr/>
          <p:nvPr/>
        </p:nvGrpSpPr>
        <p:grpSpPr>
          <a:xfrm>
            <a:off x="182753" y="925831"/>
            <a:ext cx="4629277" cy="4274819"/>
            <a:chOff x="182753" y="925831"/>
            <a:chExt cx="4629277" cy="427481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F86BBB1-3253-614E-8346-FA4611F83810}"/>
                </a:ext>
              </a:extLst>
            </p:cNvPr>
            <p:cNvGrpSpPr/>
            <p:nvPr/>
          </p:nvGrpSpPr>
          <p:grpSpPr>
            <a:xfrm>
              <a:off x="182753" y="925831"/>
              <a:ext cx="4629277" cy="4274819"/>
              <a:chOff x="205613" y="354330"/>
              <a:chExt cx="6582538" cy="6275069"/>
            </a:xfrm>
          </p:grpSpPr>
          <p:pic>
            <p:nvPicPr>
              <p:cNvPr id="30" name="Picture 2">
                <a:extLst>
                  <a:ext uri="{FF2B5EF4-FFF2-40B4-BE49-F238E27FC236}">
                    <a16:creationId xmlns:a16="http://schemas.microsoft.com/office/drawing/2014/main" id="{39D3FE3E-522E-C94D-8D9C-AE34F0AEE2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949" t="10592" r="5702" b="7549"/>
              <a:stretch/>
            </p:blipFill>
            <p:spPr bwMode="auto">
              <a:xfrm>
                <a:off x="205613" y="354330"/>
                <a:ext cx="6582538" cy="62750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AAE1702-7B26-C847-B4FF-5455D1FF17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4690" y="2800350"/>
                <a:ext cx="0" cy="1863090"/>
              </a:xfrm>
              <a:prstGeom prst="straightConnector1">
                <a:avLst/>
              </a:prstGeom>
              <a:ln w="1270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7E17EFA9-71C0-E04D-A33E-0817D3BB19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1445" y="2641600"/>
                <a:ext cx="0" cy="2021840"/>
              </a:xfrm>
              <a:prstGeom prst="straightConnector1">
                <a:avLst/>
              </a:prstGeom>
              <a:ln w="1270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1069DBE-4269-4A44-9E11-F27A6E013E1C}"/>
                    </a:ext>
                  </a:extLst>
                </p:cNvPr>
                <p:cNvSpPr txBox="1"/>
                <p:nvPr/>
              </p:nvSpPr>
              <p:spPr>
                <a:xfrm>
                  <a:off x="2313001" y="3158534"/>
                  <a:ext cx="73658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09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1069DBE-4269-4A44-9E11-F27A6E013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01" y="3158534"/>
                  <a:ext cx="73658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00EC65-EF61-E24F-BC24-E824BD533553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49019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know how to get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at other temperatures using heat capacities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00EC65-EF61-E24F-BC24-E824BD533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490199"/>
              </a:xfrm>
              <a:prstGeom prst="rect">
                <a:avLst/>
              </a:prstGeom>
              <a:blipFill>
                <a:blip r:embed="rId5"/>
                <a:stretch>
                  <a:fillRect l="-832" t="-7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76C5BD-1385-004C-8C86-120F8C6BC56C}"/>
                  </a:ext>
                </a:extLst>
              </p:cNvPr>
              <p:cNvSpPr txBox="1"/>
              <p:nvPr/>
            </p:nvSpPr>
            <p:spPr>
              <a:xfrm>
                <a:off x="134530" y="3031384"/>
                <a:ext cx="1388530" cy="667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8.7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76C5BD-1385-004C-8C86-120F8C6BC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0" y="3031384"/>
                <a:ext cx="1388530" cy="6677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661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EA5BE6-0191-E64C-9C0E-5AE2FFAF70FD}"/>
              </a:ext>
            </a:extLst>
          </p:cNvPr>
          <p:cNvGrpSpPr/>
          <p:nvPr/>
        </p:nvGrpSpPr>
        <p:grpSpPr>
          <a:xfrm>
            <a:off x="182753" y="925831"/>
            <a:ext cx="4629277" cy="4274819"/>
            <a:chOff x="182753" y="925831"/>
            <a:chExt cx="4629277" cy="427481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790E5E-2ED6-FE48-9AFD-D8B318B62EA9}"/>
                </a:ext>
              </a:extLst>
            </p:cNvPr>
            <p:cNvGrpSpPr/>
            <p:nvPr/>
          </p:nvGrpSpPr>
          <p:grpSpPr>
            <a:xfrm>
              <a:off x="182753" y="925831"/>
              <a:ext cx="4629277" cy="4274819"/>
              <a:chOff x="205613" y="354330"/>
              <a:chExt cx="6582538" cy="6275069"/>
            </a:xfrm>
          </p:grpSpPr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A541DE95-20C9-0342-8EF7-7995391EC7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949" t="10592" r="5702" b="7549"/>
              <a:stretch/>
            </p:blipFill>
            <p:spPr bwMode="auto">
              <a:xfrm>
                <a:off x="205613" y="354330"/>
                <a:ext cx="6582538" cy="62750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624FFD5-E066-024F-9A37-5EF2055F6D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4690" y="2800350"/>
                <a:ext cx="0" cy="1863090"/>
              </a:xfrm>
              <a:prstGeom prst="straightConnector1">
                <a:avLst/>
              </a:prstGeom>
              <a:ln w="1270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AB72285-45E8-4B43-B0DF-21EDFC1BD1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1445" y="2641600"/>
                <a:ext cx="0" cy="2021840"/>
              </a:xfrm>
              <a:prstGeom prst="straightConnector1">
                <a:avLst/>
              </a:prstGeom>
              <a:ln w="1270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F8C3E1-0A58-8640-9335-1D0357BF2AF4}"/>
                    </a:ext>
                  </a:extLst>
                </p:cNvPr>
                <p:cNvSpPr txBox="1"/>
                <p:nvPr/>
              </p:nvSpPr>
              <p:spPr>
                <a:xfrm>
                  <a:off x="2313001" y="3158534"/>
                  <a:ext cx="73658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09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5F8C3E1-0A58-8640-9335-1D0357BF2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01" y="3158534"/>
                  <a:ext cx="73658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4707AB-E9DE-8845-8726-EF85CD8F0C9A}"/>
              </a:ext>
            </a:extLst>
          </p:cNvPr>
          <p:cNvGrpSpPr/>
          <p:nvPr/>
        </p:nvGrpSpPr>
        <p:grpSpPr>
          <a:xfrm>
            <a:off x="6199654" y="1984542"/>
            <a:ext cx="5699760" cy="4274820"/>
            <a:chOff x="6199654" y="1984542"/>
            <a:chExt cx="5699760" cy="4274820"/>
          </a:xfrm>
        </p:grpSpPr>
        <p:pic>
          <p:nvPicPr>
            <p:cNvPr id="4108" name="Picture 12">
              <a:extLst>
                <a:ext uri="{FF2B5EF4-FFF2-40B4-BE49-F238E27FC236}">
                  <a16:creationId xmlns:a16="http://schemas.microsoft.com/office/drawing/2014/main" id="{0AE78616-1C32-8048-A72B-B06C20C851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9654" y="1984542"/>
              <a:ext cx="5699760" cy="4274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8C8E3E6-5443-2D48-BBBC-AAD46F965A90}"/>
                </a:ext>
              </a:extLst>
            </p:cNvPr>
            <p:cNvSpPr txBox="1"/>
            <p:nvPr/>
          </p:nvSpPr>
          <p:spPr>
            <a:xfrm rot="856658">
              <a:off x="8083462" y="3982681"/>
              <a:ext cx="28335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slopes down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AEFD038-1A8C-8348-AE83-ABE1894FE889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864083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Since liquids have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than gases,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generally gets smaller </a:t>
                </a:r>
                <a:r>
                  <a:rPr lang="en-US" sz="2400" b="1" dirty="0"/>
                  <a:t>with increasing temperature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AEFD038-1A8C-8348-AE83-ABE1894FE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864083"/>
              </a:xfrm>
              <a:prstGeom prst="rect">
                <a:avLst/>
              </a:prstGeom>
              <a:blipFill>
                <a:blip r:embed="rId5"/>
                <a:stretch>
                  <a:fillRect l="-832" t="-4348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99C819-1A02-5E42-94D1-12837ECC6765}"/>
                  </a:ext>
                </a:extLst>
              </p:cNvPr>
              <p:cNvSpPr txBox="1"/>
              <p:nvPr/>
            </p:nvSpPr>
            <p:spPr>
              <a:xfrm>
                <a:off x="6233167" y="1117329"/>
                <a:ext cx="6098629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298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99C819-1A02-5E42-94D1-12837ECC6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67" y="1117329"/>
                <a:ext cx="6098629" cy="783741"/>
              </a:xfrm>
              <a:prstGeom prst="rect">
                <a:avLst/>
              </a:prstGeom>
              <a:blipFill>
                <a:blip r:embed="rId6"/>
                <a:stretch>
                  <a:fillRect l="-416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7FCB49-3B4A-DF46-9149-AB660CF40FC5}"/>
                  </a:ext>
                </a:extLst>
              </p:cNvPr>
              <p:cNvSpPr txBox="1"/>
              <p:nvPr/>
            </p:nvSpPr>
            <p:spPr>
              <a:xfrm>
                <a:off x="134530" y="3031384"/>
                <a:ext cx="1388530" cy="667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8.7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7FCB49-3B4A-DF46-9149-AB660CF40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0" y="3031384"/>
                <a:ext cx="1388530" cy="6677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EBAFC6-34AA-8E7D-EE26-809C37EC4C8D}"/>
                  </a:ext>
                </a:extLst>
              </p:cNvPr>
              <p:cNvSpPr txBox="1"/>
              <p:nvPr/>
            </p:nvSpPr>
            <p:spPr>
              <a:xfrm>
                <a:off x="5196847" y="3120157"/>
                <a:ext cx="1036320" cy="490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EBAFC6-34AA-8E7D-EE26-809C37EC4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847" y="3120157"/>
                <a:ext cx="1036320" cy="490199"/>
              </a:xfrm>
              <a:prstGeom prst="rect">
                <a:avLst/>
              </a:prstGeom>
              <a:blipFill>
                <a:blip r:embed="rId9"/>
                <a:stretch>
                  <a:fillRect l="-1205" r="-20482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195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Scope of today’s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2D670-FD1C-9744-9FBA-400862CE6324}"/>
              </a:ext>
            </a:extLst>
          </p:cNvPr>
          <p:cNvSpPr txBox="1"/>
          <p:nvPr/>
        </p:nvSpPr>
        <p:spPr>
          <a:xfrm>
            <a:off x="755301" y="934497"/>
            <a:ext cx="106813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Bomb calorimetry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Why enthalpy was invented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Entropy of phase transformations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How enthalpies of reaction tell us about entropy changes of the surroundings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Law of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1118830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5B86C36-2B2C-7B4E-94DB-F12154502945}"/>
              </a:ext>
            </a:extLst>
          </p:cNvPr>
          <p:cNvGrpSpPr/>
          <p:nvPr/>
        </p:nvGrpSpPr>
        <p:grpSpPr>
          <a:xfrm>
            <a:off x="4812030" y="342376"/>
            <a:ext cx="7379969" cy="5618654"/>
            <a:chOff x="4812030" y="62613"/>
            <a:chExt cx="7379969" cy="56186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6C3B861-278A-D54A-BA63-AC958C2DDEA3}"/>
                </a:ext>
              </a:extLst>
            </p:cNvPr>
            <p:cNvGrpSpPr/>
            <p:nvPr/>
          </p:nvGrpSpPr>
          <p:grpSpPr>
            <a:xfrm>
              <a:off x="4812030" y="62613"/>
              <a:ext cx="7379969" cy="5618654"/>
              <a:chOff x="4812029" y="62613"/>
              <a:chExt cx="7379969" cy="5618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5C65C934-14DB-F146-8788-8CE8ACA8FC90}"/>
                      </a:ext>
                    </a:extLst>
                  </p:cNvPr>
                  <p:cNvSpPr/>
                  <p:nvPr/>
                </p:nvSpPr>
                <p:spPr>
                  <a:xfrm>
                    <a:off x="4812029" y="62613"/>
                    <a:ext cx="7379969" cy="56186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endParaRPr lang="en-US" sz="2400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𝒔𝒖𝒓𝒓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−</m:t>
                          </m:r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𝒒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𝒔𝒖𝒓𝒓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  <a:p>
                    <a:r>
                      <a:rPr lang="en-US" sz="2400" dirty="0"/>
                      <a:t>Why? </a:t>
                    </a:r>
                  </a:p>
                  <a:p>
                    <a:pPr marL="457200" indent="-457200">
                      <a:buFont typeface="+mj-lt"/>
                      <a:buAutoNum type="arabicPeriod"/>
                    </a:pPr>
                    <a:r>
                      <a:rPr lang="en-US" sz="2400" dirty="0"/>
                      <a:t>This is just the TDE applied to surroundings</a:t>
                    </a:r>
                  </a:p>
                  <a:p>
                    <a:pPr marL="457200" indent="-457200">
                      <a:buFont typeface="+mj-lt"/>
                      <a:buAutoNum type="arabicPeriod"/>
                    </a:pPr>
                    <a:r>
                      <a:rPr lang="en-US" sz="2400" dirty="0"/>
                      <a:t>The sign switched is because the heat that comes </a:t>
                    </a:r>
                    <a:r>
                      <a:rPr lang="en-US" sz="2400" b="1" dirty="0"/>
                      <a:t>out of </a:t>
                    </a:r>
                    <a:r>
                      <a:rPr lang="en-US" sz="2400" dirty="0"/>
                      <a:t>the surroundings equals the heat that goes </a:t>
                    </a:r>
                    <a:r>
                      <a:rPr lang="en-US" sz="2400" b="1" dirty="0"/>
                      <a:t>into</a:t>
                    </a:r>
                    <a:r>
                      <a:rPr lang="en-US" sz="2400" dirty="0"/>
                      <a:t> the system: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𝑑𝑞</m:t>
                        </m:r>
                        <m:r>
                          <a:rPr lang="en-US" sz="24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2400" dirty="0"/>
                      <a:t>. </a:t>
                    </a:r>
                  </a:p>
                  <a:p>
                    <a:endParaRPr lang="en-US" sz="2400" dirty="0"/>
                  </a:p>
                  <a:p>
                    <a:r>
                      <a:rPr lang="en-US" sz="2400" dirty="0"/>
                      <a:t>When the </a:t>
                    </a:r>
                    <a:r>
                      <a:rPr lang="en-US" sz="2400" b="1" dirty="0"/>
                      <a:t>temperature remains constant </a:t>
                    </a:r>
                    <a:r>
                      <a:rPr lang="en-US" sz="2400" dirty="0"/>
                      <a:t>throughout a process (as it does for melting and boiling, or reactions that take place at a constant temperature) we can say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𝒔𝒖𝒓𝒓</m:t>
                              </m:r>
                            </m:sub>
                          </m:s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−</m:t>
                          </m:r>
                          <m:f>
                            <m:f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𝒒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𝒔𝒖𝒓𝒓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  <a:p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5C65C934-14DB-F146-8788-8CE8ACA8FC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2029" y="62613"/>
                    <a:ext cx="7379969" cy="56186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201" r="-137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ame 9">
                <a:extLst>
                  <a:ext uri="{FF2B5EF4-FFF2-40B4-BE49-F238E27FC236}">
                    <a16:creationId xmlns:a16="http://schemas.microsoft.com/office/drawing/2014/main" id="{41576B9F-90E9-F84A-89A8-E6DE0631A6E6}"/>
                  </a:ext>
                </a:extLst>
              </p:cNvPr>
              <p:cNvSpPr/>
              <p:nvPr/>
            </p:nvSpPr>
            <p:spPr>
              <a:xfrm>
                <a:off x="7014181" y="418177"/>
                <a:ext cx="3181377" cy="902259"/>
              </a:xfrm>
              <a:prstGeom prst="frame">
                <a:avLst>
                  <a:gd name="adj1" fmla="val 375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C80AEB02-9DEB-C247-AF4E-9F1DA75D4050}"/>
                </a:ext>
              </a:extLst>
            </p:cNvPr>
            <p:cNvSpPr/>
            <p:nvPr/>
          </p:nvSpPr>
          <p:spPr>
            <a:xfrm>
              <a:off x="7237649" y="4500581"/>
              <a:ext cx="2623982" cy="764150"/>
            </a:xfrm>
            <a:prstGeom prst="frame">
              <a:avLst>
                <a:gd name="adj1" fmla="val 375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1DE5F0-2BD4-F840-83B0-3773C8E9981A}"/>
              </a:ext>
            </a:extLst>
          </p:cNvPr>
          <p:cNvGrpSpPr/>
          <p:nvPr/>
        </p:nvGrpSpPr>
        <p:grpSpPr>
          <a:xfrm>
            <a:off x="556504" y="1125005"/>
            <a:ext cx="3774196" cy="3319995"/>
            <a:chOff x="7218314" y="504165"/>
            <a:chExt cx="4346224" cy="3995928"/>
          </a:xfrm>
        </p:grpSpPr>
        <p:pic>
          <p:nvPicPr>
            <p:cNvPr id="18" name="Picture 4" descr="Water Boiling Sound FX - YouTube">
              <a:extLst>
                <a:ext uri="{FF2B5EF4-FFF2-40B4-BE49-F238E27FC236}">
                  <a16:creationId xmlns:a16="http://schemas.microsoft.com/office/drawing/2014/main" id="{434F0606-502D-3443-9A21-AA6DF2B7DC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15" r="17603"/>
            <a:stretch/>
          </p:blipFill>
          <p:spPr bwMode="auto">
            <a:xfrm>
              <a:off x="7218314" y="504165"/>
              <a:ext cx="4346224" cy="3995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Up Arrow 18">
              <a:extLst>
                <a:ext uri="{FF2B5EF4-FFF2-40B4-BE49-F238E27FC236}">
                  <a16:creationId xmlns:a16="http://schemas.microsoft.com/office/drawing/2014/main" id="{4C00EA90-E6A1-104B-80D5-B9A470F66E25}"/>
                </a:ext>
              </a:extLst>
            </p:cNvPr>
            <p:cNvSpPr/>
            <p:nvPr/>
          </p:nvSpPr>
          <p:spPr>
            <a:xfrm>
              <a:off x="9391426" y="3571028"/>
              <a:ext cx="474134" cy="725311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791AF3-8D09-2746-9E55-0003D467CA06}"/>
                  </a:ext>
                </a:extLst>
              </p:cNvPr>
              <p:cNvSpPr txBox="1"/>
              <p:nvPr/>
            </p:nvSpPr>
            <p:spPr>
              <a:xfrm>
                <a:off x="250372" y="5688920"/>
                <a:ext cx="11456125" cy="1040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can take this one step farther, knowing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for a constant-pressure process, we can say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−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𝒔𝒖𝒓𝒓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791AF3-8D09-2746-9E55-0003D467C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2" y="5688920"/>
                <a:ext cx="11456125" cy="1040606"/>
              </a:xfrm>
              <a:prstGeom prst="rect">
                <a:avLst/>
              </a:prstGeom>
              <a:blipFill>
                <a:blip r:embed="rId5"/>
                <a:stretch>
                  <a:fillRect l="-775" t="-3614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73CA72-56AC-8C46-836E-CFE42418EED0}"/>
                  </a:ext>
                </a:extLst>
              </p:cNvPr>
              <p:cNvSpPr txBox="1"/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What about the entropy change of the surroundings</a:t>
                </a:r>
                <a:r>
                  <a:rPr lang="en-US" sz="2400" b="1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</m:oMath>
                </a14:m>
                <a:r>
                  <a:rPr lang="en-US" sz="2400" b="1" dirty="0"/>
                  <a:t>)?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73CA72-56AC-8C46-836E-CFE42418E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848"/>
                <a:ext cx="12192000" cy="461665"/>
              </a:xfrm>
              <a:prstGeom prst="rect">
                <a:avLst/>
              </a:prstGeom>
              <a:blipFill>
                <a:blip r:embed="rId6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ame 15">
            <a:extLst>
              <a:ext uri="{FF2B5EF4-FFF2-40B4-BE49-F238E27FC236}">
                <a16:creationId xmlns:a16="http://schemas.microsoft.com/office/drawing/2014/main" id="{507BC8D7-3BE4-E448-9B45-EA4F80CC935F}"/>
              </a:ext>
            </a:extLst>
          </p:cNvPr>
          <p:cNvSpPr/>
          <p:nvPr/>
        </p:nvSpPr>
        <p:spPr>
          <a:xfrm>
            <a:off x="1690349" y="6076709"/>
            <a:ext cx="2460209" cy="664380"/>
          </a:xfrm>
          <a:prstGeom prst="frame">
            <a:avLst>
              <a:gd name="adj1" fmla="val 37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601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94E8C-B303-244A-9426-3DF6B5B206ED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Scope of today’s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2D670-FD1C-9744-9FBA-400862CE6324}"/>
              </a:ext>
            </a:extLst>
          </p:cNvPr>
          <p:cNvSpPr txBox="1"/>
          <p:nvPr/>
        </p:nvSpPr>
        <p:spPr>
          <a:xfrm>
            <a:off x="755301" y="934497"/>
            <a:ext cx="106813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Bomb calorimetry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Why enthalpy was invented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Entropy of phase transformations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How enthalpies of reaction tell us about entropy changes of the surroundings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Law of Thermodynamics</a:t>
            </a:r>
          </a:p>
        </p:txBody>
      </p:sp>
    </p:spTree>
    <p:extLst>
      <p:ext uri="{BB962C8B-B14F-4D97-AF65-F5344CB8AC3E}">
        <p14:creationId xmlns:p14="http://schemas.microsoft.com/office/powerpoint/2010/main" val="3376412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0" y="-1541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Putting these on the same scale and insisting on thermal equilibrium (so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</m:oMath>
                </a14:m>
                <a:r>
                  <a:rPr lang="en-US" sz="2400" b="1" dirty="0"/>
                  <a:t>) …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5417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426F180-B929-3B6C-C417-3C3F05318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52" y="1033019"/>
            <a:ext cx="6609690" cy="49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A82AD6-31F4-EED1-BE1F-96BEC7DAACC3}"/>
                  </a:ext>
                </a:extLst>
              </p:cNvPr>
              <p:cNvSpPr txBox="1"/>
              <p:nvPr/>
            </p:nvSpPr>
            <p:spPr>
              <a:xfrm rot="120000">
                <a:off x="1309376" y="1914943"/>
                <a:ext cx="343868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(system)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A82AD6-31F4-EED1-BE1F-96BEC7DAA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1309376" y="1914943"/>
                <a:ext cx="3438688" cy="390748"/>
              </a:xfrm>
              <a:prstGeom prst="rect">
                <a:avLst/>
              </a:prstGeom>
              <a:blipFill>
                <a:blip r:embed="rId5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6B958A-CA9B-9B4C-8A3C-B307987BF40B}"/>
                  </a:ext>
                </a:extLst>
              </p:cNvPr>
              <p:cNvSpPr txBox="1"/>
              <p:nvPr/>
            </p:nvSpPr>
            <p:spPr>
              <a:xfrm rot="21266876">
                <a:off x="2038424" y="4676663"/>
                <a:ext cx="3438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6B958A-CA9B-9B4C-8A3C-B307987BF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66876">
                <a:off x="2038424" y="4676663"/>
                <a:ext cx="34386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C0CA4B6-CCC6-CB28-5FF0-1D29211C1619}"/>
              </a:ext>
            </a:extLst>
          </p:cNvPr>
          <p:cNvGrpSpPr/>
          <p:nvPr/>
        </p:nvGrpSpPr>
        <p:grpSpPr>
          <a:xfrm>
            <a:off x="6939542" y="1701855"/>
            <a:ext cx="4484362" cy="3706174"/>
            <a:chOff x="6939542" y="1701855"/>
            <a:chExt cx="4484362" cy="37061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8A844C-A420-5845-3DE2-2CB54D6D648F}"/>
                    </a:ext>
                  </a:extLst>
                </p:cNvPr>
                <p:cNvSpPr txBox="1"/>
                <p:nvPr/>
              </p:nvSpPr>
              <p:spPr>
                <a:xfrm>
                  <a:off x="6962768" y="1701855"/>
                  <a:ext cx="4461136" cy="662554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8A844C-A420-5845-3DE2-2CB54D6D6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768" y="1701855"/>
                  <a:ext cx="4461136" cy="662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6EE977-BE1C-36F8-EFE2-BEF7988ABE12}"/>
                    </a:ext>
                  </a:extLst>
                </p:cNvPr>
                <p:cNvSpPr txBox="1"/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𝑣𝑎𝑝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𝑠𝑢𝑟𝑟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6EE977-BE1C-36F8-EFE2-BEF7988ABE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54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DBC098E-F7B8-3A9A-6067-8F74B4AC7CBB}"/>
                    </a:ext>
                  </a:extLst>
                </p:cNvPr>
                <p:cNvSpPr txBox="1"/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DBC098E-F7B8-3A9A-6067-8F74B4AC7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78281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0" y="-1541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Putting these on the same scale and insisting on thermal equilibrium (so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</m:oMath>
                </a14:m>
                <a:r>
                  <a:rPr lang="en-US" sz="2400" b="1" dirty="0"/>
                  <a:t>) …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5417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426F180-B929-3B6C-C417-3C3F05318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52" y="1033019"/>
            <a:ext cx="6609690" cy="49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A82AD6-31F4-EED1-BE1F-96BEC7DAACC3}"/>
                  </a:ext>
                </a:extLst>
              </p:cNvPr>
              <p:cNvSpPr txBox="1"/>
              <p:nvPr/>
            </p:nvSpPr>
            <p:spPr>
              <a:xfrm rot="120000">
                <a:off x="1309376" y="1914943"/>
                <a:ext cx="343868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(system)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A82AD6-31F4-EED1-BE1F-96BEC7DAA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1309376" y="1914943"/>
                <a:ext cx="3438688" cy="390748"/>
              </a:xfrm>
              <a:prstGeom prst="rect">
                <a:avLst/>
              </a:prstGeom>
              <a:blipFill>
                <a:blip r:embed="rId5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6B958A-CA9B-9B4C-8A3C-B307987BF40B}"/>
                  </a:ext>
                </a:extLst>
              </p:cNvPr>
              <p:cNvSpPr txBox="1"/>
              <p:nvPr/>
            </p:nvSpPr>
            <p:spPr>
              <a:xfrm rot="21266876">
                <a:off x="2038424" y="4676663"/>
                <a:ext cx="3438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6B958A-CA9B-9B4C-8A3C-B307987BF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66876">
                <a:off x="2038424" y="4676663"/>
                <a:ext cx="34386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397E7A5-79F8-4AC7-0047-797AA6E26460}"/>
              </a:ext>
            </a:extLst>
          </p:cNvPr>
          <p:cNvGrpSpPr/>
          <p:nvPr/>
        </p:nvGrpSpPr>
        <p:grpSpPr>
          <a:xfrm>
            <a:off x="6939542" y="1701855"/>
            <a:ext cx="4922606" cy="3706174"/>
            <a:chOff x="6939542" y="1701855"/>
            <a:chExt cx="4922606" cy="370617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AE3294-4E50-13EC-D4EB-CFB3B08475BF}"/>
                </a:ext>
              </a:extLst>
            </p:cNvPr>
            <p:cNvGrpSpPr/>
            <p:nvPr/>
          </p:nvGrpSpPr>
          <p:grpSpPr>
            <a:xfrm>
              <a:off x="6939542" y="1701855"/>
              <a:ext cx="4484362" cy="3706174"/>
              <a:chOff x="6939542" y="1701855"/>
              <a:chExt cx="4484362" cy="37061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8FDA6BA-E9A1-BF2B-CD32-156F30E638E7}"/>
                      </a:ext>
                    </a:extLst>
                  </p:cNvPr>
                  <p:cNvSpPr txBox="1"/>
                  <p:nvPr/>
                </p:nvSpPr>
                <p:spPr>
                  <a:xfrm>
                    <a:off x="6962768" y="1701855"/>
                    <a:ext cx="4461136" cy="662554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8FDA6BA-E9A1-BF2B-CD32-156F30E638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62768" y="1701855"/>
                    <a:ext cx="4461136" cy="662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2AF98E5-5105-84CF-BC3C-F7CE3BB0603D}"/>
                      </a:ext>
                    </a:extLst>
                  </p:cNvPr>
                  <p:cNvSpPr txBox="1"/>
                  <p:nvPr/>
                </p:nvSpPr>
                <p:spPr>
                  <a:xfrm>
                    <a:off x="6939542" y="4545613"/>
                    <a:ext cx="4350899" cy="862416"/>
                  </a:xfrm>
                  <a:prstGeom prst="rect">
                    <a:avLst/>
                  </a:prstGeom>
                  <a:noFill/>
                  <a:ln w="25400">
                    <a:solidFill>
                      <a:srgbClr val="00B05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𝑠𝑢𝑟𝑟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2AF98E5-5105-84CF-BC3C-F7CE3BB060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9542" y="4545613"/>
                    <a:ext cx="4350899" cy="86241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540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B8E344B-2FA2-E61C-EF96-24765336914A}"/>
                      </a:ext>
                    </a:extLst>
                  </p:cNvPr>
                  <p:cNvSpPr txBox="1"/>
                  <p:nvPr/>
                </p:nvSpPr>
                <p:spPr>
                  <a:xfrm>
                    <a:off x="6939542" y="3154299"/>
                    <a:ext cx="1460747" cy="461665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2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B8E344B-2FA2-E61C-EF96-2476533691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9542" y="3154299"/>
                    <a:ext cx="1460747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>
                    <a:solidFill>
                      <a:schemeClr val="accent2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55B5CB9-5F59-0356-C08D-5EBB998443A1}"/>
                    </a:ext>
                  </a:extLst>
                </p:cNvPr>
                <p:cNvSpPr txBox="1"/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ea typeface="Cambria Math" panose="02040503050406030204" pitchFamily="18" charset="0"/>
                    </a:rPr>
                    <a:t>If</a:t>
                  </a:r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400" dirty="0"/>
                    <a:t>, then a process is </a:t>
                  </a:r>
                  <a:r>
                    <a:rPr lang="en-US" sz="2400" b="1" dirty="0"/>
                    <a:t>spontaneous at that temperature</a:t>
                  </a:r>
                  <a:r>
                    <a:rPr lang="en-US" sz="2400" dirty="0"/>
                    <a:t>.</a:t>
                  </a:r>
                  <a:endParaRPr lang="en-US" sz="24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55B5CB9-5F59-0356-C08D-5EBB99844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blipFill>
                  <a:blip r:embed="rId10"/>
                  <a:stretch>
                    <a:fillRect l="-2429" t="-2062" r="-4453" b="-927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50425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0" y="-1541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Putting these on the same scale and insisting on thermal equilibrium (so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𝒔𝒖𝒓𝒓</m:t>
                        </m:r>
                      </m:sub>
                    </m:sSub>
                  </m:oMath>
                </a14:m>
                <a:r>
                  <a:rPr lang="en-US" sz="2400" b="1" dirty="0"/>
                  <a:t>) …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5417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78AAAA99-C8CF-2B84-FAA8-0726E8A12726}"/>
              </a:ext>
            </a:extLst>
          </p:cNvPr>
          <p:cNvGrpSpPr/>
          <p:nvPr/>
        </p:nvGrpSpPr>
        <p:grpSpPr>
          <a:xfrm>
            <a:off x="329852" y="1033019"/>
            <a:ext cx="6609690" cy="4960712"/>
            <a:chOff x="329852" y="1033019"/>
            <a:chExt cx="6609690" cy="496071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426F180-B929-3B6C-C417-3C3F053183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52" y="1033019"/>
              <a:ext cx="6609690" cy="4960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46A82AD6-31F4-EED1-BE1F-96BEC7DAACC3}"/>
                    </a:ext>
                  </a:extLst>
                </p:cNvPr>
                <p:cNvSpPr txBox="1"/>
                <p:nvPr/>
              </p:nvSpPr>
              <p:spPr>
                <a:xfrm rot="120000">
                  <a:off x="1309376" y="1914943"/>
                  <a:ext cx="3438688" cy="3907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𝑣𝑎𝑝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800" dirty="0"/>
                    <a:t>(system)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46A82AD6-31F4-EED1-BE1F-96BEC7DAA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20000">
                  <a:off x="1309376" y="1914943"/>
                  <a:ext cx="3438688" cy="390748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36B958A-CA9B-9B4C-8A3C-B307987BF40B}"/>
                    </a:ext>
                  </a:extLst>
                </p:cNvPr>
                <p:cNvSpPr txBox="1"/>
                <p:nvPr/>
              </p:nvSpPr>
              <p:spPr>
                <a:xfrm rot="21266876">
                  <a:off x="2038424" y="4676663"/>
                  <a:ext cx="34386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36B958A-CA9B-9B4C-8A3C-B307987BF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266876">
                  <a:off x="2038424" y="4676663"/>
                  <a:ext cx="34386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82B2954-2ADF-56E8-D4C6-DB630F95635F}"/>
                </a:ext>
              </a:extLst>
            </p:cNvPr>
            <p:cNvSpPr/>
            <p:nvPr/>
          </p:nvSpPr>
          <p:spPr>
            <a:xfrm>
              <a:off x="5068875" y="3328637"/>
              <a:ext cx="155448" cy="15692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D143816-F5D6-1878-03CD-8CFE161C5590}"/>
              </a:ext>
            </a:extLst>
          </p:cNvPr>
          <p:cNvGrpSpPr/>
          <p:nvPr/>
        </p:nvGrpSpPr>
        <p:grpSpPr>
          <a:xfrm>
            <a:off x="6939542" y="1701855"/>
            <a:ext cx="4922606" cy="3706174"/>
            <a:chOff x="6939542" y="1701855"/>
            <a:chExt cx="4922606" cy="370617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09A637-FA9B-0331-14D1-C679594FAF2A}"/>
                </a:ext>
              </a:extLst>
            </p:cNvPr>
            <p:cNvGrpSpPr/>
            <p:nvPr/>
          </p:nvGrpSpPr>
          <p:grpSpPr>
            <a:xfrm>
              <a:off x="6939542" y="1701855"/>
              <a:ext cx="4484362" cy="3706174"/>
              <a:chOff x="6939542" y="1701855"/>
              <a:chExt cx="4484362" cy="37061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3E738D51-733B-15A5-5C78-22859AA963EF}"/>
                      </a:ext>
                    </a:extLst>
                  </p:cNvPr>
                  <p:cNvSpPr txBox="1"/>
                  <p:nvPr/>
                </p:nvSpPr>
                <p:spPr>
                  <a:xfrm>
                    <a:off x="6962768" y="1701855"/>
                    <a:ext cx="4461136" cy="662554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3E738D51-733B-15A5-5C78-22859AA963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62768" y="1701855"/>
                    <a:ext cx="4461136" cy="662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5400"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F4B3FD2-AC4D-D8A5-4AA8-FA8DDD19160A}"/>
                      </a:ext>
                    </a:extLst>
                  </p:cNvPr>
                  <p:cNvSpPr txBox="1"/>
                  <p:nvPr/>
                </p:nvSpPr>
                <p:spPr>
                  <a:xfrm>
                    <a:off x="6939542" y="4545613"/>
                    <a:ext cx="4350899" cy="862416"/>
                  </a:xfrm>
                  <a:prstGeom prst="rect">
                    <a:avLst/>
                  </a:prstGeom>
                  <a:noFill/>
                  <a:ln w="25400">
                    <a:solidFill>
                      <a:srgbClr val="00B05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𝑠𝑢𝑟𝑟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F4B3FD2-AC4D-D8A5-4AA8-FA8DDD1916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9542" y="4545613"/>
                    <a:ext cx="4350899" cy="86241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540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F955EF33-7536-1B1E-3620-CB63EE2931A8}"/>
                      </a:ext>
                    </a:extLst>
                  </p:cNvPr>
                  <p:cNvSpPr txBox="1"/>
                  <p:nvPr/>
                </p:nvSpPr>
                <p:spPr>
                  <a:xfrm>
                    <a:off x="6939542" y="3154299"/>
                    <a:ext cx="1460747" cy="461665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2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F955EF33-7536-1B1E-3620-CB63EE2931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9542" y="3154299"/>
                    <a:ext cx="1460747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5400">
                    <a:solidFill>
                      <a:schemeClr val="accent2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99A823A-85FC-A269-557D-D473AB302473}"/>
                    </a:ext>
                  </a:extLst>
                </p:cNvPr>
                <p:cNvSpPr txBox="1"/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ea typeface="Cambria Math" panose="02040503050406030204" pitchFamily="18" charset="0"/>
                    </a:rPr>
                    <a:t>If</a:t>
                  </a:r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400" dirty="0"/>
                    <a:t>, then a process is </a:t>
                  </a:r>
                  <a:r>
                    <a:rPr lang="en-US" sz="2400" b="1" dirty="0"/>
                    <a:t>spontaneous at that temperature</a:t>
                  </a:r>
                  <a:r>
                    <a:rPr lang="en-US" sz="2400" dirty="0"/>
                    <a:t>.</a:t>
                  </a:r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99A823A-85FC-A269-557D-D473AB302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blipFill>
                  <a:blip r:embed="rId10"/>
                  <a:stretch>
                    <a:fillRect l="-2429" t="-2062" r="-4453" b="-927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84413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can do this for other substances – like EtOH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CD8CC1C-C9CC-BED7-7E48-BA6F5264D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27" y="1080911"/>
            <a:ext cx="6587036" cy="494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0B4CE89-3B3C-9D33-4454-0AA73336BCAF}"/>
              </a:ext>
            </a:extLst>
          </p:cNvPr>
          <p:cNvSpPr/>
          <p:nvPr/>
        </p:nvSpPr>
        <p:spPr>
          <a:xfrm>
            <a:off x="3025630" y="3474303"/>
            <a:ext cx="155448" cy="156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C7BBFB-07D7-E953-82F2-617F2AE7F412}"/>
              </a:ext>
            </a:extLst>
          </p:cNvPr>
          <p:cNvGrpSpPr/>
          <p:nvPr/>
        </p:nvGrpSpPr>
        <p:grpSpPr>
          <a:xfrm>
            <a:off x="6939542" y="1701855"/>
            <a:ext cx="4922606" cy="3706174"/>
            <a:chOff x="6939542" y="1701855"/>
            <a:chExt cx="4922606" cy="370617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E4DFCE5-DAC2-3B3B-615B-AC453D246F80}"/>
                </a:ext>
              </a:extLst>
            </p:cNvPr>
            <p:cNvGrpSpPr/>
            <p:nvPr/>
          </p:nvGrpSpPr>
          <p:grpSpPr>
            <a:xfrm>
              <a:off x="6939542" y="1701855"/>
              <a:ext cx="4484362" cy="3706174"/>
              <a:chOff x="6939542" y="1701855"/>
              <a:chExt cx="4484362" cy="37061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FA2948CD-2E1B-BB55-47EE-A24943D1126D}"/>
                      </a:ext>
                    </a:extLst>
                  </p:cNvPr>
                  <p:cNvSpPr txBox="1"/>
                  <p:nvPr/>
                </p:nvSpPr>
                <p:spPr>
                  <a:xfrm>
                    <a:off x="6962768" y="1701855"/>
                    <a:ext cx="4461136" cy="662554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𝑣𝑎𝑝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sz="24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FA2948CD-2E1B-BB55-47EE-A24943D112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62768" y="1701855"/>
                    <a:ext cx="4461136" cy="662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B6C9132-9DED-AF0D-1B6D-769BF11D8E12}"/>
                      </a:ext>
                    </a:extLst>
                  </p:cNvPr>
                  <p:cNvSpPr txBox="1"/>
                  <p:nvPr/>
                </p:nvSpPr>
                <p:spPr>
                  <a:xfrm>
                    <a:off x="6939542" y="4545613"/>
                    <a:ext cx="4350899" cy="862416"/>
                  </a:xfrm>
                  <a:prstGeom prst="rect">
                    <a:avLst/>
                  </a:prstGeom>
                  <a:noFill/>
                  <a:ln w="25400">
                    <a:solidFill>
                      <a:srgbClr val="00B05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𝑣𝑎𝑝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𝑠𝑢𝑟𝑟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2B6C9132-9DED-AF0D-1B6D-769BF11D8E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9542" y="4545613"/>
                    <a:ext cx="4350899" cy="86241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5400">
                    <a:solidFill>
                      <a:srgbClr val="00B05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E5B358A-ECA0-1D4C-D58A-761627C58803}"/>
                      </a:ext>
                    </a:extLst>
                  </p:cNvPr>
                  <p:cNvSpPr txBox="1"/>
                  <p:nvPr/>
                </p:nvSpPr>
                <p:spPr>
                  <a:xfrm>
                    <a:off x="6939542" y="3154299"/>
                    <a:ext cx="1460747" cy="461665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2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E5B358A-ECA0-1D4C-D58A-761627C588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9542" y="3154299"/>
                    <a:ext cx="1460747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5400">
                    <a:solidFill>
                      <a:schemeClr val="accent2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A82416-1EED-FFBA-72B8-7D18EC777AE9}"/>
                    </a:ext>
                  </a:extLst>
                </p:cNvPr>
                <p:cNvSpPr txBox="1"/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ea typeface="Cambria Math" panose="02040503050406030204" pitchFamily="18" charset="0"/>
                    </a:rPr>
                    <a:t>If</a:t>
                  </a:r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400" dirty="0"/>
                    <a:t>, then a process is </a:t>
                  </a:r>
                  <a:r>
                    <a:rPr lang="en-US" sz="2400" b="1" dirty="0"/>
                    <a:t>spontaneous at that temperature</a:t>
                  </a:r>
                  <a:r>
                    <a:rPr lang="en-US" sz="2400" dirty="0"/>
                    <a:t>.</a:t>
                  </a:r>
                  <a:endParaRPr lang="en-US" sz="24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A82416-1EED-FFBA-72B8-7D18EC777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blipFill>
                  <a:blip r:embed="rId7"/>
                  <a:stretch>
                    <a:fillRect l="-2429" t="-2062" r="-4453" b="-927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35DA18-2E38-C63A-F427-F043C78A8FE9}"/>
                  </a:ext>
                </a:extLst>
              </p:cNvPr>
              <p:cNvSpPr txBox="1"/>
              <p:nvPr/>
            </p:nvSpPr>
            <p:spPr>
              <a:xfrm rot="21368971">
                <a:off x="2038424" y="4786391"/>
                <a:ext cx="3438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35DA18-2E38-C63A-F427-F043C78A8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8971">
                <a:off x="2038424" y="4786391"/>
                <a:ext cx="34386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D1DFF1-1407-C82C-98E7-A97287F3000B}"/>
                  </a:ext>
                </a:extLst>
              </p:cNvPr>
              <p:cNvSpPr txBox="1"/>
              <p:nvPr/>
            </p:nvSpPr>
            <p:spPr>
              <a:xfrm rot="120000">
                <a:off x="1309376" y="1939327"/>
                <a:ext cx="343868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(system)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D1DFF1-1407-C82C-98E7-A97287F30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">
                <a:off x="1309376" y="1939327"/>
                <a:ext cx="3438688" cy="390748"/>
              </a:xfrm>
              <a:prstGeom prst="rect">
                <a:avLst/>
              </a:prstGeom>
              <a:blipFill>
                <a:blip r:embed="rId9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726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CAEFD038-1A8C-8348-AE83-ABE1894FE889}"/>
              </a:ext>
            </a:extLst>
          </p:cNvPr>
          <p:cNvSpPr txBox="1"/>
          <p:nvPr/>
        </p:nvSpPr>
        <p:spPr>
          <a:xfrm>
            <a:off x="0" y="-322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can do this for melting too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7FCB49-3B4A-DF46-9149-AB660CF40FC5}"/>
                  </a:ext>
                </a:extLst>
              </p:cNvPr>
              <p:cNvSpPr txBox="1"/>
              <p:nvPr/>
            </p:nvSpPr>
            <p:spPr>
              <a:xfrm>
                <a:off x="1777349" y="4596713"/>
                <a:ext cx="1543795" cy="503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𝑓𝑢𝑠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7FCB49-3B4A-DF46-9149-AB660CF40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349" y="4596713"/>
                <a:ext cx="1543795" cy="503728"/>
              </a:xfrm>
              <a:prstGeom prst="rect">
                <a:avLst/>
              </a:prstGeom>
              <a:blipFill>
                <a:blip r:embed="rId2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87BADF3-9D7E-9E4A-8108-510E1222FEC8}"/>
              </a:ext>
            </a:extLst>
          </p:cNvPr>
          <p:cNvGrpSpPr/>
          <p:nvPr/>
        </p:nvGrpSpPr>
        <p:grpSpPr>
          <a:xfrm>
            <a:off x="3321144" y="486979"/>
            <a:ext cx="6639101" cy="6130749"/>
            <a:chOff x="8174266" y="241879"/>
            <a:chExt cx="6639101" cy="6130749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A9AB6236-8DFD-5FF8-BD5C-E581E73A06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9" t="10592" r="5702" b="7549"/>
            <a:stretch/>
          </p:blipFill>
          <p:spPr bwMode="auto">
            <a:xfrm>
              <a:off x="8174266" y="241879"/>
              <a:ext cx="6639101" cy="61307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C66BD8-7831-126E-ABA2-F104B1F54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0986" y="4457075"/>
              <a:ext cx="0" cy="352425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B20ABF-84CD-2B5B-F368-8DBFEE452A98}"/>
              </a:ext>
            </a:extLst>
          </p:cNvPr>
          <p:cNvCxnSpPr>
            <a:cxnSpLocks/>
          </p:cNvCxnSpPr>
          <p:nvPr/>
        </p:nvCxnSpPr>
        <p:spPr>
          <a:xfrm flipV="1">
            <a:off x="4947339" y="4727575"/>
            <a:ext cx="0" cy="26670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17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can do this for melting too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4E6CF6-B7E9-5B72-A2DD-E8D0EF35182D}"/>
              </a:ext>
            </a:extLst>
          </p:cNvPr>
          <p:cNvGrpSpPr/>
          <p:nvPr/>
        </p:nvGrpSpPr>
        <p:grpSpPr>
          <a:xfrm>
            <a:off x="219919" y="932822"/>
            <a:ext cx="6553641" cy="4913525"/>
            <a:chOff x="219919" y="932822"/>
            <a:chExt cx="6553641" cy="4913525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3FA6113C-D8CE-A6A2-F180-AEBD0FFDB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919" y="932822"/>
              <a:ext cx="6553641" cy="4913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2905F7F-7B7D-0EF8-859B-DCADD0912CC0}"/>
                </a:ext>
              </a:extLst>
            </p:cNvPr>
            <p:cNvSpPr/>
            <p:nvPr/>
          </p:nvSpPr>
          <p:spPr>
            <a:xfrm>
              <a:off x="2798649" y="3412717"/>
              <a:ext cx="155448" cy="15692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73872C5-D0C2-7F9C-DA69-1A2DE783E000}"/>
              </a:ext>
            </a:extLst>
          </p:cNvPr>
          <p:cNvGrpSpPr/>
          <p:nvPr/>
        </p:nvGrpSpPr>
        <p:grpSpPr>
          <a:xfrm>
            <a:off x="6939542" y="1701855"/>
            <a:ext cx="4922606" cy="3706174"/>
            <a:chOff x="6939542" y="1701855"/>
            <a:chExt cx="4922606" cy="37061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3B8C042-4B6E-AE61-A587-D4E6EAEAF7EF}"/>
                    </a:ext>
                  </a:extLst>
                </p:cNvPr>
                <p:cNvSpPr txBox="1"/>
                <p:nvPr/>
              </p:nvSpPr>
              <p:spPr>
                <a:xfrm>
                  <a:off x="6962769" y="1701855"/>
                  <a:ext cx="4327672" cy="662554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𝑓𝑢𝑠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3B8C042-4B6E-AE61-A587-D4E6EAEAF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769" y="1701855"/>
                  <a:ext cx="4327672" cy="662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64E2B57-3917-3936-A700-350E6A89E07B}"/>
                    </a:ext>
                  </a:extLst>
                </p:cNvPr>
                <p:cNvSpPr txBox="1"/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𝑓𝑢𝑠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𝑠𝑢𝑟𝑟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64E2B57-3917-3936-A700-350E6A89E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18EBE3D-20F9-F779-CDC3-C2337C15E0D5}"/>
                    </a:ext>
                  </a:extLst>
                </p:cNvPr>
                <p:cNvSpPr txBox="1"/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18EBE3D-20F9-F779-CDC3-C2337C15E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AE6109D-D2C8-6B19-F892-898C9D19D896}"/>
                    </a:ext>
                  </a:extLst>
                </p:cNvPr>
                <p:cNvSpPr txBox="1"/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ea typeface="Cambria Math" panose="02040503050406030204" pitchFamily="18" charset="0"/>
                    </a:rPr>
                    <a:t>If</a:t>
                  </a:r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400" dirty="0"/>
                    <a:t>, then a process is </a:t>
                  </a:r>
                  <a:r>
                    <a:rPr lang="en-US" sz="2400" b="1" dirty="0"/>
                    <a:t>spontaneous at that temperature</a:t>
                  </a:r>
                  <a:r>
                    <a:rPr lang="en-US" sz="2400" dirty="0"/>
                    <a:t>.</a:t>
                  </a:r>
                  <a:endParaRPr lang="en-US" sz="24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AE6109D-D2C8-6B19-F892-898C9D19D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blipFill>
                  <a:blip r:embed="rId7"/>
                  <a:stretch>
                    <a:fillRect l="-2429" t="-2062" r="-4453" b="-927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E4AABB-98B0-609E-962C-43AFF3120524}"/>
                  </a:ext>
                </a:extLst>
              </p:cNvPr>
              <p:cNvSpPr txBox="1"/>
              <p:nvPr/>
            </p:nvSpPr>
            <p:spPr>
              <a:xfrm rot="21275322">
                <a:off x="1309376" y="1938910"/>
                <a:ext cx="3438688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(system)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E4AABB-98B0-609E-962C-43AFF312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75322">
                <a:off x="1309376" y="1938910"/>
                <a:ext cx="3438688" cy="3915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8292A6-B35B-4248-1041-832648149D8E}"/>
                  </a:ext>
                </a:extLst>
              </p:cNvPr>
              <p:cNvSpPr txBox="1"/>
              <p:nvPr/>
            </p:nvSpPr>
            <p:spPr>
              <a:xfrm rot="21420000">
                <a:off x="2038424" y="4627895"/>
                <a:ext cx="34386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𝑠𝑢𝑟𝑟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8292A6-B35B-4248-1041-832648149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420000">
                <a:off x="2038424" y="4627895"/>
                <a:ext cx="34386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174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 more general notation for 2</a:t>
            </a:r>
            <a:r>
              <a:rPr lang="en-US" sz="2400" b="1" baseline="30000" dirty="0"/>
              <a:t>nd</a:t>
            </a:r>
            <a:r>
              <a:rPr lang="en-US" sz="2400" b="1" dirty="0"/>
              <a:t> Law as applied to phase transformations (using “</a:t>
            </a:r>
            <a:r>
              <a:rPr lang="en-US" sz="2400" b="1" dirty="0" err="1"/>
              <a:t>trs</a:t>
            </a:r>
            <a:r>
              <a:rPr lang="en-US" sz="2400" b="1" dirty="0"/>
              <a:t>”)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3872C5-D0C2-7F9C-DA69-1A2DE783E000}"/>
              </a:ext>
            </a:extLst>
          </p:cNvPr>
          <p:cNvGrpSpPr/>
          <p:nvPr/>
        </p:nvGrpSpPr>
        <p:grpSpPr>
          <a:xfrm>
            <a:off x="3257558" y="1716555"/>
            <a:ext cx="4922606" cy="3706174"/>
            <a:chOff x="6939542" y="1701855"/>
            <a:chExt cx="4922606" cy="37061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3B8C042-4B6E-AE61-A587-D4E6EAEAF7EF}"/>
                    </a:ext>
                  </a:extLst>
                </p:cNvPr>
                <p:cNvSpPr txBox="1"/>
                <p:nvPr/>
              </p:nvSpPr>
              <p:spPr>
                <a:xfrm>
                  <a:off x="6962769" y="1701855"/>
                  <a:ext cx="4327672" cy="662554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𝑡𝑟𝑠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3B8C042-4B6E-AE61-A587-D4E6EAEAF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2769" y="1701855"/>
                  <a:ext cx="4327672" cy="662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64E2B57-3917-3936-A700-350E6A89E07B}"/>
                    </a:ext>
                  </a:extLst>
                </p:cNvPr>
                <p:cNvSpPr txBox="1"/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𝑠𝑢𝑟𝑟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𝑡𝑟𝑠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𝑠𝑢𝑟𝑟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64E2B57-3917-3936-A700-350E6A89E0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4545613"/>
                  <a:ext cx="4350899" cy="8624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18EBE3D-20F9-F779-CDC3-C2337C15E0D5}"/>
                    </a:ext>
                  </a:extLst>
                </p:cNvPr>
                <p:cNvSpPr txBox="1"/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18EBE3D-20F9-F779-CDC3-C2337C15E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542" y="3154299"/>
                  <a:ext cx="1460747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AE6109D-D2C8-6B19-F892-898C9D19D896}"/>
                    </a:ext>
                  </a:extLst>
                </p:cNvPr>
                <p:cNvSpPr txBox="1"/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ea typeface="Cambria Math" panose="02040503050406030204" pitchFamily="18" charset="0"/>
                    </a:rPr>
                    <a:t>If</a:t>
                  </a:r>
                  <a:r>
                    <a:rPr lang="en-US" sz="2400" b="1" dirty="0">
                      <a:solidFill>
                        <a:srgbClr val="7030A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400" dirty="0"/>
                    <a:t>, then a process is </a:t>
                  </a:r>
                  <a:r>
                    <a:rPr lang="en-US" sz="2400" b="1" dirty="0"/>
                    <a:t>spontaneous at that temperature</a:t>
                  </a:r>
                  <a:r>
                    <a:rPr lang="en-US" sz="2400" dirty="0"/>
                    <a:t>.</a:t>
                  </a:r>
                  <a:endParaRPr lang="en-US" sz="24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AE6109D-D2C8-6B19-F892-898C9D19D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6229" y="2913210"/>
                  <a:ext cx="3105919" cy="1200329"/>
                </a:xfrm>
                <a:prstGeom prst="rect">
                  <a:avLst/>
                </a:prstGeom>
                <a:blipFill>
                  <a:blip r:embed="rId6"/>
                  <a:stretch>
                    <a:fillRect l="-2429" t="-2062" r="-4453" b="-10309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8334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E2AEBCC-9153-B24B-8E3A-E07B75C86BBF}"/>
              </a:ext>
            </a:extLst>
          </p:cNvPr>
          <p:cNvSpPr txBox="1"/>
          <p:nvPr/>
        </p:nvSpPr>
        <p:spPr>
          <a:xfrm>
            <a:off x="0" y="-1541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F654B-6D93-C1E3-DFB4-926225B78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175" y="3610570"/>
            <a:ext cx="7568385" cy="2749393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0A43EF-C300-0441-CE20-E01C6ADA5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5" y="1099915"/>
            <a:ext cx="9082503" cy="21409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090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1205</Words>
  <Application>Microsoft Macintosh PowerPoint</Application>
  <PresentationFormat>Widescreen</PresentationFormat>
  <Paragraphs>197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131</cp:revision>
  <dcterms:created xsi:type="dcterms:W3CDTF">2021-11-03T15:05:49Z</dcterms:created>
  <dcterms:modified xsi:type="dcterms:W3CDTF">2025-11-11T15:30:41Z</dcterms:modified>
</cp:coreProperties>
</file>