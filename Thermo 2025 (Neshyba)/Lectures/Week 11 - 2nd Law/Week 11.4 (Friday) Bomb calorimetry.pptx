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442" r:id="rId2"/>
    <p:sldId id="312" r:id="rId3"/>
    <p:sldId id="44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5958"/>
  </p:normalViewPr>
  <p:slideViewPr>
    <p:cSldViewPr snapToGrid="0">
      <p:cViewPr varScale="1">
        <p:scale>
          <a:sx n="112" d="100"/>
          <a:sy n="112" d="100"/>
        </p:scale>
        <p:origin x="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5C297-5124-ABD9-EBD4-4C8B23694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85B55B-E9E1-55EC-AC07-1E57A16251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20722-E8B5-0D6F-E668-08FD6B9E8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CD493-439E-9B46-8A4E-2885AE1BFBDC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BEF44-288A-5DC3-B30E-1CDDFD615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1F4AB-24FA-8444-07CE-2E8764A85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FFD88-450D-6D42-A7C9-7002D2967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457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095EE-1E31-AC0B-8E20-95323C018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48A09-CF99-1A88-778F-84C777428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313DD-BBA2-A209-D787-57AA0C781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CD493-439E-9B46-8A4E-2885AE1BFBDC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A05FC-F63B-5C09-75E4-438D69920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519DE-D3B6-2470-BB4F-78252CC73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FFD88-450D-6D42-A7C9-7002D2967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606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0CFE5-45B7-DAA8-9A8C-7ABC1B8AC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889ED9-F0FA-37CE-A96B-FEE86DA4C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95B37-138A-88DB-1C0C-FAC1AE662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CD493-439E-9B46-8A4E-2885AE1BFBDC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B6E7E-BEC3-D2DB-2514-0D68508FC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C7865-84EA-A097-39C4-4F7CAED78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FFD88-450D-6D42-A7C9-7002D2967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910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5A88B-5D7B-C1E6-C181-5C1BDF900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8A26B-6B2D-565F-C0C6-73CAC9462D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C1AFB6-62EB-6BB6-5CA7-72AC3437B3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CE3166-013F-C05C-DB67-A71F77DD7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CD493-439E-9B46-8A4E-2885AE1BFBDC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CB6C0C-2BCB-15DF-39B9-58EE8345A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96A16-1383-2CD6-8E8E-42A78CE53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FFD88-450D-6D42-A7C9-7002D2967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525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A022F-80BE-9367-51F5-CD4E6AC17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2D0E1-460A-7EA1-ABA4-6F841DF63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BEF5C2-DBEE-0204-0E27-C433239ADE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C94B0A-7964-7CBB-F779-41B595A7D3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65CDEB-FE11-3743-DD78-9D542FBCA5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FD9081-58D5-FB46-AB76-2DA3D9CA1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CD493-439E-9B46-8A4E-2885AE1BFBDC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91F82A-F878-DA3C-39E1-47A25DA1E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D21E98-CE2F-E449-65A3-9DF05C047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FFD88-450D-6D42-A7C9-7002D2967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218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88878-A103-0861-5425-FAA24A8DD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4D4C4E-EE07-ACDF-09D8-3C6D5F3E4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CD493-439E-9B46-8A4E-2885AE1BFBDC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2D9B12-85A6-0CF1-E1DF-7B2558319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E21390-A4B0-DBA9-6C39-61C571915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FFD88-450D-6D42-A7C9-7002D2967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609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4A4B8C-A091-D1E1-69B3-66A444C9A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CD493-439E-9B46-8A4E-2885AE1BFBDC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8521A7-B1CD-C128-87FF-771348C2B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ECFB6-E61E-5BCC-12F9-C9D6DAD3E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FFD88-450D-6D42-A7C9-7002D2967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26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A8EE9-92C5-5BAF-8170-1118D4EB5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0A21D-4D07-2DEF-4FF9-C390DDA15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89AA0A-CD77-1801-D046-55C200253F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2E91F-D246-249E-79E2-4E4175F4F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CD493-439E-9B46-8A4E-2885AE1BFBDC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05E236-507A-1E55-44D1-28CEB498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57697-7344-C8C7-1EFC-EBE51BBAF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FFD88-450D-6D42-A7C9-7002D2967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366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BA39B-D8DD-FE2B-BB1A-C46AC1A7D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BF978F-5FC5-E79F-CD4B-0DDFE96E97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768D2-BCB9-61CF-5B43-7E67F8045B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0FB70C-B2C9-EF9E-EED1-F98C2A8E7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CD493-439E-9B46-8A4E-2885AE1BFBDC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CA0D4B-DB54-593A-C647-C3860A2BB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943A2-727B-38C8-3207-454EDE01E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FFD88-450D-6D42-A7C9-7002D2967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449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1E2E5-CD29-6E0D-55FC-595759C8D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29025B-8A15-E523-67EF-5C83AE8DA2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3D11D-B1AD-8DCC-FA43-C86BEA36D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CD493-439E-9B46-8A4E-2885AE1BFBDC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CC3B1-7F3D-936D-AC4E-16716F986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88D76-F2D1-16DC-3CA7-30CDCBFD8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FFD88-450D-6D42-A7C9-7002D2967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392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5576DA-80F0-263F-969C-F9C6055393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D68108-2E58-987B-CAAD-2CA5D08212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EA598-7CE4-AA94-26E5-5C3EAC874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CD493-439E-9B46-8A4E-2885AE1BFBDC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C0B76-DCCE-4C13-5ADB-8F01877B9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5A5BE-1F5B-B995-9587-8D25C91A6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FFD88-450D-6D42-A7C9-7002D2967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983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B76533-1E9F-1140-B68C-B3FCC279E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EEEA9-C16A-8F5A-7179-06349AE0F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FE2CC-1358-A1E8-231C-4C34FA0D31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9CD493-439E-9B46-8A4E-2885AE1BFBDC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8D7A8-09DB-8897-5C7F-9AE5115CAB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557B3-F27A-4938-1B7A-4EAC4CAFD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FFD88-450D-6D42-A7C9-7002D2967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913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4.png"/><Relationship Id="rId7" Type="http://schemas.openxmlformats.org/officeDocument/2006/relationships/image" Target="NUL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NULL"/><Relationship Id="rId9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194E8C-B303-244A-9426-3DF6B5B206ED}"/>
                  </a:ext>
                </a:extLst>
              </p:cNvPr>
              <p:cNvSpPr txBox="1"/>
              <p:nvPr/>
            </p:nvSpPr>
            <p:spPr>
              <a:xfrm>
                <a:off x="0" y="-322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Bomb calorimeters tell us the heat (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sz="2400" b="1" dirty="0"/>
                  <a:t>) evolved during a chemical reaction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194E8C-B303-244A-9426-3DF6B5B20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322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32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78E15BC0-F48F-A443-299F-1E7E3303F217}"/>
              </a:ext>
            </a:extLst>
          </p:cNvPr>
          <p:cNvGrpSpPr/>
          <p:nvPr/>
        </p:nvGrpSpPr>
        <p:grpSpPr>
          <a:xfrm>
            <a:off x="1524000" y="924510"/>
            <a:ext cx="7876032" cy="5189777"/>
            <a:chOff x="1524000" y="924510"/>
            <a:chExt cx="7876032" cy="518977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290DC3E-4492-D8F9-C76A-F81EC593FB62}"/>
                </a:ext>
              </a:extLst>
            </p:cNvPr>
            <p:cNvGrpSpPr/>
            <p:nvPr/>
          </p:nvGrpSpPr>
          <p:grpSpPr>
            <a:xfrm>
              <a:off x="1524000" y="924510"/>
              <a:ext cx="7876032" cy="5189777"/>
              <a:chOff x="1524000" y="924510"/>
              <a:chExt cx="7876032" cy="5189777"/>
            </a:xfrm>
          </p:grpSpPr>
          <p:pic>
            <p:nvPicPr>
              <p:cNvPr id="2050" name="Picture 2" descr="Bomb Calorimeter — Structure &amp; Function - Expii">
                <a:extLst>
                  <a:ext uri="{FF2B5EF4-FFF2-40B4-BE49-F238E27FC236}">
                    <a16:creationId xmlns:a16="http://schemas.microsoft.com/office/drawing/2014/main" id="{7C3C65B3-8EFA-9B5F-8686-058FB637A6C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24000" y="924510"/>
                <a:ext cx="7402640" cy="51897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1D3B605-CD51-B834-634F-6BF3AF20BB67}"/>
                  </a:ext>
                </a:extLst>
              </p:cNvPr>
              <p:cNvSpPr txBox="1"/>
              <p:nvPr/>
            </p:nvSpPr>
            <p:spPr>
              <a:xfrm>
                <a:off x="7583424" y="4572000"/>
                <a:ext cx="1816608" cy="83099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Reaction vessel</a:t>
                </a:r>
              </a:p>
            </p:txBody>
          </p:sp>
        </p:grpSp>
        <p:sp>
          <p:nvSpPr>
            <p:cNvPr id="6" name="Right Arrow 5">
              <a:extLst>
                <a:ext uri="{FF2B5EF4-FFF2-40B4-BE49-F238E27FC236}">
                  <a16:creationId xmlns:a16="http://schemas.microsoft.com/office/drawing/2014/main" id="{6DF687D1-F3D9-7397-C128-43417566AF64}"/>
                </a:ext>
              </a:extLst>
            </p:cNvPr>
            <p:cNvSpPr/>
            <p:nvPr/>
          </p:nvSpPr>
          <p:spPr>
            <a:xfrm rot="9781782">
              <a:off x="5690270" y="5338089"/>
              <a:ext cx="370390" cy="243069"/>
            </a:xfrm>
            <a:prstGeom prst="rightArrow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ight Arrow 6">
              <a:extLst>
                <a:ext uri="{FF2B5EF4-FFF2-40B4-BE49-F238E27FC236}">
                  <a16:creationId xmlns:a16="http://schemas.microsoft.com/office/drawing/2014/main" id="{7B22A4B0-59A4-DE04-A961-A8D345BAB1E9}"/>
                </a:ext>
              </a:extLst>
            </p:cNvPr>
            <p:cNvSpPr/>
            <p:nvPr/>
          </p:nvSpPr>
          <p:spPr>
            <a:xfrm rot="12646621">
              <a:off x="5713494" y="4767612"/>
              <a:ext cx="370390" cy="243069"/>
            </a:xfrm>
            <a:prstGeom prst="rightArrow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79A5525-1FC5-DCC4-76A9-8201D0225C6D}"/>
                    </a:ext>
                  </a:extLst>
                </p:cNvPr>
                <p:cNvSpPr txBox="1"/>
                <p:nvPr/>
              </p:nvSpPr>
              <p:spPr>
                <a:xfrm>
                  <a:off x="5526757" y="4891119"/>
                  <a:ext cx="50604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𝒒</m:t>
                        </m:r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79A5525-1FC5-DCC4-76A9-8201D0225C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6757" y="4891119"/>
                  <a:ext cx="506044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06980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E3F3EC0-AFFD-7640-A054-CF5F5B92A74C}"/>
                  </a:ext>
                </a:extLst>
              </p:cNvPr>
              <p:cNvSpPr txBox="1"/>
              <p:nvPr/>
            </p:nvSpPr>
            <p:spPr>
              <a:xfrm>
                <a:off x="0" y="1841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𝒓𝒙𝒏</m:t>
                        </m:r>
                      </m:sub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𝒐</m:t>
                        </m:r>
                      </m:sup>
                    </m:sSubSup>
                  </m:oMath>
                </a14:m>
                <a:r>
                  <a:rPr lang="en-US" sz="2400" b="1" i="1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E3F3EC0-AFFD-7640-A054-CF5F5B92A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41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1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BC4DEA12-3AE9-F5FD-5491-02DF018A958E}"/>
              </a:ext>
            </a:extLst>
          </p:cNvPr>
          <p:cNvGrpSpPr/>
          <p:nvPr/>
        </p:nvGrpSpPr>
        <p:grpSpPr>
          <a:xfrm>
            <a:off x="7542380" y="1216319"/>
            <a:ext cx="3420141" cy="2450039"/>
            <a:chOff x="7975518" y="3333878"/>
            <a:chExt cx="3420141" cy="245003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2CCF447-B0D3-D4D9-524B-E44909502F6C}"/>
                </a:ext>
              </a:extLst>
            </p:cNvPr>
            <p:cNvGrpSpPr/>
            <p:nvPr/>
          </p:nvGrpSpPr>
          <p:grpSpPr>
            <a:xfrm>
              <a:off x="7975518" y="3333878"/>
              <a:ext cx="3420141" cy="2450039"/>
              <a:chOff x="7975518" y="1322198"/>
              <a:chExt cx="3420141" cy="2450039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EC7C7003-01E1-2D50-320E-563685CF569D}"/>
                  </a:ext>
                </a:extLst>
              </p:cNvPr>
              <p:cNvGrpSpPr/>
              <p:nvPr/>
            </p:nvGrpSpPr>
            <p:grpSpPr>
              <a:xfrm>
                <a:off x="7975518" y="1322198"/>
                <a:ext cx="3420141" cy="2450039"/>
                <a:chOff x="7975518" y="1299338"/>
                <a:chExt cx="3420141" cy="2450039"/>
              </a:xfrm>
            </p:grpSpPr>
            <p:grpSp>
              <p:nvGrpSpPr>
                <p:cNvPr id="2" name="Group 1">
                  <a:extLst>
                    <a:ext uri="{FF2B5EF4-FFF2-40B4-BE49-F238E27FC236}">
                      <a16:creationId xmlns:a16="http://schemas.microsoft.com/office/drawing/2014/main" id="{24786ED0-2691-7121-62BD-9089D83634E1}"/>
                    </a:ext>
                  </a:extLst>
                </p:cNvPr>
                <p:cNvGrpSpPr/>
                <p:nvPr/>
              </p:nvGrpSpPr>
              <p:grpSpPr>
                <a:xfrm>
                  <a:off x="7975518" y="1299338"/>
                  <a:ext cx="3420141" cy="2450039"/>
                  <a:chOff x="8605537" y="1833465"/>
                  <a:chExt cx="3420141" cy="2450039"/>
                </a:xfrm>
              </p:grpSpPr>
              <p:pic>
                <p:nvPicPr>
                  <p:cNvPr id="20" name="Picture 19">
                    <a:extLst>
                      <a:ext uri="{FF2B5EF4-FFF2-40B4-BE49-F238E27FC236}">
                        <a16:creationId xmlns:a16="http://schemas.microsoft.com/office/drawing/2014/main" id="{8B6E7083-C67B-8B8E-10E7-932BFB5B94E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8605537" y="1833465"/>
                    <a:ext cx="3420141" cy="2450039"/>
                  </a:xfrm>
                  <a:prstGeom prst="rect">
                    <a:avLst/>
                  </a:prstGeom>
                </p:spPr>
              </p:pic>
              <p:cxnSp>
                <p:nvCxnSpPr>
                  <p:cNvPr id="21" name="Straight Arrow Connector 20">
                    <a:extLst>
                      <a:ext uri="{FF2B5EF4-FFF2-40B4-BE49-F238E27FC236}">
                        <a16:creationId xmlns:a16="http://schemas.microsoft.com/office/drawing/2014/main" id="{EA37DC0B-0FB2-4E99-B144-6A5E4F482DC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0104776" y="3670300"/>
                    <a:ext cx="1706224" cy="243339"/>
                  </a:xfrm>
                  <a:prstGeom prst="straightConnector1">
                    <a:avLst/>
                  </a:prstGeom>
                  <a:ln w="63500">
                    <a:solidFill>
                      <a:srgbClr val="C0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EF7E70E4-9BC1-E476-F4C9-629C9DC69C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480475" y="2404533"/>
                  <a:ext cx="0" cy="719433"/>
                </a:xfrm>
                <a:prstGeom prst="straightConnector1">
                  <a:avLst/>
                </a:prstGeom>
                <a:ln w="63500">
                  <a:solidFill>
                    <a:schemeClr val="accent3"/>
                  </a:solidFill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2E525827-5889-5947-E328-559F3AD3861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83754" y="1475718"/>
                <a:ext cx="0" cy="406192"/>
              </a:xfrm>
              <a:prstGeom prst="straightConnector1">
                <a:avLst/>
              </a:prstGeom>
              <a:ln w="63500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7208085-00FA-E71E-ACD3-CB017497D9FE}"/>
                    </a:ext>
                  </a:extLst>
                </p:cNvPr>
                <p:cNvSpPr txBox="1"/>
                <p:nvPr/>
              </p:nvSpPr>
              <p:spPr>
                <a:xfrm rot="20166424">
                  <a:off x="8540917" y="3708924"/>
                  <a:ext cx="237435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𝑝𝑟𝑜𝑑𝑢𝑐𝑡</m:t>
                        </m:r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7208085-00FA-E71E-ACD3-CB017497D9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166424">
                  <a:off x="8540917" y="3708924"/>
                  <a:ext cx="237435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8CEE600-BDF4-337B-78A2-55DDFA9EBC74}"/>
                    </a:ext>
                  </a:extLst>
                </p:cNvPr>
                <p:cNvSpPr txBox="1"/>
                <p:nvPr/>
              </p:nvSpPr>
              <p:spPr>
                <a:xfrm rot="19155835">
                  <a:off x="9077905" y="4364881"/>
                  <a:ext cx="198024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𝑟𝑒𝑎𝑐𝑡𝑎𝑛𝑡</m:t>
                        </m:r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8CEE600-BDF4-337B-78A2-55DDFA9EBC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55835">
                  <a:off x="9077905" y="4364881"/>
                  <a:ext cx="1980247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A59CB960-5A83-8768-0C32-50E654BF7F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97381" y="4753835"/>
              <a:ext cx="782945" cy="348743"/>
            </a:xfrm>
            <a:prstGeom prst="straightConnector1">
              <a:avLst/>
            </a:prstGeom>
            <a:ln w="635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842974F-A054-D3EB-F4C9-9CEFDDCD5621}"/>
                  </a:ext>
                </a:extLst>
              </p:cNvPr>
              <p:cNvSpPr txBox="1"/>
              <p:nvPr/>
            </p:nvSpPr>
            <p:spPr>
              <a:xfrm>
                <a:off x="213559" y="882951"/>
                <a:ext cx="7142725" cy="3046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ea typeface="Cambria Math" panose="02040503050406030204" pitchFamily="18" charset="0"/>
                  </a:rPr>
                  <a:t>Before, we said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𝒓𝒙𝒏</m:t>
                        </m:r>
                      </m:sub>
                    </m:sSub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𝒓𝒙𝒏</m:t>
                        </m:r>
                      </m:sub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𝒐</m:t>
                        </m:r>
                      </m:sup>
                    </m:sSubSup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+∆</m:t>
                    </m:r>
                    <m:d>
                      <m:d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𝒓𝒙𝒏</m:t>
                            </m:r>
                          </m:sub>
                        </m:sSub>
                      </m:e>
                    </m:d>
                  </m:oMath>
                </a14:m>
                <a:endParaRPr lang="en-US" sz="2400" b="1" i="1" dirty="0">
                  <a:solidFill>
                    <a:schemeClr val="tx1"/>
                  </a:solidFill>
                </a:endParaRPr>
              </a:p>
              <a:p>
                <a:endParaRPr lang="en-US" sz="2400" i="1" dirty="0"/>
              </a:p>
              <a:p>
                <a:r>
                  <a:rPr lang="en-US" sz="2400" dirty="0">
                    <a:ea typeface="Cambria Math" panose="02040503050406030204" pitchFamily="18" charset="0"/>
                  </a:rPr>
                  <a:t>To get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d>
                      <m:d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𝒓𝒙𝒏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, we needed heat capacities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sz="2400" dirty="0"/>
                  <a:t>) and isothermal Joule-Thomson coefficients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2400" dirty="0"/>
                  <a:t>).</a:t>
                </a:r>
              </a:p>
              <a:p>
                <a:endParaRPr lang="en-US" sz="2400" dirty="0"/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But how to get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𝒓𝒙𝒏</m:t>
                        </m:r>
                      </m:sub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𝒐</m:t>
                        </m:r>
                      </m:sup>
                    </m:sSub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?</a:t>
                </a:r>
              </a:p>
              <a:p>
                <a:endParaRPr lang="en-US" sz="2400" dirty="0"/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Answer: bomb calorimetry!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842974F-A054-D3EB-F4C9-9CEFDDCD5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59" y="882951"/>
                <a:ext cx="7142725" cy="3046988"/>
              </a:xfrm>
              <a:prstGeom prst="rect">
                <a:avLst/>
              </a:prstGeom>
              <a:blipFill>
                <a:blip r:embed="rId8"/>
                <a:stretch>
                  <a:fillRect l="-1241" t="-1245" b="-3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9A5D234C-F7F3-6FE9-B125-1CA2182BE0BA}"/>
              </a:ext>
            </a:extLst>
          </p:cNvPr>
          <p:cNvGrpSpPr>
            <a:grpSpLocks noChangeAspect="1"/>
          </p:cNvGrpSpPr>
          <p:nvPr/>
        </p:nvGrpSpPr>
        <p:grpSpPr>
          <a:xfrm>
            <a:off x="7557000" y="4031292"/>
            <a:ext cx="4307340" cy="2234376"/>
            <a:chOff x="1524000" y="924510"/>
            <a:chExt cx="10004644" cy="518977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24C2367-4075-798E-CF0D-26FE28C75285}"/>
                </a:ext>
              </a:extLst>
            </p:cNvPr>
            <p:cNvGrpSpPr/>
            <p:nvPr/>
          </p:nvGrpSpPr>
          <p:grpSpPr>
            <a:xfrm>
              <a:off x="1524000" y="924510"/>
              <a:ext cx="10004644" cy="5189777"/>
              <a:chOff x="1524000" y="924510"/>
              <a:chExt cx="10004644" cy="5189777"/>
            </a:xfrm>
          </p:grpSpPr>
          <p:pic>
            <p:nvPicPr>
              <p:cNvPr id="15" name="Picture 2" descr="Bomb Calorimeter — Structure &amp; Function - Expii">
                <a:extLst>
                  <a:ext uri="{FF2B5EF4-FFF2-40B4-BE49-F238E27FC236}">
                    <a16:creationId xmlns:a16="http://schemas.microsoft.com/office/drawing/2014/main" id="{436F68E9-B7DA-6D24-EA08-85FFD027B8F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24000" y="924510"/>
                <a:ext cx="7402640" cy="51897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FED599C-1A35-E9ED-56FE-39148E14E7CD}"/>
                  </a:ext>
                </a:extLst>
              </p:cNvPr>
              <p:cNvSpPr txBox="1"/>
              <p:nvPr/>
            </p:nvSpPr>
            <p:spPr>
              <a:xfrm>
                <a:off x="7583423" y="4572000"/>
                <a:ext cx="3945221" cy="64338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Reaction vessel</a:t>
                </a:r>
              </a:p>
            </p:txBody>
          </p:sp>
        </p:grpSp>
        <p:sp>
          <p:nvSpPr>
            <p:cNvPr id="9" name="Right Arrow 8">
              <a:extLst>
                <a:ext uri="{FF2B5EF4-FFF2-40B4-BE49-F238E27FC236}">
                  <a16:creationId xmlns:a16="http://schemas.microsoft.com/office/drawing/2014/main" id="{5FADEDD0-F3D6-618D-58EF-D8B21FD45640}"/>
                </a:ext>
              </a:extLst>
            </p:cNvPr>
            <p:cNvSpPr/>
            <p:nvPr/>
          </p:nvSpPr>
          <p:spPr>
            <a:xfrm rot="9781782">
              <a:off x="5690270" y="5338089"/>
              <a:ext cx="370390" cy="243069"/>
            </a:xfrm>
            <a:prstGeom prst="rightArrow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7BBDCD66-CD9E-2CA0-1865-E8086E645366}"/>
                </a:ext>
              </a:extLst>
            </p:cNvPr>
            <p:cNvSpPr/>
            <p:nvPr/>
          </p:nvSpPr>
          <p:spPr>
            <a:xfrm rot="12646621">
              <a:off x="5713494" y="4767612"/>
              <a:ext cx="370390" cy="243069"/>
            </a:xfrm>
            <a:prstGeom prst="rightArrow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5512F8E-538F-C2FA-6B9B-4C1F531FA8B3}"/>
                    </a:ext>
                  </a:extLst>
                </p:cNvPr>
                <p:cNvSpPr txBox="1"/>
                <p:nvPr/>
              </p:nvSpPr>
              <p:spPr>
                <a:xfrm>
                  <a:off x="5526757" y="4891119"/>
                  <a:ext cx="50604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𝒒</m:t>
                        </m:r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79A5525-1FC5-DCC4-76A9-8201D0225C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6757" y="4891119"/>
                  <a:ext cx="506044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77055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E3F3EC0-AFFD-7640-A054-CF5F5B92A74C}"/>
                  </a:ext>
                </a:extLst>
              </p:cNvPr>
              <p:cNvSpPr txBox="1"/>
              <p:nvPr/>
            </p:nvSpPr>
            <p:spPr>
              <a:xfrm>
                <a:off x="0" y="1841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𝒓𝒙𝒏</m:t>
                        </m:r>
                      </m:sub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𝒐</m:t>
                        </m:r>
                      </m:sup>
                    </m:sSubSup>
                  </m:oMath>
                </a14:m>
                <a:r>
                  <a:rPr lang="en-US" sz="2400" b="1" i="1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E3F3EC0-AFFD-7640-A054-CF5F5B92A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41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1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BC4DEA12-3AE9-F5FD-5491-02DF018A958E}"/>
              </a:ext>
            </a:extLst>
          </p:cNvPr>
          <p:cNvGrpSpPr/>
          <p:nvPr/>
        </p:nvGrpSpPr>
        <p:grpSpPr>
          <a:xfrm>
            <a:off x="7542380" y="1216319"/>
            <a:ext cx="3420141" cy="2450039"/>
            <a:chOff x="7975518" y="3333878"/>
            <a:chExt cx="3420141" cy="245003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2CCF447-B0D3-D4D9-524B-E44909502F6C}"/>
                </a:ext>
              </a:extLst>
            </p:cNvPr>
            <p:cNvGrpSpPr/>
            <p:nvPr/>
          </p:nvGrpSpPr>
          <p:grpSpPr>
            <a:xfrm>
              <a:off x="7975518" y="3333878"/>
              <a:ext cx="3420141" cy="2450039"/>
              <a:chOff x="7975518" y="1322198"/>
              <a:chExt cx="3420141" cy="2450039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EC7C7003-01E1-2D50-320E-563685CF569D}"/>
                  </a:ext>
                </a:extLst>
              </p:cNvPr>
              <p:cNvGrpSpPr/>
              <p:nvPr/>
            </p:nvGrpSpPr>
            <p:grpSpPr>
              <a:xfrm>
                <a:off x="7975518" y="1322198"/>
                <a:ext cx="3420141" cy="2450039"/>
                <a:chOff x="7975518" y="1299338"/>
                <a:chExt cx="3420141" cy="2450039"/>
              </a:xfrm>
            </p:grpSpPr>
            <p:grpSp>
              <p:nvGrpSpPr>
                <p:cNvPr id="2" name="Group 1">
                  <a:extLst>
                    <a:ext uri="{FF2B5EF4-FFF2-40B4-BE49-F238E27FC236}">
                      <a16:creationId xmlns:a16="http://schemas.microsoft.com/office/drawing/2014/main" id="{24786ED0-2691-7121-62BD-9089D83634E1}"/>
                    </a:ext>
                  </a:extLst>
                </p:cNvPr>
                <p:cNvGrpSpPr/>
                <p:nvPr/>
              </p:nvGrpSpPr>
              <p:grpSpPr>
                <a:xfrm>
                  <a:off x="7975518" y="1299338"/>
                  <a:ext cx="3420141" cy="2450039"/>
                  <a:chOff x="8605537" y="1833465"/>
                  <a:chExt cx="3420141" cy="2450039"/>
                </a:xfrm>
              </p:grpSpPr>
              <p:pic>
                <p:nvPicPr>
                  <p:cNvPr id="20" name="Picture 19">
                    <a:extLst>
                      <a:ext uri="{FF2B5EF4-FFF2-40B4-BE49-F238E27FC236}">
                        <a16:creationId xmlns:a16="http://schemas.microsoft.com/office/drawing/2014/main" id="{8B6E7083-C67B-8B8E-10E7-932BFB5B94E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8605537" y="1833465"/>
                    <a:ext cx="3420141" cy="2450039"/>
                  </a:xfrm>
                  <a:prstGeom prst="rect">
                    <a:avLst/>
                  </a:prstGeom>
                </p:spPr>
              </p:pic>
              <p:cxnSp>
                <p:nvCxnSpPr>
                  <p:cNvPr id="21" name="Straight Arrow Connector 20">
                    <a:extLst>
                      <a:ext uri="{FF2B5EF4-FFF2-40B4-BE49-F238E27FC236}">
                        <a16:creationId xmlns:a16="http://schemas.microsoft.com/office/drawing/2014/main" id="{EA37DC0B-0FB2-4E99-B144-6A5E4F482DC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0104776" y="3670300"/>
                    <a:ext cx="1706224" cy="243339"/>
                  </a:xfrm>
                  <a:prstGeom prst="straightConnector1">
                    <a:avLst/>
                  </a:prstGeom>
                  <a:ln w="63500">
                    <a:solidFill>
                      <a:srgbClr val="C0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EF7E70E4-9BC1-E476-F4C9-629C9DC69C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480475" y="2404533"/>
                  <a:ext cx="0" cy="719433"/>
                </a:xfrm>
                <a:prstGeom prst="straightConnector1">
                  <a:avLst/>
                </a:prstGeom>
                <a:ln w="63500">
                  <a:solidFill>
                    <a:schemeClr val="accent3"/>
                  </a:solidFill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2E525827-5889-5947-E328-559F3AD3861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83754" y="1475718"/>
                <a:ext cx="0" cy="406192"/>
              </a:xfrm>
              <a:prstGeom prst="straightConnector1">
                <a:avLst/>
              </a:prstGeom>
              <a:ln w="63500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7208085-00FA-E71E-ACD3-CB017497D9FE}"/>
                    </a:ext>
                  </a:extLst>
                </p:cNvPr>
                <p:cNvSpPr txBox="1"/>
                <p:nvPr/>
              </p:nvSpPr>
              <p:spPr>
                <a:xfrm rot="20166424">
                  <a:off x="8540917" y="3708924"/>
                  <a:ext cx="237435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𝑝𝑟𝑜𝑑𝑢𝑐𝑡</m:t>
                        </m:r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7208085-00FA-E71E-ACD3-CB017497D9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166424">
                  <a:off x="8540917" y="3708924"/>
                  <a:ext cx="237435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8CEE600-BDF4-337B-78A2-55DDFA9EBC74}"/>
                    </a:ext>
                  </a:extLst>
                </p:cNvPr>
                <p:cNvSpPr txBox="1"/>
                <p:nvPr/>
              </p:nvSpPr>
              <p:spPr>
                <a:xfrm rot="19155835">
                  <a:off x="9077905" y="4364881"/>
                  <a:ext cx="198024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𝑟𝑒𝑎𝑐𝑡𝑎𝑛𝑡</m:t>
                        </m:r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8CEE600-BDF4-337B-78A2-55DDFA9EBC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55835">
                  <a:off x="9077905" y="4364881"/>
                  <a:ext cx="198024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A59CB960-5A83-8768-0C32-50E654BF7F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97381" y="4753835"/>
              <a:ext cx="782945" cy="348743"/>
            </a:xfrm>
            <a:prstGeom prst="straightConnector1">
              <a:avLst/>
            </a:prstGeom>
            <a:ln w="635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842974F-A054-D3EB-F4C9-9CEFDDCD5621}"/>
                  </a:ext>
                </a:extLst>
              </p:cNvPr>
              <p:cNvSpPr txBox="1"/>
              <p:nvPr/>
            </p:nvSpPr>
            <p:spPr>
              <a:xfrm>
                <a:off x="213559" y="882951"/>
                <a:ext cx="7142725" cy="48936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ea typeface="Cambria Math" panose="02040503050406030204" pitchFamily="18" charset="0"/>
                  </a:rPr>
                  <a:t>Before, we said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𝒓𝒙𝒏</m:t>
                        </m:r>
                      </m:sub>
                    </m:sSub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𝒓𝒙𝒏</m:t>
                        </m:r>
                      </m:sub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𝒐</m:t>
                        </m:r>
                      </m:sup>
                    </m:sSubSup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+∆</m:t>
                    </m:r>
                    <m:d>
                      <m:d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𝒓𝒙𝒏</m:t>
                            </m:r>
                          </m:sub>
                        </m:sSub>
                      </m:e>
                    </m:d>
                  </m:oMath>
                </a14:m>
                <a:endParaRPr lang="en-US" sz="2400" b="1" i="1" dirty="0">
                  <a:solidFill>
                    <a:schemeClr val="tx1"/>
                  </a:solidFill>
                </a:endParaRPr>
              </a:p>
              <a:p>
                <a:endParaRPr lang="en-US" sz="2400" i="1" dirty="0"/>
              </a:p>
              <a:p>
                <a:r>
                  <a:rPr lang="en-US" sz="2400" dirty="0">
                    <a:ea typeface="Cambria Math" panose="02040503050406030204" pitchFamily="18" charset="0"/>
                  </a:rPr>
                  <a:t>To get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d>
                      <m:d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𝒓𝒙𝒏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, we needed heat capacities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sz="2400" dirty="0"/>
                  <a:t>) and isothermal Joule-Thomson coefficients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2400" dirty="0"/>
                  <a:t>).</a:t>
                </a:r>
              </a:p>
              <a:p>
                <a:endParaRPr lang="en-US" sz="2400" dirty="0"/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But how to get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𝒓𝒙𝒏</m:t>
                        </m:r>
                      </m:sub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𝒐</m:t>
                        </m:r>
                      </m:sup>
                    </m:sSub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?</a:t>
                </a:r>
              </a:p>
              <a:p>
                <a:endParaRPr lang="en-US" sz="2400" dirty="0"/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Answer: bomb calorimetry!</a:t>
                </a:r>
              </a:p>
              <a:p>
                <a:endParaRPr lang="en-US" sz="2400" dirty="0"/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A subtle fact that we’ll just glide over: Bomb calorimetry actually tells us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=∆</m:t>
                    </m:r>
                    <m:sSubSup>
                      <m:sSubSup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𝒓𝒙𝒏</m:t>
                        </m:r>
                      </m:sub>
                      <m:sup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𝒐</m:t>
                        </m:r>
                      </m:sup>
                    </m:sSub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so a correction should be made to get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𝒓𝒙𝒏</m:t>
                        </m:r>
                      </m:sub>
                      <m:sup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𝒐</m:t>
                        </m:r>
                      </m:sup>
                    </m:sSub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 Often, those corrections are just ignored.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842974F-A054-D3EB-F4C9-9CEFDDCD5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59" y="882951"/>
                <a:ext cx="7142725" cy="4893647"/>
              </a:xfrm>
              <a:prstGeom prst="rect">
                <a:avLst/>
              </a:prstGeom>
              <a:blipFill>
                <a:blip r:embed="rId6"/>
                <a:stretch>
                  <a:fillRect l="-1241" t="-775" r="-1950" b="-1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7021010E-776B-3DC4-09B4-0D6D9E4F7E64}"/>
              </a:ext>
            </a:extLst>
          </p:cNvPr>
          <p:cNvGrpSpPr>
            <a:grpSpLocks noChangeAspect="1"/>
          </p:cNvGrpSpPr>
          <p:nvPr/>
        </p:nvGrpSpPr>
        <p:grpSpPr>
          <a:xfrm>
            <a:off x="7557000" y="4031292"/>
            <a:ext cx="4307340" cy="2234376"/>
            <a:chOff x="1524000" y="924510"/>
            <a:chExt cx="10004644" cy="518977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497BFEC-0330-F042-B6C1-47C51B45ADC6}"/>
                </a:ext>
              </a:extLst>
            </p:cNvPr>
            <p:cNvGrpSpPr/>
            <p:nvPr/>
          </p:nvGrpSpPr>
          <p:grpSpPr>
            <a:xfrm>
              <a:off x="1524000" y="924510"/>
              <a:ext cx="10004644" cy="5189777"/>
              <a:chOff x="1524000" y="924510"/>
              <a:chExt cx="10004644" cy="5189777"/>
            </a:xfrm>
          </p:grpSpPr>
          <p:pic>
            <p:nvPicPr>
              <p:cNvPr id="15" name="Picture 2" descr="Bomb Calorimeter — Structure &amp; Function - Expii">
                <a:extLst>
                  <a:ext uri="{FF2B5EF4-FFF2-40B4-BE49-F238E27FC236}">
                    <a16:creationId xmlns:a16="http://schemas.microsoft.com/office/drawing/2014/main" id="{CEFA0BAA-7E4F-268B-02B6-EC879707BC0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24000" y="924510"/>
                <a:ext cx="7402640" cy="51897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8E9CE6A-6DA9-2F6C-FCB6-DE831EB527A7}"/>
                  </a:ext>
                </a:extLst>
              </p:cNvPr>
              <p:cNvSpPr txBox="1"/>
              <p:nvPr/>
            </p:nvSpPr>
            <p:spPr>
              <a:xfrm>
                <a:off x="7583423" y="4572000"/>
                <a:ext cx="3945221" cy="150123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Reaction vessel can’t expand, so there’s no work  </a:t>
                </a:r>
              </a:p>
            </p:txBody>
          </p:sp>
        </p:grpSp>
        <p:sp>
          <p:nvSpPr>
            <p:cNvPr id="9" name="Right Arrow 8">
              <a:extLst>
                <a:ext uri="{FF2B5EF4-FFF2-40B4-BE49-F238E27FC236}">
                  <a16:creationId xmlns:a16="http://schemas.microsoft.com/office/drawing/2014/main" id="{0B714664-D115-EFF0-4FCA-715273F30358}"/>
                </a:ext>
              </a:extLst>
            </p:cNvPr>
            <p:cNvSpPr/>
            <p:nvPr/>
          </p:nvSpPr>
          <p:spPr>
            <a:xfrm rot="9781782">
              <a:off x="5690270" y="5338089"/>
              <a:ext cx="370390" cy="243069"/>
            </a:xfrm>
            <a:prstGeom prst="rightArrow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352799B3-1DFA-2342-7261-5F9FBA75528D}"/>
                </a:ext>
              </a:extLst>
            </p:cNvPr>
            <p:cNvSpPr/>
            <p:nvPr/>
          </p:nvSpPr>
          <p:spPr>
            <a:xfrm rot="12646621">
              <a:off x="5713494" y="4767612"/>
              <a:ext cx="370390" cy="243069"/>
            </a:xfrm>
            <a:prstGeom prst="rightArrow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CB4063C-4C98-E8FF-5F31-4E499F1B32C2}"/>
                    </a:ext>
                  </a:extLst>
                </p:cNvPr>
                <p:cNvSpPr txBox="1"/>
                <p:nvPr/>
              </p:nvSpPr>
              <p:spPr>
                <a:xfrm>
                  <a:off x="5526757" y="4891119"/>
                  <a:ext cx="50604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𝒒</m:t>
                        </m:r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79A5525-1FC5-DCC4-76A9-8201D0225C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6757" y="4891119"/>
                  <a:ext cx="506044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09022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162</Words>
  <Application>Microsoft Macintosh PowerPoint</Application>
  <PresentationFormat>Widescreen</PresentationFormat>
  <Paragraphs>29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2</cp:revision>
  <dcterms:created xsi:type="dcterms:W3CDTF">2024-11-07T22:09:39Z</dcterms:created>
  <dcterms:modified xsi:type="dcterms:W3CDTF">2025-11-10T15:30:21Z</dcterms:modified>
</cp:coreProperties>
</file>