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2" r:id="rId2"/>
    <p:sldId id="268" r:id="rId3"/>
    <p:sldId id="353" r:id="rId4"/>
    <p:sldId id="357" r:id="rId5"/>
    <p:sldId id="364" r:id="rId6"/>
    <p:sldId id="365" r:id="rId7"/>
    <p:sldId id="356" r:id="rId8"/>
    <p:sldId id="358" r:id="rId9"/>
    <p:sldId id="363" r:id="rId10"/>
    <p:sldId id="367" r:id="rId11"/>
    <p:sldId id="368" r:id="rId12"/>
    <p:sldId id="369" r:id="rId13"/>
    <p:sldId id="360" r:id="rId14"/>
    <p:sldId id="3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74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4EBB-BA25-CE41-9BEC-096D705DC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7D0FE-8E9E-0F4D-ABF6-FBA0D52A4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D4BE3-A61D-2F42-B3AB-FE19BCBB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03557-16BB-9A4E-B8FE-C4F79A96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5899C-2A7F-A645-BC22-EFB51C5F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9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EBF0-A8FD-FE4C-A991-108CF98C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5ABA3-1F31-8045-9A41-56041C013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E3AF1-4526-D948-B4A0-7F06C7A8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9A098-DAAB-B44A-8E40-B4B2793C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310E2-13C2-AC4D-AC7E-3E6127ED5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8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2889-958C-4746-9BE0-335C2092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7F654-5FF2-1E44-B01D-268E046D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1EAB0-8798-D242-89D1-7A340706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373A0-8584-834D-9A93-4CC076937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D0FF5-7E04-164E-83EA-5E40B8FC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0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CF9E-D9FD-0446-9D36-04E77B26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7D6BA-456F-1D4D-AEFD-22C634307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F8106-D396-F24E-899E-87726BE9F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4AE80-3C47-6D48-B447-B8F9A8A0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229F3-68F5-B143-B44A-A385EEC4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7A096-37DA-A949-8E74-543D67C0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5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4147-CCD2-FD4D-B06A-A022BA0A8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5608B-C85B-A54D-B440-6E167CC5C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E6E6B-1B09-B240-BC00-78D080E15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2BDD9B-04A7-1B4A-9F08-4E21EA396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3847E-03BF-C840-9474-89020C9BD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EBACDC-887A-5F4C-A025-93B827B59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D7CB3F-829B-684B-8D52-87A53C074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71F7E-C681-7A45-8341-4890A6213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8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42E28-FB34-214F-9F40-D0FC0FAA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BA2A7-26F3-0E4E-8761-029E2842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468B2-4919-3042-87B0-FF820D55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4B7B2-27DD-2746-8CED-61A69EA7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6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6A4B0-DBC1-5B4E-B42D-B71DD7FDD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0BE5E-FB22-9D4B-A99E-43A9045CE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B405A-4C31-2447-A331-221D8A85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55EDE-E33D-C849-AC04-F073F292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92732-7012-5843-8F6E-28DF39A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CCE04-6EB4-704D-A9FA-CFAE914CA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3B206-69A5-1D4F-9C5F-7F5F0491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671E5-DBC7-F54B-BC67-F2D5C3BF4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623E6-A0D4-5B48-A278-6F39E4E2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0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A3A9-1FA6-8941-8243-42DE26655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DB7EEF-E57B-844A-BDDB-568B1ACA9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2F442-FFEA-F441-A685-3C92F93AD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9C7C8-DCD4-F145-94F4-788CDF00E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BAE9B-ACAF-3243-8DA1-E11624CD6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B3A58-8B9A-D345-AAAE-3C153CBCD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8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6ABB5-8927-284B-B4C0-E5C4DE4B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DDFC8-BA8C-C54C-A298-17D3132F2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47303-B8BB-A548-922F-AC4FAD44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7E1CA-B254-AA4D-A129-843A9E42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4B712-373F-9646-832F-05B85722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80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A96D7-EB31-5743-A43C-23BD4182C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875EF8-095C-0A4E-8C36-7B7D9BC1F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6A0C3-4338-9A4E-B56E-0A14587E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C7361-A591-234B-BC3B-1DD6606F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1D5F0-3624-D542-9346-74E112F7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512649-CF17-6B43-83E6-959F5B681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88523-1CDF-3949-BC48-BC590C1DC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ECAA0-B24F-CC42-80AA-D3BEAF712E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8C99B-AF85-2D43-A0F6-4A0235A8FB2F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4F1E7-8B62-5D4E-9E8D-12BB2E683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CBD39-C206-A140-80A1-DD66C3909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9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knMblXKcd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19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80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A0A3E0-E448-C200-5031-F7020B3D8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83" y="937260"/>
            <a:ext cx="4144898" cy="5486400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214991F7-E96F-4EC3-572B-CC68D940B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371" y="317500"/>
            <a:ext cx="3467100" cy="622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AB8CCF-E347-51EE-F8B2-71CA86C8AF51}"/>
              </a:ext>
            </a:extLst>
          </p:cNvPr>
          <p:cNvSpPr txBox="1"/>
          <p:nvPr/>
        </p:nvSpPr>
        <p:spPr>
          <a:xfrm>
            <a:off x="6012" y="0"/>
            <a:ext cx="12185987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Shout-out to an amazing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1273983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FDC344-EAD8-BF4B-A330-01755797DB9C}"/>
              </a:ext>
            </a:extLst>
          </p:cNvPr>
          <p:cNvSpPr txBox="1"/>
          <p:nvPr/>
        </p:nvSpPr>
        <p:spPr>
          <a:xfrm>
            <a:off x="6012" y="0"/>
            <a:ext cx="12185987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888DB7E-F9EC-A0E5-8FB7-1D52F602D179}"/>
                  </a:ext>
                </a:extLst>
              </p:cNvPr>
              <p:cNvSpPr txBox="1"/>
              <p:nvPr/>
            </p:nvSpPr>
            <p:spPr>
              <a:xfrm>
                <a:off x="1414276" y="556477"/>
                <a:ext cx="904618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Chemical Potential Formula (CPF) says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(slope of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/>
                  <a:t>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/>
                  <a:t> direction)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(slope of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/>
                  <a:t>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dirty="0"/>
                  <a:t> direction)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888DB7E-F9EC-A0E5-8FB7-1D52F602D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276" y="556477"/>
                <a:ext cx="9046186" cy="1200329"/>
              </a:xfrm>
              <a:prstGeom prst="rect">
                <a:avLst/>
              </a:prstGeom>
              <a:blipFill>
                <a:blip r:embed="rId2"/>
                <a:stretch>
                  <a:fillRect l="-1122" t="-4167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3FC2B322-17D0-AEB4-9001-06E1128505B5}"/>
              </a:ext>
            </a:extLst>
          </p:cNvPr>
          <p:cNvGrpSpPr>
            <a:grpSpLocks noChangeAspect="1"/>
          </p:cNvGrpSpPr>
          <p:nvPr/>
        </p:nvGrpSpPr>
        <p:grpSpPr>
          <a:xfrm>
            <a:off x="5377299" y="1756806"/>
            <a:ext cx="3823851" cy="2925365"/>
            <a:chOff x="6661283" y="1942131"/>
            <a:chExt cx="5386666" cy="412096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0E639F5-089C-E5A7-FF3E-FDDE056555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30005" y="1942131"/>
              <a:ext cx="4917944" cy="3693584"/>
              <a:chOff x="9751582" y="4899856"/>
              <a:chExt cx="2409361" cy="1809532"/>
            </a:xfrm>
          </p:grpSpPr>
          <p:pic>
            <p:nvPicPr>
              <p:cNvPr id="4" name="Picture 2">
                <a:extLst>
                  <a:ext uri="{FF2B5EF4-FFF2-40B4-BE49-F238E27FC236}">
                    <a16:creationId xmlns:a16="http://schemas.microsoft.com/office/drawing/2014/main" id="{ECCF8695-C772-8C44-00CF-6DC8C67B27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51582" y="4899856"/>
                <a:ext cx="2409361" cy="18095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9B07706-AEF8-B3BA-90F9-CFCE671411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4562" y="5607197"/>
                <a:ext cx="369303" cy="5334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A751F29-03C0-FF22-5BA9-5397E2C08E06}"/>
                    </a:ext>
                  </a:extLst>
                </p:cNvPr>
                <p:cNvSpPr txBox="1"/>
                <p:nvPr/>
              </p:nvSpPr>
              <p:spPr>
                <a:xfrm>
                  <a:off x="8290262" y="3292364"/>
                  <a:ext cx="2749341" cy="11660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𝜕𝜀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</m:oMath>
                  </a14:m>
                  <a:r>
                    <a:rPr lang="en-US" sz="20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≡∆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A751F29-03C0-FF22-5BA9-5397E2C08E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0262" y="3292364"/>
                  <a:ext cx="2749341" cy="116607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C0FF698-B470-476C-8D37-AA7E2C92E60B}"/>
                    </a:ext>
                  </a:extLst>
                </p:cNvPr>
                <p:cNvSpPr txBox="1"/>
                <p:nvPr/>
              </p:nvSpPr>
              <p:spPr>
                <a:xfrm>
                  <a:off x="6661283" y="2956421"/>
                  <a:ext cx="126742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C0FF698-B470-476C-8D37-AA7E2C92E6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1283" y="2956421"/>
                  <a:ext cx="1267428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FEBE3B9-422F-D850-4445-D1A9D17C56D0}"/>
                </a:ext>
              </a:extLst>
            </p:cNvPr>
            <p:cNvCxnSpPr>
              <a:cxnSpLocks/>
            </p:cNvCxnSpPr>
            <p:nvPr/>
          </p:nvCxnSpPr>
          <p:spPr>
            <a:xfrm>
              <a:off x="7938296" y="5167086"/>
              <a:ext cx="3481657" cy="16529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54AB517-7533-B173-7EDC-4C037E384C9E}"/>
                    </a:ext>
                  </a:extLst>
                </p:cNvPr>
                <p:cNvSpPr txBox="1"/>
                <p:nvPr/>
              </p:nvSpPr>
              <p:spPr>
                <a:xfrm>
                  <a:off x="9120102" y="5601431"/>
                  <a:ext cx="111804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54AB517-7533-B173-7EDC-4C037E384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0102" y="5601431"/>
                  <a:ext cx="1118044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B4CCB05-9B0A-BBDA-75C7-01B51898CAC9}"/>
              </a:ext>
            </a:extLst>
          </p:cNvPr>
          <p:cNvGrpSpPr>
            <a:grpSpLocks noChangeAspect="1"/>
          </p:cNvGrpSpPr>
          <p:nvPr/>
        </p:nvGrpSpPr>
        <p:grpSpPr>
          <a:xfrm>
            <a:off x="1609794" y="1803812"/>
            <a:ext cx="3321708" cy="2878359"/>
            <a:chOff x="1099783" y="1203511"/>
            <a:chExt cx="5075325" cy="439792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80BAD1A-28CD-7059-94FE-D16011FE71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19" t="21890" r="16048" b="13982"/>
            <a:stretch/>
          </p:blipFill>
          <p:spPr bwMode="auto">
            <a:xfrm>
              <a:off x="1099783" y="1203511"/>
              <a:ext cx="5075325" cy="4397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AEA7C04-2AB7-F06D-F6D4-95338B9BB8FF}"/>
                    </a:ext>
                  </a:extLst>
                </p:cNvPr>
                <p:cNvSpPr txBox="1"/>
                <p:nvPr/>
              </p:nvSpPr>
              <p:spPr>
                <a:xfrm>
                  <a:off x="1281668" y="2378426"/>
                  <a:ext cx="126742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AEA7C04-2AB7-F06D-F6D4-95338B9BB8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1668" y="2378426"/>
                  <a:ext cx="1267428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F316F8C-88E9-DD3A-C5A4-54DB86DC86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7215" y="4143092"/>
              <a:ext cx="1118044" cy="863248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EE5BBC0-DD14-ACCE-B96E-58C8F734080A}"/>
                    </a:ext>
                  </a:extLst>
                </p:cNvPr>
                <p:cNvSpPr txBox="1"/>
                <p:nvPr/>
              </p:nvSpPr>
              <p:spPr>
                <a:xfrm>
                  <a:off x="3474353" y="4220563"/>
                  <a:ext cx="111804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EE5BBC0-DD14-ACCE-B96E-58C8F7340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4353" y="4220563"/>
                  <a:ext cx="1118044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966523-3461-8AF5-9A99-4964EC8CB7F4}"/>
                  </a:ext>
                </a:extLst>
              </p:cNvPr>
              <p:cNvSpPr txBox="1"/>
              <p:nvPr/>
            </p:nvSpPr>
            <p:spPr>
              <a:xfrm>
                <a:off x="328604" y="4911620"/>
                <a:ext cx="1141000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 said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/>
                  <a:t> is a concentration (molarity) if A is a solute, or a partial pressure if A is a gas, or a mole fraction if A is a solvent.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Our general term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/>
                  <a:t> is “the </a:t>
                </a:r>
                <a:r>
                  <a:rPr lang="en-US" sz="2400" b="1" dirty="0"/>
                  <a:t>activity</a:t>
                </a:r>
                <a:r>
                  <a:rPr lang="en-US" sz="2400" dirty="0"/>
                  <a:t> of A”. The general term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 is the “</a:t>
                </a:r>
                <a:r>
                  <a:rPr lang="en-US" sz="2400" b="1" dirty="0"/>
                  <a:t>reference activity</a:t>
                </a:r>
                <a:r>
                  <a:rPr lang="en-US" sz="2400" dirty="0"/>
                  <a:t> of A”.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966523-3461-8AF5-9A99-4964EC8CB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04" y="4911620"/>
                <a:ext cx="11410005" cy="1938992"/>
              </a:xfrm>
              <a:prstGeom prst="rect">
                <a:avLst/>
              </a:prstGeom>
              <a:blipFill>
                <a:blip r:embed="rId10"/>
                <a:stretch>
                  <a:fillRect l="-778" t="-1299" r="-667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49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57896" y="992050"/>
                <a:ext cx="11876208" cy="4788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GenChem teaches us that the reaction quotient takes the form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 Why? 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 have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=&gt;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along the reaction path is given by</a:t>
                </a: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Blackboard work #1: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Starting with the CPF, put this in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depends 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96" y="992050"/>
                <a:ext cx="11876208" cy="4788940"/>
              </a:xfrm>
              <a:prstGeom prst="rect">
                <a:avLst/>
              </a:prstGeom>
              <a:blipFill>
                <a:blip r:embed="rId2"/>
                <a:stretch>
                  <a:fillRect l="-855"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CA06ABDE-90C9-0236-69D5-2A7CD28FF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2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57895" y="992050"/>
                <a:ext cx="12034103" cy="4788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GenChem teaches us that the reaction quotient takes the form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 Why? 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 have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=&gt;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along the reaction path is given by</a:t>
                </a: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endParaRPr lang="en-US" sz="2400" b="1" dirty="0"/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Answer #1: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95" y="992050"/>
                <a:ext cx="12034103" cy="4788940"/>
              </a:xfrm>
              <a:prstGeom prst="rect">
                <a:avLst/>
              </a:prstGeom>
              <a:blipFill>
                <a:blip r:embed="rId2"/>
                <a:stretch>
                  <a:fillRect l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CA06ABDE-90C9-0236-69D5-2A7CD28FF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CD0B1F8-202E-E9F8-8431-972FD2922A08}"/>
              </a:ext>
            </a:extLst>
          </p:cNvPr>
          <p:cNvGrpSpPr/>
          <p:nvPr/>
        </p:nvGrpSpPr>
        <p:grpSpPr>
          <a:xfrm>
            <a:off x="7149234" y="5206365"/>
            <a:ext cx="931775" cy="810758"/>
            <a:chOff x="7986712" y="5389245"/>
            <a:chExt cx="882968" cy="810758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168073F5-F062-0521-98B4-6AD4E9D014B6}"/>
                </a:ext>
              </a:extLst>
            </p:cNvPr>
            <p:cNvSpPr/>
            <p:nvPr/>
          </p:nvSpPr>
          <p:spPr>
            <a:xfrm rot="5400000">
              <a:off x="8259603" y="5116354"/>
              <a:ext cx="337185" cy="88296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FDD8A60-38F9-0517-834B-E8311D201217}"/>
                    </a:ext>
                  </a:extLst>
                </p:cNvPr>
                <p:cNvSpPr txBox="1"/>
                <p:nvPr/>
              </p:nvSpPr>
              <p:spPr>
                <a:xfrm>
                  <a:off x="7986712" y="5738338"/>
                  <a:ext cx="88296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𝑟𝑥𝑛</m:t>
                            </m:r>
                          </m:sub>
                          <m:sup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FDD8A60-38F9-0517-834B-E8311D201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6712" y="5738338"/>
                  <a:ext cx="882967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4CA0C6A-3469-779F-0A3A-CBEF3A515E6B}"/>
              </a:ext>
            </a:extLst>
          </p:cNvPr>
          <p:cNvGrpSpPr/>
          <p:nvPr/>
        </p:nvGrpSpPr>
        <p:grpSpPr>
          <a:xfrm>
            <a:off x="8492484" y="5206366"/>
            <a:ext cx="3040380" cy="1052224"/>
            <a:chOff x="7628594" y="5389246"/>
            <a:chExt cx="1048519" cy="1052224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5BA9D97F-7607-8327-A99F-203F340127FC}"/>
                </a:ext>
              </a:extLst>
            </p:cNvPr>
            <p:cNvSpPr/>
            <p:nvPr/>
          </p:nvSpPr>
          <p:spPr>
            <a:xfrm rot="5400000">
              <a:off x="7978307" y="5039533"/>
              <a:ext cx="349094" cy="10485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8FC1119-EF98-27FC-64FE-FA11F15EC9AA}"/>
                    </a:ext>
                  </a:extLst>
                </p:cNvPr>
                <p:cNvSpPr txBox="1"/>
                <p:nvPr/>
              </p:nvSpPr>
              <p:spPr>
                <a:xfrm>
                  <a:off x="7675893" y="5656190"/>
                  <a:ext cx="882967" cy="7852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𝑅𝑇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den>
                        </m:f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8FC1119-EF98-27FC-64FE-FA11F15EC9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5893" y="5656190"/>
                  <a:ext cx="882967" cy="785280"/>
                </a:xfrm>
                <a:prstGeom prst="rect">
                  <a:avLst/>
                </a:prstGeom>
                <a:blipFill>
                  <a:blip r:embed="rId6"/>
                  <a:stretch>
                    <a:fillRect b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98913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57895" y="992050"/>
                <a:ext cx="12034103" cy="4788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GenChem teaches us that the reaction quotient takes the form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 Why? 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 have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=&gt;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along the reaction path is given by</a:t>
                </a: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endParaRPr lang="en-US" sz="2400" b="1" dirty="0"/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Answer #1: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95" y="992050"/>
                <a:ext cx="12034103" cy="4788940"/>
              </a:xfrm>
              <a:prstGeom prst="rect">
                <a:avLst/>
              </a:prstGeom>
              <a:blipFill>
                <a:blip r:embed="rId2"/>
                <a:stretch>
                  <a:fillRect l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CA06ABDE-90C9-0236-69D5-2A7CD28FF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CD0B1F8-202E-E9F8-8431-972FD2922A08}"/>
              </a:ext>
            </a:extLst>
          </p:cNvPr>
          <p:cNvGrpSpPr/>
          <p:nvPr/>
        </p:nvGrpSpPr>
        <p:grpSpPr>
          <a:xfrm>
            <a:off x="7149234" y="5206365"/>
            <a:ext cx="931775" cy="810758"/>
            <a:chOff x="7986712" y="5389245"/>
            <a:chExt cx="882968" cy="810758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168073F5-F062-0521-98B4-6AD4E9D014B6}"/>
                </a:ext>
              </a:extLst>
            </p:cNvPr>
            <p:cNvSpPr/>
            <p:nvPr/>
          </p:nvSpPr>
          <p:spPr>
            <a:xfrm rot="5400000">
              <a:off x="8259603" y="5116354"/>
              <a:ext cx="337185" cy="88296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FDD8A60-38F9-0517-834B-E8311D201217}"/>
                    </a:ext>
                  </a:extLst>
                </p:cNvPr>
                <p:cNvSpPr txBox="1"/>
                <p:nvPr/>
              </p:nvSpPr>
              <p:spPr>
                <a:xfrm>
                  <a:off x="7986712" y="5738338"/>
                  <a:ext cx="88296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𝑟𝑥𝑛</m:t>
                            </m:r>
                          </m:sub>
                          <m:sup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FDD8A60-38F9-0517-834B-E8311D201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6712" y="5738338"/>
                  <a:ext cx="882967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4CA0C6A-3469-779F-0A3A-CBEF3A515E6B}"/>
              </a:ext>
            </a:extLst>
          </p:cNvPr>
          <p:cNvGrpSpPr/>
          <p:nvPr/>
        </p:nvGrpSpPr>
        <p:grpSpPr>
          <a:xfrm>
            <a:off x="8492484" y="5206366"/>
            <a:ext cx="3040380" cy="1052224"/>
            <a:chOff x="7628594" y="5389246"/>
            <a:chExt cx="1048519" cy="1052224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5BA9D97F-7607-8327-A99F-203F340127FC}"/>
                </a:ext>
              </a:extLst>
            </p:cNvPr>
            <p:cNvSpPr/>
            <p:nvPr/>
          </p:nvSpPr>
          <p:spPr>
            <a:xfrm rot="5400000">
              <a:off x="7978307" y="5039533"/>
              <a:ext cx="349094" cy="10485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8FC1119-EF98-27FC-64FE-FA11F15EC9AA}"/>
                    </a:ext>
                  </a:extLst>
                </p:cNvPr>
                <p:cNvSpPr txBox="1"/>
                <p:nvPr/>
              </p:nvSpPr>
              <p:spPr>
                <a:xfrm>
                  <a:off x="7675893" y="5656190"/>
                  <a:ext cx="882967" cy="7852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𝑅𝑇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den>
                        </m:f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8FC1119-EF98-27FC-64FE-FA11F15EC9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5893" y="5656190"/>
                  <a:ext cx="882967" cy="785280"/>
                </a:xfrm>
                <a:prstGeom prst="rect">
                  <a:avLst/>
                </a:prstGeom>
                <a:blipFill>
                  <a:blip r:embed="rId6"/>
                  <a:stretch>
                    <a:fillRect b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06AA01-FD9C-BA92-F563-D205B167AC29}"/>
              </a:ext>
            </a:extLst>
          </p:cNvPr>
          <p:cNvGrpSpPr/>
          <p:nvPr/>
        </p:nvGrpSpPr>
        <p:grpSpPr>
          <a:xfrm>
            <a:off x="10025060" y="6201442"/>
            <a:ext cx="2010730" cy="510215"/>
            <a:chOff x="10025060" y="6201442"/>
            <a:chExt cx="2010730" cy="510215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7A4202C2-AFD8-1A26-283D-A2E63AAA608C}"/>
                </a:ext>
              </a:extLst>
            </p:cNvPr>
            <p:cNvSpPr/>
            <p:nvPr/>
          </p:nvSpPr>
          <p:spPr>
            <a:xfrm rot="5400000">
              <a:off x="10175888" y="6118243"/>
              <a:ext cx="191740" cy="35813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7F47B5E-9F0E-AA64-101A-EDCF16F2AA7E}"/>
                    </a:ext>
                  </a:extLst>
                </p:cNvPr>
                <p:cNvSpPr txBox="1"/>
                <p:nvPr/>
              </p:nvSpPr>
              <p:spPr>
                <a:xfrm>
                  <a:off x="10025060" y="6249992"/>
                  <a:ext cx="201073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7F47B5E-9F0E-AA64-101A-EDCF16F2AA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5060" y="6249992"/>
                  <a:ext cx="201073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887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5585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57895" y="992050"/>
                <a:ext cx="12034103" cy="4788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GenChem teaches us that the reaction quotient takes the form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 Why? 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 have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=&gt;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along the reaction path is given by</a:t>
                </a: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endParaRPr lang="en-US" sz="2400" b="1" dirty="0"/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Answer #1: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95" y="992050"/>
                <a:ext cx="12034103" cy="4788940"/>
              </a:xfrm>
              <a:prstGeom prst="rect">
                <a:avLst/>
              </a:prstGeom>
              <a:blipFill>
                <a:blip r:embed="rId2"/>
                <a:stretch>
                  <a:fillRect l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CA06ABDE-90C9-0236-69D5-2A7CD28FF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CD0B1F8-202E-E9F8-8431-972FD2922A08}"/>
              </a:ext>
            </a:extLst>
          </p:cNvPr>
          <p:cNvGrpSpPr/>
          <p:nvPr/>
        </p:nvGrpSpPr>
        <p:grpSpPr>
          <a:xfrm>
            <a:off x="7149234" y="5206365"/>
            <a:ext cx="931775" cy="810758"/>
            <a:chOff x="7986712" y="5389245"/>
            <a:chExt cx="882968" cy="810758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168073F5-F062-0521-98B4-6AD4E9D014B6}"/>
                </a:ext>
              </a:extLst>
            </p:cNvPr>
            <p:cNvSpPr/>
            <p:nvPr/>
          </p:nvSpPr>
          <p:spPr>
            <a:xfrm rot="5400000">
              <a:off x="8259603" y="5116354"/>
              <a:ext cx="337185" cy="88296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FDD8A60-38F9-0517-834B-E8311D201217}"/>
                    </a:ext>
                  </a:extLst>
                </p:cNvPr>
                <p:cNvSpPr txBox="1"/>
                <p:nvPr/>
              </p:nvSpPr>
              <p:spPr>
                <a:xfrm>
                  <a:off x="7986712" y="5738338"/>
                  <a:ext cx="88296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𝑟𝑥𝑛</m:t>
                            </m:r>
                          </m:sub>
                          <m:sup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FDD8A60-38F9-0517-834B-E8311D201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6712" y="5738338"/>
                  <a:ext cx="882967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4CA0C6A-3469-779F-0A3A-CBEF3A515E6B}"/>
              </a:ext>
            </a:extLst>
          </p:cNvPr>
          <p:cNvGrpSpPr/>
          <p:nvPr/>
        </p:nvGrpSpPr>
        <p:grpSpPr>
          <a:xfrm>
            <a:off x="8492484" y="5206366"/>
            <a:ext cx="3040380" cy="1052224"/>
            <a:chOff x="7628594" y="5389246"/>
            <a:chExt cx="1048519" cy="1052224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5BA9D97F-7607-8327-A99F-203F340127FC}"/>
                </a:ext>
              </a:extLst>
            </p:cNvPr>
            <p:cNvSpPr/>
            <p:nvPr/>
          </p:nvSpPr>
          <p:spPr>
            <a:xfrm rot="5400000">
              <a:off x="7978307" y="5039533"/>
              <a:ext cx="349094" cy="10485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8FC1119-EF98-27FC-64FE-FA11F15EC9AA}"/>
                    </a:ext>
                  </a:extLst>
                </p:cNvPr>
                <p:cNvSpPr txBox="1"/>
                <p:nvPr/>
              </p:nvSpPr>
              <p:spPr>
                <a:xfrm>
                  <a:off x="7675893" y="5656190"/>
                  <a:ext cx="882967" cy="7852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𝑅𝑇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den>
                        </m:f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8FC1119-EF98-27FC-64FE-FA11F15EC9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5893" y="5656190"/>
                  <a:ext cx="882967" cy="785280"/>
                </a:xfrm>
                <a:prstGeom prst="rect">
                  <a:avLst/>
                </a:prstGeom>
                <a:blipFill>
                  <a:blip r:embed="rId6"/>
                  <a:stretch>
                    <a:fillRect b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06AA01-FD9C-BA92-F563-D205B167AC29}"/>
              </a:ext>
            </a:extLst>
          </p:cNvPr>
          <p:cNvGrpSpPr/>
          <p:nvPr/>
        </p:nvGrpSpPr>
        <p:grpSpPr>
          <a:xfrm>
            <a:off x="10025060" y="6201442"/>
            <a:ext cx="2010730" cy="510215"/>
            <a:chOff x="10025060" y="6201442"/>
            <a:chExt cx="2010730" cy="510215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7A4202C2-AFD8-1A26-283D-A2E63AAA608C}"/>
                </a:ext>
              </a:extLst>
            </p:cNvPr>
            <p:cNvSpPr/>
            <p:nvPr/>
          </p:nvSpPr>
          <p:spPr>
            <a:xfrm rot="5400000">
              <a:off x="10175888" y="6118243"/>
              <a:ext cx="191740" cy="35813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7F47B5E-9F0E-AA64-101A-EDCF16F2AA7E}"/>
                    </a:ext>
                  </a:extLst>
                </p:cNvPr>
                <p:cNvSpPr txBox="1"/>
                <p:nvPr/>
              </p:nvSpPr>
              <p:spPr>
                <a:xfrm>
                  <a:off x="10025060" y="6249992"/>
                  <a:ext cx="201073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a14:m>
                  <a:r>
                    <a:rPr lang="en-US" sz="2400" dirty="0"/>
                    <a:t> (</a:t>
                  </a:r>
                  <a14:m>
                    <m:oMath xmlns:m="http://schemas.openxmlformats.org/officeDocument/2006/math">
                      <m:r>
                        <a:rPr lang="en-US" sz="24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</m:oMath>
                  </a14:m>
                  <a:r>
                    <a:rPr lang="en-US" sz="2400" dirty="0">
                      <a:solidFill>
                        <a:schemeClr val="accent1"/>
                      </a:solidFill>
                    </a:rPr>
                    <a:t> at eq</a:t>
                  </a:r>
                  <a:r>
                    <a:rPr lang="en-US" sz="2400" dirty="0"/>
                    <a:t>)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7F47B5E-9F0E-AA64-101A-EDCF16F2AA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5060" y="6249992"/>
                  <a:ext cx="201073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887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EEC07B-AE4A-B752-2426-9013099036C8}"/>
              </a:ext>
            </a:extLst>
          </p:cNvPr>
          <p:cNvCxnSpPr/>
          <p:nvPr/>
        </p:nvCxnSpPr>
        <p:spPr>
          <a:xfrm>
            <a:off x="10711543" y="4169229"/>
            <a:ext cx="75600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61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57896" y="992050"/>
                <a:ext cx="11876208" cy="4621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Now let’s take the case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 have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=&gt;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along the reaction path is given by</a:t>
                </a: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Blackboard work #2: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Starting with the CPF, put this in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depends 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96" y="992050"/>
                <a:ext cx="11876208" cy="4621906"/>
              </a:xfrm>
              <a:prstGeom prst="rect">
                <a:avLst/>
              </a:prstGeom>
              <a:blipFill>
                <a:blip r:embed="rId2"/>
                <a:stretch>
                  <a:fillRect l="-855" t="-822" b="-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C1B8188-9785-2A4D-6372-0E96DE542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69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" y="992050"/>
                <a:ext cx="12191998" cy="4227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Now let’s take the case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 have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=&gt;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along the reaction path is given by</a:t>
                </a: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Answer #2: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(2 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992050"/>
                <a:ext cx="12191998" cy="4227504"/>
              </a:xfrm>
              <a:prstGeom prst="rect">
                <a:avLst/>
              </a:prstGeom>
              <a:blipFill>
                <a:blip r:embed="rId2"/>
                <a:stretch>
                  <a:fillRect l="-832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C1B8188-9785-2A4D-6372-0E96DE542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716B92B-CF5C-30A2-73A6-A17EE1A06847}"/>
              </a:ext>
            </a:extLst>
          </p:cNvPr>
          <p:cNvGrpSpPr/>
          <p:nvPr/>
        </p:nvGrpSpPr>
        <p:grpSpPr>
          <a:xfrm>
            <a:off x="6949438" y="5000626"/>
            <a:ext cx="4629140" cy="1006722"/>
            <a:chOff x="6949438" y="5000626"/>
            <a:chExt cx="4629140" cy="100672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E5A4651-70BA-8C1B-83F8-407D5CE0F387}"/>
                </a:ext>
              </a:extLst>
            </p:cNvPr>
            <p:cNvGrpSpPr/>
            <p:nvPr/>
          </p:nvGrpSpPr>
          <p:grpSpPr>
            <a:xfrm>
              <a:off x="6949438" y="5026233"/>
              <a:ext cx="1097283" cy="810756"/>
              <a:chOff x="7721559" y="5389247"/>
              <a:chExt cx="1039806" cy="810756"/>
            </a:xfrm>
          </p:grpSpPr>
          <p:sp>
            <p:nvSpPr>
              <p:cNvPr id="4" name="Right Brace 3">
                <a:extLst>
                  <a:ext uri="{FF2B5EF4-FFF2-40B4-BE49-F238E27FC236}">
                    <a16:creationId xmlns:a16="http://schemas.microsoft.com/office/drawing/2014/main" id="{C2982275-E300-F16F-688C-1C523E0ACD63}"/>
                  </a:ext>
                </a:extLst>
              </p:cNvPr>
              <p:cNvSpPr/>
              <p:nvPr/>
            </p:nvSpPr>
            <p:spPr>
              <a:xfrm rot="5400000">
                <a:off x="8066914" y="5043892"/>
                <a:ext cx="349095" cy="1039806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F3098FEB-EE63-858F-1648-DFEF6E3C5D5E}"/>
                      </a:ext>
                    </a:extLst>
                  </p:cNvPr>
                  <p:cNvSpPr txBox="1"/>
                  <p:nvPr/>
                </p:nvSpPr>
                <p:spPr>
                  <a:xfrm>
                    <a:off x="7780918" y="5738338"/>
                    <a:ext cx="88296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𝑟𝑥𝑛</m:t>
                              </m:r>
                            </m:sub>
                            <m:sup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bSup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F3098FEB-EE63-858F-1648-DFEF6E3C5D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80918" y="5738338"/>
                    <a:ext cx="882967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FC302BC-DAA0-38AF-4DC2-948123A87665}"/>
                </a:ext>
              </a:extLst>
            </p:cNvPr>
            <p:cNvGrpSpPr/>
            <p:nvPr/>
          </p:nvGrpSpPr>
          <p:grpSpPr>
            <a:xfrm>
              <a:off x="8423882" y="5000626"/>
              <a:ext cx="3154696" cy="1006722"/>
              <a:chOff x="7604945" y="5389246"/>
              <a:chExt cx="1087944" cy="1006722"/>
            </a:xfrm>
          </p:grpSpPr>
          <p:sp>
            <p:nvSpPr>
              <p:cNvPr id="8" name="Right Brace 7">
                <a:extLst>
                  <a:ext uri="{FF2B5EF4-FFF2-40B4-BE49-F238E27FC236}">
                    <a16:creationId xmlns:a16="http://schemas.microsoft.com/office/drawing/2014/main" id="{4256889C-90F8-65FA-BBAE-CEA746A508B5}"/>
                  </a:ext>
                </a:extLst>
              </p:cNvPr>
              <p:cNvSpPr/>
              <p:nvPr/>
            </p:nvSpPr>
            <p:spPr>
              <a:xfrm rot="5400000">
                <a:off x="7974369" y="5019822"/>
                <a:ext cx="349096" cy="1087944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DA443EB0-5F17-FB42-7B94-078C072C3791}"/>
                      </a:ext>
                    </a:extLst>
                  </p:cNvPr>
                  <p:cNvSpPr txBox="1"/>
                  <p:nvPr/>
                </p:nvSpPr>
                <p:spPr>
                  <a:xfrm>
                    <a:off x="7734056" y="5496170"/>
                    <a:ext cx="882967" cy="89979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DA443EB0-5F17-FB42-7B94-078C072C37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4056" y="5496170"/>
                    <a:ext cx="882967" cy="89979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8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103877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" y="992050"/>
                <a:ext cx="12191998" cy="4227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Now let’s take the case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 have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=&gt;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along the reaction path is given by</a:t>
                </a: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Answer #2: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(2 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992050"/>
                <a:ext cx="12191998" cy="4227504"/>
              </a:xfrm>
              <a:prstGeom prst="rect">
                <a:avLst/>
              </a:prstGeom>
              <a:blipFill>
                <a:blip r:embed="rId2"/>
                <a:stretch>
                  <a:fillRect l="-832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C1B8188-9785-2A4D-6372-0E96DE542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25405F-874E-9056-CB3F-08CF779E15C9}"/>
                  </a:ext>
                </a:extLst>
              </p:cNvPr>
              <p:cNvSpPr txBox="1"/>
              <p:nvPr/>
            </p:nvSpPr>
            <p:spPr>
              <a:xfrm>
                <a:off x="2372897" y="5380607"/>
                <a:ext cx="3467834" cy="120032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Since we usually choose the reference activity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) to have a value of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25405F-874E-9056-CB3F-08CF779E1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897" y="5380607"/>
                <a:ext cx="3467834" cy="1200329"/>
              </a:xfrm>
              <a:prstGeom prst="rect">
                <a:avLst/>
              </a:prstGeom>
              <a:blipFill>
                <a:blip r:embed="rId5"/>
                <a:stretch>
                  <a:fillRect l="-2545" t="-3125" r="-2182" b="-93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E6974C3C-8BBD-C8A9-C888-2800ED0C1B31}"/>
              </a:ext>
            </a:extLst>
          </p:cNvPr>
          <p:cNvGrpSpPr/>
          <p:nvPr/>
        </p:nvGrpSpPr>
        <p:grpSpPr>
          <a:xfrm>
            <a:off x="6949438" y="5000626"/>
            <a:ext cx="4629140" cy="1006722"/>
            <a:chOff x="6949438" y="5000626"/>
            <a:chExt cx="4629140" cy="10067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B1586CF-798D-E988-DF6F-5FEF15B090F5}"/>
                </a:ext>
              </a:extLst>
            </p:cNvPr>
            <p:cNvGrpSpPr/>
            <p:nvPr/>
          </p:nvGrpSpPr>
          <p:grpSpPr>
            <a:xfrm>
              <a:off x="6949438" y="5026233"/>
              <a:ext cx="1097283" cy="810756"/>
              <a:chOff x="7721559" y="5389247"/>
              <a:chExt cx="1039806" cy="810756"/>
            </a:xfrm>
          </p:grpSpPr>
          <p:sp>
            <p:nvSpPr>
              <p:cNvPr id="17" name="Right Brace 16">
                <a:extLst>
                  <a:ext uri="{FF2B5EF4-FFF2-40B4-BE49-F238E27FC236}">
                    <a16:creationId xmlns:a16="http://schemas.microsoft.com/office/drawing/2014/main" id="{38063D9C-827B-CE73-95A2-B85073BDD92A}"/>
                  </a:ext>
                </a:extLst>
              </p:cNvPr>
              <p:cNvSpPr/>
              <p:nvPr/>
            </p:nvSpPr>
            <p:spPr>
              <a:xfrm rot="5400000">
                <a:off x="8066914" y="5043892"/>
                <a:ext cx="349095" cy="1039806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F210CFBB-1AA6-5D1D-DD59-07FEA2DD4416}"/>
                      </a:ext>
                    </a:extLst>
                  </p:cNvPr>
                  <p:cNvSpPr txBox="1"/>
                  <p:nvPr/>
                </p:nvSpPr>
                <p:spPr>
                  <a:xfrm>
                    <a:off x="7780918" y="5738338"/>
                    <a:ext cx="88296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𝑟𝑥𝑛</m:t>
                              </m:r>
                            </m:sub>
                            <m:sup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bSup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F3098FEB-EE63-858F-1648-DFEF6E3C5D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80918" y="5738338"/>
                    <a:ext cx="882967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3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B50B31-D62A-87B7-1AAF-3A12058DAD84}"/>
                </a:ext>
              </a:extLst>
            </p:cNvPr>
            <p:cNvGrpSpPr/>
            <p:nvPr/>
          </p:nvGrpSpPr>
          <p:grpSpPr>
            <a:xfrm>
              <a:off x="8423882" y="5000626"/>
              <a:ext cx="3154696" cy="1006722"/>
              <a:chOff x="7604945" y="5389246"/>
              <a:chExt cx="1087944" cy="1006722"/>
            </a:xfrm>
          </p:grpSpPr>
          <p:sp>
            <p:nvSpPr>
              <p:cNvPr id="15" name="Right Brace 14">
                <a:extLst>
                  <a:ext uri="{FF2B5EF4-FFF2-40B4-BE49-F238E27FC236}">
                    <a16:creationId xmlns:a16="http://schemas.microsoft.com/office/drawing/2014/main" id="{C3610C19-EA2C-3E3D-C864-95218002B180}"/>
                  </a:ext>
                </a:extLst>
              </p:cNvPr>
              <p:cNvSpPr/>
              <p:nvPr/>
            </p:nvSpPr>
            <p:spPr>
              <a:xfrm rot="5400000">
                <a:off x="7974369" y="5019822"/>
                <a:ext cx="349096" cy="1087944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BB96546A-7527-C304-C764-CD112C33EE8F}"/>
                      </a:ext>
                    </a:extLst>
                  </p:cNvPr>
                  <p:cNvSpPr txBox="1"/>
                  <p:nvPr/>
                </p:nvSpPr>
                <p:spPr>
                  <a:xfrm>
                    <a:off x="7734056" y="5496170"/>
                    <a:ext cx="882967" cy="89979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DA443EB0-5F17-FB42-7B94-078C072C37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4056" y="5496170"/>
                    <a:ext cx="882967" cy="89979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8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626184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" y="992050"/>
                <a:ext cx="12191998" cy="4227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Now let’s take the case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 have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=&gt;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along the reaction path is given by</a:t>
                </a: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Answer #2: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(2 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992050"/>
                <a:ext cx="12191998" cy="4227504"/>
              </a:xfrm>
              <a:prstGeom prst="rect">
                <a:avLst/>
              </a:prstGeom>
              <a:blipFill>
                <a:blip r:embed="rId2"/>
                <a:stretch>
                  <a:fillRect l="-832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C1B8188-9785-2A4D-6372-0E96DE542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0AE654D-61A1-21AF-9729-320F0659B083}"/>
              </a:ext>
            </a:extLst>
          </p:cNvPr>
          <p:cNvGrpSpPr/>
          <p:nvPr/>
        </p:nvGrpSpPr>
        <p:grpSpPr>
          <a:xfrm>
            <a:off x="6949438" y="5000626"/>
            <a:ext cx="4629140" cy="1006722"/>
            <a:chOff x="6949438" y="5000626"/>
            <a:chExt cx="4629140" cy="100672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32CFE66-0437-4BD9-8F58-6CCA0E6F8761}"/>
                </a:ext>
              </a:extLst>
            </p:cNvPr>
            <p:cNvGrpSpPr/>
            <p:nvPr/>
          </p:nvGrpSpPr>
          <p:grpSpPr>
            <a:xfrm>
              <a:off x="6949438" y="5026233"/>
              <a:ext cx="1097283" cy="810756"/>
              <a:chOff x="7721559" y="5389247"/>
              <a:chExt cx="1039806" cy="810756"/>
            </a:xfrm>
          </p:grpSpPr>
          <p:sp>
            <p:nvSpPr>
              <p:cNvPr id="20" name="Right Brace 19">
                <a:extLst>
                  <a:ext uri="{FF2B5EF4-FFF2-40B4-BE49-F238E27FC236}">
                    <a16:creationId xmlns:a16="http://schemas.microsoft.com/office/drawing/2014/main" id="{6B997502-57C9-3154-2119-CF9B708BAD07}"/>
                  </a:ext>
                </a:extLst>
              </p:cNvPr>
              <p:cNvSpPr/>
              <p:nvPr/>
            </p:nvSpPr>
            <p:spPr>
              <a:xfrm rot="5400000">
                <a:off x="8066914" y="5043892"/>
                <a:ext cx="349095" cy="1039806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58ED5F1-AE94-7C8F-B7EB-46715EEC4D46}"/>
                      </a:ext>
                    </a:extLst>
                  </p:cNvPr>
                  <p:cNvSpPr txBox="1"/>
                  <p:nvPr/>
                </p:nvSpPr>
                <p:spPr>
                  <a:xfrm>
                    <a:off x="7780918" y="5738338"/>
                    <a:ext cx="88296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𝑟𝑥𝑛</m:t>
                              </m:r>
                            </m:sub>
                            <m:sup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bSup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F3098FEB-EE63-858F-1648-DFEF6E3C5D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80918" y="5738338"/>
                    <a:ext cx="882967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1CC772D-0A4F-D4BA-ED23-5D1B6D6BE028}"/>
                </a:ext>
              </a:extLst>
            </p:cNvPr>
            <p:cNvGrpSpPr/>
            <p:nvPr/>
          </p:nvGrpSpPr>
          <p:grpSpPr>
            <a:xfrm>
              <a:off x="8423882" y="5000626"/>
              <a:ext cx="3154696" cy="1006722"/>
              <a:chOff x="7604945" y="5389246"/>
              <a:chExt cx="1087944" cy="1006722"/>
            </a:xfrm>
          </p:grpSpPr>
          <p:sp>
            <p:nvSpPr>
              <p:cNvPr id="18" name="Right Brace 17">
                <a:extLst>
                  <a:ext uri="{FF2B5EF4-FFF2-40B4-BE49-F238E27FC236}">
                    <a16:creationId xmlns:a16="http://schemas.microsoft.com/office/drawing/2014/main" id="{C4A53916-D955-08A7-0339-50A5FDF3EDB2}"/>
                  </a:ext>
                </a:extLst>
              </p:cNvPr>
              <p:cNvSpPr/>
              <p:nvPr/>
            </p:nvSpPr>
            <p:spPr>
              <a:xfrm rot="5400000">
                <a:off x="7974369" y="5019822"/>
                <a:ext cx="349096" cy="1087944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8681290-7542-02AF-AF43-CED3B6F29279}"/>
                      </a:ext>
                    </a:extLst>
                  </p:cNvPr>
                  <p:cNvSpPr txBox="1"/>
                  <p:nvPr/>
                </p:nvSpPr>
                <p:spPr>
                  <a:xfrm>
                    <a:off x="7734056" y="5496170"/>
                    <a:ext cx="882967" cy="89979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8681290-7542-02AF-AF43-CED3B6F292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4056" y="5496170"/>
                    <a:ext cx="882967" cy="89979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8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A69A0DB-F95C-8F1F-FD11-68C8D37E2E0B}"/>
                  </a:ext>
                </a:extLst>
              </p:cNvPr>
              <p:cNvSpPr txBox="1"/>
              <p:nvPr/>
            </p:nvSpPr>
            <p:spPr>
              <a:xfrm>
                <a:off x="2372897" y="5380607"/>
                <a:ext cx="3467834" cy="120032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Since we usually choose the reference activity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) to have a value of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A69A0DB-F95C-8F1F-FD11-68C8D37E2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897" y="5380607"/>
                <a:ext cx="3467834" cy="1200329"/>
              </a:xfrm>
              <a:prstGeom prst="rect">
                <a:avLst/>
              </a:prstGeom>
              <a:blipFill>
                <a:blip r:embed="rId7"/>
                <a:stretch>
                  <a:fillRect l="-2545" t="-3125" r="-2182" b="-93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057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" y="992050"/>
                <a:ext cx="12191998" cy="4227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Now let’s take the case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 have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=&gt;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along the reaction path is given by</a:t>
                </a: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Answer #2: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(2 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992050"/>
                <a:ext cx="12191998" cy="4227504"/>
              </a:xfrm>
              <a:prstGeom prst="rect">
                <a:avLst/>
              </a:prstGeom>
              <a:blipFill>
                <a:blip r:embed="rId2"/>
                <a:stretch>
                  <a:fillRect l="-832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C1B8188-9785-2A4D-6372-0E96DE542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7C18BDB-548E-EF80-329B-3A7082E1A46C}"/>
              </a:ext>
            </a:extLst>
          </p:cNvPr>
          <p:cNvGrpSpPr/>
          <p:nvPr/>
        </p:nvGrpSpPr>
        <p:grpSpPr>
          <a:xfrm>
            <a:off x="10213701" y="5984488"/>
            <a:ext cx="2010730" cy="555935"/>
            <a:chOff x="10036490" y="6201442"/>
            <a:chExt cx="2010730" cy="555935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6980EF43-3D4F-40F0-947E-2664BBE45A7F}"/>
                </a:ext>
              </a:extLst>
            </p:cNvPr>
            <p:cNvSpPr/>
            <p:nvPr/>
          </p:nvSpPr>
          <p:spPr>
            <a:xfrm rot="5400000">
              <a:off x="10175888" y="6118243"/>
              <a:ext cx="191740" cy="35813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6259B4B-4917-7AE6-FA40-5B800BC01BA7}"/>
                    </a:ext>
                  </a:extLst>
                </p:cNvPr>
                <p:cNvSpPr txBox="1"/>
                <p:nvPr/>
              </p:nvSpPr>
              <p:spPr>
                <a:xfrm>
                  <a:off x="10036490" y="6295712"/>
                  <a:ext cx="201073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6259B4B-4917-7AE6-FA40-5B800BC01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6490" y="6295712"/>
                  <a:ext cx="201073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887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AE654D-61A1-21AF-9729-320F0659B083}"/>
              </a:ext>
            </a:extLst>
          </p:cNvPr>
          <p:cNvGrpSpPr/>
          <p:nvPr/>
        </p:nvGrpSpPr>
        <p:grpSpPr>
          <a:xfrm>
            <a:off x="6949438" y="5000626"/>
            <a:ext cx="4629140" cy="1006722"/>
            <a:chOff x="6949438" y="5000626"/>
            <a:chExt cx="4629140" cy="100672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32CFE66-0437-4BD9-8F58-6CCA0E6F8761}"/>
                </a:ext>
              </a:extLst>
            </p:cNvPr>
            <p:cNvGrpSpPr/>
            <p:nvPr/>
          </p:nvGrpSpPr>
          <p:grpSpPr>
            <a:xfrm>
              <a:off x="6949438" y="5026233"/>
              <a:ext cx="1097283" cy="810756"/>
              <a:chOff x="7721559" y="5389247"/>
              <a:chExt cx="1039806" cy="810756"/>
            </a:xfrm>
          </p:grpSpPr>
          <p:sp>
            <p:nvSpPr>
              <p:cNvPr id="20" name="Right Brace 19">
                <a:extLst>
                  <a:ext uri="{FF2B5EF4-FFF2-40B4-BE49-F238E27FC236}">
                    <a16:creationId xmlns:a16="http://schemas.microsoft.com/office/drawing/2014/main" id="{6B997502-57C9-3154-2119-CF9B708BAD07}"/>
                  </a:ext>
                </a:extLst>
              </p:cNvPr>
              <p:cNvSpPr/>
              <p:nvPr/>
            </p:nvSpPr>
            <p:spPr>
              <a:xfrm rot="5400000">
                <a:off x="8066914" y="5043892"/>
                <a:ext cx="349095" cy="1039806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58ED5F1-AE94-7C8F-B7EB-46715EEC4D46}"/>
                      </a:ext>
                    </a:extLst>
                  </p:cNvPr>
                  <p:cNvSpPr txBox="1"/>
                  <p:nvPr/>
                </p:nvSpPr>
                <p:spPr>
                  <a:xfrm>
                    <a:off x="7780918" y="5738338"/>
                    <a:ext cx="88296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𝑟𝑥𝑛</m:t>
                              </m:r>
                            </m:sub>
                            <m:sup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bSup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58ED5F1-AE94-7C8F-B7EB-46715EEC4D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80918" y="5738338"/>
                    <a:ext cx="882967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3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1CC772D-0A4F-D4BA-ED23-5D1B6D6BE028}"/>
                </a:ext>
              </a:extLst>
            </p:cNvPr>
            <p:cNvGrpSpPr/>
            <p:nvPr/>
          </p:nvGrpSpPr>
          <p:grpSpPr>
            <a:xfrm>
              <a:off x="8423882" y="5000626"/>
              <a:ext cx="3154696" cy="1006722"/>
              <a:chOff x="7604945" y="5389246"/>
              <a:chExt cx="1087944" cy="1006722"/>
            </a:xfrm>
          </p:grpSpPr>
          <p:sp>
            <p:nvSpPr>
              <p:cNvPr id="18" name="Right Brace 17">
                <a:extLst>
                  <a:ext uri="{FF2B5EF4-FFF2-40B4-BE49-F238E27FC236}">
                    <a16:creationId xmlns:a16="http://schemas.microsoft.com/office/drawing/2014/main" id="{C4A53916-D955-08A7-0339-50A5FDF3EDB2}"/>
                  </a:ext>
                </a:extLst>
              </p:cNvPr>
              <p:cNvSpPr/>
              <p:nvPr/>
            </p:nvSpPr>
            <p:spPr>
              <a:xfrm rot="5400000">
                <a:off x="7974369" y="5019822"/>
                <a:ext cx="349096" cy="1087944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8681290-7542-02AF-AF43-CED3B6F29279}"/>
                      </a:ext>
                    </a:extLst>
                  </p:cNvPr>
                  <p:cNvSpPr txBox="1"/>
                  <p:nvPr/>
                </p:nvSpPr>
                <p:spPr>
                  <a:xfrm>
                    <a:off x="7734056" y="5496170"/>
                    <a:ext cx="882967" cy="89979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8681290-7542-02AF-AF43-CED3B6F292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4056" y="5496170"/>
                    <a:ext cx="882967" cy="89979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8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95088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" y="992050"/>
                <a:ext cx="12191998" cy="4227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Now let’s take the case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 have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=&gt;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along the reaction path is given by</a:t>
                </a: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Answer #2: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3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3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(2 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3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992050"/>
                <a:ext cx="12191998" cy="4227504"/>
              </a:xfrm>
              <a:prstGeom prst="rect">
                <a:avLst/>
              </a:prstGeom>
              <a:blipFill>
                <a:blip r:embed="rId2"/>
                <a:stretch>
                  <a:fillRect l="-832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C1B8188-9785-2A4D-6372-0E96DE542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7C18BDB-548E-EF80-329B-3A7082E1A46C}"/>
              </a:ext>
            </a:extLst>
          </p:cNvPr>
          <p:cNvGrpSpPr/>
          <p:nvPr/>
        </p:nvGrpSpPr>
        <p:grpSpPr>
          <a:xfrm>
            <a:off x="10213701" y="5984488"/>
            <a:ext cx="2010730" cy="555935"/>
            <a:chOff x="10036490" y="6201442"/>
            <a:chExt cx="2010730" cy="555935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6980EF43-3D4F-40F0-947E-2664BBE45A7F}"/>
                </a:ext>
              </a:extLst>
            </p:cNvPr>
            <p:cNvSpPr/>
            <p:nvPr/>
          </p:nvSpPr>
          <p:spPr>
            <a:xfrm rot="5400000">
              <a:off x="10175888" y="6118243"/>
              <a:ext cx="191740" cy="35813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6259B4B-4917-7AE6-FA40-5B800BC01BA7}"/>
                    </a:ext>
                  </a:extLst>
                </p:cNvPr>
                <p:cNvSpPr txBox="1"/>
                <p:nvPr/>
              </p:nvSpPr>
              <p:spPr>
                <a:xfrm>
                  <a:off x="10036490" y="6295712"/>
                  <a:ext cx="201073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a14:m>
                  <a:r>
                    <a:rPr lang="en-US" sz="2400" dirty="0"/>
                    <a:t> </a:t>
                  </a:r>
                  <a:r>
                    <a:rPr lang="en-US" sz="2400" dirty="0">
                      <a:solidFill>
                        <a:schemeClr val="accent1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sz="2400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</m:oMath>
                  </a14:m>
                  <a:r>
                    <a:rPr lang="en-US" sz="2400" dirty="0">
                      <a:solidFill>
                        <a:schemeClr val="accent1"/>
                      </a:solidFill>
                    </a:rPr>
                    <a:t> at eq</a:t>
                  </a:r>
                  <a:r>
                    <a:rPr lang="en-US" sz="2400" dirty="0"/>
                    <a:t>)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6259B4B-4917-7AE6-FA40-5B800BC01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6490" y="6295712"/>
                  <a:ext cx="201073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887" t="-7895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AE654D-61A1-21AF-9729-320F0659B083}"/>
              </a:ext>
            </a:extLst>
          </p:cNvPr>
          <p:cNvGrpSpPr/>
          <p:nvPr/>
        </p:nvGrpSpPr>
        <p:grpSpPr>
          <a:xfrm>
            <a:off x="6949438" y="5000626"/>
            <a:ext cx="4629140" cy="1006722"/>
            <a:chOff x="6949438" y="5000626"/>
            <a:chExt cx="4629140" cy="100672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32CFE66-0437-4BD9-8F58-6CCA0E6F8761}"/>
                </a:ext>
              </a:extLst>
            </p:cNvPr>
            <p:cNvGrpSpPr/>
            <p:nvPr/>
          </p:nvGrpSpPr>
          <p:grpSpPr>
            <a:xfrm>
              <a:off x="6949438" y="5026233"/>
              <a:ext cx="1097283" cy="810756"/>
              <a:chOff x="7721559" y="5389247"/>
              <a:chExt cx="1039806" cy="810756"/>
            </a:xfrm>
          </p:grpSpPr>
          <p:sp>
            <p:nvSpPr>
              <p:cNvPr id="20" name="Right Brace 19">
                <a:extLst>
                  <a:ext uri="{FF2B5EF4-FFF2-40B4-BE49-F238E27FC236}">
                    <a16:creationId xmlns:a16="http://schemas.microsoft.com/office/drawing/2014/main" id="{6B997502-57C9-3154-2119-CF9B708BAD07}"/>
                  </a:ext>
                </a:extLst>
              </p:cNvPr>
              <p:cNvSpPr/>
              <p:nvPr/>
            </p:nvSpPr>
            <p:spPr>
              <a:xfrm rot="5400000">
                <a:off x="8066914" y="5043892"/>
                <a:ext cx="349095" cy="1039806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58ED5F1-AE94-7C8F-B7EB-46715EEC4D46}"/>
                      </a:ext>
                    </a:extLst>
                  </p:cNvPr>
                  <p:cNvSpPr txBox="1"/>
                  <p:nvPr/>
                </p:nvSpPr>
                <p:spPr>
                  <a:xfrm>
                    <a:off x="7780918" y="5738338"/>
                    <a:ext cx="88296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𝑟𝑥𝑛</m:t>
                              </m:r>
                            </m:sub>
                            <m:sup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bSup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58ED5F1-AE94-7C8F-B7EB-46715EEC4D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80918" y="5738338"/>
                    <a:ext cx="882967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3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1CC772D-0A4F-D4BA-ED23-5D1B6D6BE028}"/>
                </a:ext>
              </a:extLst>
            </p:cNvPr>
            <p:cNvGrpSpPr/>
            <p:nvPr/>
          </p:nvGrpSpPr>
          <p:grpSpPr>
            <a:xfrm>
              <a:off x="8423882" y="5000626"/>
              <a:ext cx="3154696" cy="1006722"/>
              <a:chOff x="7604945" y="5389246"/>
              <a:chExt cx="1087944" cy="1006722"/>
            </a:xfrm>
          </p:grpSpPr>
          <p:sp>
            <p:nvSpPr>
              <p:cNvPr id="18" name="Right Brace 17">
                <a:extLst>
                  <a:ext uri="{FF2B5EF4-FFF2-40B4-BE49-F238E27FC236}">
                    <a16:creationId xmlns:a16="http://schemas.microsoft.com/office/drawing/2014/main" id="{C4A53916-D955-08A7-0339-50A5FDF3EDB2}"/>
                  </a:ext>
                </a:extLst>
              </p:cNvPr>
              <p:cNvSpPr/>
              <p:nvPr/>
            </p:nvSpPr>
            <p:spPr>
              <a:xfrm rot="5400000">
                <a:off x="7974369" y="5019822"/>
                <a:ext cx="349096" cy="1087944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8681290-7542-02AF-AF43-CED3B6F29279}"/>
                      </a:ext>
                    </a:extLst>
                  </p:cNvPr>
                  <p:cNvSpPr txBox="1"/>
                  <p:nvPr/>
                </p:nvSpPr>
                <p:spPr>
                  <a:xfrm>
                    <a:off x="7734056" y="5496170"/>
                    <a:ext cx="882967" cy="89979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8681290-7542-02AF-AF43-CED3B6F292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4056" y="5496170"/>
                    <a:ext cx="882967" cy="89979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8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94B38A6-CA31-43E4-E323-730130B5CCA4}"/>
              </a:ext>
            </a:extLst>
          </p:cNvPr>
          <p:cNvCxnSpPr/>
          <p:nvPr/>
        </p:nvCxnSpPr>
        <p:spPr>
          <a:xfrm>
            <a:off x="10711543" y="4169229"/>
            <a:ext cx="75600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893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" y="832030"/>
                <a:ext cx="12191998" cy="4951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Hopefully you can see that this generalizes, in the case of </a:t>
                </a: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we’d have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we’d end up with …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𝜕𝜀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  <m:sup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</a:rPr>
                        <m:t>𝑅𝑇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/>
                  <a:t>The same math for more complex stoichiometry. Say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then …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832030"/>
                <a:ext cx="12191998" cy="4951355"/>
              </a:xfrm>
              <a:prstGeom prst="rect">
                <a:avLst/>
              </a:prstGeom>
              <a:blipFill>
                <a:blip r:embed="rId2"/>
                <a:stretch>
                  <a:fillRect l="-832" t="-1023" b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C1B8188-9785-2A4D-6372-0E96DE542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159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" y="832030"/>
                <a:ext cx="12191998" cy="6528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Hopefully you can see that this generalizes, in the case of </a:t>
                </a: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we’d have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, we’d end up with …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𝑮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𝝏𝜺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𝒓𝒙𝒏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sSubSup>
                        <m:sSub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𝒓𝒙𝒏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𝒐</m:t>
                          </m:r>
                        </m:sup>
                      </m:sSubSup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𝑅𝑇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/>
                  <a:t>The same math for more complex stoichiometry. Say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then …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𝜕𝜀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  <m:sup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</a:rPr>
                        <m:t>𝑅𝑇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832030"/>
                <a:ext cx="12191998" cy="6528775"/>
              </a:xfrm>
              <a:prstGeom prst="rect">
                <a:avLst/>
              </a:prstGeom>
              <a:blipFill>
                <a:blip r:embed="rId2"/>
                <a:stretch>
                  <a:fillRect l="-832" t="-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the reaction quotient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 (and equilibrium constant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b="1" dirty="0"/>
                  <a:t>) have activities raised to stoichiometric coefficients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830997"/>
              </a:xfrm>
              <a:prstGeom prst="rect">
                <a:avLst/>
              </a:prstGeom>
              <a:blipFill>
                <a:blip r:embed="rId3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C1B8188-9785-2A4D-6372-0E96DE542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856" y="2755109"/>
            <a:ext cx="2318433" cy="18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05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3095</TotalTime>
  <Words>1457</Words>
  <Application>Microsoft Macintosh PowerPoint</Application>
  <PresentationFormat>Widescreen</PresentationFormat>
  <Paragraphs>168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68</cp:revision>
  <cp:lastPrinted>2022-11-18T16:43:56Z</cp:lastPrinted>
  <dcterms:created xsi:type="dcterms:W3CDTF">2018-09-17T04:21:57Z</dcterms:created>
  <dcterms:modified xsi:type="dcterms:W3CDTF">2025-11-25T11:34:11Z</dcterms:modified>
</cp:coreProperties>
</file>