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74" r:id="rId2"/>
    <p:sldId id="306" r:id="rId3"/>
    <p:sldId id="337" r:id="rId4"/>
    <p:sldId id="308" r:id="rId5"/>
    <p:sldId id="342" r:id="rId6"/>
    <p:sldId id="312" r:id="rId7"/>
    <p:sldId id="316" r:id="rId8"/>
    <p:sldId id="334" r:id="rId9"/>
    <p:sldId id="380" r:id="rId10"/>
    <p:sldId id="344" r:id="rId11"/>
    <p:sldId id="309" r:id="rId12"/>
    <p:sldId id="33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405"/>
  </p:normalViewPr>
  <p:slideViewPr>
    <p:cSldViewPr snapToGrid="0" snapToObjects="1">
      <p:cViewPr>
        <p:scale>
          <a:sx n="98" d="100"/>
          <a:sy n="98" d="100"/>
        </p:scale>
        <p:origin x="1016"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8DC30A-13B2-324D-AE31-83C00D788DC8}" type="datetimeFigureOut">
              <a:rPr lang="en-US" smtClean="0"/>
              <a:t>10/24/25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CA1E5-348C-F041-8EFF-EA3B3458465A}" type="slidenum">
              <a:rPr lang="en-US" smtClean="0"/>
              <a:t>‹#›</a:t>
            </a:fld>
            <a:endParaRPr lang="en-US"/>
          </a:p>
        </p:txBody>
      </p:sp>
    </p:spTree>
    <p:extLst>
      <p:ext uri="{BB962C8B-B14F-4D97-AF65-F5344CB8AC3E}">
        <p14:creationId xmlns:p14="http://schemas.microsoft.com/office/powerpoint/2010/main" val="2203558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3ABB40-F5BC-034C-818D-2ABD453702D6}" type="slidenum">
              <a:rPr lang="en-US" smtClean="0"/>
              <a:t>2</a:t>
            </a:fld>
            <a:endParaRPr lang="en-US"/>
          </a:p>
        </p:txBody>
      </p:sp>
    </p:spTree>
    <p:extLst>
      <p:ext uri="{BB962C8B-B14F-4D97-AF65-F5344CB8AC3E}">
        <p14:creationId xmlns:p14="http://schemas.microsoft.com/office/powerpoint/2010/main" val="3403342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D5B7-D496-A449-ACB8-C0C967259C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292238-D5F4-554A-9C89-8E04E72A7E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6F4C84-1D88-1E44-AF8B-D5023D510823}"/>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5" name="Footer Placeholder 4">
            <a:extLst>
              <a:ext uri="{FF2B5EF4-FFF2-40B4-BE49-F238E27FC236}">
                <a16:creationId xmlns:a16="http://schemas.microsoft.com/office/drawing/2014/main" id="{E4793C61-7E4F-DF4B-AAB3-6BC607F4D0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DA1CE-2CE6-124E-A657-099FA7C65529}"/>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3697077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9C48-DF80-0241-B631-EF0EAD3442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58ECAF-5F0C-5C41-847B-DC9258733D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FEABF2-5F18-5E47-B322-909A7D4F19BF}"/>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5" name="Footer Placeholder 4">
            <a:extLst>
              <a:ext uri="{FF2B5EF4-FFF2-40B4-BE49-F238E27FC236}">
                <a16:creationId xmlns:a16="http://schemas.microsoft.com/office/drawing/2014/main" id="{6E797AD0-7308-224E-AB0D-77F6D8185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6692A4-950A-B34A-8EF2-52157385B280}"/>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4289575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C9BCD-1DA9-4F4D-A084-5BC177D9D1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238DCE-2750-4648-ABBC-1E6614C2CC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258D03-25DC-6145-BB0E-A423FF705476}"/>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5" name="Footer Placeholder 4">
            <a:extLst>
              <a:ext uri="{FF2B5EF4-FFF2-40B4-BE49-F238E27FC236}">
                <a16:creationId xmlns:a16="http://schemas.microsoft.com/office/drawing/2014/main" id="{F747195B-BE34-5A4F-8CC0-FB3E953BD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B916-54A1-404F-BAF2-6B5BBF1731DA}"/>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2922127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FECA7-021D-BD4F-BB1B-1FD9F85D6F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F8903F-1CD9-CF48-AFA9-822BF569B0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58A359-8E93-3E4C-92A6-F4CE30BE2B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2516F5-AEB3-2646-9C37-94A116F1A58C}"/>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6" name="Footer Placeholder 5">
            <a:extLst>
              <a:ext uri="{FF2B5EF4-FFF2-40B4-BE49-F238E27FC236}">
                <a16:creationId xmlns:a16="http://schemas.microsoft.com/office/drawing/2014/main" id="{D5A8DA48-54C2-7F41-AEA0-BCE64DE30D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A6A7D9-72A6-664F-A604-A53000FB38EF}"/>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718034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E19ED-121B-034F-B2C8-0B86D248BE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6F2987-0DE8-0845-A5DF-C94558BAAA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F20A7D-E038-8C4D-ADA2-3155C3F47E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CB4D5F-178D-AC43-B2D3-CB85BE86AB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6D9737-0F4E-7245-A05B-9F8B242C8E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7CCAC2-2035-8440-97AD-A40BD981C99C}"/>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8" name="Footer Placeholder 7">
            <a:extLst>
              <a:ext uri="{FF2B5EF4-FFF2-40B4-BE49-F238E27FC236}">
                <a16:creationId xmlns:a16="http://schemas.microsoft.com/office/drawing/2014/main" id="{9DAFEF1C-167A-354B-BEB8-3F57775ECB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CD6277-41B4-A340-A438-AE20AE7F7B69}"/>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1230916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A794D-44A8-3C43-886A-D86ABC9663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72FE90-65A7-5D4C-AA52-F056455124D3}"/>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4" name="Footer Placeholder 3">
            <a:extLst>
              <a:ext uri="{FF2B5EF4-FFF2-40B4-BE49-F238E27FC236}">
                <a16:creationId xmlns:a16="http://schemas.microsoft.com/office/drawing/2014/main" id="{D5CC4715-644A-B345-87EF-39B537968F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4947C-25B5-084E-A09F-7D2956329F45}"/>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352495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6598DF-0AE2-5B42-86A4-35FA71F0ADFE}"/>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3" name="Footer Placeholder 2">
            <a:extLst>
              <a:ext uri="{FF2B5EF4-FFF2-40B4-BE49-F238E27FC236}">
                <a16:creationId xmlns:a16="http://schemas.microsoft.com/office/drawing/2014/main" id="{355C6C41-1299-E045-BA5F-85A79779BC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02F8D4-3B81-9048-9ACA-C58043F2AF1C}"/>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198419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DB38C-B058-2B48-B27F-0776BE625A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5CEF31-984D-B249-81F6-F0799DD941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A6DB84-2482-E64C-B34A-CD5FA698E0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579FB0-9D7D-274A-A598-AE610F791488}"/>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6" name="Footer Placeholder 5">
            <a:extLst>
              <a:ext uri="{FF2B5EF4-FFF2-40B4-BE49-F238E27FC236}">
                <a16:creationId xmlns:a16="http://schemas.microsoft.com/office/drawing/2014/main" id="{E2C71DDF-8BAC-4746-A335-EF0CA1ADEA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9330D6-0B34-6945-92A4-616538BF7B70}"/>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255579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7F9E-7F91-7547-94AB-8583EF77A9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EC8FB2-E4E8-484E-A1CE-84B9DDD65E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267C96-618C-CF4F-8535-FE574A083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F4518F-9AE6-5949-A0EE-B7D8378BBC0E}"/>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6" name="Footer Placeholder 5">
            <a:extLst>
              <a:ext uri="{FF2B5EF4-FFF2-40B4-BE49-F238E27FC236}">
                <a16:creationId xmlns:a16="http://schemas.microsoft.com/office/drawing/2014/main" id="{6BADAEDA-7283-CD47-BA67-83127A5A7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4791F3-22A4-5A40-A0CB-FC9523903033}"/>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1453087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E6205-4671-664B-9426-FB069BF44E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472CD4-B70B-D948-8DC2-CF28293C40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F7772C-66E4-6448-947D-2B15B452CF82}"/>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5" name="Footer Placeholder 4">
            <a:extLst>
              <a:ext uri="{FF2B5EF4-FFF2-40B4-BE49-F238E27FC236}">
                <a16:creationId xmlns:a16="http://schemas.microsoft.com/office/drawing/2014/main" id="{98EAF9B3-E5EA-DF41-835C-45CF5318EB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14C99D-B58E-F447-80CD-80AC2A833FDD}"/>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1751547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944677-C828-594C-92E1-6CDB349B09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1F24D-233F-FB46-848D-4B2A5913BF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B4E5D8-4256-EE4D-B495-6CA0487E16FB}"/>
              </a:ext>
            </a:extLst>
          </p:cNvPr>
          <p:cNvSpPr>
            <a:spLocks noGrp="1"/>
          </p:cNvSpPr>
          <p:nvPr>
            <p:ph type="dt" sz="half" idx="10"/>
          </p:nvPr>
        </p:nvSpPr>
        <p:spPr/>
        <p:txBody>
          <a:bodyPr/>
          <a:lstStyle/>
          <a:p>
            <a:fld id="{CD0C841E-4530-3B44-925F-7F7DB0B8F95E}" type="datetimeFigureOut">
              <a:rPr lang="en-US" smtClean="0"/>
              <a:t>10/24/25</a:t>
            </a:fld>
            <a:endParaRPr lang="en-US"/>
          </a:p>
        </p:txBody>
      </p:sp>
      <p:sp>
        <p:nvSpPr>
          <p:cNvPr id="5" name="Footer Placeholder 4">
            <a:extLst>
              <a:ext uri="{FF2B5EF4-FFF2-40B4-BE49-F238E27FC236}">
                <a16:creationId xmlns:a16="http://schemas.microsoft.com/office/drawing/2014/main" id="{7F445F8D-4283-D04C-9427-1C81E01BD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F3573-45F2-C244-892B-0169B2D6F0C1}"/>
              </a:ext>
            </a:extLst>
          </p:cNvPr>
          <p:cNvSpPr>
            <a:spLocks noGrp="1"/>
          </p:cNvSpPr>
          <p:nvPr>
            <p:ph type="sldNum" sz="quarter" idx="12"/>
          </p:nvPr>
        </p:nvSpPr>
        <p:spPr/>
        <p:txBody>
          <a:bodyPr/>
          <a:lstStyle/>
          <a:p>
            <a:fld id="{3C4ED27B-97A8-B24E-8E61-6CAFE3692176}" type="slidenum">
              <a:rPr lang="en-US" smtClean="0"/>
              <a:t>‹#›</a:t>
            </a:fld>
            <a:endParaRPr lang="en-US"/>
          </a:p>
        </p:txBody>
      </p:sp>
    </p:spTree>
    <p:extLst>
      <p:ext uri="{BB962C8B-B14F-4D97-AF65-F5344CB8AC3E}">
        <p14:creationId xmlns:p14="http://schemas.microsoft.com/office/powerpoint/2010/main" val="4217315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7A66AF-1584-0A43-8D29-C957AA93B3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73ED0E-EFF8-7F4B-8DB3-B30452047C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CB9FAE-633E-AD45-BB9E-880638D3CA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0C841E-4530-3B44-925F-7F7DB0B8F95E}" type="datetimeFigureOut">
              <a:rPr lang="en-US" smtClean="0"/>
              <a:t>10/24/25</a:t>
            </a:fld>
            <a:endParaRPr lang="en-US"/>
          </a:p>
        </p:txBody>
      </p:sp>
      <p:sp>
        <p:nvSpPr>
          <p:cNvPr id="5" name="Footer Placeholder 4">
            <a:extLst>
              <a:ext uri="{FF2B5EF4-FFF2-40B4-BE49-F238E27FC236}">
                <a16:creationId xmlns:a16="http://schemas.microsoft.com/office/drawing/2014/main" id="{EDC7D414-E4A6-3E4E-9BFC-4E24FB326A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09FBBF-C978-BA48-977D-B77DBBFEDE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4ED27B-97A8-B24E-8E61-6CAFE3692176}" type="slidenum">
              <a:rPr lang="en-US" smtClean="0"/>
              <a:t>‹#›</a:t>
            </a:fld>
            <a:endParaRPr lang="en-US"/>
          </a:p>
        </p:txBody>
      </p:sp>
    </p:spTree>
    <p:extLst>
      <p:ext uri="{BB962C8B-B14F-4D97-AF65-F5344CB8AC3E}">
        <p14:creationId xmlns:p14="http://schemas.microsoft.com/office/powerpoint/2010/main" val="67006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2.png"/><Relationship Id="rId7"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hyperlink" Target="https://webbook.nist.gov/cgi/cbook.cgi?ID=C124389&amp;Mask=1&amp;Type=JANAFG&amp;Table=on" TargetMode="External"/><Relationship Id="rId4" Type="http://schemas.openxmlformats.org/officeDocument/2006/relationships/hyperlink" Target="https://encyclopedia2.thefreedictionary.com/Joule-Thomson+Effect" TargetMode="Externa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3.png"/><Relationship Id="rId7" Type="http://schemas.openxmlformats.org/officeDocument/2006/relationships/image" Target="../media/image120.png"/><Relationship Id="rId12"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6.png"/><Relationship Id="rId5" Type="http://schemas.openxmlformats.org/officeDocument/2006/relationships/image" Target="../media/image100.png"/><Relationship Id="rId10" Type="http://schemas.openxmlformats.org/officeDocument/2006/relationships/image" Target="../media/image15.png"/><Relationship Id="rId4" Type="http://schemas.openxmlformats.org/officeDocument/2006/relationships/image" Target="../media/image90.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00.png"/><Relationship Id="rId7" Type="http://schemas.openxmlformats.org/officeDocument/2006/relationships/image" Target="../media/image34.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image" Target="../media/image290.png"/><Relationship Id="rId9" Type="http://schemas.openxmlformats.org/officeDocument/2006/relationships/image" Target="../media/image170.png"/></Relationships>
</file>

<file path=ppt/slides/_rels/slide7.xml.rels><?xml version="1.0" encoding="UTF-8" standalone="yes"?>
<Relationships xmlns="http://schemas.openxmlformats.org/package/2006/relationships"><Relationship Id="rId13" Type="http://schemas.openxmlformats.org/officeDocument/2006/relationships/image" Target="../media/image170.png"/><Relationship Id="rId3" Type="http://schemas.openxmlformats.org/officeDocument/2006/relationships/image" Target="../media/image1700.png"/><Relationship Id="rId7" Type="http://schemas.openxmlformats.org/officeDocument/2006/relationships/image" Target="../media/image1200.png"/><Relationship Id="rId12" Type="http://schemas.openxmlformats.org/officeDocument/2006/relationships/image" Target="../media/image34.png"/><Relationship Id="rId2" Type="http://schemas.openxmlformats.org/officeDocument/2006/relationships/image" Target="../media/image20.png"/><Relationship Id="rId1" Type="http://schemas.openxmlformats.org/officeDocument/2006/relationships/slideLayout" Target="../slideLayouts/slideLayout1.xml"/><Relationship Id="rId11" Type="http://schemas.openxmlformats.org/officeDocument/2006/relationships/image" Target="../media/image21.png"/><Relationship Id="rId6" Type="http://schemas.openxmlformats.org/officeDocument/2006/relationships/image" Target="../media/image33.png"/><Relationship Id="rId10" Type="http://schemas.openxmlformats.org/officeDocument/2006/relationships/image" Target="../media/image220.png"/><Relationship Id="rId9" Type="http://schemas.openxmlformats.org/officeDocument/2006/relationships/image" Target="../media/image260.png"/></Relationships>
</file>

<file path=ppt/slides/_rels/slide8.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240.png"/><Relationship Id="rId7" Type="http://schemas.openxmlformats.org/officeDocument/2006/relationships/image" Target="../media/image280.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1.png"/><Relationship Id="rId10" Type="http://schemas.openxmlformats.org/officeDocument/2006/relationships/image" Target="../media/image170.png"/><Relationship Id="rId4" Type="http://schemas.openxmlformats.org/officeDocument/2006/relationships/image" Target="../media/image250.pn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38.png"/><Relationship Id="rId3" Type="http://schemas.openxmlformats.org/officeDocument/2006/relationships/image" Target="../media/image22.gif"/><Relationship Id="rId7" Type="http://schemas.openxmlformats.org/officeDocument/2006/relationships/image" Target="../media/image270.png"/><Relationship Id="rId12" Type="http://schemas.openxmlformats.org/officeDocument/2006/relationships/image" Target="../media/image37.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36.png"/><Relationship Id="rId5" Type="http://schemas.openxmlformats.org/officeDocument/2006/relationships/image" Target="../media/image23.jpeg"/><Relationship Id="rId10" Type="http://schemas.openxmlformats.org/officeDocument/2006/relationships/image" Target="../media/image35.png"/><Relationship Id="rId4" Type="http://schemas.openxmlformats.org/officeDocument/2006/relationships/image" Target="../media/image210.png"/><Relationship Id="rId9" Type="http://schemas.openxmlformats.org/officeDocument/2006/relationships/image" Target="../media/image32.png"/><Relationship Id="rId1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openxmlformats.org/officeDocument/2006/relationships/image" Target="../media/image1100.png"/><Relationship Id="rId7"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9.png"/><Relationship Id="rId4" Type="http://schemas.openxmlformats.org/officeDocument/2006/relationships/image" Target="../media/image22.gif"/></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2.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022944BF-B3F8-1F5E-63C6-9EEEE8FE442A}"/>
              </a:ext>
            </a:extLst>
          </p:cNvPr>
          <p:cNvSpPr txBox="1"/>
          <p:nvPr/>
        </p:nvSpPr>
        <p:spPr>
          <a:xfrm>
            <a:off x="-9368" y="1791"/>
            <a:ext cx="12201368" cy="461665"/>
          </a:xfrm>
          <a:prstGeom prst="rect">
            <a:avLst/>
          </a:prstGeom>
          <a:solidFill>
            <a:schemeClr val="accent2"/>
          </a:solidFill>
        </p:spPr>
        <p:txBody>
          <a:bodyPr wrap="square" rtlCol="0">
            <a:spAutoFit/>
          </a:bodyPr>
          <a:lstStyle/>
          <a:p>
            <a:r>
              <a:rPr lang="en-US" sz="2400" b="1" dirty="0"/>
              <a:t>Recap of </a:t>
            </a:r>
            <a:r>
              <a:rPr lang="en-US" sz="2400" b="1" dirty="0" err="1"/>
              <a:t>AnalyticalU&amp;H</a:t>
            </a:r>
            <a:endParaRPr lang="en-US" sz="2400"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93B730B-7889-2DE9-0A35-39515F304B68}"/>
                  </a:ext>
                </a:extLst>
              </p:cNvPr>
              <p:cNvSpPr txBox="1"/>
              <p:nvPr/>
            </p:nvSpPr>
            <p:spPr>
              <a:xfrm>
                <a:off x="104006" y="4198332"/>
                <a:ext cx="11963497" cy="1981825"/>
              </a:xfrm>
              <a:prstGeom prst="rect">
                <a:avLst/>
              </a:prstGeom>
              <a:noFill/>
              <a:ln>
                <a:noFill/>
              </a:ln>
            </p:spPr>
            <p:txBody>
              <a:bodyPr wrap="square" rtlCol="0">
                <a:spAutoFit/>
              </a:bodyPr>
              <a:lstStyle/>
              <a:p>
                <a:r>
                  <a:rPr lang="en-US" sz="2400" dirty="0"/>
                  <a:t>For the Enthalpy, if </a:t>
                </a:r>
                <a14:m>
                  <m:oMath xmlns:m="http://schemas.openxmlformats.org/officeDocument/2006/math">
                    <m:r>
                      <a:rPr lang="en-US" sz="2400" b="0" i="1" smtClean="0">
                        <a:latin typeface="Cambria Math" panose="02040503050406030204" pitchFamily="18" charset="0"/>
                      </a:rPr>
                      <m:t>𝐻</m:t>
                    </m:r>
                    <m:d>
                      <m:dPr>
                        <m:ctrlPr>
                          <a:rPr lang="en-US" sz="2400" i="1" smtClean="0">
                            <a:latin typeface="Cambria Math" panose="02040503050406030204" pitchFamily="18" charset="0"/>
                          </a:rPr>
                        </m:ctrlPr>
                      </m:dPr>
                      <m:e>
                        <m:r>
                          <a:rPr lang="en-US" sz="2400" b="0" i="1" smtClean="0">
                            <a:latin typeface="Cambria Math" panose="02040503050406030204" pitchFamily="18" charset="0"/>
                          </a:rPr>
                          <m:t>𝑇</m:t>
                        </m:r>
                        <m:r>
                          <a:rPr lang="en-US" sz="2400" b="0" i="1" smtClean="0">
                            <a:latin typeface="Cambria Math" panose="02040503050406030204" pitchFamily="18" charset="0"/>
                          </a:rPr>
                          <m:t>,</m:t>
                        </m:r>
                        <m:r>
                          <a:rPr lang="en-US" sz="2400" b="0" i="1" smtClean="0">
                            <a:latin typeface="Cambria Math" panose="02040503050406030204" pitchFamily="18" charset="0"/>
                          </a:rPr>
                          <m:t>𝑃</m:t>
                        </m:r>
                      </m:e>
                    </m:d>
                    <m:r>
                      <a:rPr lang="en-US" sz="2400" b="0"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𝑅𝑇</m:t>
                        </m:r>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𝑟𝑜𝑡</m:t>
                            </m:r>
                          </m:sub>
                        </m:sSub>
                        <m:d>
                          <m:dPr>
                            <m:ctrlPr>
                              <a:rPr lang="en-US" sz="2400" i="1" smtClean="0">
                                <a:latin typeface="Cambria Math" panose="02040503050406030204" pitchFamily="18" charset="0"/>
                              </a:rPr>
                            </m:ctrlPr>
                          </m:dPr>
                          <m:e>
                            <m:r>
                              <a:rPr lang="en-US" sz="2400" b="0" i="1" smtClean="0">
                                <a:latin typeface="Cambria Math" panose="02040503050406030204" pitchFamily="18" charset="0"/>
                              </a:rPr>
                              <m:t>𝑇</m:t>
                            </m:r>
                          </m:e>
                        </m:d>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𝑣𝑖𝑏</m:t>
                            </m:r>
                          </m:sub>
                        </m:sSub>
                        <m:d>
                          <m:dPr>
                            <m:ctrlPr>
                              <a:rPr lang="en-US" sz="2400" i="1" smtClean="0">
                                <a:latin typeface="Cambria Math" panose="02040503050406030204" pitchFamily="18" charset="0"/>
                              </a:rPr>
                            </m:ctrlPr>
                          </m:dPr>
                          <m:e>
                            <m:r>
                              <a:rPr lang="en-US" sz="2400" b="0" i="1" smtClean="0">
                                <a:latin typeface="Cambria Math" panose="02040503050406030204" pitchFamily="18" charset="0"/>
                              </a:rPr>
                              <m:t>𝑇</m:t>
                            </m:r>
                          </m:e>
                        </m:d>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𝑖𝑛𝑡𝑒𝑟𝑚𝑜𝑙</m:t>
                            </m:r>
                          </m:sub>
                        </m:sSub>
                        <m:r>
                          <a:rPr lang="en-US" sz="2400" b="0" i="1" smtClean="0">
                            <a:latin typeface="Cambria Math" panose="02040503050406030204" pitchFamily="18" charset="0"/>
                          </a:rPr>
                          <m:t>(</m:t>
                        </m:r>
                        <m:r>
                          <a:rPr lang="en-US" sz="2400" b="0" i="1" smtClean="0">
                            <a:latin typeface="Cambria Math" panose="02040503050406030204" pitchFamily="18" charset="0"/>
                          </a:rPr>
                          <m:t>𝑇</m:t>
                        </m:r>
                        <m:r>
                          <a:rPr lang="en-US" sz="2400" b="0" i="1" smtClean="0">
                            <a:latin typeface="Cambria Math" panose="02040503050406030204" pitchFamily="18" charset="0"/>
                          </a:rPr>
                          <m:t>,</m:t>
                        </m:r>
                        <m:r>
                          <a:rPr lang="en-US" sz="2400" b="0" i="1" smtClean="0">
                            <a:latin typeface="Cambria Math" panose="02040503050406030204" pitchFamily="18" charset="0"/>
                          </a:rPr>
                          <m:t>𝑃</m:t>
                        </m:r>
                        <m:r>
                          <a:rPr lang="en-US" sz="2400" b="0" i="1" smtClean="0">
                            <a:latin typeface="Cambria Math" panose="02040503050406030204" pitchFamily="18" charset="0"/>
                          </a:rPr>
                          <m:t>)</m:t>
                        </m:r>
                      </m:e>
                    </m:d>
                    <m:r>
                      <a:rPr lang="en-US" sz="2400" b="0" i="1" smtClean="0">
                        <a:latin typeface="Cambria Math" panose="02040503050406030204" pitchFamily="18" charset="0"/>
                        <a:ea typeface="Cambria Math" panose="02040503050406030204" pitchFamily="18" charset="0"/>
                      </a:rPr>
                      <m:t>𝑛</m:t>
                    </m:r>
                  </m:oMath>
                </a14:m>
                <a:endParaRPr lang="en-US" sz="2400" dirty="0"/>
              </a:p>
              <a:p>
                <a:endParaRPr lang="en-US" sz="2400" i="1" dirty="0">
                  <a:latin typeface="Cambria Math" panose="02040503050406030204" pitchFamily="18" charset="0"/>
                </a:endParaRPr>
              </a:p>
              <a:p>
                <a:r>
                  <a:rPr lang="en-US" sz="2400" dirty="0"/>
                  <a:t>and</a:t>
                </a:r>
                <a:r>
                  <a:rPr lang="en-US" sz="2400" i="1" dirty="0">
                    <a:latin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𝜇</m:t>
                        </m:r>
                      </m:e>
                      <m:sub>
                        <m:r>
                          <a:rPr lang="en-US" sz="2400" i="1">
                            <a:latin typeface="Cambria Math" panose="02040503050406030204" pitchFamily="18" charset="0"/>
                            <a:ea typeface="Cambria Math" panose="02040503050406030204" pitchFamily="18" charset="0"/>
                          </a:rPr>
                          <m:t>𝑇</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𝐻</m:t>
                                </m:r>
                              </m:num>
                              <m:den>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𝑃</m:t>
                                </m:r>
                              </m:den>
                            </m:f>
                          </m:e>
                        </m:d>
                      </m:e>
                      <m:sub>
                        <m:r>
                          <a:rPr lang="en-US" sz="2400" i="1">
                            <a:latin typeface="Cambria Math" panose="02040503050406030204" pitchFamily="18" charset="0"/>
                            <a:ea typeface="Cambria Math" panose="02040503050406030204" pitchFamily="18" charset="0"/>
                          </a:rPr>
                          <m:t>𝑇</m:t>
                        </m:r>
                      </m:sub>
                    </m:sSub>
                  </m:oMath>
                </a14:m>
                <a:r>
                  <a:rPr lang="en-US" sz="2400" b="0" dirty="0"/>
                  <a:t>, then it must be that </a:t>
                </a:r>
              </a:p>
              <a:p>
                <a:endParaRPr lang="en-US" sz="2400" dirty="0"/>
              </a:p>
            </p:txBody>
          </p:sp>
        </mc:Choice>
        <mc:Fallback xmlns="">
          <p:sp>
            <p:nvSpPr>
              <p:cNvPr id="9" name="TextBox 8">
                <a:extLst>
                  <a:ext uri="{FF2B5EF4-FFF2-40B4-BE49-F238E27FC236}">
                    <a16:creationId xmlns:a16="http://schemas.microsoft.com/office/drawing/2014/main" id="{193B730B-7889-2DE9-0A35-39515F304B68}"/>
                  </a:ext>
                </a:extLst>
              </p:cNvPr>
              <p:cNvSpPr txBox="1">
                <a:spLocks noRot="1" noChangeAspect="1" noMove="1" noResize="1" noEditPoints="1" noAdjustHandles="1" noChangeArrowheads="1" noChangeShapeType="1" noTextEdit="1"/>
              </p:cNvSpPr>
              <p:nvPr/>
            </p:nvSpPr>
            <p:spPr>
              <a:xfrm>
                <a:off x="104006" y="4198332"/>
                <a:ext cx="11963497" cy="1981825"/>
              </a:xfrm>
              <a:prstGeom prst="rect">
                <a:avLst/>
              </a:prstGeom>
              <a:blipFill>
                <a:blip r:embed="rId3"/>
                <a:stretch>
                  <a:fillRect l="-848"/>
                </a:stretch>
              </a:blipFill>
              <a:ln>
                <a:noFill/>
              </a:ln>
            </p:spPr>
            <p:txBody>
              <a:bodyPr/>
              <a:lstStyle/>
              <a:p>
                <a:r>
                  <a:rPr lang="en-US">
                    <a:noFill/>
                  </a:rPr>
                  <a:t> </a:t>
                </a:r>
              </a:p>
            </p:txBody>
          </p:sp>
        </mc:Fallback>
      </mc:AlternateContent>
      <p:pic>
        <p:nvPicPr>
          <p:cNvPr id="10" name="Picture 9">
            <a:extLst>
              <a:ext uri="{FF2B5EF4-FFF2-40B4-BE49-F238E27FC236}">
                <a16:creationId xmlns:a16="http://schemas.microsoft.com/office/drawing/2014/main" id="{FBF69183-0226-965C-151B-D06A5438D839}"/>
              </a:ext>
            </a:extLst>
          </p:cNvPr>
          <p:cNvPicPr>
            <a:picLocks noChangeAspect="1"/>
          </p:cNvPicPr>
          <p:nvPr/>
        </p:nvPicPr>
        <p:blipFill>
          <a:blip r:embed="rId4"/>
          <a:stretch>
            <a:fillRect/>
          </a:stretch>
        </p:blipFill>
        <p:spPr>
          <a:xfrm>
            <a:off x="2445019" y="5615189"/>
            <a:ext cx="4708440" cy="1157600"/>
          </a:xfrm>
          <a:prstGeom prst="rect">
            <a:avLst/>
          </a:prstGeom>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2DED695-1255-7F1E-D197-E9B0ABEC9C6F}"/>
                  </a:ext>
                </a:extLst>
              </p:cNvPr>
              <p:cNvSpPr txBox="1"/>
              <p:nvPr/>
            </p:nvSpPr>
            <p:spPr>
              <a:xfrm>
                <a:off x="0" y="677843"/>
                <a:ext cx="11963497" cy="1981825"/>
              </a:xfrm>
              <a:prstGeom prst="rect">
                <a:avLst/>
              </a:prstGeom>
              <a:noFill/>
              <a:ln>
                <a:noFill/>
              </a:ln>
            </p:spPr>
            <p:txBody>
              <a:bodyPr wrap="square" rtlCol="0">
                <a:spAutoFit/>
              </a:bodyPr>
              <a:lstStyle/>
              <a:p>
                <a:r>
                  <a:rPr lang="en-US" sz="2400" dirty="0"/>
                  <a:t>For the internal energy, if </a:t>
                </a:r>
                <a14:m>
                  <m:oMath xmlns:m="http://schemas.openxmlformats.org/officeDocument/2006/math">
                    <m:r>
                      <a:rPr lang="en-US" sz="2400" b="0" i="1" smtClean="0">
                        <a:latin typeface="Cambria Math" panose="02040503050406030204" pitchFamily="18" charset="0"/>
                      </a:rPr>
                      <m:t>𝑈</m:t>
                    </m:r>
                    <m:d>
                      <m:dPr>
                        <m:ctrlPr>
                          <a:rPr lang="en-US" sz="2400" i="1" smtClean="0">
                            <a:latin typeface="Cambria Math" panose="02040503050406030204" pitchFamily="18" charset="0"/>
                          </a:rPr>
                        </m:ctrlPr>
                      </m:dPr>
                      <m:e>
                        <m:r>
                          <a:rPr lang="en-US" sz="2400" b="0" i="1" smtClean="0">
                            <a:latin typeface="Cambria Math" panose="02040503050406030204" pitchFamily="18" charset="0"/>
                          </a:rPr>
                          <m:t>𝑇</m:t>
                        </m:r>
                        <m:r>
                          <a:rPr lang="en-US" sz="2400" b="0" i="1" smtClean="0">
                            <a:latin typeface="Cambria Math" panose="02040503050406030204" pitchFamily="18" charset="0"/>
                          </a:rPr>
                          <m:t>,</m:t>
                        </m:r>
                        <m:r>
                          <a:rPr lang="en-US" sz="2400" b="0" i="1" smtClean="0">
                            <a:latin typeface="Cambria Math" panose="02040503050406030204" pitchFamily="18" charset="0"/>
                          </a:rPr>
                          <m:t>𝑉</m:t>
                        </m:r>
                      </m:e>
                    </m:d>
                    <m:r>
                      <a:rPr lang="en-US" sz="2400" b="0"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𝑅𝑇</m:t>
                        </m:r>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𝑟𝑜𝑡</m:t>
                            </m:r>
                          </m:sub>
                        </m:sSub>
                        <m:d>
                          <m:dPr>
                            <m:ctrlPr>
                              <a:rPr lang="en-US" sz="2400" i="1" smtClean="0">
                                <a:latin typeface="Cambria Math" panose="02040503050406030204" pitchFamily="18" charset="0"/>
                              </a:rPr>
                            </m:ctrlPr>
                          </m:dPr>
                          <m:e>
                            <m:r>
                              <a:rPr lang="en-US" sz="2400" b="0" i="1" smtClean="0">
                                <a:latin typeface="Cambria Math" panose="02040503050406030204" pitchFamily="18" charset="0"/>
                              </a:rPr>
                              <m:t>𝑇</m:t>
                            </m:r>
                          </m:e>
                        </m:d>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𝑣𝑖𝑏</m:t>
                            </m:r>
                          </m:sub>
                        </m:sSub>
                        <m:d>
                          <m:dPr>
                            <m:ctrlPr>
                              <a:rPr lang="en-US" sz="2400" i="1" smtClean="0">
                                <a:latin typeface="Cambria Math" panose="02040503050406030204" pitchFamily="18" charset="0"/>
                              </a:rPr>
                            </m:ctrlPr>
                          </m:dPr>
                          <m:e>
                            <m:r>
                              <a:rPr lang="en-US" sz="2400" b="0" i="1" smtClean="0">
                                <a:latin typeface="Cambria Math" panose="02040503050406030204" pitchFamily="18" charset="0"/>
                              </a:rPr>
                              <m:t>𝑇</m:t>
                            </m:r>
                          </m:e>
                        </m:d>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𝑖𝑛𝑡𝑒𝑟𝑚𝑜𝑙</m:t>
                            </m:r>
                          </m:sub>
                        </m:sSub>
                        <m:r>
                          <a:rPr lang="en-US" sz="2400" b="0" i="1" smtClean="0">
                            <a:latin typeface="Cambria Math" panose="02040503050406030204" pitchFamily="18" charset="0"/>
                          </a:rPr>
                          <m:t>(</m:t>
                        </m:r>
                        <m:r>
                          <a:rPr lang="en-US" sz="2400" b="0" i="1" smtClean="0">
                            <a:latin typeface="Cambria Math" panose="02040503050406030204" pitchFamily="18" charset="0"/>
                          </a:rPr>
                          <m:t>𝑇</m:t>
                        </m:r>
                        <m:r>
                          <a:rPr lang="en-US" sz="2400" b="0" i="1" smtClean="0">
                            <a:latin typeface="Cambria Math" panose="02040503050406030204" pitchFamily="18" charset="0"/>
                          </a:rPr>
                          <m:t>,</m:t>
                        </m:r>
                        <m:r>
                          <a:rPr lang="en-US" sz="2400" b="0" i="1" smtClean="0">
                            <a:latin typeface="Cambria Math" panose="02040503050406030204" pitchFamily="18" charset="0"/>
                          </a:rPr>
                          <m:t>𝑉</m:t>
                        </m:r>
                        <m:r>
                          <a:rPr lang="en-US" sz="2400" b="0" i="1" smtClean="0">
                            <a:latin typeface="Cambria Math" panose="02040503050406030204" pitchFamily="18" charset="0"/>
                          </a:rPr>
                          <m:t>)</m:t>
                        </m:r>
                      </m:e>
                    </m:d>
                    <m:r>
                      <a:rPr lang="en-US" sz="2400" b="0" i="1" smtClean="0">
                        <a:latin typeface="Cambria Math" panose="02040503050406030204" pitchFamily="18" charset="0"/>
                        <a:ea typeface="Cambria Math" panose="02040503050406030204" pitchFamily="18" charset="0"/>
                      </a:rPr>
                      <m:t>𝑛</m:t>
                    </m:r>
                  </m:oMath>
                </a14:m>
                <a:endParaRPr lang="en-US" sz="2400" dirty="0"/>
              </a:p>
              <a:p>
                <a:endParaRPr lang="en-US" sz="2400" i="1" dirty="0">
                  <a:latin typeface="Cambria Math" panose="02040503050406030204" pitchFamily="18" charset="0"/>
                </a:endParaRPr>
              </a:p>
              <a:p>
                <a:r>
                  <a:rPr lang="en-US" sz="2400" dirty="0"/>
                  <a:t>and</a:t>
                </a:r>
                <a:r>
                  <a:rPr lang="en-US" sz="2400" i="1" dirty="0">
                    <a:latin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𝜋</m:t>
                        </m:r>
                      </m:e>
                      <m:sub>
                        <m:r>
                          <a:rPr lang="en-US" sz="2400" i="1">
                            <a:latin typeface="Cambria Math" panose="02040503050406030204" pitchFamily="18" charset="0"/>
                            <a:ea typeface="Cambria Math" panose="02040503050406030204" pitchFamily="18" charset="0"/>
                          </a:rPr>
                          <m:t>𝑇</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𝑈</m:t>
                                </m:r>
                              </m:num>
                              <m:den>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𝑉</m:t>
                                </m:r>
                              </m:den>
                            </m:f>
                          </m:e>
                        </m:d>
                      </m:e>
                      <m:sub>
                        <m:r>
                          <a:rPr lang="en-US" sz="2400" i="1">
                            <a:latin typeface="Cambria Math" panose="02040503050406030204" pitchFamily="18" charset="0"/>
                            <a:ea typeface="Cambria Math" panose="02040503050406030204" pitchFamily="18" charset="0"/>
                          </a:rPr>
                          <m:t>𝑇</m:t>
                        </m:r>
                      </m:sub>
                    </m:sSub>
                  </m:oMath>
                </a14:m>
                <a:r>
                  <a:rPr lang="en-US" sz="2400" b="0" dirty="0"/>
                  <a:t>, then it must be that </a:t>
                </a:r>
              </a:p>
              <a:p>
                <a:endParaRPr lang="en-US" sz="2400" dirty="0"/>
              </a:p>
            </p:txBody>
          </p:sp>
        </mc:Choice>
        <mc:Fallback xmlns="">
          <p:sp>
            <p:nvSpPr>
              <p:cNvPr id="12" name="TextBox 11">
                <a:extLst>
                  <a:ext uri="{FF2B5EF4-FFF2-40B4-BE49-F238E27FC236}">
                    <a16:creationId xmlns:a16="http://schemas.microsoft.com/office/drawing/2014/main" id="{92DED695-1255-7F1E-D197-E9B0ABEC9C6F}"/>
                  </a:ext>
                </a:extLst>
              </p:cNvPr>
              <p:cNvSpPr txBox="1">
                <a:spLocks noRot="1" noChangeAspect="1" noMove="1" noResize="1" noEditPoints="1" noAdjustHandles="1" noChangeArrowheads="1" noChangeShapeType="1" noTextEdit="1"/>
              </p:cNvSpPr>
              <p:nvPr/>
            </p:nvSpPr>
            <p:spPr>
              <a:xfrm>
                <a:off x="0" y="677843"/>
                <a:ext cx="11963497" cy="1981825"/>
              </a:xfrm>
              <a:prstGeom prst="rect">
                <a:avLst/>
              </a:prstGeom>
              <a:blipFill>
                <a:blip r:embed="rId5"/>
                <a:stretch>
                  <a:fillRect l="-848"/>
                </a:stretch>
              </a:blipFill>
              <a:ln>
                <a:noFill/>
              </a:ln>
            </p:spPr>
            <p:txBody>
              <a:bodyPr/>
              <a:lstStyle/>
              <a:p>
                <a:r>
                  <a:rPr lang="en-US">
                    <a:noFill/>
                  </a:rPr>
                  <a:t> </a:t>
                </a:r>
              </a:p>
            </p:txBody>
          </p:sp>
        </mc:Fallback>
      </mc:AlternateContent>
      <p:pic>
        <p:nvPicPr>
          <p:cNvPr id="14" name="Picture 13">
            <a:extLst>
              <a:ext uri="{FF2B5EF4-FFF2-40B4-BE49-F238E27FC236}">
                <a16:creationId xmlns:a16="http://schemas.microsoft.com/office/drawing/2014/main" id="{C89F2218-38CD-08F4-9362-03DFE1311CE3}"/>
              </a:ext>
            </a:extLst>
          </p:cNvPr>
          <p:cNvPicPr>
            <a:picLocks noChangeAspect="1"/>
          </p:cNvPicPr>
          <p:nvPr/>
        </p:nvPicPr>
        <p:blipFill>
          <a:blip r:embed="rId6"/>
          <a:stretch>
            <a:fillRect/>
          </a:stretch>
        </p:blipFill>
        <p:spPr>
          <a:xfrm>
            <a:off x="2439294" y="2107218"/>
            <a:ext cx="4533900" cy="1104900"/>
          </a:xfrm>
          <a:prstGeom prst="rect">
            <a:avLst/>
          </a:prstGeom>
          <a:ln>
            <a:noFill/>
          </a:ln>
        </p:spPr>
      </p:pic>
      <p:pic>
        <p:nvPicPr>
          <p:cNvPr id="15" name="Picture 14">
            <a:extLst>
              <a:ext uri="{FF2B5EF4-FFF2-40B4-BE49-F238E27FC236}">
                <a16:creationId xmlns:a16="http://schemas.microsoft.com/office/drawing/2014/main" id="{51C17043-B903-7678-5FCA-51AEBFE15641}"/>
              </a:ext>
            </a:extLst>
          </p:cNvPr>
          <p:cNvPicPr>
            <a:picLocks noChangeAspect="1"/>
          </p:cNvPicPr>
          <p:nvPr/>
        </p:nvPicPr>
        <p:blipFill>
          <a:blip r:embed="rId7"/>
          <a:stretch>
            <a:fillRect/>
          </a:stretch>
        </p:blipFill>
        <p:spPr>
          <a:xfrm>
            <a:off x="8154566" y="4998162"/>
            <a:ext cx="2226190" cy="1607533"/>
          </a:xfrm>
          <a:prstGeom prst="rect">
            <a:avLst/>
          </a:prstGeom>
        </p:spPr>
      </p:pic>
      <p:pic>
        <p:nvPicPr>
          <p:cNvPr id="16" name="Picture 15">
            <a:extLst>
              <a:ext uri="{FF2B5EF4-FFF2-40B4-BE49-F238E27FC236}">
                <a16:creationId xmlns:a16="http://schemas.microsoft.com/office/drawing/2014/main" id="{8128C5FE-E0C1-B4FF-1AC0-2D457996D5F8}"/>
              </a:ext>
            </a:extLst>
          </p:cNvPr>
          <p:cNvPicPr>
            <a:picLocks noChangeAspect="1"/>
          </p:cNvPicPr>
          <p:nvPr/>
        </p:nvPicPr>
        <p:blipFill>
          <a:blip r:embed="rId8"/>
          <a:stretch>
            <a:fillRect/>
          </a:stretch>
        </p:blipFill>
        <p:spPr>
          <a:xfrm>
            <a:off x="8206197" y="1514031"/>
            <a:ext cx="2174559" cy="1717586"/>
          </a:xfrm>
          <a:prstGeom prst="rect">
            <a:avLst/>
          </a:prstGeom>
        </p:spPr>
      </p:pic>
    </p:spTree>
    <p:extLst>
      <p:ext uri="{BB962C8B-B14F-4D97-AF65-F5344CB8AC3E}">
        <p14:creationId xmlns:p14="http://schemas.microsoft.com/office/powerpoint/2010/main" val="1117590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4766413-00AA-074E-BBD9-BCE265E1C76F}"/>
              </a:ext>
            </a:extLst>
          </p:cNvPr>
          <p:cNvPicPr>
            <a:picLocks noChangeAspect="1"/>
          </p:cNvPicPr>
          <p:nvPr/>
        </p:nvPicPr>
        <p:blipFill rotWithShape="1">
          <a:blip r:embed="rId3"/>
          <a:srcRect b="11943"/>
          <a:stretch/>
        </p:blipFill>
        <p:spPr>
          <a:xfrm>
            <a:off x="587253" y="1450115"/>
            <a:ext cx="3415273" cy="2095191"/>
          </a:xfrm>
          <a:prstGeom prst="rect">
            <a:avLst/>
          </a:prstGeom>
        </p:spPr>
      </p:pic>
      <p:sp>
        <p:nvSpPr>
          <p:cNvPr id="13" name="Rectangle 12">
            <a:extLst>
              <a:ext uri="{FF2B5EF4-FFF2-40B4-BE49-F238E27FC236}">
                <a16:creationId xmlns:a16="http://schemas.microsoft.com/office/drawing/2014/main" id="{A11A9820-7E49-3040-B162-1849E8DBEE61}"/>
              </a:ext>
            </a:extLst>
          </p:cNvPr>
          <p:cNvSpPr/>
          <p:nvPr/>
        </p:nvSpPr>
        <p:spPr>
          <a:xfrm>
            <a:off x="471250" y="3385241"/>
            <a:ext cx="3490534" cy="646331"/>
          </a:xfrm>
          <a:prstGeom prst="rect">
            <a:avLst/>
          </a:prstGeom>
        </p:spPr>
        <p:txBody>
          <a:bodyPr wrap="square">
            <a:spAutoFit/>
          </a:bodyPr>
          <a:lstStyle/>
          <a:p>
            <a:r>
              <a:rPr lang="en-US" dirty="0">
                <a:hlinkClick r:id="rId4"/>
              </a:rPr>
              <a:t>https://encyclopedia2.thefreedictionary.com/</a:t>
            </a:r>
            <a:r>
              <a:rPr lang="en-US" dirty="0" err="1">
                <a:hlinkClick r:id="rId4"/>
              </a:rPr>
              <a:t>Joule-Thomson+Effect</a:t>
            </a:r>
            <a:endParaRPr lang="en-US"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647547E-05E1-00BD-C762-1743EEDA3A68}"/>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Recap: measuring </a:t>
                </a:r>
                <a14:m>
                  <m:oMath xmlns:m="http://schemas.openxmlformats.org/officeDocument/2006/math">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𝝁</m:t>
                        </m:r>
                      </m:e>
                      <m:sub>
                        <m:r>
                          <a:rPr lang="en-US" sz="2400" b="1" i="1">
                            <a:latin typeface="Cambria Math" panose="02040503050406030204" pitchFamily="18" charset="0"/>
                            <a:ea typeface="Cambria Math" panose="02040503050406030204" pitchFamily="18" charset="0"/>
                          </a:rPr>
                          <m:t>𝑻</m:t>
                        </m:r>
                      </m:sub>
                    </m:sSub>
                  </m:oMath>
                </a14:m>
                <a:r>
                  <a:rPr lang="en-US" sz="2400" b="1" dirty="0"/>
                  <a:t> via the adiabatic Joule-Thomson experiment</a:t>
                </a:r>
              </a:p>
            </p:txBody>
          </p:sp>
        </mc:Choice>
        <mc:Fallback>
          <p:sp>
            <p:nvSpPr>
              <p:cNvPr id="4" name="TextBox 3">
                <a:extLst>
                  <a:ext uri="{FF2B5EF4-FFF2-40B4-BE49-F238E27FC236}">
                    <a16:creationId xmlns:a16="http://schemas.microsoft.com/office/drawing/2014/main" id="{1647547E-05E1-00BD-C762-1743EEDA3A68}"/>
                  </a:ext>
                </a:extLst>
              </p:cNvPr>
              <p:cNvSpPr txBox="1">
                <a:spLocks noRot="1" noChangeAspect="1" noMove="1" noResize="1" noEditPoints="1" noAdjustHandles="1" noChangeArrowheads="1" noChangeShapeType="1" noTextEdit="1"/>
              </p:cNvSpPr>
              <p:nvPr/>
            </p:nvSpPr>
            <p:spPr>
              <a:xfrm>
                <a:off x="0" y="0"/>
                <a:ext cx="12192000" cy="461665"/>
              </a:xfrm>
              <a:prstGeom prst="rect">
                <a:avLst/>
              </a:prstGeom>
              <a:blipFill>
                <a:blip r:embed="rId5"/>
                <a:stretch>
                  <a:fillRect l="-832" t="-8108" b="-29730"/>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21629CE2-E136-2829-92FA-B989B9C9CB22}"/>
              </a:ext>
            </a:extLst>
          </p:cNvPr>
          <p:cNvGrpSpPr>
            <a:grpSpLocks noChangeAspect="1"/>
          </p:cNvGrpSpPr>
          <p:nvPr/>
        </p:nvGrpSpPr>
        <p:grpSpPr>
          <a:xfrm>
            <a:off x="5243621" y="948869"/>
            <a:ext cx="6745628" cy="5109031"/>
            <a:chOff x="5887035" y="2069009"/>
            <a:chExt cx="5039223" cy="3816627"/>
          </a:xfrm>
        </p:grpSpPr>
        <p:pic>
          <p:nvPicPr>
            <p:cNvPr id="3" name="Picture 2">
              <a:extLst>
                <a:ext uri="{FF2B5EF4-FFF2-40B4-BE49-F238E27FC236}">
                  <a16:creationId xmlns:a16="http://schemas.microsoft.com/office/drawing/2014/main" id="{C4E07D82-2D9E-2844-B198-153E2E965E36}"/>
                </a:ext>
              </a:extLst>
            </p:cNvPr>
            <p:cNvPicPr>
              <a:picLocks noChangeAspect="1"/>
            </p:cNvPicPr>
            <p:nvPr/>
          </p:nvPicPr>
          <p:blipFill>
            <a:blip r:embed="rId6"/>
            <a:stretch>
              <a:fillRect/>
            </a:stretch>
          </p:blipFill>
          <p:spPr>
            <a:xfrm>
              <a:off x="5887035" y="2069009"/>
              <a:ext cx="5039223" cy="3816627"/>
            </a:xfrm>
            <a:prstGeom prst="rect">
              <a:avLst/>
            </a:prstGeom>
          </p:spPr>
        </p:pic>
        <p:grpSp>
          <p:nvGrpSpPr>
            <p:cNvPr id="2" name="Group 1">
              <a:extLst>
                <a:ext uri="{FF2B5EF4-FFF2-40B4-BE49-F238E27FC236}">
                  <a16:creationId xmlns:a16="http://schemas.microsoft.com/office/drawing/2014/main" id="{3B1BD071-13EA-227D-E64C-B7148A135DD3}"/>
                </a:ext>
              </a:extLst>
            </p:cNvPr>
            <p:cNvGrpSpPr/>
            <p:nvPr/>
          </p:nvGrpSpPr>
          <p:grpSpPr>
            <a:xfrm>
              <a:off x="7403901" y="4411081"/>
              <a:ext cx="697414" cy="977942"/>
              <a:chOff x="7826811" y="3840480"/>
              <a:chExt cx="697414" cy="977942"/>
            </a:xfrm>
          </p:grpSpPr>
          <p:cxnSp>
            <p:nvCxnSpPr>
              <p:cNvPr id="6" name="Straight Connector 5">
                <a:extLst>
                  <a:ext uri="{FF2B5EF4-FFF2-40B4-BE49-F238E27FC236}">
                    <a16:creationId xmlns:a16="http://schemas.microsoft.com/office/drawing/2014/main" id="{593B7BE6-2697-64A7-09AA-A7DC8E07E104}"/>
                  </a:ext>
                </a:extLst>
              </p:cNvPr>
              <p:cNvCxnSpPr>
                <a:cxnSpLocks/>
              </p:cNvCxnSpPr>
              <p:nvPr/>
            </p:nvCxnSpPr>
            <p:spPr>
              <a:xfrm flipH="1">
                <a:off x="7852410" y="3840480"/>
                <a:ext cx="160020" cy="765677"/>
              </a:xfrm>
              <a:prstGeom prst="line">
                <a:avLst/>
              </a:prstGeom>
              <a:ln w="38100">
                <a:solidFill>
                  <a:schemeClr val="accent1">
                    <a:alpha val="5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8B5B388-31FC-6474-6D76-DE39018B93FC}"/>
                      </a:ext>
                    </a:extLst>
                  </p:cNvPr>
                  <p:cNvSpPr txBox="1"/>
                  <p:nvPr/>
                </p:nvSpPr>
                <p:spPr>
                  <a:xfrm>
                    <a:off x="7858428" y="3840480"/>
                    <a:ext cx="66579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accent1"/>
                              </a:solidFill>
                              <a:latin typeface="Cambria Math" panose="02040503050406030204" pitchFamily="18" charset="0"/>
                              <a:ea typeface="Cambria Math" panose="02040503050406030204" pitchFamily="18" charset="0"/>
                            </a:rPr>
                            <m:t>∆</m:t>
                          </m:r>
                          <m:r>
                            <a:rPr lang="en-US" sz="1400" b="0" i="1" smtClean="0">
                              <a:solidFill>
                                <a:schemeClr val="accent1"/>
                              </a:solidFill>
                              <a:latin typeface="Cambria Math" panose="02040503050406030204" pitchFamily="18" charset="0"/>
                              <a:ea typeface="Cambria Math" panose="02040503050406030204" pitchFamily="18" charset="0"/>
                            </a:rPr>
                            <m:t>𝑃</m:t>
                          </m:r>
                        </m:oMath>
                      </m:oMathPara>
                    </a14:m>
                    <a:endParaRPr lang="en-US" sz="1400" dirty="0">
                      <a:solidFill>
                        <a:schemeClr val="accent1"/>
                      </a:solidFill>
                    </a:endParaRPr>
                  </a:p>
                </p:txBody>
              </p:sp>
            </mc:Choice>
            <mc:Fallback>
              <p:sp>
                <p:nvSpPr>
                  <p:cNvPr id="8" name="TextBox 7">
                    <a:extLst>
                      <a:ext uri="{FF2B5EF4-FFF2-40B4-BE49-F238E27FC236}">
                        <a16:creationId xmlns:a16="http://schemas.microsoft.com/office/drawing/2014/main" id="{B8B5B388-31FC-6474-6D76-DE39018B93FC}"/>
                      </a:ext>
                    </a:extLst>
                  </p:cNvPr>
                  <p:cNvSpPr txBox="1">
                    <a:spLocks noRot="1" noChangeAspect="1" noMove="1" noResize="1" noEditPoints="1" noAdjustHandles="1" noChangeArrowheads="1" noChangeShapeType="1" noTextEdit="1"/>
                  </p:cNvSpPr>
                  <p:nvPr/>
                </p:nvSpPr>
                <p:spPr>
                  <a:xfrm>
                    <a:off x="7858428" y="3840480"/>
                    <a:ext cx="665797"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C097C42-60AF-EA60-5152-8D2CF63C138B}"/>
                      </a:ext>
                    </a:extLst>
                  </p:cNvPr>
                  <p:cNvSpPr txBox="1"/>
                  <p:nvPr/>
                </p:nvSpPr>
                <p:spPr>
                  <a:xfrm>
                    <a:off x="7826811" y="4510645"/>
                    <a:ext cx="66579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accent1"/>
                              </a:solidFill>
                              <a:latin typeface="Cambria Math" panose="02040503050406030204" pitchFamily="18" charset="0"/>
                              <a:ea typeface="Cambria Math" panose="02040503050406030204" pitchFamily="18" charset="0"/>
                            </a:rPr>
                            <m:t>∆</m:t>
                          </m:r>
                          <m:r>
                            <a:rPr lang="en-US" sz="1400" b="0" i="1" smtClean="0">
                              <a:solidFill>
                                <a:schemeClr val="accent1"/>
                              </a:solidFill>
                              <a:latin typeface="Cambria Math" panose="02040503050406030204" pitchFamily="18" charset="0"/>
                              <a:ea typeface="Cambria Math" panose="02040503050406030204" pitchFamily="18" charset="0"/>
                            </a:rPr>
                            <m:t>𝑇</m:t>
                          </m:r>
                        </m:oMath>
                      </m:oMathPara>
                    </a14:m>
                    <a:endParaRPr lang="en-US" sz="1400" dirty="0">
                      <a:solidFill>
                        <a:schemeClr val="accent1"/>
                      </a:solidFill>
                    </a:endParaRPr>
                  </a:p>
                </p:txBody>
              </p:sp>
            </mc:Choice>
            <mc:Fallback>
              <p:sp>
                <p:nvSpPr>
                  <p:cNvPr id="9" name="TextBox 8">
                    <a:extLst>
                      <a:ext uri="{FF2B5EF4-FFF2-40B4-BE49-F238E27FC236}">
                        <a16:creationId xmlns:a16="http://schemas.microsoft.com/office/drawing/2014/main" id="{5C097C42-60AF-EA60-5152-8D2CF63C138B}"/>
                      </a:ext>
                    </a:extLst>
                  </p:cNvPr>
                  <p:cNvSpPr txBox="1">
                    <a:spLocks noRot="1" noChangeAspect="1" noMove="1" noResize="1" noEditPoints="1" noAdjustHandles="1" noChangeArrowheads="1" noChangeShapeType="1" noTextEdit="1"/>
                  </p:cNvSpPr>
                  <p:nvPr/>
                </p:nvSpPr>
                <p:spPr>
                  <a:xfrm>
                    <a:off x="7826811" y="4510645"/>
                    <a:ext cx="665797" cy="307777"/>
                  </a:xfrm>
                  <a:prstGeom prst="rect">
                    <a:avLst/>
                  </a:prstGeom>
                  <a:blipFill>
                    <a:blip r:embed="rId8"/>
                    <a:stretch>
                      <a:fillRect/>
                    </a:stretch>
                  </a:blipFill>
                </p:spPr>
                <p:txBody>
                  <a:bodyPr/>
                  <a:lstStyle/>
                  <a:p>
                    <a:r>
                      <a:rPr lang="en-US">
                        <a:noFill/>
                      </a:rPr>
                      <a:t> </a:t>
                    </a:r>
                  </a:p>
                </p:txBody>
              </p:sp>
            </mc:Fallback>
          </mc:AlternateContent>
        </p:grpSp>
      </p:grpSp>
      <p:sp>
        <p:nvSpPr>
          <p:cNvPr id="21" name="TextBox 20">
            <a:extLst>
              <a:ext uri="{FF2B5EF4-FFF2-40B4-BE49-F238E27FC236}">
                <a16:creationId xmlns:a16="http://schemas.microsoft.com/office/drawing/2014/main" id="{E458D6D3-3E80-CB1F-53F7-AE50ECA61225}"/>
              </a:ext>
            </a:extLst>
          </p:cNvPr>
          <p:cNvSpPr txBox="1"/>
          <p:nvPr/>
        </p:nvSpPr>
        <p:spPr>
          <a:xfrm>
            <a:off x="143525" y="599764"/>
            <a:ext cx="11904949" cy="830997"/>
          </a:xfrm>
          <a:prstGeom prst="rect">
            <a:avLst/>
          </a:prstGeom>
          <a:noFill/>
        </p:spPr>
        <p:txBody>
          <a:bodyPr wrap="square" rtlCol="0">
            <a:spAutoFit/>
          </a:bodyPr>
          <a:lstStyle/>
          <a:p>
            <a:r>
              <a:rPr lang="en-US" sz="2400" dirty="0"/>
              <a:t>A key feature of the Adiabatic Joule-Thomson experiment</a:t>
            </a:r>
            <a:r>
              <a:rPr lang="en-US" sz="2400" b="1" dirty="0"/>
              <a:t> </a:t>
            </a:r>
            <a:r>
              <a:rPr lang="en-US" sz="2400" dirty="0"/>
              <a:t>is that the gas follows an </a:t>
            </a:r>
            <a:r>
              <a:rPr lang="en-US" sz="2400" b="1" dirty="0" err="1"/>
              <a:t>isenthalp</a:t>
            </a:r>
            <a:r>
              <a:rPr lang="en-US" sz="2400" dirty="0"/>
              <a:t> (line of constant enthalpy) on its way out of the tank.</a:t>
            </a:r>
            <a:endParaRPr lang="en-US" sz="2400" b="1" dirty="0"/>
          </a:p>
        </p:txBody>
      </p:sp>
      <p:pic>
        <p:nvPicPr>
          <p:cNvPr id="24" name="Picture 2" descr="Skiing Svg Png Icon Free Download (#432419) - OnlineWebFonts.COM">
            <a:extLst>
              <a:ext uri="{FF2B5EF4-FFF2-40B4-BE49-F238E27FC236}">
                <a16:creationId xmlns:a16="http://schemas.microsoft.com/office/drawing/2014/main" id="{01462226-65EA-0AA8-1025-61EF74A82F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7928754" flipH="1">
            <a:off x="7532074" y="4618861"/>
            <a:ext cx="299000" cy="327170"/>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Group 38">
            <a:extLst>
              <a:ext uri="{FF2B5EF4-FFF2-40B4-BE49-F238E27FC236}">
                <a16:creationId xmlns:a16="http://schemas.microsoft.com/office/drawing/2014/main" id="{DEF9D4EB-A8EA-5F63-A6DB-CFA697695115}"/>
              </a:ext>
            </a:extLst>
          </p:cNvPr>
          <p:cNvGrpSpPr/>
          <p:nvPr/>
        </p:nvGrpSpPr>
        <p:grpSpPr>
          <a:xfrm>
            <a:off x="143525" y="4289421"/>
            <a:ext cx="5840228" cy="2069862"/>
            <a:chOff x="143525" y="4289421"/>
            <a:chExt cx="5840228" cy="2069862"/>
          </a:xfrm>
        </p:grpSpPr>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D32FE6F0-6B53-4BCA-37FD-E8E470F2D71B}"/>
                    </a:ext>
                  </a:extLst>
                </p:cNvPr>
                <p:cNvSpPr txBox="1"/>
                <p:nvPr/>
              </p:nvSpPr>
              <p:spPr>
                <a:xfrm>
                  <a:off x="143525" y="4289421"/>
                  <a:ext cx="5840228" cy="2069862"/>
                </a:xfrm>
                <a:prstGeom prst="rect">
                  <a:avLst/>
                </a:prstGeom>
                <a:noFill/>
                <a:ln>
                  <a:solidFill>
                    <a:schemeClr val="accent1"/>
                  </a:solidFill>
                </a:ln>
              </p:spPr>
              <p:txBody>
                <a:bodyPr wrap="square">
                  <a:spAutoFit/>
                </a:bodyPr>
                <a:lstStyle/>
                <a:p>
                  <a:pPr marL="342900" indent="-342900">
                    <a:buFont typeface="Arial" panose="020B0604020202020204" pitchFamily="34" charset="0"/>
                    <a:buChar char="•"/>
                  </a:pPr>
                  <a:r>
                    <a:rPr lang="en-US" sz="2000" dirty="0"/>
                    <a:t>Slope of an </a:t>
                  </a:r>
                  <a:r>
                    <a:rPr lang="en-US" sz="2000" dirty="0" err="1"/>
                    <a:t>isenthalp</a:t>
                  </a:r>
                  <a:r>
                    <a:rPr lang="en-US" sz="2000" dirty="0"/>
                    <a:t>         equals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𝜇</m:t>
                          </m:r>
                        </m:e>
                        <m:sub>
                          <m:r>
                            <a:rPr lang="en-US" sz="2000" b="0" i="1">
                              <a:latin typeface="Cambria Math" panose="02040503050406030204" pitchFamily="18" charset="0"/>
                              <a:ea typeface="Cambria Math" panose="02040503050406030204" pitchFamily="18" charset="0"/>
                            </a:rPr>
                            <m:t>𝐽𝑇</m:t>
                          </m:r>
                        </m:sub>
                      </m:sSub>
                    </m:oMath>
                  </a14:m>
                  <a:endParaRPr lang="en-US" sz="2000" dirty="0"/>
                </a:p>
                <a:p>
                  <a:pPr marL="342900" indent="-342900">
                    <a:buFont typeface="Arial" panose="020B0604020202020204" pitchFamily="34" charset="0"/>
                    <a:buChar char="•"/>
                  </a:pPr>
                  <a:r>
                    <a:rPr lang="en-US" sz="2000" dirty="0">
                      <a:solidFill>
                        <a:schemeClr val="tx1"/>
                      </a:solidFill>
                      <a:ea typeface="Cambria Math" panose="02040503050406030204" pitchFamily="18" charset="0"/>
                    </a:rPr>
                    <a:t>We measured </a:t>
                  </a:r>
                  <a14:m>
                    <m:oMath xmlns:m="http://schemas.openxmlformats.org/officeDocument/2006/math">
                      <m:f>
                        <m:fPr>
                          <m:ctrlPr>
                            <a:rPr lang="en-US" sz="2000" i="1" smtClean="0">
                              <a:solidFill>
                                <a:schemeClr val="tx1"/>
                              </a:solidFill>
                              <a:latin typeface="Cambria Math" panose="02040503050406030204" pitchFamily="18" charset="0"/>
                              <a:ea typeface="Cambria Math" panose="02040503050406030204" pitchFamily="18" charset="0"/>
                            </a:rPr>
                          </m:ctrlPr>
                        </m:fPr>
                        <m:num>
                          <m:r>
                            <a:rPr lang="en-US" sz="2000" b="0" i="1">
                              <a:solidFill>
                                <a:schemeClr val="tx1"/>
                              </a:solidFill>
                              <a:latin typeface="Cambria Math" panose="02040503050406030204" pitchFamily="18" charset="0"/>
                              <a:ea typeface="Cambria Math" panose="02040503050406030204" pitchFamily="18" charset="0"/>
                            </a:rPr>
                            <m:t>∆</m:t>
                          </m:r>
                          <m:r>
                            <a:rPr lang="en-US" sz="2000" b="0" i="1">
                              <a:solidFill>
                                <a:schemeClr val="tx1"/>
                              </a:solidFill>
                              <a:latin typeface="Cambria Math" panose="02040503050406030204" pitchFamily="18" charset="0"/>
                              <a:ea typeface="Cambria Math" panose="02040503050406030204" pitchFamily="18" charset="0"/>
                            </a:rPr>
                            <m:t>𝑇</m:t>
                          </m:r>
                        </m:num>
                        <m:den>
                          <m:r>
                            <a:rPr lang="en-US" sz="2000" b="0" i="1">
                              <a:solidFill>
                                <a:schemeClr val="tx1"/>
                              </a:solidFill>
                              <a:latin typeface="Cambria Math" panose="02040503050406030204" pitchFamily="18" charset="0"/>
                              <a:ea typeface="Cambria Math" panose="02040503050406030204" pitchFamily="18" charset="0"/>
                            </a:rPr>
                            <m:t>∆</m:t>
                          </m:r>
                          <m:r>
                            <a:rPr lang="en-US" sz="2000" b="0" i="1">
                              <a:solidFill>
                                <a:schemeClr val="tx1"/>
                              </a:solidFill>
                              <a:latin typeface="Cambria Math" panose="02040503050406030204" pitchFamily="18" charset="0"/>
                              <a:ea typeface="Cambria Math" panose="02040503050406030204" pitchFamily="18" charset="0"/>
                            </a:rPr>
                            <m:t>𝑃</m:t>
                          </m:r>
                        </m:den>
                      </m:f>
                      <m:r>
                        <a:rPr lang="en-US" sz="2000" b="0" i="1" smtClean="0">
                          <a:solidFill>
                            <a:schemeClr val="tx1"/>
                          </a:solidFill>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𝐾</m:t>
                          </m:r>
                        </m:num>
                        <m:den>
                          <m:r>
                            <a:rPr lang="en-US" sz="2000" i="1">
                              <a:latin typeface="Cambria Math" panose="02040503050406030204" pitchFamily="18" charset="0"/>
                              <a:ea typeface="Cambria Math" panose="02040503050406030204" pitchFamily="18" charset="0"/>
                            </a:rPr>
                            <m:t>𝑏𝑎𝑟</m:t>
                          </m:r>
                        </m:den>
                      </m:f>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𝐽𝑇</m:t>
                          </m:r>
                        </m:sub>
                      </m:sSub>
                    </m:oMath>
                  </a14:m>
                  <a:r>
                    <a:rPr lang="en-US" sz="2000" dirty="0"/>
                    <a:t>  (for </a:t>
                  </a:r>
                  <a14:m>
                    <m:oMath xmlns:m="http://schemas.openxmlformats.org/officeDocument/2006/math">
                      <m:r>
                        <a:rPr lang="en-US" sz="2000" b="0" i="1" smtClean="0">
                          <a:latin typeface="Cambria Math" panose="02040503050406030204" pitchFamily="18" charset="0"/>
                        </a:rPr>
                        <m:t>𝐶</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𝑂</m:t>
                          </m:r>
                        </m:e>
                        <m:sub>
                          <m:r>
                            <a:rPr lang="en-US" sz="2000" b="0" i="1" smtClean="0">
                              <a:latin typeface="Cambria Math" panose="02040503050406030204" pitchFamily="18" charset="0"/>
                            </a:rPr>
                            <m:t>2</m:t>
                          </m:r>
                        </m:sub>
                      </m:sSub>
                    </m:oMath>
                  </a14:m>
                  <a:r>
                    <a:rPr lang="en-US" sz="2000" dirty="0"/>
                    <a:t>)</a:t>
                  </a:r>
                </a:p>
                <a:p>
                  <a:pPr marL="342900" indent="-342900">
                    <a:buFont typeface="Arial" panose="020B0604020202020204" pitchFamily="34" charset="0"/>
                    <a:buChar char="•"/>
                  </a:pPr>
                  <a:r>
                    <a:rPr lang="en-US" sz="2000" dirty="0"/>
                    <a:t>The Euler Chain Rule says </a:t>
                  </a:r>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𝜇</m:t>
                          </m:r>
                        </m:e>
                        <m:sub>
                          <m:r>
                            <a:rPr lang="en-US" sz="2000" b="0" i="1" smtClean="0">
                              <a:solidFill>
                                <a:schemeClr val="tx1"/>
                              </a:solidFill>
                              <a:latin typeface="Cambria Math" panose="02040503050406030204" pitchFamily="18" charset="0"/>
                              <a:ea typeface="Cambria Math" panose="02040503050406030204" pitchFamily="18" charset="0"/>
                            </a:rPr>
                            <m:t>𝑇</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𝐶</m:t>
                          </m:r>
                        </m:e>
                        <m:sub>
                          <m:r>
                            <a:rPr lang="en-US" sz="2000" b="0" i="1" smtClean="0">
                              <a:solidFill>
                                <a:schemeClr val="tx1"/>
                              </a:solidFill>
                              <a:latin typeface="Cambria Math" panose="02040503050406030204" pitchFamily="18" charset="0"/>
                              <a:ea typeface="Cambria Math" panose="02040503050406030204" pitchFamily="18" charset="0"/>
                            </a:rPr>
                            <m:t>𝑃</m:t>
                          </m:r>
                        </m:sub>
                      </m:sSub>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𝜇</m:t>
                          </m:r>
                        </m:e>
                        <m:sub>
                          <m:r>
                            <a:rPr lang="en-US" sz="2000" b="0" i="1" smtClean="0">
                              <a:solidFill>
                                <a:schemeClr val="tx1"/>
                              </a:solidFill>
                              <a:latin typeface="Cambria Math" panose="02040503050406030204" pitchFamily="18" charset="0"/>
                              <a:ea typeface="Cambria Math" panose="02040503050406030204" pitchFamily="18" charset="0"/>
                            </a:rPr>
                            <m:t>𝐽𝑇</m:t>
                          </m:r>
                        </m:sub>
                      </m:sSub>
                    </m:oMath>
                  </a14:m>
                  <a:endParaRPr lang="en-US" sz="2000" dirty="0"/>
                </a:p>
                <a:p>
                  <a:pPr marL="342900" indent="-342900">
                    <a:buFont typeface="Arial" panose="020B0604020202020204" pitchFamily="34" charset="0"/>
                    <a:buChar char="•"/>
                  </a:pPr>
                  <a:r>
                    <a:rPr lang="en-US" sz="2000" dirty="0"/>
                    <a:t>Using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𝑃</m:t>
                          </m:r>
                        </m:sub>
                      </m:sSub>
                      <m:r>
                        <a:rPr lang="en-US" sz="2000" b="0" i="1" smtClean="0">
                          <a:latin typeface="Cambria Math" panose="02040503050406030204" pitchFamily="18" charset="0"/>
                        </a:rPr>
                        <m:t>=37</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𝐽</m:t>
                          </m:r>
                        </m:num>
                        <m:den>
                          <m:r>
                            <a:rPr lang="en-US" sz="2000" b="0" i="1" smtClean="0">
                              <a:latin typeface="Cambria Math" panose="02040503050406030204" pitchFamily="18" charset="0"/>
                            </a:rPr>
                            <m:t>𝑚𝑜𝑙</m:t>
                          </m:r>
                          <m:r>
                            <a:rPr lang="en-US" sz="2000" b="0" i="1" smtClean="0">
                              <a:latin typeface="Cambria Math" panose="02040503050406030204" pitchFamily="18" charset="0"/>
                            </a:rPr>
                            <m:t> </m:t>
                          </m:r>
                          <m:r>
                            <a:rPr lang="en-US" sz="2000" b="0" i="1" smtClean="0">
                              <a:latin typeface="Cambria Math" panose="02040503050406030204" pitchFamily="18" charset="0"/>
                            </a:rPr>
                            <m:t>𝐾</m:t>
                          </m:r>
                        </m:den>
                      </m:f>
                    </m:oMath>
                  </a14:m>
                  <a:r>
                    <a:rPr lang="en-US" sz="2000" dirty="0"/>
                    <a:t> (</a:t>
                  </a:r>
                  <a14:m>
                    <m:oMath xmlns:m="http://schemas.openxmlformats.org/officeDocument/2006/math">
                      <m:r>
                        <m:rPr>
                          <m:sty m:val="p"/>
                        </m:rPr>
                        <a:rPr lang="en-US" sz="2000" b="0" i="0" dirty="0" smtClean="0">
                          <a:latin typeface="Cambria Math" panose="02040503050406030204" pitchFamily="18" charset="0"/>
                          <a:hlinkClick r:id="rId10"/>
                        </a:rPr>
                        <m:t>NIST</m:t>
                      </m:r>
                    </m:oMath>
                  </a14:m>
                  <a:r>
                    <a:rPr lang="en-US" sz="2000" dirty="0"/>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𝑇</m:t>
                          </m:r>
                        </m:sub>
                      </m:sSub>
                      <m:r>
                        <a:rPr lang="en-US" sz="2000"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𝟑𝟕</m:t>
                      </m:r>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𝑳</m:t>
                          </m:r>
                        </m:num>
                        <m:den>
                          <m:r>
                            <a:rPr lang="en-US" sz="2000" b="1" i="1" smtClean="0">
                              <a:latin typeface="Cambria Math" panose="02040503050406030204" pitchFamily="18" charset="0"/>
                              <a:ea typeface="Cambria Math" panose="02040503050406030204" pitchFamily="18" charset="0"/>
                            </a:rPr>
                            <m:t>𝒎𝒐𝒍</m:t>
                          </m:r>
                        </m:den>
                      </m:f>
                    </m:oMath>
                  </a14:m>
                  <a:endParaRPr lang="en-US" sz="2000" b="1" dirty="0"/>
                </a:p>
                <a:p>
                  <a:pPr marL="342900" indent="-342900">
                    <a:buFont typeface="Arial" panose="020B0604020202020204" pitchFamily="34" charset="0"/>
                    <a:buChar char="•"/>
                  </a:pPr>
                  <a:r>
                    <a:rPr lang="en-US" sz="2000" dirty="0"/>
                    <a:t>For comparison, </a:t>
                  </a:r>
                  <a14:m>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𝝁</m:t>
                          </m:r>
                        </m:e>
                        <m:sub>
                          <m:r>
                            <a:rPr lang="en-US" sz="2000" b="1" i="1">
                              <a:latin typeface="Cambria Math" panose="02040503050406030204" pitchFamily="18" charset="0"/>
                              <a:ea typeface="Cambria Math" panose="02040503050406030204" pitchFamily="18" charset="0"/>
                            </a:rPr>
                            <m:t>𝑻</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𝒗𝒅𝒘</m:t>
                          </m:r>
                        </m:sub>
                      </m:sSub>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𝟐𝟓</m:t>
                      </m:r>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𝑳</m:t>
                          </m:r>
                        </m:num>
                        <m:den>
                          <m:r>
                            <a:rPr lang="en-US" sz="2000" b="1" i="1" smtClean="0">
                              <a:latin typeface="Cambria Math" panose="02040503050406030204" pitchFamily="18" charset="0"/>
                              <a:ea typeface="Cambria Math" panose="02040503050406030204" pitchFamily="18" charset="0"/>
                            </a:rPr>
                            <m:t>𝒎𝒐𝒍</m:t>
                          </m:r>
                        </m:den>
                      </m:f>
                    </m:oMath>
                  </a14:m>
                  <a:endParaRPr lang="en-US" sz="2000" b="1" dirty="0"/>
                </a:p>
              </p:txBody>
            </p:sp>
          </mc:Choice>
          <mc:Fallback>
            <p:sp>
              <p:nvSpPr>
                <p:cNvPr id="16" name="TextBox 15">
                  <a:extLst>
                    <a:ext uri="{FF2B5EF4-FFF2-40B4-BE49-F238E27FC236}">
                      <a16:creationId xmlns:a16="http://schemas.microsoft.com/office/drawing/2014/main" id="{D32FE6F0-6B53-4BCA-37FD-E8E470F2D71B}"/>
                    </a:ext>
                  </a:extLst>
                </p:cNvPr>
                <p:cNvSpPr txBox="1">
                  <a:spLocks noRot="1" noChangeAspect="1" noMove="1" noResize="1" noEditPoints="1" noAdjustHandles="1" noChangeArrowheads="1" noChangeShapeType="1" noTextEdit="1"/>
                </p:cNvSpPr>
                <p:nvPr/>
              </p:nvSpPr>
              <p:spPr>
                <a:xfrm>
                  <a:off x="143525" y="4289421"/>
                  <a:ext cx="5840228" cy="2069862"/>
                </a:xfrm>
                <a:prstGeom prst="rect">
                  <a:avLst/>
                </a:prstGeom>
                <a:blipFill>
                  <a:blip r:embed="rId11"/>
                  <a:stretch>
                    <a:fillRect l="-868" t="-1212" b="-1212"/>
                  </a:stretch>
                </a:blipFill>
                <a:ln>
                  <a:solidFill>
                    <a:schemeClr val="accent1"/>
                  </a:solidFill>
                </a:ln>
              </p:spPr>
              <p:txBody>
                <a:bodyPr/>
                <a:lstStyle/>
                <a:p>
                  <a:r>
                    <a:rPr lang="en-US">
                      <a:noFill/>
                    </a:rPr>
                    <a:t> </a:t>
                  </a:r>
                </a:p>
              </p:txBody>
            </p:sp>
          </mc:Fallback>
        </mc:AlternateContent>
        <p:pic>
          <p:nvPicPr>
            <p:cNvPr id="26" name="Picture 2" descr="Skiing Svg Png Icon Free Download (#432419) - OnlineWebFonts.COM">
              <a:extLst>
                <a:ext uri="{FF2B5EF4-FFF2-40B4-BE49-F238E27FC236}">
                  <a16:creationId xmlns:a16="http://schemas.microsoft.com/office/drawing/2014/main" id="{F6D10D2F-C760-3818-A134-443EFCE8F9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872670" flipH="1">
              <a:off x="2866074" y="4379827"/>
              <a:ext cx="299000" cy="32717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7" name="Straight Connector 26">
            <a:extLst>
              <a:ext uri="{FF2B5EF4-FFF2-40B4-BE49-F238E27FC236}">
                <a16:creationId xmlns:a16="http://schemas.microsoft.com/office/drawing/2014/main" id="{F1F9AFB1-7B67-8A16-972C-E2AC5F4A5A6E}"/>
              </a:ext>
            </a:extLst>
          </p:cNvPr>
          <p:cNvCxnSpPr>
            <a:cxnSpLocks/>
          </p:cNvCxnSpPr>
          <p:nvPr/>
        </p:nvCxnSpPr>
        <p:spPr>
          <a:xfrm>
            <a:off x="7507121" y="4084024"/>
            <a:ext cx="577060" cy="897099"/>
          </a:xfrm>
          <a:prstGeom prst="line">
            <a:avLst/>
          </a:prstGeom>
          <a:ln w="38100">
            <a:solidFill>
              <a:schemeClr val="accent1">
                <a:alpha val="55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C830F5B-701D-FFD2-E28B-D829E913DFF7}"/>
              </a:ext>
            </a:extLst>
          </p:cNvPr>
          <p:cNvCxnSpPr>
            <a:cxnSpLocks/>
          </p:cNvCxnSpPr>
          <p:nvPr/>
        </p:nvCxnSpPr>
        <p:spPr>
          <a:xfrm flipH="1">
            <a:off x="7383756" y="5028748"/>
            <a:ext cx="672012" cy="39072"/>
          </a:xfrm>
          <a:prstGeom prst="line">
            <a:avLst/>
          </a:prstGeom>
          <a:ln w="38100">
            <a:solidFill>
              <a:schemeClr val="accent1">
                <a:alpha val="55000"/>
              </a:schemeClr>
            </a:solidFill>
            <a:prstDash val="sysDot"/>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79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t>Recap: </a:t>
                </a:r>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temperatures</a:t>
                </a:r>
              </a:p>
            </p:txBody>
          </p:sp>
        </mc:Choice>
        <mc:Fallback>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91216123-C1B2-B6B3-AA58-D9DB7410BE21}"/>
              </a:ext>
            </a:extLst>
          </p:cNvPr>
          <p:cNvGrpSpPr/>
          <p:nvPr/>
        </p:nvGrpSpPr>
        <p:grpSpPr>
          <a:xfrm>
            <a:off x="8274193" y="1281094"/>
            <a:ext cx="3794586" cy="3230768"/>
            <a:chOff x="8274193" y="1281094"/>
            <a:chExt cx="3794586" cy="3230768"/>
          </a:xfrm>
        </p:grpSpPr>
        <p:pic>
          <p:nvPicPr>
            <p:cNvPr id="62" name="Picture 61">
              <a:extLst>
                <a:ext uri="{FF2B5EF4-FFF2-40B4-BE49-F238E27FC236}">
                  <a16:creationId xmlns:a16="http://schemas.microsoft.com/office/drawing/2014/main" id="{4327E998-513E-45B7-F8F3-064C7C071CCF}"/>
                </a:ext>
              </a:extLst>
            </p:cNvPr>
            <p:cNvPicPr>
              <a:picLocks noChangeAspect="1"/>
            </p:cNvPicPr>
            <p:nvPr/>
          </p:nvPicPr>
          <p:blipFill>
            <a:blip r:embed="rId3"/>
            <a:stretch>
              <a:fillRect/>
            </a:stretch>
          </p:blipFill>
          <p:spPr>
            <a:xfrm>
              <a:off x="8274193" y="1281094"/>
              <a:ext cx="3794586" cy="3230768"/>
            </a:xfrm>
            <a:prstGeom prst="rect">
              <a:avLst/>
            </a:prstGeom>
          </p:spPr>
        </p:pic>
        <p:cxnSp>
          <p:nvCxnSpPr>
            <p:cNvPr id="20" name="Straight Arrow Connector 19">
              <a:extLst>
                <a:ext uri="{FF2B5EF4-FFF2-40B4-BE49-F238E27FC236}">
                  <a16:creationId xmlns:a16="http://schemas.microsoft.com/office/drawing/2014/main" id="{F2756FE9-F4D0-76D7-ECC3-2FCA7ACF5884}"/>
                </a:ext>
              </a:extLst>
            </p:cNvPr>
            <p:cNvCxnSpPr>
              <a:cxnSpLocks/>
            </p:cNvCxnSpPr>
            <p:nvPr/>
          </p:nvCxnSpPr>
          <p:spPr>
            <a:xfrm>
              <a:off x="8779356" y="3981384"/>
              <a:ext cx="2589684" cy="6307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59518263-0A03-5C91-BEB4-A674E0B99F9B}"/>
              </a:ext>
            </a:extLst>
          </p:cNvPr>
          <p:cNvGrpSpPr/>
          <p:nvPr/>
        </p:nvGrpSpPr>
        <p:grpSpPr>
          <a:xfrm>
            <a:off x="380417" y="596534"/>
            <a:ext cx="7236197" cy="5281753"/>
            <a:chOff x="66907" y="492030"/>
            <a:chExt cx="7236197" cy="5281753"/>
          </a:xfrm>
        </p:grpSpPr>
        <p:grpSp>
          <p:nvGrpSpPr>
            <p:cNvPr id="24" name="Group 23">
              <a:extLst>
                <a:ext uri="{FF2B5EF4-FFF2-40B4-BE49-F238E27FC236}">
                  <a16:creationId xmlns:a16="http://schemas.microsoft.com/office/drawing/2014/main" id="{D7D49B3F-4C39-E854-AD65-225A66BF7406}"/>
                </a:ext>
              </a:extLst>
            </p:cNvPr>
            <p:cNvGrpSpPr>
              <a:grpSpLocks noChangeAspect="1"/>
            </p:cNvGrpSpPr>
            <p:nvPr/>
          </p:nvGrpSpPr>
          <p:grpSpPr>
            <a:xfrm>
              <a:off x="66907" y="492030"/>
              <a:ext cx="7236197" cy="5281753"/>
              <a:chOff x="68760" y="492030"/>
              <a:chExt cx="7826531" cy="5712642"/>
            </a:xfrm>
          </p:grpSpPr>
          <p:grpSp>
            <p:nvGrpSpPr>
              <p:cNvPr id="26" name="Group 25">
                <a:extLst>
                  <a:ext uri="{FF2B5EF4-FFF2-40B4-BE49-F238E27FC236}">
                    <a16:creationId xmlns:a16="http://schemas.microsoft.com/office/drawing/2014/main" id="{259035AC-5FF0-99D6-E92D-71595DF0F1A9}"/>
                  </a:ext>
                </a:extLst>
              </p:cNvPr>
              <p:cNvGrpSpPr/>
              <p:nvPr/>
            </p:nvGrpSpPr>
            <p:grpSpPr>
              <a:xfrm>
                <a:off x="68760" y="492030"/>
                <a:ext cx="7826531" cy="5712642"/>
                <a:chOff x="68760" y="492030"/>
                <a:chExt cx="7826531" cy="5712642"/>
              </a:xfrm>
            </p:grpSpPr>
            <p:grpSp>
              <p:nvGrpSpPr>
                <p:cNvPr id="35" name="Group 34">
                  <a:extLst>
                    <a:ext uri="{FF2B5EF4-FFF2-40B4-BE49-F238E27FC236}">
                      <a16:creationId xmlns:a16="http://schemas.microsoft.com/office/drawing/2014/main" id="{747F213F-72B8-D85F-2D85-E49A21CE5688}"/>
                    </a:ext>
                  </a:extLst>
                </p:cNvPr>
                <p:cNvGrpSpPr/>
                <p:nvPr/>
              </p:nvGrpSpPr>
              <p:grpSpPr>
                <a:xfrm>
                  <a:off x="68760" y="492030"/>
                  <a:ext cx="7826531" cy="5712642"/>
                  <a:chOff x="190680" y="492030"/>
                  <a:chExt cx="7826531" cy="5712642"/>
                </a:xfrm>
              </p:grpSpPr>
              <p:grpSp>
                <p:nvGrpSpPr>
                  <p:cNvPr id="59" name="Group 58">
                    <a:extLst>
                      <a:ext uri="{FF2B5EF4-FFF2-40B4-BE49-F238E27FC236}">
                        <a16:creationId xmlns:a16="http://schemas.microsoft.com/office/drawing/2014/main" id="{7E8DD5D6-C18A-970E-6F3E-CCAC65605F5E}"/>
                      </a:ext>
                    </a:extLst>
                  </p:cNvPr>
                  <p:cNvGrpSpPr/>
                  <p:nvPr/>
                </p:nvGrpSpPr>
                <p:grpSpPr>
                  <a:xfrm>
                    <a:off x="190680" y="492030"/>
                    <a:ext cx="7826531" cy="5712642"/>
                    <a:chOff x="2064003" y="912222"/>
                    <a:chExt cx="7826531" cy="5712642"/>
                  </a:xfrm>
                </p:grpSpPr>
                <p:grpSp>
                  <p:nvGrpSpPr>
                    <p:cNvPr id="61" name="Group 60">
                      <a:extLst>
                        <a:ext uri="{FF2B5EF4-FFF2-40B4-BE49-F238E27FC236}">
                          <a16:creationId xmlns:a16="http://schemas.microsoft.com/office/drawing/2014/main" id="{203BE3F2-EC46-E9E8-7D83-FF5753B09A0F}"/>
                        </a:ext>
                      </a:extLst>
                    </p:cNvPr>
                    <p:cNvGrpSpPr/>
                    <p:nvPr/>
                  </p:nvGrpSpPr>
                  <p:grpSpPr>
                    <a:xfrm>
                      <a:off x="2064003" y="912222"/>
                      <a:ext cx="7826531" cy="5712642"/>
                      <a:chOff x="2017622" y="876292"/>
                      <a:chExt cx="6795645" cy="4915974"/>
                    </a:xfrm>
                  </p:grpSpPr>
                  <p:grpSp>
                    <p:nvGrpSpPr>
                      <p:cNvPr id="71" name="Group 70">
                        <a:extLst>
                          <a:ext uri="{FF2B5EF4-FFF2-40B4-BE49-F238E27FC236}">
                            <a16:creationId xmlns:a16="http://schemas.microsoft.com/office/drawing/2014/main" id="{D2C13CAE-310B-C790-E6CF-BF6AE2702F8F}"/>
                          </a:ext>
                        </a:extLst>
                      </p:cNvPr>
                      <p:cNvGrpSpPr/>
                      <p:nvPr/>
                    </p:nvGrpSpPr>
                    <p:grpSpPr>
                      <a:xfrm>
                        <a:off x="2349714" y="876292"/>
                        <a:ext cx="6463553" cy="4428565"/>
                        <a:chOff x="1345667" y="1362635"/>
                        <a:chExt cx="6463553" cy="4428565"/>
                      </a:xfrm>
                    </p:grpSpPr>
                    <p:cxnSp>
                      <p:nvCxnSpPr>
                        <p:cNvPr id="83" name="Straight Connector 82">
                          <a:extLst>
                            <a:ext uri="{FF2B5EF4-FFF2-40B4-BE49-F238E27FC236}">
                              <a16:creationId xmlns:a16="http://schemas.microsoft.com/office/drawing/2014/main" id="{CCE4F2D9-13E3-630E-D645-86454452C09F}"/>
                            </a:ext>
                          </a:extLst>
                        </p:cNvPr>
                        <p:cNvCxnSpPr/>
                        <p:nvPr/>
                      </p:nvCxnSpPr>
                      <p:spPr>
                        <a:xfrm>
                          <a:off x="1362635" y="1362635"/>
                          <a:ext cx="0" cy="4428565"/>
                        </a:xfrm>
                        <a:prstGeom prst="line">
                          <a:avLst/>
                        </a:prstGeom>
                        <a:ln w="635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05C3C8E-8647-7526-0DF2-B29585661602}"/>
                            </a:ext>
                          </a:extLst>
                        </p:cNvPr>
                        <p:cNvCxnSpPr>
                          <a:cxnSpLocks/>
                        </p:cNvCxnSpPr>
                        <p:nvPr/>
                      </p:nvCxnSpPr>
                      <p:spPr>
                        <a:xfrm flipH="1">
                          <a:off x="1345667" y="5774143"/>
                          <a:ext cx="6463553" cy="0"/>
                        </a:xfrm>
                        <a:prstGeom prst="line">
                          <a:avLst/>
                        </a:prstGeom>
                        <a:ln w="635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3E2EDE4B-24BC-FC1E-1875-E4A05A312869}"/>
                          </a:ext>
                        </a:extLst>
                      </p:cNvPr>
                      <p:cNvSpPr txBox="1"/>
                      <p:nvPr/>
                    </p:nvSpPr>
                    <p:spPr>
                      <a:xfrm>
                        <a:off x="5276897" y="5330601"/>
                        <a:ext cx="2456329" cy="461665"/>
                      </a:xfrm>
                      <a:prstGeom prst="rect">
                        <a:avLst/>
                      </a:prstGeom>
                      <a:noFill/>
                    </p:spPr>
                    <p:txBody>
                      <a:bodyPr wrap="square" rtlCol="0">
                        <a:spAutoFit/>
                      </a:bodyPr>
                      <a:lstStyle/>
                      <a:p>
                        <a:r>
                          <a:rPr lang="en-US" sz="2400" dirty="0"/>
                          <a:t>T</a:t>
                        </a:r>
                      </a:p>
                    </p:txBody>
                  </p:sp>
                  <p:sp>
                    <p:nvSpPr>
                      <p:cNvPr id="73" name="TextBox 72">
                        <a:extLst>
                          <a:ext uri="{FF2B5EF4-FFF2-40B4-BE49-F238E27FC236}">
                            <a16:creationId xmlns:a16="http://schemas.microsoft.com/office/drawing/2014/main" id="{D0A59056-7F6B-9619-08B4-2B3C9F454A14}"/>
                          </a:ext>
                        </a:extLst>
                      </p:cNvPr>
                      <p:cNvSpPr txBox="1"/>
                      <p:nvPr/>
                    </p:nvSpPr>
                    <p:spPr>
                      <a:xfrm>
                        <a:off x="2017622" y="2185001"/>
                        <a:ext cx="2456329" cy="461665"/>
                      </a:xfrm>
                      <a:prstGeom prst="rect">
                        <a:avLst/>
                      </a:prstGeom>
                      <a:noFill/>
                    </p:spPr>
                    <p:txBody>
                      <a:bodyPr wrap="square" rtlCol="0">
                        <a:spAutoFit/>
                      </a:bodyPr>
                      <a:lstStyle/>
                      <a:p>
                        <a:r>
                          <a:rPr lang="en-US" sz="2400" dirty="0"/>
                          <a:t>H</a:t>
                        </a:r>
                      </a:p>
                    </p:txBody>
                  </p:sp>
                  <p:grpSp>
                    <p:nvGrpSpPr>
                      <p:cNvPr id="74" name="Group 73">
                        <a:extLst>
                          <a:ext uri="{FF2B5EF4-FFF2-40B4-BE49-F238E27FC236}">
                            <a16:creationId xmlns:a16="http://schemas.microsoft.com/office/drawing/2014/main" id="{0F2DB3A4-4291-CB08-3FE4-ECC31D075EBF}"/>
                          </a:ext>
                        </a:extLst>
                      </p:cNvPr>
                      <p:cNvGrpSpPr/>
                      <p:nvPr/>
                    </p:nvGrpSpPr>
                    <p:grpSpPr>
                      <a:xfrm>
                        <a:off x="3557865" y="2104837"/>
                        <a:ext cx="5136729" cy="1607401"/>
                        <a:chOff x="3557865" y="2104837"/>
                        <a:chExt cx="5136729" cy="1607401"/>
                      </a:xfrm>
                    </p:grpSpPr>
                    <p:cxnSp>
                      <p:nvCxnSpPr>
                        <p:cNvPr id="81" name="Straight Connector 80">
                          <a:extLst>
                            <a:ext uri="{FF2B5EF4-FFF2-40B4-BE49-F238E27FC236}">
                              <a16:creationId xmlns:a16="http://schemas.microsoft.com/office/drawing/2014/main" id="{E95CA487-243D-5673-84C1-95EA267F38A3}"/>
                            </a:ext>
                          </a:extLst>
                        </p:cNvPr>
                        <p:cNvCxnSpPr>
                          <a:cxnSpLocks/>
                        </p:cNvCxnSpPr>
                        <p:nvPr/>
                      </p:nvCxnSpPr>
                      <p:spPr>
                        <a:xfrm flipH="1">
                          <a:off x="3557865" y="2373628"/>
                          <a:ext cx="5136729" cy="133861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13B1A37-2180-812F-0158-588706413E25}"/>
                                </a:ext>
                              </a:extLst>
                            </p:cNvPr>
                            <p:cNvSpPr txBox="1"/>
                            <p:nvPr/>
                          </p:nvSpPr>
                          <p:spPr>
                            <a:xfrm rot="20784864">
                              <a:off x="5687012" y="2104837"/>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=75.4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82" name="TextBox 81">
                              <a:extLst>
                                <a:ext uri="{FF2B5EF4-FFF2-40B4-BE49-F238E27FC236}">
                                  <a16:creationId xmlns:a16="http://schemas.microsoft.com/office/drawing/2014/main" id="{613B1A37-2180-812F-0158-588706413E25}"/>
                                </a:ext>
                              </a:extLst>
                            </p:cNvPr>
                            <p:cNvSpPr txBox="1">
                              <a:spLocks noRot="1" noChangeAspect="1" noMove="1" noResize="1" noEditPoints="1" noAdjustHandles="1" noChangeArrowheads="1" noChangeShapeType="1" noTextEdit="1"/>
                            </p:cNvSpPr>
                            <p:nvPr/>
                          </p:nvSpPr>
                          <p:spPr>
                            <a:xfrm rot="20784864">
                              <a:off x="5687012" y="2104837"/>
                              <a:ext cx="2379132" cy="783933"/>
                            </a:xfrm>
                            <a:prstGeom prst="rect">
                              <a:avLst/>
                            </a:prstGeom>
                            <a:blipFill>
                              <a:blip r:embed="rId4"/>
                              <a:stretch>
                                <a:fillRect/>
                              </a:stretch>
                            </a:blipFill>
                          </p:spPr>
                          <p:txBody>
                            <a:bodyPr/>
                            <a:lstStyle/>
                            <a:p>
                              <a:r>
                                <a:rPr lang="en-US">
                                  <a:noFill/>
                                </a:rPr>
                                <a:t> </a:t>
                              </a:r>
                            </a:p>
                          </p:txBody>
                        </p:sp>
                      </mc:Fallback>
                    </mc:AlternateContent>
                  </p:grpSp>
                  <p:grpSp>
                    <p:nvGrpSpPr>
                      <p:cNvPr id="75" name="Group 74">
                        <a:extLst>
                          <a:ext uri="{FF2B5EF4-FFF2-40B4-BE49-F238E27FC236}">
                            <a16:creationId xmlns:a16="http://schemas.microsoft.com/office/drawing/2014/main" id="{1753B311-652E-A884-865E-108712F53C72}"/>
                          </a:ext>
                        </a:extLst>
                      </p:cNvPr>
                      <p:cNvGrpSpPr/>
                      <p:nvPr/>
                    </p:nvGrpSpPr>
                    <p:grpSpPr>
                      <a:xfrm>
                        <a:off x="2912748" y="3753423"/>
                        <a:ext cx="5532005" cy="1101649"/>
                        <a:chOff x="2912748" y="2765485"/>
                        <a:chExt cx="5532005" cy="1101649"/>
                      </a:xfrm>
                    </p:grpSpPr>
                    <p:cxnSp>
                      <p:nvCxnSpPr>
                        <p:cNvPr id="79" name="Straight Connector 78">
                          <a:extLst>
                            <a:ext uri="{FF2B5EF4-FFF2-40B4-BE49-F238E27FC236}">
                              <a16:creationId xmlns:a16="http://schemas.microsoft.com/office/drawing/2014/main" id="{A24EC0C0-11E7-DAAA-380A-9F8BD4A27F29}"/>
                            </a:ext>
                          </a:extLst>
                        </p:cNvPr>
                        <p:cNvCxnSpPr>
                          <a:cxnSpLocks/>
                        </p:cNvCxnSpPr>
                        <p:nvPr/>
                      </p:nvCxnSpPr>
                      <p:spPr>
                        <a:xfrm flipH="1">
                          <a:off x="2912748" y="3347592"/>
                          <a:ext cx="5532005" cy="519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85AD932-B332-0534-D280-8A8E3EAE3BAF}"/>
                                </a:ext>
                              </a:extLst>
                            </p:cNvPr>
                            <p:cNvSpPr txBox="1"/>
                            <p:nvPr/>
                          </p:nvSpPr>
                          <p:spPr>
                            <a:xfrm rot="21367020">
                              <a:off x="5767827" y="2765485"/>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=38</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80" name="TextBox 79">
                              <a:extLst>
                                <a:ext uri="{FF2B5EF4-FFF2-40B4-BE49-F238E27FC236}">
                                  <a16:creationId xmlns:a16="http://schemas.microsoft.com/office/drawing/2014/main" id="{A85AD932-B332-0534-D280-8A8E3EAE3BAF}"/>
                                </a:ext>
                              </a:extLst>
                            </p:cNvPr>
                            <p:cNvSpPr txBox="1">
                              <a:spLocks noRot="1" noChangeAspect="1" noMove="1" noResize="1" noEditPoints="1" noAdjustHandles="1" noChangeArrowheads="1" noChangeShapeType="1" noTextEdit="1"/>
                            </p:cNvSpPr>
                            <p:nvPr/>
                          </p:nvSpPr>
                          <p:spPr>
                            <a:xfrm rot="21367020">
                              <a:off x="5767827" y="2765485"/>
                              <a:ext cx="2379132" cy="783933"/>
                            </a:xfrm>
                            <a:prstGeom prst="rect">
                              <a:avLst/>
                            </a:prstGeom>
                            <a:blipFill>
                              <a:blip r:embed="rId5"/>
                              <a:stretch>
                                <a:fillRect/>
                              </a:stretch>
                            </a:blipFill>
                          </p:spPr>
                          <p:txBody>
                            <a:bodyPr/>
                            <a:lstStyle/>
                            <a:p>
                              <a:r>
                                <a:rPr lang="en-US">
                                  <a:noFill/>
                                </a:rPr>
                                <a:t> </a:t>
                              </a:r>
                            </a:p>
                          </p:txBody>
                        </p:sp>
                      </mc:Fallback>
                    </mc:AlternateContent>
                  </p:grpSp>
                  <p:grpSp>
                    <p:nvGrpSpPr>
                      <p:cNvPr id="76" name="Group 75">
                        <a:extLst>
                          <a:ext uri="{FF2B5EF4-FFF2-40B4-BE49-F238E27FC236}">
                            <a16:creationId xmlns:a16="http://schemas.microsoft.com/office/drawing/2014/main" id="{BBBCA3D7-A06F-532C-EB7E-BECFAF48815D}"/>
                          </a:ext>
                        </a:extLst>
                      </p:cNvPr>
                      <p:cNvGrpSpPr/>
                      <p:nvPr/>
                    </p:nvGrpSpPr>
                    <p:grpSpPr>
                      <a:xfrm>
                        <a:off x="2819011" y="892019"/>
                        <a:ext cx="5625742" cy="880594"/>
                        <a:chOff x="2912749" y="2986540"/>
                        <a:chExt cx="5625742" cy="880594"/>
                      </a:xfrm>
                    </p:grpSpPr>
                    <p:cxnSp>
                      <p:nvCxnSpPr>
                        <p:cNvPr id="77" name="Straight Connector 76">
                          <a:extLst>
                            <a:ext uri="{FF2B5EF4-FFF2-40B4-BE49-F238E27FC236}">
                              <a16:creationId xmlns:a16="http://schemas.microsoft.com/office/drawing/2014/main" id="{3C091BC0-2585-5FEA-F424-1D613DC5C7D1}"/>
                            </a:ext>
                          </a:extLst>
                        </p:cNvPr>
                        <p:cNvCxnSpPr>
                          <a:cxnSpLocks/>
                        </p:cNvCxnSpPr>
                        <p:nvPr/>
                      </p:nvCxnSpPr>
                      <p:spPr>
                        <a:xfrm flipH="1">
                          <a:off x="2912749" y="3630393"/>
                          <a:ext cx="5625742" cy="236741"/>
                        </a:xfrm>
                        <a:prstGeom prst="line">
                          <a:avLst/>
                        </a:prstGeom>
                        <a:ln w="38100">
                          <a:no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C5213D7-7661-6905-55D3-0F4E350748B8}"/>
                                </a:ext>
                              </a:extLst>
                            </p:cNvPr>
                            <p:cNvSpPr txBox="1"/>
                            <p:nvPr/>
                          </p:nvSpPr>
                          <p:spPr>
                            <a:xfrm rot="21439931">
                              <a:off x="5823248" y="2986540"/>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=33.6</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78" name="TextBox 77">
                              <a:extLst>
                                <a:ext uri="{FF2B5EF4-FFF2-40B4-BE49-F238E27FC236}">
                                  <a16:creationId xmlns:a16="http://schemas.microsoft.com/office/drawing/2014/main" id="{9C5213D7-7661-6905-55D3-0F4E350748B8}"/>
                                </a:ext>
                              </a:extLst>
                            </p:cNvPr>
                            <p:cNvSpPr txBox="1">
                              <a:spLocks noRot="1" noChangeAspect="1" noMove="1" noResize="1" noEditPoints="1" noAdjustHandles="1" noChangeArrowheads="1" noChangeShapeType="1" noTextEdit="1"/>
                            </p:cNvSpPr>
                            <p:nvPr/>
                          </p:nvSpPr>
                          <p:spPr>
                            <a:xfrm rot="21439931">
                              <a:off x="5823248" y="2986540"/>
                              <a:ext cx="2379132" cy="783933"/>
                            </a:xfrm>
                            <a:prstGeom prst="rect">
                              <a:avLst/>
                            </a:prstGeom>
                            <a:blipFill>
                              <a:blip r:embed="rId6"/>
                              <a:stretch>
                                <a:fillRect b="-1299"/>
                              </a:stretch>
                            </a:blipFill>
                          </p:spPr>
                          <p:txBody>
                            <a:bodyPr/>
                            <a:lstStyle/>
                            <a:p>
                              <a:r>
                                <a:rPr lang="en-US">
                                  <a:noFill/>
                                </a:rPr>
                                <a:t> </a:t>
                              </a:r>
                            </a:p>
                          </p:txBody>
                        </p:sp>
                      </mc:Fallback>
                    </mc:AlternateContent>
                  </p:grpSp>
                </p:grpSp>
                <p:grpSp>
                  <p:nvGrpSpPr>
                    <p:cNvPr id="63" name="Group 62">
                      <a:extLst>
                        <a:ext uri="{FF2B5EF4-FFF2-40B4-BE49-F238E27FC236}">
                          <a16:creationId xmlns:a16="http://schemas.microsoft.com/office/drawing/2014/main" id="{635F631B-B531-E61E-ED30-CB206FEA59E5}"/>
                        </a:ext>
                      </a:extLst>
                    </p:cNvPr>
                    <p:cNvGrpSpPr/>
                    <p:nvPr/>
                  </p:nvGrpSpPr>
                  <p:grpSpPr>
                    <a:xfrm>
                      <a:off x="4267200" y="4105835"/>
                      <a:ext cx="1151187" cy="1321572"/>
                      <a:chOff x="4267200" y="4105835"/>
                      <a:chExt cx="1151187" cy="1321572"/>
                    </a:xfrm>
                  </p:grpSpPr>
                  <p:cxnSp>
                    <p:nvCxnSpPr>
                      <p:cNvPr id="69" name="Straight Arrow Connector 68">
                        <a:extLst>
                          <a:ext uri="{FF2B5EF4-FFF2-40B4-BE49-F238E27FC236}">
                            <a16:creationId xmlns:a16="http://schemas.microsoft.com/office/drawing/2014/main" id="{E485402D-0A5E-3F58-0425-15FFB0CC5D8B}"/>
                          </a:ext>
                        </a:extLst>
                      </p:cNvPr>
                      <p:cNvCxnSpPr/>
                      <p:nvPr/>
                    </p:nvCxnSpPr>
                    <p:spPr>
                      <a:xfrm flipV="1">
                        <a:off x="4267200" y="4105835"/>
                        <a:ext cx="0" cy="132157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4DA1354-FB1C-ADFF-638E-7CA1ED9F6F2D}"/>
                              </a:ext>
                            </a:extLst>
                          </p:cNvPr>
                          <p:cNvSpPr txBox="1"/>
                          <p:nvPr/>
                        </p:nvSpPr>
                        <p:spPr>
                          <a:xfrm>
                            <a:off x="4367517" y="4445637"/>
                            <a:ext cx="1050870" cy="668753"/>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6.0</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70" name="TextBox 69">
                            <a:extLst>
                              <a:ext uri="{FF2B5EF4-FFF2-40B4-BE49-F238E27FC236}">
                                <a16:creationId xmlns:a16="http://schemas.microsoft.com/office/drawing/2014/main" id="{A4DA1354-FB1C-ADFF-638E-7CA1ED9F6F2D}"/>
                              </a:ext>
                            </a:extLst>
                          </p:cNvPr>
                          <p:cNvSpPr txBox="1">
                            <a:spLocks noRot="1" noChangeAspect="1" noMove="1" noResize="1" noEditPoints="1" noAdjustHandles="1" noChangeArrowheads="1" noChangeShapeType="1" noTextEdit="1"/>
                          </p:cNvSpPr>
                          <p:nvPr/>
                        </p:nvSpPr>
                        <p:spPr>
                          <a:xfrm>
                            <a:off x="4367517" y="4445637"/>
                            <a:ext cx="1050870" cy="668753"/>
                          </a:xfrm>
                          <a:prstGeom prst="rect">
                            <a:avLst/>
                          </a:prstGeom>
                          <a:blipFill>
                            <a:blip r:embed="rId7"/>
                            <a:stretch>
                              <a:fillRect b="-6122"/>
                            </a:stretch>
                          </a:blipFill>
                        </p:spPr>
                        <p:txBody>
                          <a:bodyPr/>
                          <a:lstStyle/>
                          <a:p>
                            <a:r>
                              <a:rPr lang="en-US">
                                <a:noFill/>
                              </a:rPr>
                              <a:t> </a:t>
                            </a:r>
                          </a:p>
                        </p:txBody>
                      </p:sp>
                    </mc:Fallback>
                  </mc:AlternateContent>
                </p:grpSp>
                <p:grpSp>
                  <p:nvGrpSpPr>
                    <p:cNvPr id="64" name="Group 63">
                      <a:extLst>
                        <a:ext uri="{FF2B5EF4-FFF2-40B4-BE49-F238E27FC236}">
                          <a16:creationId xmlns:a16="http://schemas.microsoft.com/office/drawing/2014/main" id="{C534FC6C-A39B-661F-4A5C-91013A432EBE}"/>
                        </a:ext>
                      </a:extLst>
                    </p:cNvPr>
                    <p:cNvGrpSpPr/>
                    <p:nvPr/>
                  </p:nvGrpSpPr>
                  <p:grpSpPr>
                    <a:xfrm>
                      <a:off x="4266239" y="1852102"/>
                      <a:ext cx="1297583" cy="2184874"/>
                      <a:chOff x="4267200" y="3278391"/>
                      <a:chExt cx="1297583" cy="2184874"/>
                    </a:xfrm>
                  </p:grpSpPr>
                  <p:cxnSp>
                    <p:nvCxnSpPr>
                      <p:cNvPr id="67" name="Straight Arrow Connector 66">
                        <a:extLst>
                          <a:ext uri="{FF2B5EF4-FFF2-40B4-BE49-F238E27FC236}">
                            <a16:creationId xmlns:a16="http://schemas.microsoft.com/office/drawing/2014/main" id="{B2524258-E364-405A-E9A5-E2EDD08DFC56}"/>
                          </a:ext>
                        </a:extLst>
                      </p:cNvPr>
                      <p:cNvCxnSpPr>
                        <a:cxnSpLocks/>
                      </p:cNvCxnSpPr>
                      <p:nvPr/>
                    </p:nvCxnSpPr>
                    <p:spPr>
                      <a:xfrm flipV="1">
                        <a:off x="4267200" y="3278391"/>
                        <a:ext cx="961" cy="218487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95102A3-A0D9-799D-E4A8-10C06B28D022}"/>
                              </a:ext>
                            </a:extLst>
                          </p:cNvPr>
                          <p:cNvSpPr txBox="1"/>
                          <p:nvPr/>
                        </p:nvSpPr>
                        <p:spPr>
                          <a:xfrm>
                            <a:off x="4325640" y="4002282"/>
                            <a:ext cx="1239143" cy="668753"/>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4</m:t>
                                  </m:r>
                                  <m:r>
                                    <a:rPr lang="en-US" b="0" i="1" smtClean="0">
                                      <a:solidFill>
                                        <a:schemeClr val="accent1"/>
                                      </a:solidFill>
                                      <a:latin typeface="Cambria Math" panose="02040503050406030204" pitchFamily="18" charset="0"/>
                                    </a:rPr>
                                    <m:t>5.1</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68" name="TextBox 67">
                            <a:extLst>
                              <a:ext uri="{FF2B5EF4-FFF2-40B4-BE49-F238E27FC236}">
                                <a16:creationId xmlns:a16="http://schemas.microsoft.com/office/drawing/2014/main" id="{F95102A3-A0D9-799D-E4A8-10C06B28D022}"/>
                              </a:ext>
                            </a:extLst>
                          </p:cNvPr>
                          <p:cNvSpPr txBox="1">
                            <a:spLocks noRot="1" noChangeAspect="1" noMove="1" noResize="1" noEditPoints="1" noAdjustHandles="1" noChangeArrowheads="1" noChangeShapeType="1" noTextEdit="1"/>
                          </p:cNvSpPr>
                          <p:nvPr/>
                        </p:nvSpPr>
                        <p:spPr>
                          <a:xfrm>
                            <a:off x="4325640" y="4002282"/>
                            <a:ext cx="1239143" cy="668753"/>
                          </a:xfrm>
                          <a:prstGeom prst="rect">
                            <a:avLst/>
                          </a:prstGeom>
                          <a:blipFill>
                            <a:blip r:embed="rId8"/>
                            <a:stretch>
                              <a:fillRect b="-6122"/>
                            </a:stretch>
                          </a:blipFill>
                          <a:ln>
                            <a:noFill/>
                          </a:ln>
                        </p:spPr>
                        <p:txBody>
                          <a:bodyPr/>
                          <a:lstStyle/>
                          <a:p>
                            <a:r>
                              <a:rPr lang="en-US">
                                <a:noFill/>
                              </a:rPr>
                              <a:t> </a:t>
                            </a:r>
                          </a:p>
                        </p:txBody>
                      </p:sp>
                    </mc:Fallback>
                  </mc:AlternateContent>
                </p:grpSp>
              </p:grpSp>
              <p:cxnSp>
                <p:nvCxnSpPr>
                  <p:cNvPr id="60" name="Straight Connector 59">
                    <a:extLst>
                      <a:ext uri="{FF2B5EF4-FFF2-40B4-BE49-F238E27FC236}">
                        <a16:creationId xmlns:a16="http://schemas.microsoft.com/office/drawing/2014/main" id="{5FA9C5DE-6E2B-A628-CA63-AE00FEFEB61F}"/>
                      </a:ext>
                    </a:extLst>
                  </p:cNvPr>
                  <p:cNvCxnSpPr>
                    <a:cxnSpLocks/>
                  </p:cNvCxnSpPr>
                  <p:nvPr/>
                </p:nvCxnSpPr>
                <p:spPr>
                  <a:xfrm flipH="1">
                    <a:off x="1068517" y="1232922"/>
                    <a:ext cx="6479156" cy="27510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2B298C62-F416-2D8A-8D08-8F2B4385ECA5}"/>
                    </a:ext>
                  </a:extLst>
                </p:cNvPr>
                <p:cNvGrpSpPr/>
                <p:nvPr/>
              </p:nvGrpSpPr>
              <p:grpSpPr>
                <a:xfrm>
                  <a:off x="885169" y="814294"/>
                  <a:ext cx="3038906" cy="3260101"/>
                  <a:chOff x="885169" y="814294"/>
                  <a:chExt cx="3038906" cy="3260101"/>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4EC52D8-6737-DA1F-46FF-27BDB49C479D}"/>
                          </a:ext>
                        </a:extLst>
                      </p:cNvPr>
                      <p:cNvSpPr txBox="1"/>
                      <p:nvPr/>
                    </p:nvSpPr>
                    <p:spPr>
                      <a:xfrm>
                        <a:off x="2008448" y="814294"/>
                        <a:ext cx="980157" cy="49019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Sub>
                            </m:oMath>
                          </m:oMathPara>
                        </a14:m>
                        <a:endParaRPr lang="en-US" sz="2400" dirty="0"/>
                      </a:p>
                    </p:txBody>
                  </p:sp>
                </mc:Choice>
                <mc:Fallback xmlns="">
                  <p:sp>
                    <p:nvSpPr>
                      <p:cNvPr id="58" name="TextBox 57">
                        <a:extLst>
                          <a:ext uri="{FF2B5EF4-FFF2-40B4-BE49-F238E27FC236}">
                            <a16:creationId xmlns:a16="http://schemas.microsoft.com/office/drawing/2014/main" id="{14EC52D8-6737-DA1F-46FF-27BDB49C479D}"/>
                          </a:ext>
                        </a:extLst>
                      </p:cNvPr>
                      <p:cNvSpPr txBox="1">
                        <a:spLocks noRot="1" noChangeAspect="1" noMove="1" noResize="1" noEditPoints="1" noAdjustHandles="1" noChangeArrowheads="1" noChangeShapeType="1" noTextEdit="1"/>
                      </p:cNvSpPr>
                      <p:nvPr/>
                    </p:nvSpPr>
                    <p:spPr>
                      <a:xfrm>
                        <a:off x="2008448" y="814294"/>
                        <a:ext cx="980157" cy="490199"/>
                      </a:xfrm>
                      <a:prstGeom prst="rect">
                        <a:avLst/>
                      </a:prstGeom>
                      <a:blipFill>
                        <a:blip r:embed="rId9"/>
                        <a:stretch>
                          <a:fillRect l="-1370" r="-5479" b="-13514"/>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11E9A5E-4AAA-218E-E092-D8A24B64B7AC}"/>
                          </a:ext>
                        </a:extLst>
                      </p:cNvPr>
                      <p:cNvSpPr txBox="1"/>
                      <p:nvPr/>
                    </p:nvSpPr>
                    <p:spPr>
                      <a:xfrm>
                        <a:off x="885169" y="2164071"/>
                        <a:ext cx="980158" cy="461665"/>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𝑠𝑢𝑏</m:t>
                                  </m:r>
                                </m:sub>
                              </m:sSub>
                            </m:oMath>
                          </m:oMathPara>
                        </a14:m>
                        <a:endParaRPr lang="en-US" sz="2400" dirty="0"/>
                      </a:p>
                    </p:txBody>
                  </p:sp>
                </mc:Choice>
                <mc:Fallback xmlns="">
                  <p:sp>
                    <p:nvSpPr>
                      <p:cNvPr id="55" name="TextBox 54">
                        <a:extLst>
                          <a:ext uri="{FF2B5EF4-FFF2-40B4-BE49-F238E27FC236}">
                            <a16:creationId xmlns:a16="http://schemas.microsoft.com/office/drawing/2014/main" id="{111E9A5E-4AAA-218E-E092-D8A24B64B7AC}"/>
                          </a:ext>
                        </a:extLst>
                      </p:cNvPr>
                      <p:cNvSpPr txBox="1">
                        <a:spLocks noRot="1" noChangeAspect="1" noMove="1" noResize="1" noEditPoints="1" noAdjustHandles="1" noChangeArrowheads="1" noChangeShapeType="1" noTextEdit="1"/>
                      </p:cNvSpPr>
                      <p:nvPr/>
                    </p:nvSpPr>
                    <p:spPr>
                      <a:xfrm>
                        <a:off x="885169" y="2164071"/>
                        <a:ext cx="980158" cy="461665"/>
                      </a:xfrm>
                      <a:prstGeom prst="rect">
                        <a:avLst/>
                      </a:prstGeom>
                      <a:blipFill>
                        <a:blip r:embed="rId10"/>
                        <a:stretch>
                          <a:fillRect r="-2703" b="-11429"/>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52E50537-C6CA-D320-CF88-BE96084543DE}"/>
                          </a:ext>
                        </a:extLst>
                      </p:cNvPr>
                      <p:cNvSpPr txBox="1"/>
                      <p:nvPr/>
                    </p:nvSpPr>
                    <p:spPr>
                      <a:xfrm>
                        <a:off x="2943918" y="3583106"/>
                        <a:ext cx="980157" cy="49128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𝑓𝑢𝑠</m:t>
                                  </m:r>
                                </m:sub>
                              </m:sSub>
                            </m:oMath>
                          </m:oMathPara>
                        </a14:m>
                        <a:endParaRPr lang="en-US" sz="2400" dirty="0"/>
                      </a:p>
                    </p:txBody>
                  </p:sp>
                </mc:Choice>
                <mc:Fallback xmlns="">
                  <p:sp>
                    <p:nvSpPr>
                      <p:cNvPr id="51" name="TextBox 50">
                        <a:extLst>
                          <a:ext uri="{FF2B5EF4-FFF2-40B4-BE49-F238E27FC236}">
                            <a16:creationId xmlns:a16="http://schemas.microsoft.com/office/drawing/2014/main" id="{52E50537-C6CA-D320-CF88-BE96084543DE}"/>
                          </a:ext>
                        </a:extLst>
                      </p:cNvPr>
                      <p:cNvSpPr txBox="1">
                        <a:spLocks noRot="1" noChangeAspect="1" noMove="1" noResize="1" noEditPoints="1" noAdjustHandles="1" noChangeArrowheads="1" noChangeShapeType="1" noTextEdit="1"/>
                      </p:cNvSpPr>
                      <p:nvPr/>
                    </p:nvSpPr>
                    <p:spPr>
                      <a:xfrm>
                        <a:off x="2943918" y="3583106"/>
                        <a:ext cx="980157" cy="491289"/>
                      </a:xfrm>
                      <a:prstGeom prst="rect">
                        <a:avLst/>
                      </a:prstGeom>
                      <a:blipFill>
                        <a:blip r:embed="rId11"/>
                        <a:stretch>
                          <a:fillRect r="-2703" b="-18421"/>
                        </a:stretch>
                      </a:blipFill>
                      <a:ln w="12700">
                        <a:solidFill>
                          <a:schemeClr val="tx1"/>
                        </a:solidFill>
                      </a:ln>
                    </p:spPr>
                    <p:txBody>
                      <a:bodyPr/>
                      <a:lstStyle/>
                      <a:p>
                        <a:r>
                          <a:rPr lang="en-US">
                            <a:noFill/>
                          </a:rPr>
                          <a:t> </a:t>
                        </a:r>
                      </a:p>
                    </p:txBody>
                  </p:sp>
                </mc:Fallback>
              </mc:AlternateContent>
            </p:grpSp>
          </p:grpSp>
          <p:sp>
            <p:nvSpPr>
              <p:cNvPr id="34" name="TextBox 33">
                <a:extLst>
                  <a:ext uri="{FF2B5EF4-FFF2-40B4-BE49-F238E27FC236}">
                    <a16:creationId xmlns:a16="http://schemas.microsoft.com/office/drawing/2014/main" id="{B5B69A0F-5725-AD53-6970-805C68D0284A}"/>
                  </a:ext>
                </a:extLst>
              </p:cNvPr>
              <p:cNvSpPr txBox="1"/>
              <p:nvPr/>
            </p:nvSpPr>
            <p:spPr>
              <a:xfrm>
                <a:off x="1714807" y="5115599"/>
                <a:ext cx="1182902" cy="461665"/>
              </a:xfrm>
              <a:prstGeom prst="rect">
                <a:avLst/>
              </a:prstGeom>
              <a:noFill/>
            </p:spPr>
            <p:txBody>
              <a:bodyPr wrap="square" rtlCol="0">
                <a:spAutoFit/>
              </a:bodyPr>
              <a:lstStyle/>
              <a:p>
                <a:r>
                  <a:rPr lang="en-US" sz="2400" dirty="0">
                    <a:solidFill>
                      <a:schemeClr val="accent1"/>
                    </a:solidFill>
                  </a:rPr>
                  <a:t>273 K</a:t>
                </a:r>
              </a:p>
            </p:txBody>
          </p:sp>
        </p:grpSp>
        <p:cxnSp>
          <p:nvCxnSpPr>
            <p:cNvPr id="87" name="Straight Arrow Connector 86">
              <a:extLst>
                <a:ext uri="{FF2B5EF4-FFF2-40B4-BE49-F238E27FC236}">
                  <a16:creationId xmlns:a16="http://schemas.microsoft.com/office/drawing/2014/main" id="{F7C41617-A89F-8AF7-616B-D1FA1AD3B477}"/>
                </a:ext>
              </a:extLst>
            </p:cNvPr>
            <p:cNvCxnSpPr>
              <a:cxnSpLocks/>
            </p:cNvCxnSpPr>
            <p:nvPr/>
          </p:nvCxnSpPr>
          <p:spPr>
            <a:xfrm flipV="1">
              <a:off x="2000025" y="1366080"/>
              <a:ext cx="0" cy="3300566"/>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78FF66E-DDB5-29FC-1C66-9EBC5880F5FA}"/>
                    </a:ext>
                  </a:extLst>
                </p:cNvPr>
                <p:cNvSpPr txBox="1"/>
                <p:nvPr/>
              </p:nvSpPr>
              <p:spPr>
                <a:xfrm>
                  <a:off x="769894" y="2620567"/>
                  <a:ext cx="1081345" cy="618311"/>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5</m:t>
                        </m:r>
                        <m:r>
                          <a:rPr lang="en-US" b="0" i="1" smtClean="0">
                            <a:solidFill>
                              <a:schemeClr val="accent1"/>
                            </a:solidFill>
                            <a:latin typeface="Cambria Math" panose="02040503050406030204" pitchFamily="18" charset="0"/>
                          </a:rPr>
                          <m:t>1.1</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rgbClr val="00B050"/>
                    </a:solidFill>
                  </a:endParaRPr>
                </a:p>
              </p:txBody>
            </p:sp>
          </mc:Choice>
          <mc:Fallback xmlns="">
            <p:sp>
              <p:nvSpPr>
                <p:cNvPr id="89" name="TextBox 88">
                  <a:extLst>
                    <a:ext uri="{FF2B5EF4-FFF2-40B4-BE49-F238E27FC236}">
                      <a16:creationId xmlns:a16="http://schemas.microsoft.com/office/drawing/2014/main" id="{B78FF66E-DDB5-29FC-1C66-9EBC5880F5FA}"/>
                    </a:ext>
                  </a:extLst>
                </p:cNvPr>
                <p:cNvSpPr txBox="1">
                  <a:spLocks noRot="1" noChangeAspect="1" noMove="1" noResize="1" noEditPoints="1" noAdjustHandles="1" noChangeArrowheads="1" noChangeShapeType="1" noTextEdit="1"/>
                </p:cNvSpPr>
                <p:nvPr/>
              </p:nvSpPr>
              <p:spPr>
                <a:xfrm>
                  <a:off x="769894" y="2620567"/>
                  <a:ext cx="1081345" cy="618311"/>
                </a:xfrm>
                <a:prstGeom prst="rect">
                  <a:avLst/>
                </a:prstGeom>
                <a:blipFill>
                  <a:blip r:embed="rId12"/>
                  <a:stretch>
                    <a:fillRect b="-4000"/>
                  </a:stretch>
                </a:blipFill>
                <a:ln>
                  <a:noFill/>
                </a:ln>
              </p:spPr>
              <p:txBody>
                <a:bodyPr/>
                <a:lstStyle/>
                <a:p>
                  <a:r>
                    <a:rPr lang="en-US">
                      <a:noFill/>
                    </a:rPr>
                    <a:t> </a:t>
                  </a:r>
                </a:p>
              </p:txBody>
            </p:sp>
          </mc:Fallback>
        </mc:AlternateContent>
      </p:grpSp>
      <p:sp>
        <p:nvSpPr>
          <p:cNvPr id="3" name="TextBox 2">
            <a:extLst>
              <a:ext uri="{FF2B5EF4-FFF2-40B4-BE49-F238E27FC236}">
                <a16:creationId xmlns:a16="http://schemas.microsoft.com/office/drawing/2014/main" id="{64AE3AA0-5A85-34D9-BFA4-854657397AE8}"/>
              </a:ext>
            </a:extLst>
          </p:cNvPr>
          <p:cNvSpPr txBox="1"/>
          <p:nvPr/>
        </p:nvSpPr>
        <p:spPr>
          <a:xfrm>
            <a:off x="104511" y="5796624"/>
            <a:ext cx="11964262" cy="830997"/>
          </a:xfrm>
          <a:prstGeom prst="rect">
            <a:avLst/>
          </a:prstGeom>
          <a:noFill/>
          <a:ln>
            <a:solidFill>
              <a:schemeClr val="tx1"/>
            </a:solidFill>
          </a:ln>
        </p:spPr>
        <p:txBody>
          <a:bodyPr wrap="square" rtlCol="0">
            <a:spAutoFit/>
          </a:bodyPr>
          <a:lstStyle/>
          <a:p>
            <a:r>
              <a:rPr lang="en-US" sz="2400" dirty="0"/>
              <a:t>At a given temperature and pressure, the enthalpy of sublimation equals the sum of the other two (but that is obviously not true if the three are taken at different temperatures or pressures)</a:t>
            </a:r>
          </a:p>
        </p:txBody>
      </p:sp>
    </p:spTree>
    <p:extLst>
      <p:ext uri="{BB962C8B-B14F-4D97-AF65-F5344CB8AC3E}">
        <p14:creationId xmlns:p14="http://schemas.microsoft.com/office/powerpoint/2010/main" val="1942660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t>Recap: </a:t>
                </a:r>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a pressure below the inversion temperature</a:t>
                </a:r>
              </a:p>
            </p:txBody>
          </p:sp>
        </mc:Choice>
        <mc:Fallback>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355BF2-0005-1F8A-08D2-BE952E6D86B8}"/>
                  </a:ext>
                </a:extLst>
              </p:cNvPr>
              <p:cNvSpPr txBox="1"/>
              <p:nvPr/>
            </p:nvSpPr>
            <p:spPr>
              <a:xfrm>
                <a:off x="380476" y="4534424"/>
                <a:ext cx="11241577" cy="1967526"/>
              </a:xfrm>
              <a:prstGeom prst="rect">
                <a:avLst/>
              </a:prstGeom>
              <a:noFill/>
            </p:spPr>
            <p:txBody>
              <a:bodyPr wrap="square" rtlCol="0">
                <a:spAutoFit/>
              </a:bodyPr>
              <a:lstStyle/>
              <a:p>
                <a:r>
                  <a:rPr lang="en-US" sz="2400" dirty="0"/>
                  <a:t>If we’re </a:t>
                </a:r>
                <a:r>
                  <a:rPr lang="en-US" sz="2400" b="1" dirty="0"/>
                  <a:t>below</a:t>
                </a:r>
                <a:r>
                  <a:rPr lang="en-US" sz="2400" dirty="0"/>
                  <a:t> the inversion temperature, </a:t>
                </a:r>
                <a14:m>
                  <m:oMath xmlns:m="http://schemas.openxmlformats.org/officeDocument/2006/math">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i="1" smtClean="0">
                            <a:solidFill>
                              <a:schemeClr val="tx1"/>
                            </a:solidFill>
                            <a:latin typeface="Cambria Math" panose="02040503050406030204" pitchFamily="18" charset="0"/>
                            <a:ea typeface="Cambria Math" panose="02040503050406030204" pitchFamily="18" charset="0"/>
                          </a:rPr>
                          <m:t>𝜇</m:t>
                        </m:r>
                      </m:e>
                      <m:sub>
                        <m:r>
                          <a:rPr lang="en-US" sz="2400" b="0" i="1" smtClean="0">
                            <a:solidFill>
                              <a:schemeClr val="tx1"/>
                            </a:solidFill>
                            <a:latin typeface="Cambria Math" panose="02040503050406030204" pitchFamily="18" charset="0"/>
                            <a:ea typeface="Cambria Math" panose="02040503050406030204" pitchFamily="18" charset="0"/>
                          </a:rPr>
                          <m:t>𝑇</m:t>
                        </m:r>
                      </m:sub>
                    </m:sSub>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𝑔𝑎𝑠</m:t>
                    </m:r>
                    <m:r>
                      <a:rPr lang="en-US" sz="2400" b="0" i="1" smtClean="0">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going to be </a:t>
                </a:r>
                <a:r>
                  <a:rPr lang="en-US" sz="2400" b="1" dirty="0">
                    <a:solidFill>
                      <a:schemeClr val="tx1"/>
                    </a:solidFill>
                  </a:rPr>
                  <a:t>negative</a:t>
                </a:r>
                <a:r>
                  <a:rPr lang="en-US" sz="2400" dirty="0">
                    <a:solidFill>
                      <a:schemeClr val="tx1"/>
                    </a:solidFill>
                  </a:rPr>
                  <a:t>. Meanwhile, </a:t>
                </a:r>
                <a14:m>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𝜇</m:t>
                        </m:r>
                      </m:e>
                      <m:sub>
                        <m:r>
                          <a:rPr lang="en-US" sz="2400" i="1">
                            <a:solidFill>
                              <a:schemeClr val="tx1"/>
                            </a:solidFill>
                            <a:latin typeface="Cambria Math" panose="02040503050406030204" pitchFamily="18" charset="0"/>
                            <a:ea typeface="Cambria Math" panose="02040503050406030204" pitchFamily="18" charset="0"/>
                          </a:rPr>
                          <m:t>𝑇</m:t>
                        </m:r>
                      </m:sub>
                    </m:sSub>
                    <m:r>
                      <a:rPr lang="en-US" sz="2400" i="1">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𝑙𝑖𝑞</m:t>
                    </m:r>
                    <m:r>
                      <a:rPr lang="en-US" sz="2400" i="1">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a:t>
                </a:r>
                <a:r>
                  <a:rPr lang="en-US" sz="2400" b="1" dirty="0">
                    <a:solidFill>
                      <a:schemeClr val="tx1"/>
                    </a:solidFill>
                  </a:rPr>
                  <a:t>positive</a:t>
                </a:r>
                <a:r>
                  <a:rPr lang="en-US" sz="2400" dirty="0">
                    <a:solidFill>
                      <a:schemeClr val="tx1"/>
                    </a:solidFill>
                  </a:rPr>
                  <a:t>. So it’s a slam dunk that </a:t>
                </a:r>
                <a14:m>
                  <m:oMath xmlns:m="http://schemas.openxmlformats.org/officeDocument/2006/math">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𝑣𝑎𝑝</m:t>
                        </m:r>
                      </m:sub>
                    </m:sSub>
                  </m:oMath>
                </a14:m>
                <a:r>
                  <a:rPr lang="en-US" sz="2400" dirty="0">
                    <a:solidFill>
                      <a:schemeClr val="tx1"/>
                    </a:solidFill>
                  </a:rPr>
                  <a:t> is smaller at higher pressures.</a:t>
                </a:r>
              </a:p>
              <a:p>
                <a:endParaRPr lang="en-US" sz="2400" dirty="0"/>
              </a:p>
              <a:p>
                <a:r>
                  <a:rPr lang="en-US" sz="2400" dirty="0"/>
                  <a:t>For most gases (water vapor, N</a:t>
                </a:r>
                <a:r>
                  <a:rPr lang="en-US" sz="2400" baseline="-25000" dirty="0"/>
                  <a:t>2</a:t>
                </a:r>
                <a:r>
                  <a:rPr lang="en-US" sz="2400" dirty="0"/>
                  <a:t>, O</a:t>
                </a:r>
                <a:r>
                  <a:rPr lang="en-US" sz="2400" baseline="-25000" dirty="0"/>
                  <a:t>2</a:t>
                </a:r>
                <a:r>
                  <a:rPr lang="en-US" sz="2400" dirty="0"/>
                  <a:t>, …) the inversion temperature is so high that room temperature is definitely below it.</a:t>
                </a:r>
              </a:p>
            </p:txBody>
          </p:sp>
        </mc:Choice>
        <mc:Fallback xmlns="">
          <p:sp>
            <p:nvSpPr>
              <p:cNvPr id="3" name="TextBox 2">
                <a:extLst>
                  <a:ext uri="{FF2B5EF4-FFF2-40B4-BE49-F238E27FC236}">
                    <a16:creationId xmlns:a16="http://schemas.microsoft.com/office/drawing/2014/main" id="{76355BF2-0005-1F8A-08D2-BE952E6D86B8}"/>
                  </a:ext>
                </a:extLst>
              </p:cNvPr>
              <p:cNvSpPr txBox="1">
                <a:spLocks noRot="1" noChangeAspect="1" noMove="1" noResize="1" noEditPoints="1" noAdjustHandles="1" noChangeArrowheads="1" noChangeShapeType="1" noTextEdit="1"/>
              </p:cNvSpPr>
              <p:nvPr/>
            </p:nvSpPr>
            <p:spPr>
              <a:xfrm>
                <a:off x="380476" y="4534424"/>
                <a:ext cx="11241577" cy="1967526"/>
              </a:xfrm>
              <a:prstGeom prst="rect">
                <a:avLst/>
              </a:prstGeom>
              <a:blipFill>
                <a:blip r:embed="rId3"/>
                <a:stretch>
                  <a:fillRect l="-789" t="-1923" b="-576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D9FA2904-43A5-BBD0-B1B8-9A332A0FDF1B}"/>
              </a:ext>
            </a:extLst>
          </p:cNvPr>
          <p:cNvGrpSpPr/>
          <p:nvPr/>
        </p:nvGrpSpPr>
        <p:grpSpPr>
          <a:xfrm>
            <a:off x="8261409" y="1281094"/>
            <a:ext cx="3807370" cy="3230768"/>
            <a:chOff x="8261409" y="1281094"/>
            <a:chExt cx="3807370" cy="3230768"/>
          </a:xfrm>
        </p:grpSpPr>
        <p:grpSp>
          <p:nvGrpSpPr>
            <p:cNvPr id="5" name="Group 4">
              <a:extLst>
                <a:ext uri="{FF2B5EF4-FFF2-40B4-BE49-F238E27FC236}">
                  <a16:creationId xmlns:a16="http://schemas.microsoft.com/office/drawing/2014/main" id="{4B5F64DD-36E8-2AB0-1E58-3D748866AAC2}"/>
                </a:ext>
              </a:extLst>
            </p:cNvPr>
            <p:cNvGrpSpPr/>
            <p:nvPr/>
          </p:nvGrpSpPr>
          <p:grpSpPr>
            <a:xfrm>
              <a:off x="8274193" y="1281094"/>
              <a:ext cx="3794586" cy="3230768"/>
              <a:chOff x="8274193" y="1281094"/>
              <a:chExt cx="3794586" cy="3230768"/>
            </a:xfrm>
          </p:grpSpPr>
          <p:pic>
            <p:nvPicPr>
              <p:cNvPr id="8" name="Picture 7">
                <a:extLst>
                  <a:ext uri="{FF2B5EF4-FFF2-40B4-BE49-F238E27FC236}">
                    <a16:creationId xmlns:a16="http://schemas.microsoft.com/office/drawing/2014/main" id="{599408B4-5276-C9A8-74C8-9D53C0F129DC}"/>
                  </a:ext>
                </a:extLst>
              </p:cNvPr>
              <p:cNvPicPr>
                <a:picLocks noChangeAspect="1"/>
              </p:cNvPicPr>
              <p:nvPr/>
            </p:nvPicPr>
            <p:blipFill>
              <a:blip r:embed="rId4"/>
              <a:stretch>
                <a:fillRect/>
              </a:stretch>
            </p:blipFill>
            <p:spPr>
              <a:xfrm>
                <a:off x="8274193" y="1281094"/>
                <a:ext cx="3794586" cy="3230768"/>
              </a:xfrm>
              <a:prstGeom prst="rect">
                <a:avLst/>
              </a:prstGeom>
            </p:spPr>
          </p:pic>
          <p:cxnSp>
            <p:nvCxnSpPr>
              <p:cNvPr id="9" name="Straight Arrow Connector 8">
                <a:extLst>
                  <a:ext uri="{FF2B5EF4-FFF2-40B4-BE49-F238E27FC236}">
                    <a16:creationId xmlns:a16="http://schemas.microsoft.com/office/drawing/2014/main" id="{9282191D-9D5B-6493-86DA-67D64C2FB703}"/>
                  </a:ext>
                </a:extLst>
              </p:cNvPr>
              <p:cNvCxnSpPr>
                <a:cxnSpLocks/>
              </p:cNvCxnSpPr>
              <p:nvPr/>
            </p:nvCxnSpPr>
            <p:spPr>
              <a:xfrm flipV="1">
                <a:off x="8519711" y="3262489"/>
                <a:ext cx="443666" cy="707606"/>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6D4F9D69-4FA5-A31B-9026-4B99CF3466D2}"/>
                </a:ext>
              </a:extLst>
            </p:cNvPr>
            <p:cNvSpPr txBox="1"/>
            <p:nvPr/>
          </p:nvSpPr>
          <p:spPr>
            <a:xfrm>
              <a:off x="8261409" y="3894063"/>
              <a:ext cx="445770" cy="369332"/>
            </a:xfrm>
            <a:prstGeom prst="rect">
              <a:avLst/>
            </a:prstGeom>
            <a:noFill/>
          </p:spPr>
          <p:txBody>
            <a:bodyPr wrap="square" rtlCol="0">
              <a:spAutoFit/>
            </a:bodyPr>
            <a:lstStyle/>
            <a:p>
              <a:r>
                <a:rPr lang="en-US" dirty="0"/>
                <a:t>A</a:t>
              </a:r>
            </a:p>
          </p:txBody>
        </p:sp>
        <p:sp>
          <p:nvSpPr>
            <p:cNvPr id="7" name="TextBox 6">
              <a:extLst>
                <a:ext uri="{FF2B5EF4-FFF2-40B4-BE49-F238E27FC236}">
                  <a16:creationId xmlns:a16="http://schemas.microsoft.com/office/drawing/2014/main" id="{C1015DB1-914C-B97E-0C26-2FA7485D0D38}"/>
                </a:ext>
              </a:extLst>
            </p:cNvPr>
            <p:cNvSpPr txBox="1"/>
            <p:nvPr/>
          </p:nvSpPr>
          <p:spPr>
            <a:xfrm>
              <a:off x="8740492" y="2969189"/>
              <a:ext cx="445770" cy="369332"/>
            </a:xfrm>
            <a:prstGeom prst="rect">
              <a:avLst/>
            </a:prstGeom>
            <a:noFill/>
          </p:spPr>
          <p:txBody>
            <a:bodyPr wrap="square" rtlCol="0">
              <a:spAutoFit/>
            </a:bodyPr>
            <a:lstStyle/>
            <a:p>
              <a:r>
                <a:rPr lang="en-US" dirty="0"/>
                <a:t>B</a:t>
              </a:r>
            </a:p>
          </p:txBody>
        </p:sp>
      </p:grpSp>
      <p:cxnSp>
        <p:nvCxnSpPr>
          <p:cNvPr id="10" name="Straight Arrow Connector 9">
            <a:extLst>
              <a:ext uri="{FF2B5EF4-FFF2-40B4-BE49-F238E27FC236}">
                <a16:creationId xmlns:a16="http://schemas.microsoft.com/office/drawing/2014/main" id="{8748B2F9-BC9A-C041-FC7D-47071EC5AA2E}"/>
              </a:ext>
            </a:extLst>
          </p:cNvPr>
          <p:cNvCxnSpPr>
            <a:cxnSpLocks/>
          </p:cNvCxnSpPr>
          <p:nvPr/>
        </p:nvCxnSpPr>
        <p:spPr>
          <a:xfrm>
            <a:off x="1002581" y="3861461"/>
            <a:ext cx="5718259" cy="0"/>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50FE567-FAD0-8E5C-1703-825BC5D0EB0A}"/>
              </a:ext>
            </a:extLst>
          </p:cNvPr>
          <p:cNvSpPr txBox="1"/>
          <p:nvPr/>
        </p:nvSpPr>
        <p:spPr>
          <a:xfrm>
            <a:off x="744279" y="3944812"/>
            <a:ext cx="445770"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899B4992-3A27-6B7D-E42E-741F7141820F}"/>
              </a:ext>
            </a:extLst>
          </p:cNvPr>
          <p:cNvSpPr txBox="1"/>
          <p:nvPr/>
        </p:nvSpPr>
        <p:spPr>
          <a:xfrm>
            <a:off x="6640830" y="3987515"/>
            <a:ext cx="445770" cy="369332"/>
          </a:xfrm>
          <a:prstGeom prst="rect">
            <a:avLst/>
          </a:prstGeom>
          <a:noFill/>
        </p:spPr>
        <p:txBody>
          <a:bodyPr wrap="square" rtlCol="0">
            <a:spAutoFit/>
          </a:bodyPr>
          <a:lstStyle/>
          <a:p>
            <a:r>
              <a:rPr lang="en-US" dirty="0"/>
              <a:t>B</a:t>
            </a:r>
          </a:p>
        </p:txBody>
      </p:sp>
      <p:sp>
        <p:nvSpPr>
          <p:cNvPr id="14" name="TextBox 13">
            <a:extLst>
              <a:ext uri="{FF2B5EF4-FFF2-40B4-BE49-F238E27FC236}">
                <a16:creationId xmlns:a16="http://schemas.microsoft.com/office/drawing/2014/main" id="{16F5C9F1-0A52-5BC1-140D-216EC43D3B19}"/>
              </a:ext>
            </a:extLst>
          </p:cNvPr>
          <p:cNvSpPr txBox="1"/>
          <p:nvPr/>
        </p:nvSpPr>
        <p:spPr>
          <a:xfrm>
            <a:off x="3535428" y="3944812"/>
            <a:ext cx="1036572" cy="369332"/>
          </a:xfrm>
          <a:prstGeom prst="rect">
            <a:avLst/>
          </a:prstGeom>
          <a:noFill/>
        </p:spPr>
        <p:txBody>
          <a:bodyPr wrap="square" rtlCol="0">
            <a:spAutoFit/>
          </a:bodyPr>
          <a:lstStyle/>
          <a:p>
            <a:r>
              <a:rPr lang="en-US" dirty="0"/>
              <a:t>P --&gt;</a:t>
            </a:r>
          </a:p>
        </p:txBody>
      </p:sp>
      <p:cxnSp>
        <p:nvCxnSpPr>
          <p:cNvPr id="15" name="Straight Arrow Connector 14">
            <a:extLst>
              <a:ext uri="{FF2B5EF4-FFF2-40B4-BE49-F238E27FC236}">
                <a16:creationId xmlns:a16="http://schemas.microsoft.com/office/drawing/2014/main" id="{3A1251DF-A64A-962A-957A-DBCCBAAF0B3B}"/>
              </a:ext>
            </a:extLst>
          </p:cNvPr>
          <p:cNvCxnSpPr>
            <a:cxnSpLocks/>
          </p:cNvCxnSpPr>
          <p:nvPr/>
        </p:nvCxnSpPr>
        <p:spPr>
          <a:xfrm>
            <a:off x="922571" y="1281094"/>
            <a:ext cx="5718259" cy="765420"/>
          </a:xfrm>
          <a:prstGeom prst="straightConnector1">
            <a:avLst/>
          </a:prstGeom>
          <a:ln w="63500">
            <a:solidFill>
              <a:srgbClr val="7030A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2F1932E-47BE-33BC-310E-7F658CC18CDB}"/>
                  </a:ext>
                </a:extLst>
              </p:cNvPr>
              <p:cNvSpPr txBox="1"/>
              <p:nvPr/>
            </p:nvSpPr>
            <p:spPr>
              <a:xfrm rot="21430325">
                <a:off x="2227209" y="2374699"/>
                <a:ext cx="2861488" cy="491225"/>
              </a:xfrm>
              <a:prstGeom prst="rect">
                <a:avLst/>
              </a:prstGeom>
              <a:noFill/>
            </p:spPr>
            <p:txBody>
              <a:bodyPr wrap="square" rtlCol="0">
                <a:spAutoFit/>
              </a:bodyPr>
              <a:lstStyle/>
              <a:p>
                <a:r>
                  <a:rPr lang="en-US" dirty="0"/>
                  <a:t>Liquid,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𝑏</m:t>
                        </m:r>
                      </m:num>
                      <m:den>
                        <m:r>
                          <a:rPr lang="en-US" b="0" i="1" smtClean="0">
                            <a:latin typeface="Cambria Math" panose="02040503050406030204" pitchFamily="18" charset="0"/>
                            <a:ea typeface="Cambria Math" panose="02040503050406030204" pitchFamily="18" charset="0"/>
                          </a:rPr>
                          <m:t>3</m:t>
                        </m:r>
                      </m:den>
                    </m:f>
                  </m:oMath>
                </a14:m>
                <a:r>
                  <a:rPr lang="en-US" dirty="0"/>
                  <a:t> </a:t>
                </a:r>
                <a14:m>
                  <m:oMath xmlns:m="http://schemas.openxmlformats.org/officeDocument/2006/math">
                    <m:r>
                      <a:rPr lang="en-US" i="1" dirty="0" smtClean="0">
                        <a:latin typeface="Cambria Math" panose="02040503050406030204" pitchFamily="18" charset="0"/>
                      </a:rPr>
                      <m:t>&gt;</m:t>
                    </m:r>
                    <m:r>
                      <a:rPr lang="en-US" i="1" dirty="0">
                        <a:latin typeface="Cambria Math" panose="02040503050406030204" pitchFamily="18" charset="0"/>
                      </a:rPr>
                      <m:t>0</m:t>
                    </m:r>
                  </m:oMath>
                </a14:m>
                <a:endParaRPr lang="en-US" dirty="0"/>
              </a:p>
            </p:txBody>
          </p:sp>
        </mc:Choice>
        <mc:Fallback xmlns="">
          <p:sp>
            <p:nvSpPr>
              <p:cNvPr id="19" name="TextBox 18">
                <a:extLst>
                  <a:ext uri="{FF2B5EF4-FFF2-40B4-BE49-F238E27FC236}">
                    <a16:creationId xmlns:a16="http://schemas.microsoft.com/office/drawing/2014/main" id="{02F1932E-47BE-33BC-310E-7F658CC18CDB}"/>
                  </a:ext>
                </a:extLst>
              </p:cNvPr>
              <p:cNvSpPr txBox="1">
                <a:spLocks noRot="1" noChangeAspect="1" noMove="1" noResize="1" noEditPoints="1" noAdjustHandles="1" noChangeArrowheads="1" noChangeShapeType="1" noTextEdit="1"/>
              </p:cNvSpPr>
              <p:nvPr/>
            </p:nvSpPr>
            <p:spPr>
              <a:xfrm rot="21430325">
                <a:off x="2227209" y="2374699"/>
                <a:ext cx="2861488" cy="491225"/>
              </a:xfrm>
              <a:prstGeom prst="rect">
                <a:avLst/>
              </a:prstGeom>
              <a:blipFill>
                <a:blip r:embed="rId5"/>
                <a:stretch>
                  <a:fillRect l="-1754" b="-5882"/>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F285610-64B3-8D38-F910-E50ED184D024}"/>
              </a:ext>
            </a:extLst>
          </p:cNvPr>
          <p:cNvCxnSpPr>
            <a:cxnSpLocks/>
          </p:cNvCxnSpPr>
          <p:nvPr/>
        </p:nvCxnSpPr>
        <p:spPr>
          <a:xfrm flipV="1">
            <a:off x="1002581" y="2759795"/>
            <a:ext cx="5718259" cy="209394"/>
          </a:xfrm>
          <a:prstGeom prst="straightConnector1">
            <a:avLst/>
          </a:prstGeom>
          <a:ln w="63500">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8B3188E-A999-48A0-9980-684693223000}"/>
                  </a:ext>
                </a:extLst>
              </p:cNvPr>
              <p:cNvSpPr txBox="1"/>
              <p:nvPr/>
            </p:nvSpPr>
            <p:spPr>
              <a:xfrm rot="448155">
                <a:off x="709287" y="1179700"/>
                <a:ext cx="6685079" cy="484043"/>
              </a:xfrm>
              <a:prstGeom prst="rect">
                <a:avLst/>
              </a:prstGeom>
              <a:noFill/>
            </p:spPr>
            <p:txBody>
              <a:bodyPr wrap="square" rtlCol="0">
                <a:spAutoFit/>
              </a:bodyPr>
              <a:lstStyle/>
              <a:p>
                <a:r>
                  <a:rPr lang="en-US" dirty="0"/>
                  <a:t>Vapor,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𝑎</m:t>
                        </m:r>
                      </m:num>
                      <m:den>
                        <m:r>
                          <a:rPr lang="en-US" b="0" i="1" smtClean="0">
                            <a:latin typeface="Cambria Math" panose="02040503050406030204" pitchFamily="18" charset="0"/>
                            <a:ea typeface="Cambria Math" panose="02040503050406030204" pitchFamily="18" charset="0"/>
                          </a:rPr>
                          <m:t>𝑅𝑇</m:t>
                        </m:r>
                      </m:den>
                    </m:f>
                  </m:oMath>
                </a14:m>
                <a:r>
                  <a:rPr lang="en-US" dirty="0"/>
                  <a:t> </a:t>
                </a:r>
                <a14:m>
                  <m:oMath xmlns:m="http://schemas.openxmlformats.org/officeDocument/2006/math">
                    <m:r>
                      <a:rPr lang="en-US" b="0" i="1" dirty="0" smtClean="0">
                        <a:latin typeface="Cambria Math" panose="02040503050406030204" pitchFamily="18" charset="0"/>
                      </a:rPr>
                      <m:t>&lt;0</m:t>
                    </m:r>
                  </m:oMath>
                </a14:m>
                <a:r>
                  <a:rPr lang="en-US" dirty="0"/>
                  <a:t> if below the inversion temperature</a:t>
                </a:r>
              </a:p>
            </p:txBody>
          </p:sp>
        </mc:Choice>
        <mc:Fallback xmlns="">
          <p:sp>
            <p:nvSpPr>
              <p:cNvPr id="23" name="TextBox 22">
                <a:extLst>
                  <a:ext uri="{FF2B5EF4-FFF2-40B4-BE49-F238E27FC236}">
                    <a16:creationId xmlns:a16="http://schemas.microsoft.com/office/drawing/2014/main" id="{E8B3188E-A999-48A0-9980-684693223000}"/>
                  </a:ext>
                </a:extLst>
              </p:cNvPr>
              <p:cNvSpPr txBox="1">
                <a:spLocks noRot="1" noChangeAspect="1" noMove="1" noResize="1" noEditPoints="1" noAdjustHandles="1" noChangeArrowheads="1" noChangeShapeType="1" noTextEdit="1"/>
              </p:cNvSpPr>
              <p:nvPr/>
            </p:nvSpPr>
            <p:spPr>
              <a:xfrm rot="448155">
                <a:off x="709287" y="1179700"/>
                <a:ext cx="6685079" cy="484043"/>
              </a:xfrm>
              <a:prstGeom prst="rect">
                <a:avLst/>
              </a:prstGeom>
              <a:blipFill>
                <a:blip r:embed="rId6"/>
                <a:stretch>
                  <a:fillRect l="-758" b="-1852"/>
                </a:stretch>
              </a:blipFill>
            </p:spPr>
            <p:txBody>
              <a:bodyPr/>
              <a:lstStyle/>
              <a:p>
                <a:r>
                  <a:rPr lang="en-US">
                    <a:noFill/>
                  </a:rPr>
                  <a:t> </a:t>
                </a:r>
              </a:p>
            </p:txBody>
          </p:sp>
        </mc:Fallback>
      </mc:AlternateContent>
    </p:spTree>
    <p:extLst>
      <p:ext uri="{BB962C8B-B14F-4D97-AF65-F5344CB8AC3E}">
        <p14:creationId xmlns:p14="http://schemas.microsoft.com/office/powerpoint/2010/main" val="78629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t>Recap: </a:t>
                </a:r>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a pressure above the inversion temperature</a:t>
                </a:r>
              </a:p>
            </p:txBody>
          </p:sp>
        </mc:Choice>
        <mc:Fallback>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355BF2-0005-1F8A-08D2-BE952E6D86B8}"/>
                  </a:ext>
                </a:extLst>
              </p:cNvPr>
              <p:cNvSpPr txBox="1"/>
              <p:nvPr/>
            </p:nvSpPr>
            <p:spPr>
              <a:xfrm>
                <a:off x="380476" y="4534424"/>
                <a:ext cx="11241577" cy="2336858"/>
              </a:xfrm>
              <a:prstGeom prst="rect">
                <a:avLst/>
              </a:prstGeom>
              <a:noFill/>
            </p:spPr>
            <p:txBody>
              <a:bodyPr wrap="square" rtlCol="0">
                <a:spAutoFit/>
              </a:bodyPr>
              <a:lstStyle/>
              <a:p>
                <a:r>
                  <a:rPr lang="en-US" sz="2400" dirty="0"/>
                  <a:t>If we’re </a:t>
                </a:r>
                <a:r>
                  <a:rPr lang="en-US" sz="2400" b="1" dirty="0"/>
                  <a:t>above</a:t>
                </a:r>
                <a:r>
                  <a:rPr lang="en-US" sz="2400" dirty="0"/>
                  <a:t> the inversion temperature, </a:t>
                </a:r>
                <a14:m>
                  <m:oMath xmlns:m="http://schemas.openxmlformats.org/officeDocument/2006/math">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i="1" smtClean="0">
                            <a:solidFill>
                              <a:schemeClr val="tx1"/>
                            </a:solidFill>
                            <a:latin typeface="Cambria Math" panose="02040503050406030204" pitchFamily="18" charset="0"/>
                            <a:ea typeface="Cambria Math" panose="02040503050406030204" pitchFamily="18" charset="0"/>
                          </a:rPr>
                          <m:t>𝜇</m:t>
                        </m:r>
                      </m:e>
                      <m:sub>
                        <m:r>
                          <a:rPr lang="en-US" sz="2400" b="0" i="1" smtClean="0">
                            <a:solidFill>
                              <a:schemeClr val="tx1"/>
                            </a:solidFill>
                            <a:latin typeface="Cambria Math" panose="02040503050406030204" pitchFamily="18" charset="0"/>
                            <a:ea typeface="Cambria Math" panose="02040503050406030204" pitchFamily="18" charset="0"/>
                          </a:rPr>
                          <m:t>𝑇</m:t>
                        </m:r>
                      </m:sub>
                    </m:sSub>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𝑔𝑎𝑠</m:t>
                    </m:r>
                    <m:r>
                      <a:rPr lang="en-US" sz="2400" b="0" i="1" smtClean="0">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going to be </a:t>
                </a:r>
                <a:r>
                  <a:rPr lang="en-US" sz="2400" b="1" dirty="0">
                    <a:solidFill>
                      <a:schemeClr val="tx1"/>
                    </a:solidFill>
                  </a:rPr>
                  <a:t>positive</a:t>
                </a:r>
                <a:r>
                  <a:rPr lang="en-US" sz="2400" dirty="0">
                    <a:solidFill>
                      <a:schemeClr val="tx1"/>
                    </a:solidFill>
                  </a:rPr>
                  <a:t>. Since </a:t>
                </a:r>
                <a14:m>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𝜇</m:t>
                        </m:r>
                      </m:e>
                      <m:sub>
                        <m:r>
                          <a:rPr lang="en-US" sz="2400" i="1">
                            <a:solidFill>
                              <a:schemeClr val="tx1"/>
                            </a:solidFill>
                            <a:latin typeface="Cambria Math" panose="02040503050406030204" pitchFamily="18" charset="0"/>
                            <a:ea typeface="Cambria Math" panose="02040503050406030204" pitchFamily="18" charset="0"/>
                          </a:rPr>
                          <m:t>𝑇</m:t>
                        </m:r>
                      </m:sub>
                    </m:sSub>
                    <m:r>
                      <a:rPr lang="en-US" sz="2400" i="1">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𝑙𝑖𝑞</m:t>
                    </m:r>
                    <m:r>
                      <a:rPr lang="en-US" sz="2400" i="1">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also </a:t>
                </a:r>
                <a:r>
                  <a:rPr lang="en-US" sz="2400" b="1" dirty="0">
                    <a:solidFill>
                      <a:schemeClr val="tx1"/>
                    </a:solidFill>
                  </a:rPr>
                  <a:t>positive</a:t>
                </a:r>
                <a:r>
                  <a:rPr lang="en-US" sz="2400" dirty="0">
                    <a:solidFill>
                      <a:schemeClr val="tx1"/>
                    </a:solidFill>
                  </a:rPr>
                  <a:t>, we need a calculation to predict whether </a:t>
                </a:r>
                <a14:m>
                  <m:oMath xmlns:m="http://schemas.openxmlformats.org/officeDocument/2006/math">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𝑣𝑎𝑝</m:t>
                        </m:r>
                      </m:sub>
                    </m:sSub>
                  </m:oMath>
                </a14:m>
                <a:r>
                  <a:rPr lang="en-US" sz="2400" dirty="0">
                    <a:solidFill>
                      <a:schemeClr val="tx1"/>
                    </a:solidFill>
                  </a:rPr>
                  <a:t> is smaller or bigger at higher pressures. </a:t>
                </a:r>
              </a:p>
              <a:p>
                <a:endParaRPr lang="en-US" sz="2400" dirty="0"/>
              </a:p>
              <a:p>
                <a:r>
                  <a:rPr lang="en-US" sz="2400" dirty="0"/>
                  <a:t>Helium is unusual: its inversion temperature is really low (</a:t>
                </a:r>
                <a14:m>
                  <m:oMath xmlns:m="http://schemas.openxmlformats.org/officeDocument/2006/math">
                    <m:r>
                      <a:rPr lang="en-US" sz="2400" i="1">
                        <a:latin typeface="Cambria Math" panose="02040503050406030204" pitchFamily="18" charset="0"/>
                      </a:rPr>
                      <m:t>35 </m:t>
                    </m:r>
                    <m:r>
                      <a:rPr lang="en-US" sz="2400" i="1">
                        <a:latin typeface="Cambria Math" panose="02040503050406030204" pitchFamily="18" charset="0"/>
                      </a:rPr>
                      <m:t>𝐾</m:t>
                    </m:r>
                  </m:oMath>
                </a14:m>
                <a:r>
                  <a:rPr lang="en-US" sz="2400" dirty="0"/>
                  <a:t>), so room temperature is definitely above it.</a:t>
                </a:r>
              </a:p>
            </p:txBody>
          </p:sp>
        </mc:Choice>
        <mc:Fallback xmlns="">
          <p:sp>
            <p:nvSpPr>
              <p:cNvPr id="3" name="TextBox 2">
                <a:extLst>
                  <a:ext uri="{FF2B5EF4-FFF2-40B4-BE49-F238E27FC236}">
                    <a16:creationId xmlns:a16="http://schemas.microsoft.com/office/drawing/2014/main" id="{76355BF2-0005-1F8A-08D2-BE952E6D86B8}"/>
                  </a:ext>
                </a:extLst>
              </p:cNvPr>
              <p:cNvSpPr txBox="1">
                <a:spLocks noRot="1" noChangeAspect="1" noMove="1" noResize="1" noEditPoints="1" noAdjustHandles="1" noChangeArrowheads="1" noChangeShapeType="1" noTextEdit="1"/>
              </p:cNvSpPr>
              <p:nvPr/>
            </p:nvSpPr>
            <p:spPr>
              <a:xfrm>
                <a:off x="380476" y="4534424"/>
                <a:ext cx="11241577" cy="2336858"/>
              </a:xfrm>
              <a:prstGeom prst="rect">
                <a:avLst/>
              </a:prstGeom>
              <a:blipFill>
                <a:blip r:embed="rId3"/>
                <a:stretch>
                  <a:fillRect l="-789" t="-1630" b="-5435"/>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D9FA2904-43A5-BBD0-B1B8-9A332A0FDF1B}"/>
              </a:ext>
            </a:extLst>
          </p:cNvPr>
          <p:cNvGrpSpPr/>
          <p:nvPr/>
        </p:nvGrpSpPr>
        <p:grpSpPr>
          <a:xfrm>
            <a:off x="8261409" y="1281094"/>
            <a:ext cx="3807370" cy="3230768"/>
            <a:chOff x="8261409" y="1281094"/>
            <a:chExt cx="3807370" cy="3230768"/>
          </a:xfrm>
        </p:grpSpPr>
        <p:grpSp>
          <p:nvGrpSpPr>
            <p:cNvPr id="5" name="Group 4">
              <a:extLst>
                <a:ext uri="{FF2B5EF4-FFF2-40B4-BE49-F238E27FC236}">
                  <a16:creationId xmlns:a16="http://schemas.microsoft.com/office/drawing/2014/main" id="{4B5F64DD-36E8-2AB0-1E58-3D748866AAC2}"/>
                </a:ext>
              </a:extLst>
            </p:cNvPr>
            <p:cNvGrpSpPr/>
            <p:nvPr/>
          </p:nvGrpSpPr>
          <p:grpSpPr>
            <a:xfrm>
              <a:off x="8274193" y="1281094"/>
              <a:ext cx="3794586" cy="3230768"/>
              <a:chOff x="8274193" y="1281094"/>
              <a:chExt cx="3794586" cy="3230768"/>
            </a:xfrm>
          </p:grpSpPr>
          <p:pic>
            <p:nvPicPr>
              <p:cNvPr id="8" name="Picture 7">
                <a:extLst>
                  <a:ext uri="{FF2B5EF4-FFF2-40B4-BE49-F238E27FC236}">
                    <a16:creationId xmlns:a16="http://schemas.microsoft.com/office/drawing/2014/main" id="{599408B4-5276-C9A8-74C8-9D53C0F129DC}"/>
                  </a:ext>
                </a:extLst>
              </p:cNvPr>
              <p:cNvPicPr>
                <a:picLocks noChangeAspect="1"/>
              </p:cNvPicPr>
              <p:nvPr/>
            </p:nvPicPr>
            <p:blipFill>
              <a:blip r:embed="rId4"/>
              <a:stretch>
                <a:fillRect/>
              </a:stretch>
            </p:blipFill>
            <p:spPr>
              <a:xfrm>
                <a:off x="8274193" y="1281094"/>
                <a:ext cx="3794586" cy="3230768"/>
              </a:xfrm>
              <a:prstGeom prst="rect">
                <a:avLst/>
              </a:prstGeom>
            </p:spPr>
          </p:pic>
          <p:cxnSp>
            <p:nvCxnSpPr>
              <p:cNvPr id="9" name="Straight Arrow Connector 8">
                <a:extLst>
                  <a:ext uri="{FF2B5EF4-FFF2-40B4-BE49-F238E27FC236}">
                    <a16:creationId xmlns:a16="http://schemas.microsoft.com/office/drawing/2014/main" id="{9282191D-9D5B-6493-86DA-67D64C2FB703}"/>
                  </a:ext>
                </a:extLst>
              </p:cNvPr>
              <p:cNvCxnSpPr>
                <a:cxnSpLocks/>
              </p:cNvCxnSpPr>
              <p:nvPr/>
            </p:nvCxnSpPr>
            <p:spPr>
              <a:xfrm flipV="1">
                <a:off x="8519711" y="3262489"/>
                <a:ext cx="443666" cy="707606"/>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6D4F9D69-4FA5-A31B-9026-4B99CF3466D2}"/>
                </a:ext>
              </a:extLst>
            </p:cNvPr>
            <p:cNvSpPr txBox="1"/>
            <p:nvPr/>
          </p:nvSpPr>
          <p:spPr>
            <a:xfrm>
              <a:off x="8261409" y="3894063"/>
              <a:ext cx="445770" cy="369332"/>
            </a:xfrm>
            <a:prstGeom prst="rect">
              <a:avLst/>
            </a:prstGeom>
            <a:noFill/>
          </p:spPr>
          <p:txBody>
            <a:bodyPr wrap="square" rtlCol="0">
              <a:spAutoFit/>
            </a:bodyPr>
            <a:lstStyle/>
            <a:p>
              <a:r>
                <a:rPr lang="en-US" dirty="0"/>
                <a:t>A</a:t>
              </a:r>
            </a:p>
          </p:txBody>
        </p:sp>
        <p:sp>
          <p:nvSpPr>
            <p:cNvPr id="7" name="TextBox 6">
              <a:extLst>
                <a:ext uri="{FF2B5EF4-FFF2-40B4-BE49-F238E27FC236}">
                  <a16:creationId xmlns:a16="http://schemas.microsoft.com/office/drawing/2014/main" id="{C1015DB1-914C-B97E-0C26-2FA7485D0D38}"/>
                </a:ext>
              </a:extLst>
            </p:cNvPr>
            <p:cNvSpPr txBox="1"/>
            <p:nvPr/>
          </p:nvSpPr>
          <p:spPr>
            <a:xfrm>
              <a:off x="8740492" y="2969189"/>
              <a:ext cx="445770" cy="369332"/>
            </a:xfrm>
            <a:prstGeom prst="rect">
              <a:avLst/>
            </a:prstGeom>
            <a:noFill/>
          </p:spPr>
          <p:txBody>
            <a:bodyPr wrap="square" rtlCol="0">
              <a:spAutoFit/>
            </a:bodyPr>
            <a:lstStyle/>
            <a:p>
              <a:r>
                <a:rPr lang="en-US" dirty="0"/>
                <a:t>B</a:t>
              </a:r>
            </a:p>
          </p:txBody>
        </p:sp>
      </p:grpSp>
      <p:cxnSp>
        <p:nvCxnSpPr>
          <p:cNvPr id="10" name="Straight Arrow Connector 9">
            <a:extLst>
              <a:ext uri="{FF2B5EF4-FFF2-40B4-BE49-F238E27FC236}">
                <a16:creationId xmlns:a16="http://schemas.microsoft.com/office/drawing/2014/main" id="{8748B2F9-BC9A-C041-FC7D-47071EC5AA2E}"/>
              </a:ext>
            </a:extLst>
          </p:cNvPr>
          <p:cNvCxnSpPr>
            <a:cxnSpLocks/>
          </p:cNvCxnSpPr>
          <p:nvPr/>
        </p:nvCxnSpPr>
        <p:spPr>
          <a:xfrm>
            <a:off x="1002581" y="3861461"/>
            <a:ext cx="5718259" cy="0"/>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50FE567-FAD0-8E5C-1703-825BC5D0EB0A}"/>
              </a:ext>
            </a:extLst>
          </p:cNvPr>
          <p:cNvSpPr txBox="1"/>
          <p:nvPr/>
        </p:nvSpPr>
        <p:spPr>
          <a:xfrm>
            <a:off x="744279" y="3944812"/>
            <a:ext cx="445770"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899B4992-3A27-6B7D-E42E-741F7141820F}"/>
              </a:ext>
            </a:extLst>
          </p:cNvPr>
          <p:cNvSpPr txBox="1"/>
          <p:nvPr/>
        </p:nvSpPr>
        <p:spPr>
          <a:xfrm>
            <a:off x="6640830" y="3987515"/>
            <a:ext cx="445770" cy="369332"/>
          </a:xfrm>
          <a:prstGeom prst="rect">
            <a:avLst/>
          </a:prstGeom>
          <a:noFill/>
        </p:spPr>
        <p:txBody>
          <a:bodyPr wrap="square" rtlCol="0">
            <a:spAutoFit/>
          </a:bodyPr>
          <a:lstStyle/>
          <a:p>
            <a:r>
              <a:rPr lang="en-US" dirty="0"/>
              <a:t>B</a:t>
            </a:r>
          </a:p>
        </p:txBody>
      </p:sp>
      <p:sp>
        <p:nvSpPr>
          <p:cNvPr id="14" name="TextBox 13">
            <a:extLst>
              <a:ext uri="{FF2B5EF4-FFF2-40B4-BE49-F238E27FC236}">
                <a16:creationId xmlns:a16="http://schemas.microsoft.com/office/drawing/2014/main" id="{16F5C9F1-0A52-5BC1-140D-216EC43D3B19}"/>
              </a:ext>
            </a:extLst>
          </p:cNvPr>
          <p:cNvSpPr txBox="1"/>
          <p:nvPr/>
        </p:nvSpPr>
        <p:spPr>
          <a:xfrm>
            <a:off x="3535428" y="3944812"/>
            <a:ext cx="1036572" cy="369332"/>
          </a:xfrm>
          <a:prstGeom prst="rect">
            <a:avLst/>
          </a:prstGeom>
          <a:noFill/>
        </p:spPr>
        <p:txBody>
          <a:bodyPr wrap="square" rtlCol="0">
            <a:spAutoFit/>
          </a:bodyPr>
          <a:lstStyle/>
          <a:p>
            <a:r>
              <a:rPr lang="en-US" dirty="0"/>
              <a:t>P --&gt;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2F1932E-47BE-33BC-310E-7F658CC18CDB}"/>
                  </a:ext>
                </a:extLst>
              </p:cNvPr>
              <p:cNvSpPr txBox="1"/>
              <p:nvPr/>
            </p:nvSpPr>
            <p:spPr>
              <a:xfrm rot="21430325">
                <a:off x="2227209" y="2374699"/>
                <a:ext cx="2861488" cy="491225"/>
              </a:xfrm>
              <a:prstGeom prst="rect">
                <a:avLst/>
              </a:prstGeom>
              <a:noFill/>
            </p:spPr>
            <p:txBody>
              <a:bodyPr wrap="square" rtlCol="0">
                <a:spAutoFit/>
              </a:bodyPr>
              <a:lstStyle/>
              <a:p>
                <a:r>
                  <a:rPr lang="en-US" dirty="0"/>
                  <a:t>Liquid,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𝑏</m:t>
                        </m:r>
                      </m:num>
                      <m:den>
                        <m:r>
                          <a:rPr lang="en-US" b="0" i="1" smtClean="0">
                            <a:latin typeface="Cambria Math" panose="02040503050406030204" pitchFamily="18" charset="0"/>
                            <a:ea typeface="Cambria Math" panose="02040503050406030204" pitchFamily="18" charset="0"/>
                          </a:rPr>
                          <m:t>3</m:t>
                        </m:r>
                      </m:den>
                    </m:f>
                  </m:oMath>
                </a14:m>
                <a:r>
                  <a:rPr lang="en-US" dirty="0"/>
                  <a:t> </a:t>
                </a:r>
                <a14:m>
                  <m:oMath xmlns:m="http://schemas.openxmlformats.org/officeDocument/2006/math">
                    <m:r>
                      <a:rPr lang="en-US" i="1" dirty="0" smtClean="0">
                        <a:latin typeface="Cambria Math" panose="02040503050406030204" pitchFamily="18" charset="0"/>
                      </a:rPr>
                      <m:t>&gt;</m:t>
                    </m:r>
                    <m:r>
                      <a:rPr lang="en-US" i="1" dirty="0">
                        <a:latin typeface="Cambria Math" panose="02040503050406030204" pitchFamily="18" charset="0"/>
                      </a:rPr>
                      <m:t>0</m:t>
                    </m:r>
                  </m:oMath>
                </a14:m>
                <a:endParaRPr lang="en-US" dirty="0"/>
              </a:p>
            </p:txBody>
          </p:sp>
        </mc:Choice>
        <mc:Fallback xmlns="">
          <p:sp>
            <p:nvSpPr>
              <p:cNvPr id="19" name="TextBox 18">
                <a:extLst>
                  <a:ext uri="{FF2B5EF4-FFF2-40B4-BE49-F238E27FC236}">
                    <a16:creationId xmlns:a16="http://schemas.microsoft.com/office/drawing/2014/main" id="{02F1932E-47BE-33BC-310E-7F658CC18CDB}"/>
                  </a:ext>
                </a:extLst>
              </p:cNvPr>
              <p:cNvSpPr txBox="1">
                <a:spLocks noRot="1" noChangeAspect="1" noMove="1" noResize="1" noEditPoints="1" noAdjustHandles="1" noChangeArrowheads="1" noChangeShapeType="1" noTextEdit="1"/>
              </p:cNvSpPr>
              <p:nvPr/>
            </p:nvSpPr>
            <p:spPr>
              <a:xfrm rot="21430325">
                <a:off x="2227209" y="2374699"/>
                <a:ext cx="2861488" cy="491225"/>
              </a:xfrm>
              <a:prstGeom prst="rect">
                <a:avLst/>
              </a:prstGeom>
              <a:blipFill>
                <a:blip r:embed="rId5"/>
                <a:stretch>
                  <a:fillRect l="-1754" b="-5882"/>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F285610-64B3-8D38-F910-E50ED184D024}"/>
              </a:ext>
            </a:extLst>
          </p:cNvPr>
          <p:cNvCxnSpPr>
            <a:cxnSpLocks/>
          </p:cNvCxnSpPr>
          <p:nvPr/>
        </p:nvCxnSpPr>
        <p:spPr>
          <a:xfrm flipV="1">
            <a:off x="1002581" y="2759795"/>
            <a:ext cx="5718259" cy="209394"/>
          </a:xfrm>
          <a:prstGeom prst="straightConnector1">
            <a:avLst/>
          </a:prstGeom>
          <a:ln w="63500">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8FE5FF8-0A49-D3F8-D74A-DB5C36A7ED69}"/>
              </a:ext>
            </a:extLst>
          </p:cNvPr>
          <p:cNvGrpSpPr/>
          <p:nvPr/>
        </p:nvGrpSpPr>
        <p:grpSpPr>
          <a:xfrm rot="20447987">
            <a:off x="709287" y="1179700"/>
            <a:ext cx="6685079" cy="866814"/>
            <a:chOff x="709287" y="1179700"/>
            <a:chExt cx="6685079" cy="866814"/>
          </a:xfrm>
        </p:grpSpPr>
        <p:cxnSp>
          <p:nvCxnSpPr>
            <p:cNvPr id="15" name="Straight Arrow Connector 14">
              <a:extLst>
                <a:ext uri="{FF2B5EF4-FFF2-40B4-BE49-F238E27FC236}">
                  <a16:creationId xmlns:a16="http://schemas.microsoft.com/office/drawing/2014/main" id="{3A1251DF-A64A-962A-957A-DBCCBAAF0B3B}"/>
                </a:ext>
              </a:extLst>
            </p:cNvPr>
            <p:cNvCxnSpPr>
              <a:cxnSpLocks/>
            </p:cNvCxnSpPr>
            <p:nvPr/>
          </p:nvCxnSpPr>
          <p:spPr>
            <a:xfrm>
              <a:off x="922571" y="1281094"/>
              <a:ext cx="5718259" cy="765420"/>
            </a:xfrm>
            <a:prstGeom prst="straightConnector1">
              <a:avLst/>
            </a:prstGeom>
            <a:ln w="63500">
              <a:solidFill>
                <a:srgbClr val="7030A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8B3188E-A999-48A0-9980-684693223000}"/>
                    </a:ext>
                  </a:extLst>
                </p:cNvPr>
                <p:cNvSpPr txBox="1"/>
                <p:nvPr/>
              </p:nvSpPr>
              <p:spPr>
                <a:xfrm rot="448155">
                  <a:off x="709287" y="1179700"/>
                  <a:ext cx="6685079" cy="484043"/>
                </a:xfrm>
                <a:prstGeom prst="rect">
                  <a:avLst/>
                </a:prstGeom>
                <a:noFill/>
              </p:spPr>
              <p:txBody>
                <a:bodyPr wrap="square" rtlCol="0">
                  <a:spAutoFit/>
                </a:bodyPr>
                <a:lstStyle/>
                <a:p>
                  <a:r>
                    <a:rPr lang="en-US" dirty="0"/>
                    <a:t>Vapor,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𝑎</m:t>
                          </m:r>
                        </m:num>
                        <m:den>
                          <m:r>
                            <a:rPr lang="en-US" b="0" i="1" smtClean="0">
                              <a:latin typeface="Cambria Math" panose="02040503050406030204" pitchFamily="18" charset="0"/>
                              <a:ea typeface="Cambria Math" panose="02040503050406030204" pitchFamily="18" charset="0"/>
                            </a:rPr>
                            <m:t>𝑅𝑇</m:t>
                          </m:r>
                        </m:den>
                      </m:f>
                    </m:oMath>
                  </a14:m>
                  <a:r>
                    <a:rPr lang="en-US" dirty="0"/>
                    <a:t> </a:t>
                  </a:r>
                  <a14:m>
                    <m:oMath xmlns:m="http://schemas.openxmlformats.org/officeDocument/2006/math">
                      <m:r>
                        <a:rPr lang="en-US" i="1" dirty="0">
                          <a:latin typeface="Cambria Math" panose="02040503050406030204" pitchFamily="18" charset="0"/>
                        </a:rPr>
                        <m:t>&gt;</m:t>
                      </m:r>
                      <m:r>
                        <a:rPr lang="en-US" b="0" i="1" dirty="0" smtClean="0">
                          <a:latin typeface="Cambria Math" panose="02040503050406030204" pitchFamily="18" charset="0"/>
                        </a:rPr>
                        <m:t>0</m:t>
                      </m:r>
                    </m:oMath>
                  </a14:m>
                  <a:r>
                    <a:rPr lang="en-US" dirty="0"/>
                    <a:t> if above the inversion temperature</a:t>
                  </a:r>
                </a:p>
              </p:txBody>
            </p:sp>
          </mc:Choice>
          <mc:Fallback xmlns="">
            <p:sp>
              <p:nvSpPr>
                <p:cNvPr id="23" name="TextBox 22">
                  <a:extLst>
                    <a:ext uri="{FF2B5EF4-FFF2-40B4-BE49-F238E27FC236}">
                      <a16:creationId xmlns:a16="http://schemas.microsoft.com/office/drawing/2014/main" id="{E8B3188E-A999-48A0-9980-684693223000}"/>
                    </a:ext>
                  </a:extLst>
                </p:cNvPr>
                <p:cNvSpPr txBox="1">
                  <a:spLocks noRot="1" noChangeAspect="1" noMove="1" noResize="1" noEditPoints="1" noAdjustHandles="1" noChangeArrowheads="1" noChangeShapeType="1" noTextEdit="1"/>
                </p:cNvSpPr>
                <p:nvPr/>
              </p:nvSpPr>
              <p:spPr>
                <a:xfrm rot="448155">
                  <a:off x="709287" y="1179700"/>
                  <a:ext cx="6685079" cy="484043"/>
                </a:xfrm>
                <a:prstGeom prst="rect">
                  <a:avLst/>
                </a:prstGeom>
                <a:blipFill>
                  <a:blip r:embed="rId6"/>
                  <a:stretch>
                    <a:fillRect l="-763" b="-2055"/>
                  </a:stretch>
                </a:blipFill>
              </p:spPr>
              <p:txBody>
                <a:bodyPr/>
                <a:lstStyle/>
                <a:p>
                  <a:r>
                    <a:rPr lang="en-US">
                      <a:noFill/>
                    </a:rPr>
                    <a:t> </a:t>
                  </a:r>
                </a:p>
              </p:txBody>
            </p:sp>
          </mc:Fallback>
        </mc:AlternateContent>
      </p:grpSp>
    </p:spTree>
    <p:extLst>
      <p:ext uri="{BB962C8B-B14F-4D97-AF65-F5344CB8AC3E}">
        <p14:creationId xmlns:p14="http://schemas.microsoft.com/office/powerpoint/2010/main" val="248325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E3F3EC0-AFFD-7640-A054-CF5F5B92A74C}"/>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t>Recap: Quantitative predictions using </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r>
                      <a:rPr lang="en-US" sz="2400" b="1" i="1" smtClean="0">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m:t>
                    </m:r>
                    <m:sSubSup>
                      <m:sSubSupPr>
                        <m:ctrlPr>
                          <a:rPr lang="en-US" sz="2400" b="1" i="1" smtClean="0">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up>
                        <m:r>
                          <a:rPr lang="en-US" sz="2400" b="1" i="1" smtClean="0">
                            <a:latin typeface="Cambria Math" panose="02040503050406030204" pitchFamily="18" charset="0"/>
                            <a:ea typeface="Cambria Math" panose="02040503050406030204" pitchFamily="18" charset="0"/>
                          </a:rPr>
                          <m:t>𝒐</m:t>
                        </m:r>
                      </m:sup>
                    </m:sSubSup>
                    <m:r>
                      <a:rPr lang="en-US" sz="2400" b="1" i="1" smtClean="0">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e>
                    </m:d>
                  </m:oMath>
                </a14:m>
                <a:r>
                  <a:rPr lang="en-US" sz="2400" b="1" i="1" dirty="0">
                    <a:solidFill>
                      <a:schemeClr val="tx1"/>
                    </a:solidFill>
                  </a:rPr>
                  <a:t> </a:t>
                </a:r>
              </a:p>
            </p:txBody>
          </p:sp>
        </mc:Choice>
        <mc:Fallback>
          <p:sp>
            <p:nvSpPr>
              <p:cNvPr id="19" name="TextBox 18">
                <a:extLst>
                  <a:ext uri="{FF2B5EF4-FFF2-40B4-BE49-F238E27FC236}">
                    <a16:creationId xmlns:a16="http://schemas.microsoft.com/office/drawing/2014/main" id="{BE3F3EC0-AFFD-7640-A054-CF5F5B92A74C}"/>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0010AC-5F98-D8FD-D093-6F677811FA33}"/>
                  </a:ext>
                </a:extLst>
              </p:cNvPr>
              <p:cNvSpPr txBox="1"/>
              <p:nvPr/>
            </p:nvSpPr>
            <p:spPr>
              <a:xfrm>
                <a:off x="7781064" y="2755294"/>
                <a:ext cx="4311967" cy="534698"/>
              </a:xfrm>
              <a:prstGeom prst="rect">
                <a:avLst/>
              </a:prstGeom>
              <a:noFill/>
            </p:spPr>
            <p:txBody>
              <a:bodyPr wrap="square">
                <a:spAutoFit/>
              </a:bodyPr>
              <a:lstStyle/>
              <a:p>
                <a14:m>
                  <m:oMath xmlns:m="http://schemas.openxmlformats.org/officeDocument/2006/math">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up>
                        <m:r>
                          <a:rPr lang="en-US" sz="2400" i="1">
                            <a:solidFill>
                              <a:srgbClr val="FF0000"/>
                            </a:solidFill>
                            <a:latin typeface="Cambria Math" panose="02040503050406030204" pitchFamily="18" charset="0"/>
                            <a:ea typeface="Cambria Math" panose="02040503050406030204" pitchFamily="18" charset="0"/>
                          </a:rPr>
                          <m:t>𝑝𝑟𝑜𝑑𝑢𝑐𝑡𝑠</m:t>
                        </m:r>
                      </m:sup>
                    </m:sSubSup>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up>
                        <m:r>
                          <a:rPr lang="en-US" sz="2400" i="1" smtClean="0">
                            <a:solidFill>
                              <a:srgbClr val="FF0000"/>
                            </a:solidFill>
                            <a:latin typeface="Cambria Math" panose="02040503050406030204" pitchFamily="18" charset="0"/>
                            <a:ea typeface="Cambria Math" panose="02040503050406030204" pitchFamily="18" charset="0"/>
                          </a:rPr>
                          <m:t>𝑟𝑒𝑎𝑐𝑡𝑎𝑛𝑡</m:t>
                        </m:r>
                        <m:r>
                          <a:rPr lang="en-US" sz="2400" i="1">
                            <a:solidFill>
                              <a:srgbClr val="FF0000"/>
                            </a:solidFill>
                            <a:latin typeface="Cambria Math" panose="02040503050406030204" pitchFamily="18" charset="0"/>
                            <a:ea typeface="Cambria Math" panose="02040503050406030204" pitchFamily="18" charset="0"/>
                          </a:rPr>
                          <m:t>𝑠</m:t>
                        </m:r>
                      </m:sup>
                    </m:sSubSup>
                  </m:oMath>
                </a14:m>
                <a:r>
                  <a:rPr lang="en-US" sz="2400" dirty="0"/>
                  <a:t> </a:t>
                </a:r>
              </a:p>
            </p:txBody>
          </p:sp>
        </mc:Choice>
        <mc:Fallback xmlns="">
          <p:sp>
            <p:nvSpPr>
              <p:cNvPr id="6" name="TextBox 5">
                <a:extLst>
                  <a:ext uri="{FF2B5EF4-FFF2-40B4-BE49-F238E27FC236}">
                    <a16:creationId xmlns:a16="http://schemas.microsoft.com/office/drawing/2014/main" id="{650010AC-5F98-D8FD-D093-6F677811FA33}"/>
                  </a:ext>
                </a:extLst>
              </p:cNvPr>
              <p:cNvSpPr txBox="1">
                <a:spLocks noRot="1" noChangeAspect="1" noMove="1" noResize="1" noEditPoints="1" noAdjustHandles="1" noChangeArrowheads="1" noChangeShapeType="1" noTextEdit="1"/>
              </p:cNvSpPr>
              <p:nvPr/>
            </p:nvSpPr>
            <p:spPr>
              <a:xfrm>
                <a:off x="7781064" y="2755294"/>
                <a:ext cx="4311967" cy="534698"/>
              </a:xfrm>
              <a:prstGeom prst="rect">
                <a:avLst/>
              </a:prstGeom>
              <a:blipFill>
                <a:blip r:embed="rId4"/>
                <a:stretch>
                  <a:fillRect l="-293" b="-2273"/>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BC4DEA12-3AE9-F5FD-5491-02DF018A958E}"/>
              </a:ext>
            </a:extLst>
          </p:cNvPr>
          <p:cNvGrpSpPr/>
          <p:nvPr/>
        </p:nvGrpSpPr>
        <p:grpSpPr>
          <a:xfrm>
            <a:off x="7975518" y="3333878"/>
            <a:ext cx="3420141" cy="2450039"/>
            <a:chOff x="7975518" y="3333878"/>
            <a:chExt cx="3420141" cy="2450039"/>
          </a:xfrm>
        </p:grpSpPr>
        <p:grpSp>
          <p:nvGrpSpPr>
            <p:cNvPr id="4" name="Group 3">
              <a:extLst>
                <a:ext uri="{FF2B5EF4-FFF2-40B4-BE49-F238E27FC236}">
                  <a16:creationId xmlns:a16="http://schemas.microsoft.com/office/drawing/2014/main" id="{92CCF447-B0D3-D4D9-524B-E44909502F6C}"/>
                </a:ext>
              </a:extLst>
            </p:cNvPr>
            <p:cNvGrpSpPr/>
            <p:nvPr/>
          </p:nvGrpSpPr>
          <p:grpSpPr>
            <a:xfrm>
              <a:off x="7975518" y="3333878"/>
              <a:ext cx="3420141" cy="2450039"/>
              <a:chOff x="7975518" y="1322198"/>
              <a:chExt cx="3420141" cy="2450039"/>
            </a:xfrm>
          </p:grpSpPr>
          <p:grpSp>
            <p:nvGrpSpPr>
              <p:cNvPr id="3" name="Group 2">
                <a:extLst>
                  <a:ext uri="{FF2B5EF4-FFF2-40B4-BE49-F238E27FC236}">
                    <a16:creationId xmlns:a16="http://schemas.microsoft.com/office/drawing/2014/main" id="{EC7C7003-01E1-2D50-320E-563685CF569D}"/>
                  </a:ext>
                </a:extLst>
              </p:cNvPr>
              <p:cNvGrpSpPr/>
              <p:nvPr/>
            </p:nvGrpSpPr>
            <p:grpSpPr>
              <a:xfrm>
                <a:off x="7975518" y="1322198"/>
                <a:ext cx="3420141" cy="2450039"/>
                <a:chOff x="7975518" y="1299338"/>
                <a:chExt cx="3420141" cy="2450039"/>
              </a:xfrm>
            </p:grpSpPr>
            <p:grpSp>
              <p:nvGrpSpPr>
                <p:cNvPr id="2" name="Group 1">
                  <a:extLst>
                    <a:ext uri="{FF2B5EF4-FFF2-40B4-BE49-F238E27FC236}">
                      <a16:creationId xmlns:a16="http://schemas.microsoft.com/office/drawing/2014/main" id="{24786ED0-2691-7121-62BD-9089D83634E1}"/>
                    </a:ext>
                  </a:extLst>
                </p:cNvPr>
                <p:cNvGrpSpPr/>
                <p:nvPr/>
              </p:nvGrpSpPr>
              <p:grpSpPr>
                <a:xfrm>
                  <a:off x="7975518" y="1299338"/>
                  <a:ext cx="3420141" cy="2450039"/>
                  <a:chOff x="8605537" y="1833465"/>
                  <a:chExt cx="3420141" cy="2450039"/>
                </a:xfrm>
              </p:grpSpPr>
              <p:pic>
                <p:nvPicPr>
                  <p:cNvPr id="20" name="Picture 19">
                    <a:extLst>
                      <a:ext uri="{FF2B5EF4-FFF2-40B4-BE49-F238E27FC236}">
                        <a16:creationId xmlns:a16="http://schemas.microsoft.com/office/drawing/2014/main" id="{8B6E7083-C67B-8B8E-10E7-932BFB5B94ED}"/>
                      </a:ext>
                    </a:extLst>
                  </p:cNvPr>
                  <p:cNvPicPr>
                    <a:picLocks noChangeAspect="1"/>
                  </p:cNvPicPr>
                  <p:nvPr/>
                </p:nvPicPr>
                <p:blipFill>
                  <a:blip r:embed="rId5"/>
                  <a:stretch>
                    <a:fillRect/>
                  </a:stretch>
                </p:blipFill>
                <p:spPr>
                  <a:xfrm>
                    <a:off x="8605537" y="1833465"/>
                    <a:ext cx="3420141" cy="2450039"/>
                  </a:xfrm>
                  <a:prstGeom prst="rect">
                    <a:avLst/>
                  </a:prstGeom>
                </p:spPr>
              </p:pic>
              <p:cxnSp>
                <p:nvCxnSpPr>
                  <p:cNvPr id="21" name="Straight Arrow Connector 20">
                    <a:extLst>
                      <a:ext uri="{FF2B5EF4-FFF2-40B4-BE49-F238E27FC236}">
                        <a16:creationId xmlns:a16="http://schemas.microsoft.com/office/drawing/2014/main" id="{EA37DC0B-0FB2-4E99-B144-6A5E4F482DC7}"/>
                      </a:ext>
                    </a:extLst>
                  </p:cNvPr>
                  <p:cNvCxnSpPr>
                    <a:cxnSpLocks/>
                  </p:cNvCxnSpPr>
                  <p:nvPr/>
                </p:nvCxnSpPr>
                <p:spPr>
                  <a:xfrm flipV="1">
                    <a:off x="10104776" y="3670300"/>
                    <a:ext cx="1706224" cy="243339"/>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EF7E70E4-9BC1-E476-F4C9-629C9DC69C50}"/>
                    </a:ext>
                  </a:extLst>
                </p:cNvPr>
                <p:cNvCxnSpPr>
                  <a:cxnSpLocks/>
                </p:cNvCxnSpPr>
                <p:nvPr/>
              </p:nvCxnSpPr>
              <p:spPr>
                <a:xfrm flipV="1">
                  <a:off x="9480475" y="2404533"/>
                  <a:ext cx="0" cy="719433"/>
                </a:xfrm>
                <a:prstGeom prst="straightConnector1">
                  <a:avLst/>
                </a:prstGeom>
                <a:ln w="63500">
                  <a:solidFill>
                    <a:schemeClr val="accent3"/>
                  </a:solidFill>
                  <a:tailEnd type="stealth"/>
                </a:ln>
              </p:spPr>
              <p:style>
                <a:lnRef idx="1">
                  <a:schemeClr val="accent1"/>
                </a:lnRef>
                <a:fillRef idx="0">
                  <a:schemeClr val="accent1"/>
                </a:fillRef>
                <a:effectRef idx="0">
                  <a:schemeClr val="accent1"/>
                </a:effectRef>
                <a:fontRef idx="minor">
                  <a:schemeClr val="tx1"/>
                </a:fontRef>
              </p:style>
            </p:cxnSp>
          </p:grpSp>
          <p:cxnSp>
            <p:nvCxnSpPr>
              <p:cNvPr id="30" name="Straight Arrow Connector 29">
                <a:extLst>
                  <a:ext uri="{FF2B5EF4-FFF2-40B4-BE49-F238E27FC236}">
                    <a16:creationId xmlns:a16="http://schemas.microsoft.com/office/drawing/2014/main" id="{2E525827-5889-5947-E328-559F3AD38616}"/>
                  </a:ext>
                </a:extLst>
              </p:cNvPr>
              <p:cNvCxnSpPr>
                <a:cxnSpLocks/>
              </p:cNvCxnSpPr>
              <p:nvPr/>
            </p:nvCxnSpPr>
            <p:spPr>
              <a:xfrm flipV="1">
                <a:off x="10183754" y="1475718"/>
                <a:ext cx="0" cy="406192"/>
              </a:xfrm>
              <a:prstGeom prst="straightConnector1">
                <a:avLst/>
              </a:prstGeom>
              <a:ln w="6350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7208085-00FA-E71E-ACD3-CB017497D9FE}"/>
                    </a:ext>
                  </a:extLst>
                </p:cNvPr>
                <p:cNvSpPr txBox="1"/>
                <p:nvPr/>
              </p:nvSpPr>
              <p:spPr>
                <a:xfrm rot="20166424">
                  <a:off x="8540917" y="3708924"/>
                  <a:ext cx="237435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𝑝𝑟𝑜𝑑𝑢𝑐𝑡</m:t>
                        </m:r>
                        <m:r>
                          <a:rPr lang="en-US" sz="1800" b="0" i="1" smtClean="0">
                            <a:solidFill>
                              <a:srgbClr val="FF0000"/>
                            </a:solidFill>
                            <a:latin typeface="Cambria Math" panose="02040503050406030204" pitchFamily="18" charset="0"/>
                            <a:ea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17208085-00FA-E71E-ACD3-CB017497D9FE}"/>
                    </a:ext>
                  </a:extLst>
                </p:cNvPr>
                <p:cNvSpPr txBox="1">
                  <a:spLocks noRot="1" noChangeAspect="1" noMove="1" noResize="1" noEditPoints="1" noAdjustHandles="1" noChangeArrowheads="1" noChangeShapeType="1" noTextEdit="1"/>
                </p:cNvSpPr>
                <p:nvPr/>
              </p:nvSpPr>
              <p:spPr>
                <a:xfrm rot="20166424">
                  <a:off x="8540917" y="3708924"/>
                  <a:ext cx="237435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8CEE600-BDF4-337B-78A2-55DDFA9EBC74}"/>
                    </a:ext>
                  </a:extLst>
                </p:cNvPr>
                <p:cNvSpPr txBox="1"/>
                <p:nvPr/>
              </p:nvSpPr>
              <p:spPr>
                <a:xfrm rot="19155835">
                  <a:off x="9077905" y="4364881"/>
                  <a:ext cx="19802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𝑟𝑒𝑎𝑐𝑡𝑎𝑛𝑡</m:t>
                        </m:r>
                        <m:r>
                          <a:rPr lang="en-US" sz="1800" b="0" i="1" smtClean="0">
                            <a:solidFill>
                              <a:srgbClr val="FF0000"/>
                            </a:solidFill>
                            <a:latin typeface="Cambria Math" panose="02040503050406030204" pitchFamily="18" charset="0"/>
                            <a:ea typeface="Cambria Math" panose="02040503050406030204" pitchFamily="18" charset="0"/>
                          </a:rPr>
                          <m:t>𝑠</m:t>
                        </m:r>
                      </m:oMath>
                    </m:oMathPara>
                  </a14:m>
                  <a:endParaRPr lang="en-US" dirty="0"/>
                </a:p>
              </p:txBody>
            </p:sp>
          </mc:Choice>
          <mc:Fallback xmlns="">
            <p:sp>
              <p:nvSpPr>
                <p:cNvPr id="10" name="TextBox 9">
                  <a:extLst>
                    <a:ext uri="{FF2B5EF4-FFF2-40B4-BE49-F238E27FC236}">
                      <a16:creationId xmlns:a16="http://schemas.microsoft.com/office/drawing/2014/main" id="{D8CEE600-BDF4-337B-78A2-55DDFA9EBC74}"/>
                    </a:ext>
                  </a:extLst>
                </p:cNvPr>
                <p:cNvSpPr txBox="1">
                  <a:spLocks noRot="1" noChangeAspect="1" noMove="1" noResize="1" noEditPoints="1" noAdjustHandles="1" noChangeArrowheads="1" noChangeShapeType="1" noTextEdit="1"/>
                </p:cNvSpPr>
                <p:nvPr/>
              </p:nvSpPr>
              <p:spPr>
                <a:xfrm rot="19155835">
                  <a:off x="9077905" y="4364881"/>
                  <a:ext cx="1980247" cy="369332"/>
                </a:xfrm>
                <a:prstGeom prst="rect">
                  <a:avLst/>
                </a:prstGeom>
                <a:blipFill>
                  <a:blip r:embed="rId7"/>
                  <a:stretch>
                    <a:fillRect/>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A59CB960-5A83-8768-0C32-50E654BF7F17}"/>
                </a:ext>
              </a:extLst>
            </p:cNvPr>
            <p:cNvCxnSpPr>
              <a:cxnSpLocks/>
            </p:cNvCxnSpPr>
            <p:nvPr/>
          </p:nvCxnSpPr>
          <p:spPr>
            <a:xfrm flipH="1" flipV="1">
              <a:off x="10197381" y="4753835"/>
              <a:ext cx="782945" cy="348743"/>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13CF8D7-2EBC-3FB1-4656-FB5DD8BA97E7}"/>
                  </a:ext>
                </a:extLst>
              </p:cNvPr>
              <p:cNvSpPr txBox="1"/>
              <p:nvPr/>
            </p:nvSpPr>
            <p:spPr>
              <a:xfrm>
                <a:off x="310061" y="1468220"/>
                <a:ext cx="8753925" cy="2859116"/>
              </a:xfrm>
              <a:prstGeom prst="rect">
                <a:avLst/>
              </a:prstGeom>
              <a:noFill/>
            </p:spPr>
            <p:txBody>
              <a:bodyPr wrap="square" rtlCol="0">
                <a:spAutoFit/>
              </a:bodyPr>
              <a:lstStyle/>
              <a:p>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𝑑𝐻</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𝐶</m:t>
                        </m:r>
                      </m:e>
                      <m:sub>
                        <m:r>
                          <a:rPr lang="en-US" sz="2400" b="0" i="1" smtClean="0">
                            <a:solidFill>
                              <a:srgbClr val="C00000"/>
                            </a:solidFill>
                            <a:latin typeface="Cambria Math" panose="02040503050406030204" pitchFamily="18" charset="0"/>
                            <a:ea typeface="Cambria Math" panose="02040503050406030204" pitchFamily="18" charset="0"/>
                          </a:rPr>
                          <m:t>𝑃</m:t>
                        </m:r>
                      </m:sub>
                    </m:sSub>
                    <m:r>
                      <a:rPr lang="en-US" sz="2400" i="1" smtClean="0">
                        <a:solidFill>
                          <a:srgbClr val="C00000"/>
                        </a:solidFill>
                        <a:latin typeface="Cambria Math" panose="02040503050406030204" pitchFamily="18" charset="0"/>
                        <a:ea typeface="Cambria Math" panose="02040503050406030204" pitchFamily="18" charset="0"/>
                      </a:rPr>
                      <m:t>𝑑</m:t>
                    </m:r>
                    <m:r>
                      <a:rPr lang="en-US" sz="2400" b="0" i="1" smtClean="0">
                        <a:solidFill>
                          <a:srgbClr val="C00000"/>
                        </a:solidFill>
                        <a:latin typeface="Cambria Math" panose="02040503050406030204" pitchFamily="18" charset="0"/>
                        <a:ea typeface="Cambria Math" panose="02040503050406030204" pitchFamily="18" charset="0"/>
                      </a:rPr>
                      <m:t>𝑇</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𝜇</m:t>
                        </m:r>
                      </m:e>
                      <m:sub>
                        <m:r>
                          <a:rPr lang="en-US" sz="2400" b="0" i="1" smtClean="0">
                            <a:solidFill>
                              <a:schemeClr val="accent1"/>
                            </a:solidFill>
                            <a:latin typeface="Cambria Math" panose="02040503050406030204" pitchFamily="18" charset="0"/>
                            <a:ea typeface="Cambria Math" panose="02040503050406030204" pitchFamily="18" charset="0"/>
                          </a:rPr>
                          <m:t>𝑇</m:t>
                        </m:r>
                      </m:sub>
                    </m:sSub>
                    <m:r>
                      <a:rPr lang="en-US" sz="2400" b="0" i="1" smtClean="0">
                        <a:solidFill>
                          <a:schemeClr val="accent1"/>
                        </a:solidFill>
                        <a:latin typeface="Cambria Math" panose="02040503050406030204" pitchFamily="18" charset="0"/>
                        <a:ea typeface="Cambria Math" panose="02040503050406030204" pitchFamily="18" charset="0"/>
                      </a:rPr>
                      <m:t>𝑑𝑃</m:t>
                    </m:r>
                  </m:oMath>
                </a14:m>
                <a:r>
                  <a:rPr lang="en-US" sz="2400" i="1" dirty="0">
                    <a:solidFill>
                      <a:schemeClr val="accent1"/>
                    </a:solidFill>
                    <a:ea typeface="Cambria Math" panose="02040503050406030204" pitchFamily="18" charset="0"/>
                  </a:rPr>
                  <a:t> </a:t>
                </a:r>
                <a:r>
                  <a:rPr lang="en-US" sz="2400" dirty="0">
                    <a:ea typeface="Cambria Math" panose="02040503050406030204" pitchFamily="18" charset="0"/>
                  </a:rPr>
                  <a:t>for each surface (reactants and products)</a:t>
                </a:r>
                <a:endParaRPr lang="en-US" sz="2400" dirty="0">
                  <a:solidFill>
                    <a:schemeClr val="tx1"/>
                  </a:solidFill>
                  <a:ea typeface="Cambria Math" panose="02040503050406030204" pitchFamily="18" charset="0"/>
                </a:endParaRPr>
              </a:p>
              <a:p>
                <a:endParaRPr lang="en-US" sz="2400" i="1" dirty="0">
                  <a:solidFill>
                    <a:schemeClr val="tx1"/>
                  </a:solidFill>
                  <a:latin typeface="Cambria Math" panose="02040503050406030204" pitchFamily="18" charset="0"/>
                  <a:ea typeface="Cambria Math" panose="02040503050406030204" pitchFamily="18" charset="0"/>
                </a:endParaRPr>
              </a:p>
              <a:p>
                <a:r>
                  <a:rPr lang="en-US" sz="2400" dirty="0">
                    <a:ea typeface="Cambria Math" panose="02040503050406030204" pitchFamily="18" charset="0"/>
                  </a:rPr>
                  <a:t>=&gt;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𝑑</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𝐻</m:t>
                        </m:r>
                      </m:e>
                      <m:sub>
                        <m:r>
                          <a:rPr lang="en-US" sz="2400" b="0" i="1" smtClean="0">
                            <a:solidFill>
                              <a:schemeClr val="tx1"/>
                            </a:solidFill>
                            <a:latin typeface="Cambria Math" panose="02040503050406030204" pitchFamily="18" charset="0"/>
                            <a:ea typeface="Cambria Math" panose="02040503050406030204" pitchFamily="18" charset="0"/>
                          </a:rPr>
                          <m:t>𝑟𝑥𝑛</m:t>
                        </m:r>
                      </m:sub>
                    </m:sSub>
                    <m:r>
                      <a:rPr lang="en-US" sz="2400" i="1">
                        <a:latin typeface="Cambria Math" panose="02040503050406030204" pitchFamily="18" charset="0"/>
                        <a:ea typeface="Cambria Math" panose="02040503050406030204" pitchFamily="18" charset="0"/>
                      </a:rPr>
                      <m:t>=</m:t>
                    </m:r>
                    <m:r>
                      <a:rPr lang="en-US" sz="2400" i="1" smtClean="0">
                        <a:solidFill>
                          <a:srgbClr val="C00000"/>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𝐶</m:t>
                        </m:r>
                      </m:e>
                      <m:sub>
                        <m:r>
                          <a:rPr lang="en-US" sz="2400" b="0" i="1" smtClean="0">
                            <a:solidFill>
                              <a:srgbClr val="C00000"/>
                            </a:solidFill>
                            <a:latin typeface="Cambria Math" panose="02040503050406030204" pitchFamily="18" charset="0"/>
                            <a:ea typeface="Cambria Math" panose="02040503050406030204" pitchFamily="18" charset="0"/>
                          </a:rPr>
                          <m:t>𝑃</m:t>
                        </m:r>
                      </m:sub>
                    </m:sSub>
                    <m:r>
                      <a:rPr lang="en-US" sz="2400" b="0" i="1" smtClean="0">
                        <a:solidFill>
                          <a:srgbClr val="C00000"/>
                        </a:solidFill>
                        <a:latin typeface="Cambria Math" panose="02040503050406030204" pitchFamily="18" charset="0"/>
                        <a:ea typeface="Cambria Math" panose="02040503050406030204" pitchFamily="18" charset="0"/>
                      </a:rPr>
                      <m:t>𝑑𝑇</m:t>
                    </m:r>
                    <m:r>
                      <a:rPr lang="en-US" sz="2400" b="0" i="1" smtClean="0">
                        <a:latin typeface="Cambria Math" panose="02040503050406030204" pitchFamily="18" charset="0"/>
                        <a:ea typeface="Cambria Math" panose="02040503050406030204" pitchFamily="18" charset="0"/>
                      </a:rPr>
                      <m:t>+</m:t>
                    </m:r>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𝑑</m:t>
                    </m:r>
                    <m:r>
                      <a:rPr lang="en-US" sz="2400" b="0" i="1" smtClean="0">
                        <a:solidFill>
                          <a:schemeClr val="accent1"/>
                        </a:solidFill>
                        <a:latin typeface="Cambria Math" panose="02040503050406030204" pitchFamily="18" charset="0"/>
                        <a:ea typeface="Cambria Math" panose="02040503050406030204" pitchFamily="18" charset="0"/>
                      </a:rPr>
                      <m:t>𝑃</m:t>
                    </m:r>
                  </m:oMath>
                </a14:m>
                <a:endParaRPr lang="en-US" sz="2400" dirty="0">
                  <a:solidFill>
                    <a:schemeClr val="accent1"/>
                  </a:solidFill>
                  <a:ea typeface="Cambria Math" panose="02040503050406030204" pitchFamily="18" charset="0"/>
                </a:endParaRPr>
              </a:p>
              <a:p>
                <a:endParaRPr lang="en-US" sz="2400" dirty="0">
                  <a:solidFill>
                    <a:schemeClr val="accent1"/>
                  </a:solidFill>
                  <a:ea typeface="Cambria Math" panose="02040503050406030204" pitchFamily="18" charset="0"/>
                </a:endParaRPr>
              </a:p>
              <a:p>
                <a:r>
                  <a:rPr lang="en-US" sz="2400" dirty="0">
                    <a:ea typeface="Cambria Math" panose="02040503050406030204" pitchFamily="18" charset="0"/>
                  </a:rPr>
                  <a:t>=&gt;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𝐻</m:t>
                            </m:r>
                          </m:e>
                          <m:sub>
                            <m:r>
                              <a:rPr lang="en-US" sz="2400" i="1">
                                <a:latin typeface="Cambria Math" panose="02040503050406030204" pitchFamily="18" charset="0"/>
                                <a:ea typeface="Cambria Math" panose="02040503050406030204" pitchFamily="18" charset="0"/>
                              </a:rPr>
                              <m:t>𝑟𝑥𝑛</m:t>
                            </m:r>
                          </m:sub>
                        </m:sSub>
                      </m:e>
                    </m:d>
                    <m:r>
                      <a:rPr lang="en-US" sz="2400" b="0" i="1" smtClean="0">
                        <a:latin typeface="Cambria Math" panose="02040503050406030204" pitchFamily="18" charset="0"/>
                        <a:ea typeface="Cambria Math" panose="02040503050406030204" pitchFamily="18" charset="0"/>
                      </a:rPr>
                      <m:t>=</m:t>
                    </m:r>
                    <m:nary>
                      <m:naryPr>
                        <m:ctrlPr>
                          <a:rPr lang="en-US" sz="2400" i="1">
                            <a:solidFill>
                              <a:srgbClr val="FF0000"/>
                            </a:solidFill>
                            <a:latin typeface="Cambria Math" panose="02040503050406030204" pitchFamily="18" charset="0"/>
                            <a:ea typeface="Cambria Math" panose="02040503050406030204" pitchFamily="18" charset="0"/>
                          </a:rPr>
                        </m:ctrlPr>
                      </m:naryPr>
                      <m:sub>
                        <m:sSup>
                          <m:sSupPr>
                            <m:ctrlPr>
                              <a:rPr lang="en-US" sz="2400" i="1">
                                <a:solidFill>
                                  <a:srgbClr val="FF0000"/>
                                </a:solidFill>
                                <a:latin typeface="Cambria Math" panose="02040503050406030204" pitchFamily="18" charset="0"/>
                                <a:ea typeface="Cambria Math" panose="02040503050406030204" pitchFamily="18" charset="0"/>
                              </a:rPr>
                            </m:ctrlPr>
                          </m:sSupPr>
                          <m:e>
                            <m:r>
                              <m:rPr>
                                <m:brk m:alnAt="23"/>
                              </m:rPr>
                              <a:rPr lang="en-US" sz="2400" i="1">
                                <a:solidFill>
                                  <a:srgbClr val="FF0000"/>
                                </a:solidFill>
                                <a:latin typeface="Cambria Math" panose="02040503050406030204" pitchFamily="18" charset="0"/>
                                <a:ea typeface="Cambria Math" panose="02040503050406030204" pitchFamily="18" charset="0"/>
                              </a:rPr>
                              <m:t>𝑇</m:t>
                            </m:r>
                          </m:e>
                          <m:sup>
                            <m:r>
                              <m:rPr>
                                <m:brk m:alnAt="23"/>
                              </m:rPr>
                              <a:rPr lang="en-US" sz="2400" i="1">
                                <a:solidFill>
                                  <a:srgbClr val="FF0000"/>
                                </a:solidFill>
                                <a:latin typeface="Cambria Math" panose="02040503050406030204" pitchFamily="18" charset="0"/>
                                <a:ea typeface="Cambria Math" panose="02040503050406030204" pitchFamily="18" charset="0"/>
                              </a:rPr>
                              <m:t>𝑜</m:t>
                            </m:r>
                          </m:sup>
                        </m:sSup>
                      </m:sub>
                      <m:sup>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𝑇</m:t>
                            </m:r>
                          </m:e>
                          <m:sup>
                            <m:r>
                              <a:rPr lang="en-US" sz="2400" i="1">
                                <a:solidFill>
                                  <a:srgbClr val="FF0000"/>
                                </a:solidFill>
                                <a:latin typeface="Cambria Math" panose="02040503050406030204" pitchFamily="18" charset="0"/>
                                <a:ea typeface="Cambria Math" panose="02040503050406030204" pitchFamily="18" charset="0"/>
                              </a:rPr>
                              <m:t>′</m:t>
                            </m:r>
                          </m:sup>
                        </m:sSup>
                      </m:sup>
                      <m:e>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i="1">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𝑑𝑇</m:t>
                        </m:r>
                      </m:e>
                    </m:nary>
                    <m:r>
                      <a:rPr lang="en-US" sz="2400" b="0" i="1" smtClean="0">
                        <a:solidFill>
                          <a:schemeClr val="tx1"/>
                        </a:solidFill>
                        <a:latin typeface="Cambria Math" panose="02040503050406030204" pitchFamily="18" charset="0"/>
                        <a:ea typeface="Cambria Math" panose="02040503050406030204" pitchFamily="18" charset="0"/>
                      </a:rPr>
                      <m:t>+</m:t>
                    </m:r>
                    <m:nary>
                      <m:naryPr>
                        <m:ctrlPr>
                          <a:rPr lang="en-US" sz="2400" i="1" smtClean="0">
                            <a:solidFill>
                              <a:schemeClr val="accent1"/>
                            </a:solidFill>
                            <a:latin typeface="Cambria Math" panose="02040503050406030204" pitchFamily="18" charset="0"/>
                            <a:ea typeface="Cambria Math" panose="02040503050406030204" pitchFamily="18" charset="0"/>
                          </a:rPr>
                        </m:ctrlPr>
                      </m:naryPr>
                      <m:sub>
                        <m:sSup>
                          <m:sSupPr>
                            <m:ctrlPr>
                              <a:rPr lang="en-US" sz="2400" i="1">
                                <a:solidFill>
                                  <a:schemeClr val="accent1"/>
                                </a:solidFill>
                                <a:latin typeface="Cambria Math" panose="02040503050406030204" pitchFamily="18" charset="0"/>
                                <a:ea typeface="Cambria Math" panose="02040503050406030204" pitchFamily="18" charset="0"/>
                              </a:rPr>
                            </m:ctrlPr>
                          </m:sSupPr>
                          <m:e>
                            <m:r>
                              <a:rPr lang="en-US" sz="2400" b="0" i="1" smtClean="0">
                                <a:solidFill>
                                  <a:schemeClr val="accent1"/>
                                </a:solidFill>
                                <a:latin typeface="Cambria Math" panose="02040503050406030204" pitchFamily="18" charset="0"/>
                                <a:ea typeface="Cambria Math" panose="02040503050406030204" pitchFamily="18" charset="0"/>
                              </a:rPr>
                              <m:t>𝑃</m:t>
                            </m:r>
                          </m:e>
                          <m:sup>
                            <m:r>
                              <m:rPr>
                                <m:brk m:alnAt="23"/>
                              </m:rPr>
                              <a:rPr lang="en-US" sz="2400" i="1">
                                <a:solidFill>
                                  <a:schemeClr val="accent1"/>
                                </a:solidFill>
                                <a:latin typeface="Cambria Math" panose="02040503050406030204" pitchFamily="18" charset="0"/>
                                <a:ea typeface="Cambria Math" panose="02040503050406030204" pitchFamily="18" charset="0"/>
                              </a:rPr>
                              <m:t>𝑜</m:t>
                            </m:r>
                          </m:sup>
                        </m:sSup>
                      </m:sub>
                      <m:sup>
                        <m:sSup>
                          <m:sSupPr>
                            <m:ctrlPr>
                              <a:rPr lang="en-US" sz="2400" b="0" i="1" smtClean="0">
                                <a:solidFill>
                                  <a:schemeClr val="accent1"/>
                                </a:solidFill>
                                <a:latin typeface="Cambria Math" panose="02040503050406030204" pitchFamily="18" charset="0"/>
                                <a:ea typeface="Cambria Math" panose="02040503050406030204" pitchFamily="18" charset="0"/>
                              </a:rPr>
                            </m:ctrlPr>
                          </m:sSupPr>
                          <m:e>
                            <m:r>
                              <a:rPr lang="en-US" sz="2400" b="0" i="1" smtClean="0">
                                <a:solidFill>
                                  <a:schemeClr val="accent1"/>
                                </a:solidFill>
                                <a:latin typeface="Cambria Math" panose="02040503050406030204" pitchFamily="18" charset="0"/>
                                <a:ea typeface="Cambria Math" panose="02040503050406030204" pitchFamily="18" charset="0"/>
                              </a:rPr>
                              <m:t>𝑃</m:t>
                            </m:r>
                          </m:e>
                          <m:sup>
                            <m:r>
                              <a:rPr lang="en-US" sz="2400" b="0" i="1" smtClean="0">
                                <a:solidFill>
                                  <a:schemeClr val="accent1"/>
                                </a:solidFill>
                                <a:latin typeface="Cambria Math" panose="02040503050406030204" pitchFamily="18" charset="0"/>
                                <a:ea typeface="Cambria Math" panose="02040503050406030204" pitchFamily="18" charset="0"/>
                              </a:rPr>
                              <m:t>′</m:t>
                            </m:r>
                          </m:sup>
                        </m:sSup>
                      </m:sup>
                      <m:e>
                        <m:sSub>
                          <m:sSubPr>
                            <m:ctrlPr>
                              <a:rPr lang="en-US" sz="2400" i="1">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𝑑</m:t>
                        </m:r>
                        <m:r>
                          <a:rPr lang="en-US" sz="2400" b="0" i="1" smtClean="0">
                            <a:solidFill>
                              <a:schemeClr val="accent1"/>
                            </a:solidFill>
                            <a:latin typeface="Cambria Math" panose="02040503050406030204" pitchFamily="18" charset="0"/>
                            <a:ea typeface="Cambria Math" panose="02040503050406030204" pitchFamily="18" charset="0"/>
                          </a:rPr>
                          <m:t>𝑃</m:t>
                        </m:r>
                      </m:e>
                    </m:nary>
                  </m:oMath>
                </a14:m>
                <a:endParaRPr lang="en-US" sz="2400" dirty="0">
                  <a:solidFill>
                    <a:schemeClr val="accent1"/>
                  </a:solidFill>
                  <a:ea typeface="Cambria Math" panose="02040503050406030204" pitchFamily="18" charset="0"/>
                </a:endParaRPr>
              </a:p>
              <a:p>
                <a:endParaRPr lang="en-US" sz="2400" dirty="0">
                  <a:ea typeface="Cambria Math" panose="02040503050406030204" pitchFamily="18" charset="0"/>
                </a:endParaRPr>
              </a:p>
              <a:p>
                <a:r>
                  <a:rPr lang="en-US" sz="2400" dirty="0">
                    <a:solidFill>
                      <a:srgbClr val="FF0000"/>
                    </a:solidFill>
                    <a:ea typeface="Cambria Math" panose="02040503050406030204" pitchFamily="18" charset="0"/>
                  </a:rPr>
                  <a:t>	</a:t>
                </a:r>
                <a:endParaRPr lang="en-US" sz="2400" b="0" dirty="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F13CF8D7-2EBC-3FB1-4656-FB5DD8BA97E7}"/>
                  </a:ext>
                </a:extLst>
              </p:cNvPr>
              <p:cNvSpPr txBox="1">
                <a:spLocks noRot="1" noChangeAspect="1" noMove="1" noResize="1" noEditPoints="1" noAdjustHandles="1" noChangeArrowheads="1" noChangeShapeType="1" noTextEdit="1"/>
              </p:cNvSpPr>
              <p:nvPr/>
            </p:nvSpPr>
            <p:spPr>
              <a:xfrm>
                <a:off x="310061" y="1468220"/>
                <a:ext cx="8753925" cy="2859116"/>
              </a:xfrm>
              <a:prstGeom prst="rect">
                <a:avLst/>
              </a:prstGeom>
              <a:blipFill>
                <a:blip r:embed="rId8"/>
                <a:stretch>
                  <a:fillRect l="-1159" t="-1327" b="-10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CA8A64F-772B-5935-96DD-4C5C310D7D0D}"/>
                  </a:ext>
                </a:extLst>
              </p:cNvPr>
              <p:cNvSpPr txBox="1"/>
              <p:nvPr/>
            </p:nvSpPr>
            <p:spPr>
              <a:xfrm>
                <a:off x="7736639" y="2173911"/>
                <a:ext cx="3897897" cy="5346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m:t>
                      </m:r>
                      <m:sSubSup>
                        <m:sSubSupPr>
                          <m:ctrlPr>
                            <a:rPr lang="en-US" sz="2400" i="1">
                              <a:solidFill>
                                <a:schemeClr val="accent1"/>
                              </a:solidFill>
                              <a:latin typeface="Cambria Math" panose="02040503050406030204" pitchFamily="18" charset="0"/>
                              <a:ea typeface="Cambria Math" panose="02040503050406030204" pitchFamily="18" charset="0"/>
                            </a:rPr>
                          </m:ctrlPr>
                        </m:sSubSupPr>
                        <m:e>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up>
                          <m:r>
                            <a:rPr lang="en-US" sz="2400" i="1">
                              <a:solidFill>
                                <a:schemeClr val="accent1"/>
                              </a:solidFill>
                              <a:latin typeface="Cambria Math" panose="02040503050406030204" pitchFamily="18" charset="0"/>
                              <a:ea typeface="Cambria Math" panose="02040503050406030204" pitchFamily="18" charset="0"/>
                            </a:rPr>
                            <m:t>𝑝𝑟𝑜𝑑𝑢𝑐𝑡𝑠</m:t>
                          </m:r>
                        </m:sup>
                      </m:sSubSup>
                      <m:r>
                        <a:rPr lang="en-US" sz="2400" i="1">
                          <a:solidFill>
                            <a:schemeClr val="accent1"/>
                          </a:solidFill>
                          <a:latin typeface="Cambria Math" panose="02040503050406030204" pitchFamily="18" charset="0"/>
                          <a:ea typeface="Cambria Math" panose="02040503050406030204" pitchFamily="18" charset="0"/>
                        </a:rPr>
                        <m:t>−</m:t>
                      </m:r>
                      <m:sSubSup>
                        <m:sSubSupPr>
                          <m:ctrlPr>
                            <a:rPr lang="en-US" sz="2400" i="1">
                              <a:solidFill>
                                <a:schemeClr val="accent1"/>
                              </a:solidFill>
                              <a:latin typeface="Cambria Math" panose="02040503050406030204" pitchFamily="18" charset="0"/>
                              <a:ea typeface="Cambria Math" panose="02040503050406030204" pitchFamily="18" charset="0"/>
                            </a:rPr>
                          </m:ctrlPr>
                        </m:sSubSupPr>
                        <m:e>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up>
                          <m:r>
                            <a:rPr lang="en-US" sz="2400" i="1">
                              <a:solidFill>
                                <a:schemeClr val="accent1"/>
                              </a:solidFill>
                              <a:latin typeface="Cambria Math" panose="02040503050406030204" pitchFamily="18" charset="0"/>
                              <a:ea typeface="Cambria Math" panose="02040503050406030204" pitchFamily="18" charset="0"/>
                            </a:rPr>
                            <m:t>𝑟𝑒𝑎𝑐𝑡𝑎𝑛𝑡𝑠</m:t>
                          </m:r>
                        </m:sup>
                      </m:sSubSup>
                    </m:oMath>
                  </m:oMathPara>
                </a14:m>
                <a:endParaRPr lang="en-US" sz="2400" dirty="0"/>
              </a:p>
            </p:txBody>
          </p:sp>
        </mc:Choice>
        <mc:Fallback xmlns="">
          <p:sp>
            <p:nvSpPr>
              <p:cNvPr id="7" name="TextBox 6">
                <a:extLst>
                  <a:ext uri="{FF2B5EF4-FFF2-40B4-BE49-F238E27FC236}">
                    <a16:creationId xmlns:a16="http://schemas.microsoft.com/office/drawing/2014/main" id="{ECA8A64F-772B-5935-96DD-4C5C310D7D0D}"/>
                  </a:ext>
                </a:extLst>
              </p:cNvPr>
              <p:cNvSpPr txBox="1">
                <a:spLocks noRot="1" noChangeAspect="1" noMove="1" noResize="1" noEditPoints="1" noAdjustHandles="1" noChangeArrowheads="1" noChangeShapeType="1" noTextEdit="1"/>
              </p:cNvSpPr>
              <p:nvPr/>
            </p:nvSpPr>
            <p:spPr>
              <a:xfrm>
                <a:off x="7736639" y="2173911"/>
                <a:ext cx="3897897" cy="534698"/>
              </a:xfrm>
              <a:prstGeom prst="rect">
                <a:avLst/>
              </a:prstGeom>
              <a:blipFill>
                <a:blip r:embed="rId9"/>
                <a:stretch>
                  <a:fillRect b="-4651"/>
                </a:stretch>
              </a:blipFill>
            </p:spPr>
            <p:txBody>
              <a:bodyPr/>
              <a:lstStyle/>
              <a:p>
                <a:r>
                  <a:rPr lang="en-US">
                    <a:noFill/>
                  </a:rPr>
                  <a:t> </a:t>
                </a:r>
              </a:p>
            </p:txBody>
          </p:sp>
        </mc:Fallback>
      </mc:AlternateContent>
    </p:spTree>
    <p:extLst>
      <p:ext uri="{BB962C8B-B14F-4D97-AF65-F5344CB8AC3E}">
        <p14:creationId xmlns:p14="http://schemas.microsoft.com/office/powerpoint/2010/main" val="3577055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E3F3EC0-AFFD-7640-A054-CF5F5B92A74C}"/>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t>Recap: Quantitative predictions using </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r>
                      <a:rPr lang="en-US" sz="2400" b="1" i="1" smtClean="0">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m:t>
                    </m:r>
                    <m:sSubSup>
                      <m:sSubSupPr>
                        <m:ctrlPr>
                          <a:rPr lang="en-US" sz="2400" b="1" i="1" smtClean="0">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up>
                        <m:r>
                          <a:rPr lang="en-US" sz="2400" b="1" i="1" smtClean="0">
                            <a:latin typeface="Cambria Math" panose="02040503050406030204" pitchFamily="18" charset="0"/>
                            <a:ea typeface="Cambria Math" panose="02040503050406030204" pitchFamily="18" charset="0"/>
                          </a:rPr>
                          <m:t>𝒐</m:t>
                        </m:r>
                      </m:sup>
                    </m:sSubSup>
                    <m:r>
                      <a:rPr lang="en-US" sz="2400" b="1" i="1" smtClean="0">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e>
                    </m:d>
                  </m:oMath>
                </a14:m>
                <a:r>
                  <a:rPr lang="en-US" sz="2400" b="1" i="1" dirty="0">
                    <a:solidFill>
                      <a:schemeClr val="tx1"/>
                    </a:solidFill>
                  </a:rPr>
                  <a:t> </a:t>
                </a:r>
              </a:p>
            </p:txBody>
          </p:sp>
        </mc:Choice>
        <mc:Fallback>
          <p:sp>
            <p:nvSpPr>
              <p:cNvPr id="19" name="TextBox 18">
                <a:extLst>
                  <a:ext uri="{FF2B5EF4-FFF2-40B4-BE49-F238E27FC236}">
                    <a16:creationId xmlns:a16="http://schemas.microsoft.com/office/drawing/2014/main" id="{BE3F3EC0-AFFD-7640-A054-CF5F5B92A74C}"/>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0010AC-5F98-D8FD-D093-6F677811FA33}"/>
                  </a:ext>
                </a:extLst>
              </p:cNvPr>
              <p:cNvSpPr txBox="1"/>
              <p:nvPr/>
            </p:nvSpPr>
            <p:spPr>
              <a:xfrm>
                <a:off x="7781064" y="2755294"/>
                <a:ext cx="4311967" cy="534698"/>
              </a:xfrm>
              <a:prstGeom prst="rect">
                <a:avLst/>
              </a:prstGeom>
              <a:noFill/>
            </p:spPr>
            <p:txBody>
              <a:bodyPr wrap="square">
                <a:spAutoFit/>
              </a:bodyPr>
              <a:lstStyle/>
              <a:p>
                <a14:m>
                  <m:oMath xmlns:m="http://schemas.openxmlformats.org/officeDocument/2006/math">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up>
                        <m:r>
                          <a:rPr lang="en-US" sz="2400" i="1">
                            <a:solidFill>
                              <a:srgbClr val="FF0000"/>
                            </a:solidFill>
                            <a:latin typeface="Cambria Math" panose="02040503050406030204" pitchFamily="18" charset="0"/>
                            <a:ea typeface="Cambria Math" panose="02040503050406030204" pitchFamily="18" charset="0"/>
                          </a:rPr>
                          <m:t>𝑝𝑟𝑜𝑑𝑢𝑐𝑡𝑠</m:t>
                        </m:r>
                      </m:sup>
                    </m:sSubSup>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up>
                        <m:r>
                          <a:rPr lang="en-US" sz="2400" i="1" smtClean="0">
                            <a:solidFill>
                              <a:srgbClr val="FF0000"/>
                            </a:solidFill>
                            <a:latin typeface="Cambria Math" panose="02040503050406030204" pitchFamily="18" charset="0"/>
                            <a:ea typeface="Cambria Math" panose="02040503050406030204" pitchFamily="18" charset="0"/>
                          </a:rPr>
                          <m:t>𝑟𝑒𝑎𝑐𝑡𝑎𝑛𝑡</m:t>
                        </m:r>
                        <m:r>
                          <a:rPr lang="en-US" sz="2400" i="1">
                            <a:solidFill>
                              <a:srgbClr val="FF0000"/>
                            </a:solidFill>
                            <a:latin typeface="Cambria Math" panose="02040503050406030204" pitchFamily="18" charset="0"/>
                            <a:ea typeface="Cambria Math" panose="02040503050406030204" pitchFamily="18" charset="0"/>
                          </a:rPr>
                          <m:t>𝑠</m:t>
                        </m:r>
                      </m:sup>
                    </m:sSubSup>
                  </m:oMath>
                </a14:m>
                <a:r>
                  <a:rPr lang="en-US" sz="2400" dirty="0"/>
                  <a:t> </a:t>
                </a:r>
              </a:p>
            </p:txBody>
          </p:sp>
        </mc:Choice>
        <mc:Fallback xmlns="">
          <p:sp>
            <p:nvSpPr>
              <p:cNvPr id="6" name="TextBox 5">
                <a:extLst>
                  <a:ext uri="{FF2B5EF4-FFF2-40B4-BE49-F238E27FC236}">
                    <a16:creationId xmlns:a16="http://schemas.microsoft.com/office/drawing/2014/main" id="{650010AC-5F98-D8FD-D093-6F677811FA33}"/>
                  </a:ext>
                </a:extLst>
              </p:cNvPr>
              <p:cNvSpPr txBox="1">
                <a:spLocks noRot="1" noChangeAspect="1" noMove="1" noResize="1" noEditPoints="1" noAdjustHandles="1" noChangeArrowheads="1" noChangeShapeType="1" noTextEdit="1"/>
              </p:cNvSpPr>
              <p:nvPr/>
            </p:nvSpPr>
            <p:spPr>
              <a:xfrm>
                <a:off x="7781064" y="2755294"/>
                <a:ext cx="4311967" cy="534698"/>
              </a:xfrm>
              <a:prstGeom prst="rect">
                <a:avLst/>
              </a:prstGeom>
              <a:blipFill>
                <a:blip r:embed="rId3"/>
                <a:stretch>
                  <a:fillRect l="-293"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13CF8D7-2EBC-3FB1-4656-FB5DD8BA97E7}"/>
                  </a:ext>
                </a:extLst>
              </p:cNvPr>
              <p:cNvSpPr txBox="1"/>
              <p:nvPr/>
            </p:nvSpPr>
            <p:spPr>
              <a:xfrm>
                <a:off x="310061" y="1468220"/>
                <a:ext cx="8753925" cy="2859116"/>
              </a:xfrm>
              <a:prstGeom prst="rect">
                <a:avLst/>
              </a:prstGeom>
              <a:noFill/>
            </p:spPr>
            <p:txBody>
              <a:bodyPr wrap="square" rtlCol="0">
                <a:spAutoFit/>
              </a:bodyPr>
              <a:lstStyle/>
              <a:p>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𝑑𝐻</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𝐶</m:t>
                        </m:r>
                      </m:e>
                      <m:sub>
                        <m:r>
                          <a:rPr lang="en-US" sz="2400" b="0" i="1" smtClean="0">
                            <a:solidFill>
                              <a:srgbClr val="C00000"/>
                            </a:solidFill>
                            <a:latin typeface="Cambria Math" panose="02040503050406030204" pitchFamily="18" charset="0"/>
                            <a:ea typeface="Cambria Math" panose="02040503050406030204" pitchFamily="18" charset="0"/>
                          </a:rPr>
                          <m:t>𝑃</m:t>
                        </m:r>
                      </m:sub>
                    </m:sSub>
                    <m:r>
                      <a:rPr lang="en-US" sz="2400" i="1" smtClean="0">
                        <a:solidFill>
                          <a:srgbClr val="C00000"/>
                        </a:solidFill>
                        <a:latin typeface="Cambria Math" panose="02040503050406030204" pitchFamily="18" charset="0"/>
                        <a:ea typeface="Cambria Math" panose="02040503050406030204" pitchFamily="18" charset="0"/>
                      </a:rPr>
                      <m:t>𝑑</m:t>
                    </m:r>
                    <m:r>
                      <a:rPr lang="en-US" sz="2400" b="0" i="1" smtClean="0">
                        <a:solidFill>
                          <a:srgbClr val="C00000"/>
                        </a:solidFill>
                        <a:latin typeface="Cambria Math" panose="02040503050406030204" pitchFamily="18" charset="0"/>
                        <a:ea typeface="Cambria Math" panose="02040503050406030204" pitchFamily="18" charset="0"/>
                      </a:rPr>
                      <m:t>𝑇</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𝜇</m:t>
                        </m:r>
                      </m:e>
                      <m:sub>
                        <m:r>
                          <a:rPr lang="en-US" sz="2400" b="0" i="1" smtClean="0">
                            <a:solidFill>
                              <a:schemeClr val="accent1"/>
                            </a:solidFill>
                            <a:latin typeface="Cambria Math" panose="02040503050406030204" pitchFamily="18" charset="0"/>
                            <a:ea typeface="Cambria Math" panose="02040503050406030204" pitchFamily="18" charset="0"/>
                          </a:rPr>
                          <m:t>𝑇</m:t>
                        </m:r>
                      </m:sub>
                    </m:sSub>
                    <m:r>
                      <a:rPr lang="en-US" sz="2400" b="0" i="1" smtClean="0">
                        <a:solidFill>
                          <a:schemeClr val="accent1"/>
                        </a:solidFill>
                        <a:latin typeface="Cambria Math" panose="02040503050406030204" pitchFamily="18" charset="0"/>
                        <a:ea typeface="Cambria Math" panose="02040503050406030204" pitchFamily="18" charset="0"/>
                      </a:rPr>
                      <m:t>𝑑𝑃</m:t>
                    </m:r>
                  </m:oMath>
                </a14:m>
                <a:r>
                  <a:rPr lang="en-US" sz="2400" i="1" dirty="0">
                    <a:solidFill>
                      <a:schemeClr val="accent1"/>
                    </a:solidFill>
                    <a:ea typeface="Cambria Math" panose="02040503050406030204" pitchFamily="18" charset="0"/>
                  </a:rPr>
                  <a:t> </a:t>
                </a:r>
                <a:r>
                  <a:rPr lang="en-US" sz="2400" dirty="0">
                    <a:ea typeface="Cambria Math" panose="02040503050406030204" pitchFamily="18" charset="0"/>
                  </a:rPr>
                  <a:t>for each surface (reactants and products)</a:t>
                </a:r>
                <a:endParaRPr lang="en-US" sz="2400" dirty="0">
                  <a:solidFill>
                    <a:schemeClr val="tx1"/>
                  </a:solidFill>
                  <a:ea typeface="Cambria Math" panose="02040503050406030204" pitchFamily="18" charset="0"/>
                </a:endParaRPr>
              </a:p>
              <a:p>
                <a:endParaRPr lang="en-US" sz="2400" i="1" dirty="0">
                  <a:solidFill>
                    <a:schemeClr val="tx1"/>
                  </a:solidFill>
                  <a:latin typeface="Cambria Math" panose="02040503050406030204" pitchFamily="18" charset="0"/>
                  <a:ea typeface="Cambria Math" panose="02040503050406030204" pitchFamily="18" charset="0"/>
                </a:endParaRPr>
              </a:p>
              <a:p>
                <a:r>
                  <a:rPr lang="en-US" sz="2400" dirty="0">
                    <a:ea typeface="Cambria Math" panose="02040503050406030204" pitchFamily="18" charset="0"/>
                  </a:rPr>
                  <a:t>=&gt;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𝑑</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𝐻</m:t>
                        </m:r>
                      </m:e>
                      <m:sub>
                        <m:r>
                          <a:rPr lang="en-US" sz="2400" b="0" i="1" smtClean="0">
                            <a:solidFill>
                              <a:schemeClr val="tx1"/>
                            </a:solidFill>
                            <a:latin typeface="Cambria Math" panose="02040503050406030204" pitchFamily="18" charset="0"/>
                            <a:ea typeface="Cambria Math" panose="02040503050406030204" pitchFamily="18" charset="0"/>
                          </a:rPr>
                          <m:t>𝑟𝑥𝑛</m:t>
                        </m:r>
                      </m:sub>
                    </m:sSub>
                    <m:r>
                      <a:rPr lang="en-US" sz="2400" i="1">
                        <a:latin typeface="Cambria Math" panose="02040503050406030204" pitchFamily="18" charset="0"/>
                        <a:ea typeface="Cambria Math" panose="02040503050406030204" pitchFamily="18" charset="0"/>
                      </a:rPr>
                      <m:t>=</m:t>
                    </m:r>
                    <m:r>
                      <a:rPr lang="en-US" sz="2400" i="1" smtClean="0">
                        <a:solidFill>
                          <a:srgbClr val="C00000"/>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𝐶</m:t>
                        </m:r>
                      </m:e>
                      <m:sub>
                        <m:r>
                          <a:rPr lang="en-US" sz="2400" b="0" i="1" smtClean="0">
                            <a:solidFill>
                              <a:srgbClr val="C00000"/>
                            </a:solidFill>
                            <a:latin typeface="Cambria Math" panose="02040503050406030204" pitchFamily="18" charset="0"/>
                            <a:ea typeface="Cambria Math" panose="02040503050406030204" pitchFamily="18" charset="0"/>
                          </a:rPr>
                          <m:t>𝑃</m:t>
                        </m:r>
                      </m:sub>
                    </m:sSub>
                    <m:r>
                      <a:rPr lang="en-US" sz="2400" b="0" i="1" smtClean="0">
                        <a:solidFill>
                          <a:srgbClr val="C00000"/>
                        </a:solidFill>
                        <a:latin typeface="Cambria Math" panose="02040503050406030204" pitchFamily="18" charset="0"/>
                        <a:ea typeface="Cambria Math" panose="02040503050406030204" pitchFamily="18" charset="0"/>
                      </a:rPr>
                      <m:t>𝑑𝑇</m:t>
                    </m:r>
                    <m:r>
                      <a:rPr lang="en-US" sz="2400" b="0" i="1" smtClean="0">
                        <a:latin typeface="Cambria Math" panose="02040503050406030204" pitchFamily="18" charset="0"/>
                        <a:ea typeface="Cambria Math" panose="02040503050406030204" pitchFamily="18" charset="0"/>
                      </a:rPr>
                      <m:t>+</m:t>
                    </m:r>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𝑑</m:t>
                    </m:r>
                    <m:r>
                      <a:rPr lang="en-US" sz="2400" b="0" i="1" smtClean="0">
                        <a:solidFill>
                          <a:schemeClr val="accent1"/>
                        </a:solidFill>
                        <a:latin typeface="Cambria Math" panose="02040503050406030204" pitchFamily="18" charset="0"/>
                        <a:ea typeface="Cambria Math" panose="02040503050406030204" pitchFamily="18" charset="0"/>
                      </a:rPr>
                      <m:t>𝑃</m:t>
                    </m:r>
                  </m:oMath>
                </a14:m>
                <a:endParaRPr lang="en-US" sz="2400" dirty="0">
                  <a:solidFill>
                    <a:schemeClr val="accent1"/>
                  </a:solidFill>
                  <a:ea typeface="Cambria Math" panose="02040503050406030204" pitchFamily="18" charset="0"/>
                </a:endParaRPr>
              </a:p>
              <a:p>
                <a:endParaRPr lang="en-US" sz="2400" dirty="0">
                  <a:solidFill>
                    <a:schemeClr val="accent1"/>
                  </a:solidFill>
                  <a:ea typeface="Cambria Math" panose="02040503050406030204" pitchFamily="18" charset="0"/>
                </a:endParaRPr>
              </a:p>
              <a:p>
                <a:r>
                  <a:rPr lang="en-US" sz="2400" dirty="0">
                    <a:ea typeface="Cambria Math" panose="02040503050406030204" pitchFamily="18" charset="0"/>
                  </a:rPr>
                  <a:t>=&gt;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𝐻</m:t>
                            </m:r>
                          </m:e>
                          <m:sub>
                            <m:r>
                              <a:rPr lang="en-US" sz="2400" i="1">
                                <a:latin typeface="Cambria Math" panose="02040503050406030204" pitchFamily="18" charset="0"/>
                                <a:ea typeface="Cambria Math" panose="02040503050406030204" pitchFamily="18" charset="0"/>
                              </a:rPr>
                              <m:t>𝑟𝑥𝑛</m:t>
                            </m:r>
                          </m:sub>
                        </m:sSub>
                      </m:e>
                    </m:d>
                    <m:r>
                      <a:rPr lang="en-US" sz="2400" b="0" i="1" smtClean="0">
                        <a:latin typeface="Cambria Math" panose="02040503050406030204" pitchFamily="18" charset="0"/>
                        <a:ea typeface="Cambria Math" panose="02040503050406030204" pitchFamily="18" charset="0"/>
                      </a:rPr>
                      <m:t>=</m:t>
                    </m:r>
                    <m:nary>
                      <m:naryPr>
                        <m:ctrlPr>
                          <a:rPr lang="en-US" sz="2400" i="1">
                            <a:solidFill>
                              <a:srgbClr val="FF0000"/>
                            </a:solidFill>
                            <a:latin typeface="Cambria Math" panose="02040503050406030204" pitchFamily="18" charset="0"/>
                            <a:ea typeface="Cambria Math" panose="02040503050406030204" pitchFamily="18" charset="0"/>
                          </a:rPr>
                        </m:ctrlPr>
                      </m:naryPr>
                      <m:sub>
                        <m:sSup>
                          <m:sSupPr>
                            <m:ctrlPr>
                              <a:rPr lang="en-US" sz="2400" i="1">
                                <a:solidFill>
                                  <a:srgbClr val="FF0000"/>
                                </a:solidFill>
                                <a:latin typeface="Cambria Math" panose="02040503050406030204" pitchFamily="18" charset="0"/>
                                <a:ea typeface="Cambria Math" panose="02040503050406030204" pitchFamily="18" charset="0"/>
                              </a:rPr>
                            </m:ctrlPr>
                          </m:sSupPr>
                          <m:e>
                            <m:r>
                              <m:rPr>
                                <m:brk m:alnAt="23"/>
                              </m:rPr>
                              <a:rPr lang="en-US" sz="2400" i="1">
                                <a:solidFill>
                                  <a:srgbClr val="FF0000"/>
                                </a:solidFill>
                                <a:latin typeface="Cambria Math" panose="02040503050406030204" pitchFamily="18" charset="0"/>
                                <a:ea typeface="Cambria Math" panose="02040503050406030204" pitchFamily="18" charset="0"/>
                              </a:rPr>
                              <m:t>𝑇</m:t>
                            </m:r>
                          </m:e>
                          <m:sup>
                            <m:r>
                              <m:rPr>
                                <m:brk m:alnAt="23"/>
                              </m:rPr>
                              <a:rPr lang="en-US" sz="2400" i="1">
                                <a:solidFill>
                                  <a:srgbClr val="FF0000"/>
                                </a:solidFill>
                                <a:latin typeface="Cambria Math" panose="02040503050406030204" pitchFamily="18" charset="0"/>
                                <a:ea typeface="Cambria Math" panose="02040503050406030204" pitchFamily="18" charset="0"/>
                              </a:rPr>
                              <m:t>𝑜</m:t>
                            </m:r>
                          </m:sup>
                        </m:sSup>
                      </m:sub>
                      <m:sup>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𝑇</m:t>
                            </m:r>
                          </m:e>
                          <m:sup>
                            <m:r>
                              <a:rPr lang="en-US" sz="2400" i="1">
                                <a:solidFill>
                                  <a:srgbClr val="FF0000"/>
                                </a:solidFill>
                                <a:latin typeface="Cambria Math" panose="02040503050406030204" pitchFamily="18" charset="0"/>
                                <a:ea typeface="Cambria Math" panose="02040503050406030204" pitchFamily="18" charset="0"/>
                              </a:rPr>
                              <m:t>′</m:t>
                            </m:r>
                          </m:sup>
                        </m:sSup>
                      </m:sup>
                      <m:e>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i="1">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𝑑𝑇</m:t>
                        </m:r>
                      </m:e>
                    </m:nary>
                    <m:r>
                      <a:rPr lang="en-US" sz="2400" b="0" i="1" smtClean="0">
                        <a:solidFill>
                          <a:schemeClr val="tx1"/>
                        </a:solidFill>
                        <a:latin typeface="Cambria Math" panose="02040503050406030204" pitchFamily="18" charset="0"/>
                        <a:ea typeface="Cambria Math" panose="02040503050406030204" pitchFamily="18" charset="0"/>
                      </a:rPr>
                      <m:t>+</m:t>
                    </m:r>
                    <m:nary>
                      <m:naryPr>
                        <m:ctrlPr>
                          <a:rPr lang="en-US" sz="2400" i="1" smtClean="0">
                            <a:solidFill>
                              <a:schemeClr val="accent1"/>
                            </a:solidFill>
                            <a:latin typeface="Cambria Math" panose="02040503050406030204" pitchFamily="18" charset="0"/>
                            <a:ea typeface="Cambria Math" panose="02040503050406030204" pitchFamily="18" charset="0"/>
                          </a:rPr>
                        </m:ctrlPr>
                      </m:naryPr>
                      <m:sub>
                        <m:sSup>
                          <m:sSupPr>
                            <m:ctrlPr>
                              <a:rPr lang="en-US" sz="2400" i="1">
                                <a:solidFill>
                                  <a:schemeClr val="accent1"/>
                                </a:solidFill>
                                <a:latin typeface="Cambria Math" panose="02040503050406030204" pitchFamily="18" charset="0"/>
                                <a:ea typeface="Cambria Math" panose="02040503050406030204" pitchFamily="18" charset="0"/>
                              </a:rPr>
                            </m:ctrlPr>
                          </m:sSupPr>
                          <m:e>
                            <m:r>
                              <a:rPr lang="en-US" sz="2400" b="0" i="1" smtClean="0">
                                <a:solidFill>
                                  <a:schemeClr val="accent1"/>
                                </a:solidFill>
                                <a:latin typeface="Cambria Math" panose="02040503050406030204" pitchFamily="18" charset="0"/>
                                <a:ea typeface="Cambria Math" panose="02040503050406030204" pitchFamily="18" charset="0"/>
                              </a:rPr>
                              <m:t>𝑃</m:t>
                            </m:r>
                          </m:e>
                          <m:sup>
                            <m:r>
                              <m:rPr>
                                <m:brk m:alnAt="23"/>
                              </m:rPr>
                              <a:rPr lang="en-US" sz="2400" i="1">
                                <a:solidFill>
                                  <a:schemeClr val="accent1"/>
                                </a:solidFill>
                                <a:latin typeface="Cambria Math" panose="02040503050406030204" pitchFamily="18" charset="0"/>
                                <a:ea typeface="Cambria Math" panose="02040503050406030204" pitchFamily="18" charset="0"/>
                              </a:rPr>
                              <m:t>𝑜</m:t>
                            </m:r>
                          </m:sup>
                        </m:sSup>
                      </m:sub>
                      <m:sup>
                        <m:sSup>
                          <m:sSupPr>
                            <m:ctrlPr>
                              <a:rPr lang="en-US" sz="2400" b="0" i="1" smtClean="0">
                                <a:solidFill>
                                  <a:schemeClr val="accent1"/>
                                </a:solidFill>
                                <a:latin typeface="Cambria Math" panose="02040503050406030204" pitchFamily="18" charset="0"/>
                                <a:ea typeface="Cambria Math" panose="02040503050406030204" pitchFamily="18" charset="0"/>
                              </a:rPr>
                            </m:ctrlPr>
                          </m:sSupPr>
                          <m:e>
                            <m:r>
                              <a:rPr lang="en-US" sz="2400" b="0" i="1" smtClean="0">
                                <a:solidFill>
                                  <a:schemeClr val="accent1"/>
                                </a:solidFill>
                                <a:latin typeface="Cambria Math" panose="02040503050406030204" pitchFamily="18" charset="0"/>
                                <a:ea typeface="Cambria Math" panose="02040503050406030204" pitchFamily="18" charset="0"/>
                              </a:rPr>
                              <m:t>𝑃</m:t>
                            </m:r>
                          </m:e>
                          <m:sup>
                            <m:r>
                              <a:rPr lang="en-US" sz="2400" b="0" i="1" smtClean="0">
                                <a:solidFill>
                                  <a:schemeClr val="accent1"/>
                                </a:solidFill>
                                <a:latin typeface="Cambria Math" panose="02040503050406030204" pitchFamily="18" charset="0"/>
                                <a:ea typeface="Cambria Math" panose="02040503050406030204" pitchFamily="18" charset="0"/>
                              </a:rPr>
                              <m:t>′</m:t>
                            </m:r>
                          </m:sup>
                        </m:sSup>
                      </m:sup>
                      <m:e>
                        <m:sSub>
                          <m:sSubPr>
                            <m:ctrlPr>
                              <a:rPr lang="en-US" sz="2400" i="1">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𝑑</m:t>
                        </m:r>
                        <m:r>
                          <a:rPr lang="en-US" sz="2400" b="0" i="1" smtClean="0">
                            <a:solidFill>
                              <a:schemeClr val="accent1"/>
                            </a:solidFill>
                            <a:latin typeface="Cambria Math" panose="02040503050406030204" pitchFamily="18" charset="0"/>
                            <a:ea typeface="Cambria Math" panose="02040503050406030204" pitchFamily="18" charset="0"/>
                          </a:rPr>
                          <m:t>𝑃</m:t>
                        </m:r>
                      </m:e>
                    </m:nary>
                  </m:oMath>
                </a14:m>
                <a:endParaRPr lang="en-US" sz="2400" dirty="0">
                  <a:solidFill>
                    <a:schemeClr val="accent1"/>
                  </a:solidFill>
                  <a:ea typeface="Cambria Math" panose="02040503050406030204" pitchFamily="18" charset="0"/>
                </a:endParaRPr>
              </a:p>
              <a:p>
                <a:endParaRPr lang="en-US" sz="2400" dirty="0">
                  <a:ea typeface="Cambria Math" panose="02040503050406030204" pitchFamily="18" charset="0"/>
                </a:endParaRPr>
              </a:p>
              <a:p>
                <a:r>
                  <a:rPr lang="en-US" sz="2400" dirty="0">
                    <a:solidFill>
                      <a:srgbClr val="FF0000"/>
                    </a:solidFill>
                    <a:ea typeface="Cambria Math" panose="02040503050406030204" pitchFamily="18" charset="0"/>
                  </a:rPr>
                  <a:t>	</a:t>
                </a:r>
                <a:endParaRPr lang="en-US" sz="2400" b="0" dirty="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F13CF8D7-2EBC-3FB1-4656-FB5DD8BA97E7}"/>
                  </a:ext>
                </a:extLst>
              </p:cNvPr>
              <p:cNvSpPr txBox="1">
                <a:spLocks noRot="1" noChangeAspect="1" noMove="1" noResize="1" noEditPoints="1" noAdjustHandles="1" noChangeArrowheads="1" noChangeShapeType="1" noTextEdit="1"/>
              </p:cNvSpPr>
              <p:nvPr/>
            </p:nvSpPr>
            <p:spPr>
              <a:xfrm>
                <a:off x="310061" y="1468220"/>
                <a:ext cx="8753925" cy="2859116"/>
              </a:xfrm>
              <a:prstGeom prst="rect">
                <a:avLst/>
              </a:prstGeom>
              <a:blipFill>
                <a:blip r:embed="rId7"/>
                <a:stretch>
                  <a:fillRect l="-1159" t="-1327" b="-10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906F061-E7A4-29CA-44A2-881A36175C82}"/>
                  </a:ext>
                </a:extLst>
              </p:cNvPr>
              <p:cNvSpPr txBox="1"/>
              <p:nvPr/>
            </p:nvSpPr>
            <p:spPr>
              <a:xfrm>
                <a:off x="407432" y="4720650"/>
                <a:ext cx="4150983" cy="97193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i="1">
                              <a:solidFill>
                                <a:srgbClr val="FF0000"/>
                              </a:solidFill>
                              <a:latin typeface="Cambria Math" panose="02040503050406030204" pitchFamily="18" charset="0"/>
                              <a:ea typeface="Cambria Math" panose="02040503050406030204" pitchFamily="18" charset="0"/>
                            </a:rPr>
                            <m:t>𝑃</m:t>
                          </m:r>
                        </m:sub>
                      </m:sSub>
                      <m:nary>
                        <m:naryPr>
                          <m:ctrlPr>
                            <a:rPr lang="en-US" sz="2400" i="1">
                              <a:solidFill>
                                <a:srgbClr val="FF0000"/>
                              </a:solidFill>
                              <a:latin typeface="Cambria Math" panose="02040503050406030204" pitchFamily="18" charset="0"/>
                              <a:ea typeface="Cambria Math" panose="02040503050406030204" pitchFamily="18" charset="0"/>
                            </a:rPr>
                          </m:ctrlPr>
                        </m:naryPr>
                        <m:sub>
                          <m:sSup>
                            <m:sSupPr>
                              <m:ctrlPr>
                                <a:rPr lang="en-US" sz="2400" i="1">
                                  <a:solidFill>
                                    <a:srgbClr val="FF0000"/>
                                  </a:solidFill>
                                  <a:latin typeface="Cambria Math" panose="02040503050406030204" pitchFamily="18" charset="0"/>
                                  <a:ea typeface="Cambria Math" panose="02040503050406030204" pitchFamily="18" charset="0"/>
                                </a:rPr>
                              </m:ctrlPr>
                            </m:sSupPr>
                            <m:e>
                              <m:r>
                                <m:rPr>
                                  <m:brk m:alnAt="23"/>
                                </m:rPr>
                                <a:rPr lang="en-US" sz="2400" i="1">
                                  <a:solidFill>
                                    <a:srgbClr val="FF0000"/>
                                  </a:solidFill>
                                  <a:latin typeface="Cambria Math" panose="02040503050406030204" pitchFamily="18" charset="0"/>
                                  <a:ea typeface="Cambria Math" panose="02040503050406030204" pitchFamily="18" charset="0"/>
                                </a:rPr>
                                <m:t>𝑇</m:t>
                              </m:r>
                            </m:e>
                            <m:sup>
                              <m:r>
                                <m:rPr>
                                  <m:brk m:alnAt="23"/>
                                </m:rPr>
                                <a:rPr lang="en-US" sz="2400" i="1">
                                  <a:solidFill>
                                    <a:srgbClr val="FF0000"/>
                                  </a:solidFill>
                                  <a:latin typeface="Cambria Math" panose="02040503050406030204" pitchFamily="18" charset="0"/>
                                  <a:ea typeface="Cambria Math" panose="02040503050406030204" pitchFamily="18" charset="0"/>
                                </a:rPr>
                                <m:t>𝑜</m:t>
                              </m:r>
                            </m:sup>
                          </m:sSup>
                        </m:sub>
                        <m:sup>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𝑇</m:t>
                              </m:r>
                            </m:e>
                            <m:sup>
                              <m:r>
                                <a:rPr lang="en-US" sz="2400" i="1">
                                  <a:solidFill>
                                    <a:srgbClr val="FF0000"/>
                                  </a:solidFill>
                                  <a:latin typeface="Cambria Math" panose="02040503050406030204" pitchFamily="18" charset="0"/>
                                  <a:ea typeface="Cambria Math" panose="02040503050406030204" pitchFamily="18" charset="0"/>
                                </a:rPr>
                                <m:t>′</m:t>
                              </m:r>
                            </m:sup>
                          </m:sSup>
                        </m:sup>
                        <m:e>
                          <m:r>
                            <a:rPr lang="en-US" sz="2400" i="1">
                              <a:solidFill>
                                <a:srgbClr val="FF0000"/>
                              </a:solidFill>
                              <a:latin typeface="Cambria Math" panose="02040503050406030204" pitchFamily="18" charset="0"/>
                              <a:ea typeface="Cambria Math" panose="02040503050406030204" pitchFamily="18" charset="0"/>
                            </a:rPr>
                            <m:t>𝑑𝑇</m:t>
                          </m:r>
                        </m:e>
                      </m:nary>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i="1">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𝑇</m:t>
                      </m:r>
                    </m:oMath>
                  </m:oMathPara>
                </a14:m>
                <a:endParaRPr lang="en-US" sz="2400" dirty="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1906F061-E7A4-29CA-44A2-881A36175C82}"/>
                  </a:ext>
                </a:extLst>
              </p:cNvPr>
              <p:cNvSpPr txBox="1">
                <a:spLocks noRot="1" noChangeAspect="1" noMove="1" noResize="1" noEditPoints="1" noAdjustHandles="1" noChangeArrowheads="1" noChangeShapeType="1" noTextEdit="1"/>
              </p:cNvSpPr>
              <p:nvPr/>
            </p:nvSpPr>
            <p:spPr>
              <a:xfrm>
                <a:off x="407432" y="4720650"/>
                <a:ext cx="4150983" cy="971933"/>
              </a:xfrm>
              <a:prstGeom prst="rect">
                <a:avLst/>
              </a:prstGeom>
              <a:blipFill>
                <a:blip r:embed="rId9"/>
                <a:stretch>
                  <a:fillRect l="-8841" t="-144872" b="-223077"/>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E5C5D80D-7679-5D60-4FBD-7E4589DA3D84}"/>
              </a:ext>
            </a:extLst>
          </p:cNvPr>
          <p:cNvCxnSpPr>
            <a:cxnSpLocks/>
          </p:cNvCxnSpPr>
          <p:nvPr/>
        </p:nvCxnSpPr>
        <p:spPr>
          <a:xfrm flipH="1">
            <a:off x="1683657" y="3893590"/>
            <a:ext cx="595086" cy="8270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DF35304-E1B4-DB42-4279-D1F2242F2826}"/>
                  </a:ext>
                </a:extLst>
              </p:cNvPr>
              <p:cNvSpPr txBox="1"/>
              <p:nvPr/>
            </p:nvSpPr>
            <p:spPr>
              <a:xfrm>
                <a:off x="2124193" y="3983954"/>
                <a:ext cx="3355566" cy="923330"/>
              </a:xfrm>
              <a:prstGeom prst="rect">
                <a:avLst/>
              </a:prstGeom>
              <a:noFill/>
            </p:spPr>
            <p:txBody>
              <a:bodyPr wrap="square" rtlCol="0">
                <a:spAutoFit/>
              </a:bodyPr>
              <a:lstStyle/>
              <a:p>
                <a:r>
                  <a:rPr lang="en-US" dirty="0"/>
                  <a:t>Along an isobar, assuming temperature-independent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𝐶</m:t>
                        </m:r>
                      </m:e>
                      <m:sub>
                        <m:r>
                          <a:rPr lang="en-US" b="0" i="1" smtClean="0">
                            <a:latin typeface="Cambria Math" panose="02040503050406030204" pitchFamily="18" charset="0"/>
                          </a:rPr>
                          <m:t>𝑃</m:t>
                        </m:r>
                      </m:sub>
                    </m:sSub>
                  </m:oMath>
                </a14:m>
                <a:r>
                  <a:rPr lang="en-US" dirty="0"/>
                  <a:t> (“Kirchoff’s Law”)</a:t>
                </a:r>
              </a:p>
            </p:txBody>
          </p:sp>
        </mc:Choice>
        <mc:Fallback xmlns="">
          <p:sp>
            <p:nvSpPr>
              <p:cNvPr id="31" name="TextBox 30">
                <a:extLst>
                  <a:ext uri="{FF2B5EF4-FFF2-40B4-BE49-F238E27FC236}">
                    <a16:creationId xmlns:a16="http://schemas.microsoft.com/office/drawing/2014/main" id="{CDF35304-E1B4-DB42-4279-D1F2242F2826}"/>
                  </a:ext>
                </a:extLst>
              </p:cNvPr>
              <p:cNvSpPr txBox="1">
                <a:spLocks noRot="1" noChangeAspect="1" noMove="1" noResize="1" noEditPoints="1" noAdjustHandles="1" noChangeArrowheads="1" noChangeShapeType="1" noTextEdit="1"/>
              </p:cNvSpPr>
              <p:nvPr/>
            </p:nvSpPr>
            <p:spPr>
              <a:xfrm>
                <a:off x="2124193" y="3983954"/>
                <a:ext cx="3355566" cy="923330"/>
              </a:xfrm>
              <a:prstGeom prst="rect">
                <a:avLst/>
              </a:prstGeom>
              <a:blipFill>
                <a:blip r:embed="rId10"/>
                <a:stretch>
                  <a:fillRect l="-1509" t="-2703" b="-9459"/>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E08A8EA8-4033-2C4A-0551-914F1962D670}"/>
              </a:ext>
            </a:extLst>
          </p:cNvPr>
          <p:cNvGrpSpPr/>
          <p:nvPr/>
        </p:nvGrpSpPr>
        <p:grpSpPr>
          <a:xfrm>
            <a:off x="7975518" y="3333878"/>
            <a:ext cx="3420141" cy="2450039"/>
            <a:chOff x="7975518" y="3333878"/>
            <a:chExt cx="3420141" cy="2450039"/>
          </a:xfrm>
        </p:grpSpPr>
        <p:grpSp>
          <p:nvGrpSpPr>
            <p:cNvPr id="15" name="Group 14">
              <a:extLst>
                <a:ext uri="{FF2B5EF4-FFF2-40B4-BE49-F238E27FC236}">
                  <a16:creationId xmlns:a16="http://schemas.microsoft.com/office/drawing/2014/main" id="{DDC0378B-F764-8A4A-F111-7408087BDBEB}"/>
                </a:ext>
              </a:extLst>
            </p:cNvPr>
            <p:cNvGrpSpPr/>
            <p:nvPr/>
          </p:nvGrpSpPr>
          <p:grpSpPr>
            <a:xfrm>
              <a:off x="7975518" y="3333878"/>
              <a:ext cx="3420141" cy="2450039"/>
              <a:chOff x="7975518" y="1322198"/>
              <a:chExt cx="3420141" cy="2450039"/>
            </a:xfrm>
          </p:grpSpPr>
          <p:grpSp>
            <p:nvGrpSpPr>
              <p:cNvPr id="22" name="Group 21">
                <a:extLst>
                  <a:ext uri="{FF2B5EF4-FFF2-40B4-BE49-F238E27FC236}">
                    <a16:creationId xmlns:a16="http://schemas.microsoft.com/office/drawing/2014/main" id="{8FF6F22F-EA66-49D3-0318-3415C7945C26}"/>
                  </a:ext>
                </a:extLst>
              </p:cNvPr>
              <p:cNvGrpSpPr/>
              <p:nvPr/>
            </p:nvGrpSpPr>
            <p:grpSpPr>
              <a:xfrm>
                <a:off x="7975518" y="1322198"/>
                <a:ext cx="3420141" cy="2450039"/>
                <a:chOff x="7975518" y="1299338"/>
                <a:chExt cx="3420141" cy="2450039"/>
              </a:xfrm>
            </p:grpSpPr>
            <p:grpSp>
              <p:nvGrpSpPr>
                <p:cNvPr id="24" name="Group 23">
                  <a:extLst>
                    <a:ext uri="{FF2B5EF4-FFF2-40B4-BE49-F238E27FC236}">
                      <a16:creationId xmlns:a16="http://schemas.microsoft.com/office/drawing/2014/main" id="{FE7E074C-29B2-15D7-6D07-3D748C6BEF64}"/>
                    </a:ext>
                  </a:extLst>
                </p:cNvPr>
                <p:cNvGrpSpPr/>
                <p:nvPr/>
              </p:nvGrpSpPr>
              <p:grpSpPr>
                <a:xfrm>
                  <a:off x="7975518" y="1299338"/>
                  <a:ext cx="3420141" cy="2450039"/>
                  <a:chOff x="8605537" y="1833465"/>
                  <a:chExt cx="3420141" cy="2450039"/>
                </a:xfrm>
              </p:grpSpPr>
              <p:pic>
                <p:nvPicPr>
                  <p:cNvPr id="26" name="Picture 25">
                    <a:extLst>
                      <a:ext uri="{FF2B5EF4-FFF2-40B4-BE49-F238E27FC236}">
                        <a16:creationId xmlns:a16="http://schemas.microsoft.com/office/drawing/2014/main" id="{78D6BC75-195A-8BB6-C4BE-FC7811C413A0}"/>
                      </a:ext>
                    </a:extLst>
                  </p:cNvPr>
                  <p:cNvPicPr>
                    <a:picLocks noChangeAspect="1"/>
                  </p:cNvPicPr>
                  <p:nvPr/>
                </p:nvPicPr>
                <p:blipFill>
                  <a:blip r:embed="rId11"/>
                  <a:stretch>
                    <a:fillRect/>
                  </a:stretch>
                </p:blipFill>
                <p:spPr>
                  <a:xfrm>
                    <a:off x="8605537" y="1833465"/>
                    <a:ext cx="3420141" cy="2450039"/>
                  </a:xfrm>
                  <a:prstGeom prst="rect">
                    <a:avLst/>
                  </a:prstGeom>
                </p:spPr>
              </p:pic>
              <p:cxnSp>
                <p:nvCxnSpPr>
                  <p:cNvPr id="28" name="Straight Arrow Connector 27">
                    <a:extLst>
                      <a:ext uri="{FF2B5EF4-FFF2-40B4-BE49-F238E27FC236}">
                        <a16:creationId xmlns:a16="http://schemas.microsoft.com/office/drawing/2014/main" id="{D45E9658-F5A8-2CA1-EDD3-019045C0DEF9}"/>
                      </a:ext>
                    </a:extLst>
                  </p:cNvPr>
                  <p:cNvCxnSpPr>
                    <a:cxnSpLocks/>
                  </p:cNvCxnSpPr>
                  <p:nvPr/>
                </p:nvCxnSpPr>
                <p:spPr>
                  <a:xfrm flipV="1">
                    <a:off x="10104776" y="3670300"/>
                    <a:ext cx="1706224" cy="243339"/>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5" name="Straight Arrow Connector 24">
                  <a:extLst>
                    <a:ext uri="{FF2B5EF4-FFF2-40B4-BE49-F238E27FC236}">
                      <a16:creationId xmlns:a16="http://schemas.microsoft.com/office/drawing/2014/main" id="{3BE74A47-1A63-846C-254D-5575AADEE2F9}"/>
                    </a:ext>
                  </a:extLst>
                </p:cNvPr>
                <p:cNvCxnSpPr>
                  <a:cxnSpLocks/>
                </p:cNvCxnSpPr>
                <p:nvPr/>
              </p:nvCxnSpPr>
              <p:spPr>
                <a:xfrm flipV="1">
                  <a:off x="9480475" y="2404533"/>
                  <a:ext cx="0" cy="719433"/>
                </a:xfrm>
                <a:prstGeom prst="straightConnector1">
                  <a:avLst/>
                </a:prstGeom>
                <a:ln w="63500">
                  <a:solidFill>
                    <a:schemeClr val="accent3"/>
                  </a:solidFill>
                  <a:tailEnd type="stealth"/>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4C882DC3-770D-F7DC-124B-51DBBEEE8C14}"/>
                  </a:ext>
                </a:extLst>
              </p:cNvPr>
              <p:cNvCxnSpPr>
                <a:cxnSpLocks/>
              </p:cNvCxnSpPr>
              <p:nvPr/>
            </p:nvCxnSpPr>
            <p:spPr>
              <a:xfrm flipV="1">
                <a:off x="10183754" y="1475718"/>
                <a:ext cx="0" cy="406192"/>
              </a:xfrm>
              <a:prstGeom prst="straightConnector1">
                <a:avLst/>
              </a:prstGeom>
              <a:ln w="6350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7503B31-F28D-A27B-BA82-F692409B28CB}"/>
                    </a:ext>
                  </a:extLst>
                </p:cNvPr>
                <p:cNvSpPr txBox="1"/>
                <p:nvPr/>
              </p:nvSpPr>
              <p:spPr>
                <a:xfrm rot="20166424">
                  <a:off x="8540917" y="3708924"/>
                  <a:ext cx="237435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𝑝𝑟𝑜𝑑𝑢𝑐𝑡</m:t>
                        </m:r>
                        <m:r>
                          <a:rPr lang="en-US" sz="1800" b="0" i="1" smtClean="0">
                            <a:solidFill>
                              <a:srgbClr val="FF0000"/>
                            </a:solidFill>
                            <a:latin typeface="Cambria Math" panose="02040503050406030204" pitchFamily="18" charset="0"/>
                            <a:ea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17208085-00FA-E71E-ACD3-CB017497D9FE}"/>
                    </a:ext>
                  </a:extLst>
                </p:cNvPr>
                <p:cNvSpPr txBox="1">
                  <a:spLocks noRot="1" noChangeAspect="1" noMove="1" noResize="1" noEditPoints="1" noAdjustHandles="1" noChangeArrowheads="1" noChangeShapeType="1" noTextEdit="1"/>
                </p:cNvSpPr>
                <p:nvPr/>
              </p:nvSpPr>
              <p:spPr>
                <a:xfrm rot="20166424">
                  <a:off x="8540917" y="3708924"/>
                  <a:ext cx="237435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7046356-DF33-16F7-203F-C61B09DD57E9}"/>
                    </a:ext>
                  </a:extLst>
                </p:cNvPr>
                <p:cNvSpPr txBox="1"/>
                <p:nvPr/>
              </p:nvSpPr>
              <p:spPr>
                <a:xfrm rot="19155835">
                  <a:off x="9077905" y="4364881"/>
                  <a:ext cx="19802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𝑟𝑒𝑎𝑐𝑡𝑎𝑛𝑡</m:t>
                        </m:r>
                        <m:r>
                          <a:rPr lang="en-US" sz="1800" b="0" i="1" smtClean="0">
                            <a:solidFill>
                              <a:srgbClr val="FF0000"/>
                            </a:solidFill>
                            <a:latin typeface="Cambria Math" panose="02040503050406030204" pitchFamily="18" charset="0"/>
                            <a:ea typeface="Cambria Math" panose="02040503050406030204" pitchFamily="18" charset="0"/>
                          </a:rPr>
                          <m:t>𝑠</m:t>
                        </m:r>
                      </m:oMath>
                    </m:oMathPara>
                  </a14:m>
                  <a:endParaRPr lang="en-US" dirty="0"/>
                </a:p>
              </p:txBody>
            </p:sp>
          </mc:Choice>
          <mc:Fallback xmlns="">
            <p:sp>
              <p:nvSpPr>
                <p:cNvPr id="10" name="TextBox 9">
                  <a:extLst>
                    <a:ext uri="{FF2B5EF4-FFF2-40B4-BE49-F238E27FC236}">
                      <a16:creationId xmlns:a16="http://schemas.microsoft.com/office/drawing/2014/main" id="{D8CEE600-BDF4-337B-78A2-55DDFA9EBC74}"/>
                    </a:ext>
                  </a:extLst>
                </p:cNvPr>
                <p:cNvSpPr txBox="1">
                  <a:spLocks noRot="1" noChangeAspect="1" noMove="1" noResize="1" noEditPoints="1" noAdjustHandles="1" noChangeArrowheads="1" noChangeShapeType="1" noTextEdit="1"/>
                </p:cNvSpPr>
                <p:nvPr/>
              </p:nvSpPr>
              <p:spPr>
                <a:xfrm rot="19155835">
                  <a:off x="9077905" y="4364881"/>
                  <a:ext cx="1980247" cy="369332"/>
                </a:xfrm>
                <a:prstGeom prst="rect">
                  <a:avLst/>
                </a:prstGeom>
                <a:blipFill>
                  <a:blip r:embed="rId1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7DDC57ED-A046-3D92-38A6-E9F0E1110E3E}"/>
                </a:ext>
              </a:extLst>
            </p:cNvPr>
            <p:cNvCxnSpPr>
              <a:cxnSpLocks/>
            </p:cNvCxnSpPr>
            <p:nvPr/>
          </p:nvCxnSpPr>
          <p:spPr>
            <a:xfrm flipH="1" flipV="1">
              <a:off x="10197381" y="4753835"/>
              <a:ext cx="782945" cy="348743"/>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33FE523-DAD9-BCBD-2389-08BA9F00E70B}"/>
                  </a:ext>
                </a:extLst>
              </p:cNvPr>
              <p:cNvSpPr txBox="1"/>
              <p:nvPr/>
            </p:nvSpPr>
            <p:spPr>
              <a:xfrm>
                <a:off x="7736639" y="2173911"/>
                <a:ext cx="3897897" cy="5346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m:t>
                      </m:r>
                      <m:sSubSup>
                        <m:sSubSupPr>
                          <m:ctrlPr>
                            <a:rPr lang="en-US" sz="2400" i="1">
                              <a:solidFill>
                                <a:schemeClr val="accent1"/>
                              </a:solidFill>
                              <a:latin typeface="Cambria Math" panose="02040503050406030204" pitchFamily="18" charset="0"/>
                              <a:ea typeface="Cambria Math" panose="02040503050406030204" pitchFamily="18" charset="0"/>
                            </a:rPr>
                          </m:ctrlPr>
                        </m:sSubSupPr>
                        <m:e>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up>
                          <m:r>
                            <a:rPr lang="en-US" sz="2400" i="1">
                              <a:solidFill>
                                <a:schemeClr val="accent1"/>
                              </a:solidFill>
                              <a:latin typeface="Cambria Math" panose="02040503050406030204" pitchFamily="18" charset="0"/>
                              <a:ea typeface="Cambria Math" panose="02040503050406030204" pitchFamily="18" charset="0"/>
                            </a:rPr>
                            <m:t>𝑝𝑟𝑜𝑑𝑢𝑐𝑡𝑠</m:t>
                          </m:r>
                        </m:sup>
                      </m:sSubSup>
                      <m:r>
                        <a:rPr lang="en-US" sz="2400" i="1">
                          <a:solidFill>
                            <a:schemeClr val="accent1"/>
                          </a:solidFill>
                          <a:latin typeface="Cambria Math" panose="02040503050406030204" pitchFamily="18" charset="0"/>
                          <a:ea typeface="Cambria Math" panose="02040503050406030204" pitchFamily="18" charset="0"/>
                        </a:rPr>
                        <m:t>−</m:t>
                      </m:r>
                      <m:sSubSup>
                        <m:sSubSupPr>
                          <m:ctrlPr>
                            <a:rPr lang="en-US" sz="2400" i="1">
                              <a:solidFill>
                                <a:schemeClr val="accent1"/>
                              </a:solidFill>
                              <a:latin typeface="Cambria Math" panose="02040503050406030204" pitchFamily="18" charset="0"/>
                              <a:ea typeface="Cambria Math" panose="02040503050406030204" pitchFamily="18" charset="0"/>
                            </a:rPr>
                          </m:ctrlPr>
                        </m:sSubSupPr>
                        <m:e>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up>
                          <m:r>
                            <a:rPr lang="en-US" sz="2400" i="1">
                              <a:solidFill>
                                <a:schemeClr val="accent1"/>
                              </a:solidFill>
                              <a:latin typeface="Cambria Math" panose="02040503050406030204" pitchFamily="18" charset="0"/>
                              <a:ea typeface="Cambria Math" panose="02040503050406030204" pitchFamily="18" charset="0"/>
                            </a:rPr>
                            <m:t>𝑟𝑒𝑎𝑐𝑡𝑎𝑛𝑡𝑠</m:t>
                          </m:r>
                        </m:sup>
                      </m:sSubSup>
                    </m:oMath>
                  </m:oMathPara>
                </a14:m>
                <a:endParaRPr lang="en-US" sz="2400" dirty="0"/>
              </a:p>
            </p:txBody>
          </p:sp>
        </mc:Choice>
        <mc:Fallback xmlns="">
          <p:sp>
            <p:nvSpPr>
              <p:cNvPr id="29" name="TextBox 28">
                <a:extLst>
                  <a:ext uri="{FF2B5EF4-FFF2-40B4-BE49-F238E27FC236}">
                    <a16:creationId xmlns:a16="http://schemas.microsoft.com/office/drawing/2014/main" id="{F33FE523-DAD9-BCBD-2389-08BA9F00E70B}"/>
                  </a:ext>
                </a:extLst>
              </p:cNvPr>
              <p:cNvSpPr txBox="1">
                <a:spLocks noRot="1" noChangeAspect="1" noMove="1" noResize="1" noEditPoints="1" noAdjustHandles="1" noChangeArrowheads="1" noChangeShapeType="1" noTextEdit="1"/>
              </p:cNvSpPr>
              <p:nvPr/>
            </p:nvSpPr>
            <p:spPr>
              <a:xfrm>
                <a:off x="7736639" y="2173911"/>
                <a:ext cx="3897897" cy="534698"/>
              </a:xfrm>
              <a:prstGeom prst="rect">
                <a:avLst/>
              </a:prstGeom>
              <a:blipFill>
                <a:blip r:embed="rId13"/>
                <a:stretch>
                  <a:fillRect b="-4651"/>
                </a:stretch>
              </a:blipFill>
            </p:spPr>
            <p:txBody>
              <a:bodyPr/>
              <a:lstStyle/>
              <a:p>
                <a:r>
                  <a:rPr lang="en-US">
                    <a:noFill/>
                  </a:rPr>
                  <a:t> </a:t>
                </a:r>
              </a:p>
            </p:txBody>
          </p:sp>
        </mc:Fallback>
      </mc:AlternateContent>
    </p:spTree>
    <p:extLst>
      <p:ext uri="{BB962C8B-B14F-4D97-AF65-F5344CB8AC3E}">
        <p14:creationId xmlns:p14="http://schemas.microsoft.com/office/powerpoint/2010/main" val="48722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E3F3EC0-AFFD-7640-A054-CF5F5B92A74C}"/>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t>Recap: Quantitative predictions using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r>
                      <a:rPr lang="en-US" sz="2400" b="1" i="1">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up>
                        <m:r>
                          <a:rPr lang="en-US" sz="2400" b="1" i="1">
                            <a:latin typeface="Cambria Math" panose="02040503050406030204" pitchFamily="18" charset="0"/>
                            <a:ea typeface="Cambria Math" panose="02040503050406030204" pitchFamily="18" charset="0"/>
                          </a:rPr>
                          <m:t>𝒐</m:t>
                        </m:r>
                      </m:sup>
                    </m:sSubSup>
                    <m:r>
                      <a:rPr lang="en-US" sz="2400" b="1" i="1">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e>
                    </m:d>
                  </m:oMath>
                </a14:m>
                <a:r>
                  <a:rPr lang="en-US" sz="2400" b="1" i="1" dirty="0"/>
                  <a:t> </a:t>
                </a:r>
              </a:p>
            </p:txBody>
          </p:sp>
        </mc:Choice>
        <mc:Fallback>
          <p:sp>
            <p:nvSpPr>
              <p:cNvPr id="19" name="TextBox 18">
                <a:extLst>
                  <a:ext uri="{FF2B5EF4-FFF2-40B4-BE49-F238E27FC236}">
                    <a16:creationId xmlns:a16="http://schemas.microsoft.com/office/drawing/2014/main" id="{BE3F3EC0-AFFD-7640-A054-CF5F5B92A74C}"/>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0010AC-5F98-D8FD-D093-6F677811FA33}"/>
                  </a:ext>
                </a:extLst>
              </p:cNvPr>
              <p:cNvSpPr txBox="1"/>
              <p:nvPr/>
            </p:nvSpPr>
            <p:spPr>
              <a:xfrm>
                <a:off x="7781064" y="2755294"/>
                <a:ext cx="4311967" cy="534698"/>
              </a:xfrm>
              <a:prstGeom prst="rect">
                <a:avLst/>
              </a:prstGeom>
              <a:noFill/>
            </p:spPr>
            <p:txBody>
              <a:bodyPr wrap="square">
                <a:spAutoFit/>
              </a:bodyPr>
              <a:lstStyle/>
              <a:p>
                <a14:m>
                  <m:oMath xmlns:m="http://schemas.openxmlformats.org/officeDocument/2006/math">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up>
                        <m:r>
                          <a:rPr lang="en-US" sz="2400" i="1">
                            <a:solidFill>
                              <a:srgbClr val="FF0000"/>
                            </a:solidFill>
                            <a:latin typeface="Cambria Math" panose="02040503050406030204" pitchFamily="18" charset="0"/>
                            <a:ea typeface="Cambria Math" panose="02040503050406030204" pitchFamily="18" charset="0"/>
                          </a:rPr>
                          <m:t>𝑝𝑟𝑜𝑑𝑢𝑐𝑡𝑠</m:t>
                        </m:r>
                      </m:sup>
                    </m:sSubSup>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𝐶</m:t>
                        </m:r>
                      </m:e>
                      <m:sub>
                        <m:r>
                          <a:rPr lang="en-US" sz="2400" b="0" i="1" smtClean="0">
                            <a:solidFill>
                              <a:srgbClr val="FF0000"/>
                            </a:solidFill>
                            <a:latin typeface="Cambria Math" panose="02040503050406030204" pitchFamily="18" charset="0"/>
                            <a:ea typeface="Cambria Math" panose="02040503050406030204" pitchFamily="18" charset="0"/>
                          </a:rPr>
                          <m:t>𝑃</m:t>
                        </m:r>
                      </m:sub>
                      <m:sup>
                        <m:r>
                          <a:rPr lang="en-US" sz="2400" i="1" smtClean="0">
                            <a:solidFill>
                              <a:srgbClr val="FF0000"/>
                            </a:solidFill>
                            <a:latin typeface="Cambria Math" panose="02040503050406030204" pitchFamily="18" charset="0"/>
                            <a:ea typeface="Cambria Math" panose="02040503050406030204" pitchFamily="18" charset="0"/>
                          </a:rPr>
                          <m:t>𝑟𝑒𝑎𝑐𝑡𝑎𝑛𝑡</m:t>
                        </m:r>
                        <m:r>
                          <a:rPr lang="en-US" sz="2400" i="1">
                            <a:solidFill>
                              <a:srgbClr val="FF0000"/>
                            </a:solidFill>
                            <a:latin typeface="Cambria Math" panose="02040503050406030204" pitchFamily="18" charset="0"/>
                            <a:ea typeface="Cambria Math" panose="02040503050406030204" pitchFamily="18" charset="0"/>
                          </a:rPr>
                          <m:t>𝑠</m:t>
                        </m:r>
                      </m:sup>
                    </m:sSubSup>
                  </m:oMath>
                </a14:m>
                <a:r>
                  <a:rPr lang="en-US" sz="2400" dirty="0"/>
                  <a:t> </a:t>
                </a:r>
              </a:p>
            </p:txBody>
          </p:sp>
        </mc:Choice>
        <mc:Fallback xmlns="">
          <p:sp>
            <p:nvSpPr>
              <p:cNvPr id="6" name="TextBox 5">
                <a:extLst>
                  <a:ext uri="{FF2B5EF4-FFF2-40B4-BE49-F238E27FC236}">
                    <a16:creationId xmlns:a16="http://schemas.microsoft.com/office/drawing/2014/main" id="{650010AC-5F98-D8FD-D093-6F677811FA33}"/>
                  </a:ext>
                </a:extLst>
              </p:cNvPr>
              <p:cNvSpPr txBox="1">
                <a:spLocks noRot="1" noChangeAspect="1" noMove="1" noResize="1" noEditPoints="1" noAdjustHandles="1" noChangeArrowheads="1" noChangeShapeType="1" noTextEdit="1"/>
              </p:cNvSpPr>
              <p:nvPr/>
            </p:nvSpPr>
            <p:spPr>
              <a:xfrm>
                <a:off x="7781064" y="2755294"/>
                <a:ext cx="4311967" cy="534698"/>
              </a:xfrm>
              <a:prstGeom prst="rect">
                <a:avLst/>
              </a:prstGeom>
              <a:blipFill>
                <a:blip r:embed="rId3"/>
                <a:stretch>
                  <a:fillRect l="-293"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13CF8D7-2EBC-3FB1-4656-FB5DD8BA97E7}"/>
                  </a:ext>
                </a:extLst>
              </p:cNvPr>
              <p:cNvSpPr txBox="1"/>
              <p:nvPr/>
            </p:nvSpPr>
            <p:spPr>
              <a:xfrm>
                <a:off x="310061" y="1468220"/>
                <a:ext cx="8753925" cy="2859116"/>
              </a:xfrm>
              <a:prstGeom prst="rect">
                <a:avLst/>
              </a:prstGeom>
              <a:noFill/>
            </p:spPr>
            <p:txBody>
              <a:bodyPr wrap="square" rtlCol="0">
                <a:spAutoFit/>
              </a:bodyPr>
              <a:lstStyle/>
              <a:p>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𝑑𝐻</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𝐶</m:t>
                        </m:r>
                      </m:e>
                      <m:sub>
                        <m:r>
                          <a:rPr lang="en-US" sz="2400" b="0" i="1" smtClean="0">
                            <a:solidFill>
                              <a:srgbClr val="C00000"/>
                            </a:solidFill>
                            <a:latin typeface="Cambria Math" panose="02040503050406030204" pitchFamily="18" charset="0"/>
                            <a:ea typeface="Cambria Math" panose="02040503050406030204" pitchFamily="18" charset="0"/>
                          </a:rPr>
                          <m:t>𝑃</m:t>
                        </m:r>
                      </m:sub>
                    </m:sSub>
                    <m:r>
                      <a:rPr lang="en-US" sz="2400" i="1" smtClean="0">
                        <a:solidFill>
                          <a:srgbClr val="C00000"/>
                        </a:solidFill>
                        <a:latin typeface="Cambria Math" panose="02040503050406030204" pitchFamily="18" charset="0"/>
                        <a:ea typeface="Cambria Math" panose="02040503050406030204" pitchFamily="18" charset="0"/>
                      </a:rPr>
                      <m:t>𝑑</m:t>
                    </m:r>
                    <m:r>
                      <a:rPr lang="en-US" sz="2400" b="0" i="1" smtClean="0">
                        <a:solidFill>
                          <a:srgbClr val="C00000"/>
                        </a:solidFill>
                        <a:latin typeface="Cambria Math" panose="02040503050406030204" pitchFamily="18" charset="0"/>
                        <a:ea typeface="Cambria Math" panose="02040503050406030204" pitchFamily="18" charset="0"/>
                      </a:rPr>
                      <m:t>𝑇</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𝜇</m:t>
                        </m:r>
                      </m:e>
                      <m:sub>
                        <m:r>
                          <a:rPr lang="en-US" sz="2400" b="0" i="1" smtClean="0">
                            <a:solidFill>
                              <a:schemeClr val="accent1"/>
                            </a:solidFill>
                            <a:latin typeface="Cambria Math" panose="02040503050406030204" pitchFamily="18" charset="0"/>
                            <a:ea typeface="Cambria Math" panose="02040503050406030204" pitchFamily="18" charset="0"/>
                          </a:rPr>
                          <m:t>𝑇</m:t>
                        </m:r>
                      </m:sub>
                    </m:sSub>
                    <m:r>
                      <a:rPr lang="en-US" sz="2400" b="0" i="1" smtClean="0">
                        <a:solidFill>
                          <a:schemeClr val="accent1"/>
                        </a:solidFill>
                        <a:latin typeface="Cambria Math" panose="02040503050406030204" pitchFamily="18" charset="0"/>
                        <a:ea typeface="Cambria Math" panose="02040503050406030204" pitchFamily="18" charset="0"/>
                      </a:rPr>
                      <m:t>𝑑𝑃</m:t>
                    </m:r>
                  </m:oMath>
                </a14:m>
                <a:r>
                  <a:rPr lang="en-US" sz="2400" i="1" dirty="0">
                    <a:solidFill>
                      <a:schemeClr val="accent1"/>
                    </a:solidFill>
                    <a:ea typeface="Cambria Math" panose="02040503050406030204" pitchFamily="18" charset="0"/>
                  </a:rPr>
                  <a:t> </a:t>
                </a:r>
                <a:r>
                  <a:rPr lang="en-US" sz="2400" dirty="0">
                    <a:ea typeface="Cambria Math" panose="02040503050406030204" pitchFamily="18" charset="0"/>
                  </a:rPr>
                  <a:t>for each surface (reactants and products)</a:t>
                </a:r>
                <a:endParaRPr lang="en-US" sz="2400" dirty="0">
                  <a:solidFill>
                    <a:schemeClr val="tx1"/>
                  </a:solidFill>
                  <a:ea typeface="Cambria Math" panose="02040503050406030204" pitchFamily="18" charset="0"/>
                </a:endParaRPr>
              </a:p>
              <a:p>
                <a:endParaRPr lang="en-US" sz="2400" i="1" dirty="0">
                  <a:solidFill>
                    <a:schemeClr val="tx1"/>
                  </a:solidFill>
                  <a:latin typeface="Cambria Math" panose="02040503050406030204" pitchFamily="18" charset="0"/>
                  <a:ea typeface="Cambria Math" panose="02040503050406030204" pitchFamily="18" charset="0"/>
                </a:endParaRPr>
              </a:p>
              <a:p>
                <a:r>
                  <a:rPr lang="en-US" sz="2400" dirty="0">
                    <a:ea typeface="Cambria Math" panose="02040503050406030204" pitchFamily="18" charset="0"/>
                  </a:rPr>
                  <a:t>=&gt;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𝑑</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𝐻</m:t>
                        </m:r>
                      </m:e>
                      <m:sub>
                        <m:r>
                          <a:rPr lang="en-US" sz="2400" b="0" i="1" smtClean="0">
                            <a:solidFill>
                              <a:schemeClr val="tx1"/>
                            </a:solidFill>
                            <a:latin typeface="Cambria Math" panose="02040503050406030204" pitchFamily="18" charset="0"/>
                            <a:ea typeface="Cambria Math" panose="02040503050406030204" pitchFamily="18" charset="0"/>
                          </a:rPr>
                          <m:t>𝑟𝑥𝑛</m:t>
                        </m:r>
                      </m:sub>
                    </m:sSub>
                    <m:r>
                      <a:rPr lang="en-US" sz="2400" i="1">
                        <a:latin typeface="Cambria Math" panose="02040503050406030204" pitchFamily="18" charset="0"/>
                        <a:ea typeface="Cambria Math" panose="02040503050406030204" pitchFamily="18" charset="0"/>
                      </a:rPr>
                      <m:t>=</m:t>
                    </m:r>
                    <m:r>
                      <a:rPr lang="en-US" sz="2400" i="1" smtClean="0">
                        <a:solidFill>
                          <a:srgbClr val="C00000"/>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𝐶</m:t>
                        </m:r>
                      </m:e>
                      <m:sub>
                        <m:r>
                          <a:rPr lang="en-US" sz="2400" b="0" i="1" smtClean="0">
                            <a:solidFill>
                              <a:srgbClr val="C00000"/>
                            </a:solidFill>
                            <a:latin typeface="Cambria Math" panose="02040503050406030204" pitchFamily="18" charset="0"/>
                            <a:ea typeface="Cambria Math" panose="02040503050406030204" pitchFamily="18" charset="0"/>
                          </a:rPr>
                          <m:t>𝑃</m:t>
                        </m:r>
                      </m:sub>
                    </m:sSub>
                    <m:r>
                      <a:rPr lang="en-US" sz="2400" b="0" i="1" smtClean="0">
                        <a:solidFill>
                          <a:srgbClr val="C00000"/>
                        </a:solidFill>
                        <a:latin typeface="Cambria Math" panose="02040503050406030204" pitchFamily="18" charset="0"/>
                        <a:ea typeface="Cambria Math" panose="02040503050406030204" pitchFamily="18" charset="0"/>
                      </a:rPr>
                      <m:t>𝑑𝑇</m:t>
                    </m:r>
                    <m:r>
                      <a:rPr lang="en-US" sz="2400" b="0" i="1" smtClean="0">
                        <a:latin typeface="Cambria Math" panose="02040503050406030204" pitchFamily="18" charset="0"/>
                        <a:ea typeface="Cambria Math" panose="02040503050406030204" pitchFamily="18" charset="0"/>
                      </a:rPr>
                      <m:t>+</m:t>
                    </m:r>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𝑑</m:t>
                    </m:r>
                    <m:r>
                      <a:rPr lang="en-US" sz="2400" b="0" i="1" smtClean="0">
                        <a:solidFill>
                          <a:schemeClr val="accent1"/>
                        </a:solidFill>
                        <a:latin typeface="Cambria Math" panose="02040503050406030204" pitchFamily="18" charset="0"/>
                        <a:ea typeface="Cambria Math" panose="02040503050406030204" pitchFamily="18" charset="0"/>
                      </a:rPr>
                      <m:t>𝑃</m:t>
                    </m:r>
                  </m:oMath>
                </a14:m>
                <a:endParaRPr lang="en-US" sz="2400" dirty="0">
                  <a:solidFill>
                    <a:schemeClr val="accent1"/>
                  </a:solidFill>
                  <a:ea typeface="Cambria Math" panose="02040503050406030204" pitchFamily="18" charset="0"/>
                </a:endParaRPr>
              </a:p>
              <a:p>
                <a:endParaRPr lang="en-US" sz="2400" dirty="0">
                  <a:solidFill>
                    <a:schemeClr val="accent1"/>
                  </a:solidFill>
                  <a:ea typeface="Cambria Math" panose="02040503050406030204" pitchFamily="18" charset="0"/>
                </a:endParaRPr>
              </a:p>
              <a:p>
                <a:r>
                  <a:rPr lang="en-US" sz="2400" dirty="0">
                    <a:ea typeface="Cambria Math" panose="02040503050406030204" pitchFamily="18" charset="0"/>
                  </a:rPr>
                  <a:t>=&gt;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𝐻</m:t>
                            </m:r>
                          </m:e>
                          <m:sub>
                            <m:r>
                              <a:rPr lang="en-US" sz="2400" i="1">
                                <a:latin typeface="Cambria Math" panose="02040503050406030204" pitchFamily="18" charset="0"/>
                                <a:ea typeface="Cambria Math" panose="02040503050406030204" pitchFamily="18" charset="0"/>
                              </a:rPr>
                              <m:t>𝑟𝑥𝑛</m:t>
                            </m:r>
                          </m:sub>
                        </m:sSub>
                      </m:e>
                    </m:d>
                    <m:r>
                      <a:rPr lang="en-US" sz="2400" b="0" i="1" smtClean="0">
                        <a:latin typeface="Cambria Math" panose="02040503050406030204" pitchFamily="18" charset="0"/>
                        <a:ea typeface="Cambria Math" panose="02040503050406030204" pitchFamily="18" charset="0"/>
                      </a:rPr>
                      <m:t>=</m:t>
                    </m:r>
                    <m:nary>
                      <m:naryPr>
                        <m:ctrlPr>
                          <a:rPr lang="en-US" sz="2400" i="1">
                            <a:solidFill>
                              <a:srgbClr val="FF0000"/>
                            </a:solidFill>
                            <a:latin typeface="Cambria Math" panose="02040503050406030204" pitchFamily="18" charset="0"/>
                            <a:ea typeface="Cambria Math" panose="02040503050406030204" pitchFamily="18" charset="0"/>
                          </a:rPr>
                        </m:ctrlPr>
                      </m:naryPr>
                      <m:sub>
                        <m:sSup>
                          <m:sSupPr>
                            <m:ctrlPr>
                              <a:rPr lang="en-US" sz="2400" i="1">
                                <a:solidFill>
                                  <a:srgbClr val="FF0000"/>
                                </a:solidFill>
                                <a:latin typeface="Cambria Math" panose="02040503050406030204" pitchFamily="18" charset="0"/>
                                <a:ea typeface="Cambria Math" panose="02040503050406030204" pitchFamily="18" charset="0"/>
                              </a:rPr>
                            </m:ctrlPr>
                          </m:sSupPr>
                          <m:e>
                            <m:r>
                              <m:rPr>
                                <m:brk m:alnAt="23"/>
                              </m:rPr>
                              <a:rPr lang="en-US" sz="2400" i="1">
                                <a:solidFill>
                                  <a:srgbClr val="FF0000"/>
                                </a:solidFill>
                                <a:latin typeface="Cambria Math" panose="02040503050406030204" pitchFamily="18" charset="0"/>
                                <a:ea typeface="Cambria Math" panose="02040503050406030204" pitchFamily="18" charset="0"/>
                              </a:rPr>
                              <m:t>𝑇</m:t>
                            </m:r>
                          </m:e>
                          <m:sup>
                            <m:r>
                              <m:rPr>
                                <m:brk m:alnAt="23"/>
                              </m:rPr>
                              <a:rPr lang="en-US" sz="2400" i="1">
                                <a:solidFill>
                                  <a:srgbClr val="FF0000"/>
                                </a:solidFill>
                                <a:latin typeface="Cambria Math" panose="02040503050406030204" pitchFamily="18" charset="0"/>
                                <a:ea typeface="Cambria Math" panose="02040503050406030204" pitchFamily="18" charset="0"/>
                              </a:rPr>
                              <m:t>𝑜</m:t>
                            </m:r>
                          </m:sup>
                        </m:sSup>
                      </m:sub>
                      <m:sup>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𝑇</m:t>
                            </m:r>
                          </m:e>
                          <m:sup>
                            <m:r>
                              <a:rPr lang="en-US" sz="2400" i="1">
                                <a:solidFill>
                                  <a:srgbClr val="FF0000"/>
                                </a:solidFill>
                                <a:latin typeface="Cambria Math" panose="02040503050406030204" pitchFamily="18" charset="0"/>
                                <a:ea typeface="Cambria Math" panose="02040503050406030204" pitchFamily="18" charset="0"/>
                              </a:rPr>
                              <m:t>′</m:t>
                            </m:r>
                          </m:sup>
                        </m:sSup>
                      </m:sup>
                      <m:e>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𝐶</m:t>
                            </m:r>
                          </m:e>
                          <m:sub>
                            <m:r>
                              <a:rPr lang="en-US" sz="2400" i="1">
                                <a:solidFill>
                                  <a:srgbClr val="FF0000"/>
                                </a:solidFill>
                                <a:latin typeface="Cambria Math" panose="02040503050406030204" pitchFamily="18" charset="0"/>
                                <a:ea typeface="Cambria Math" panose="02040503050406030204" pitchFamily="18" charset="0"/>
                              </a:rPr>
                              <m:t>𝑃</m:t>
                            </m:r>
                          </m:sub>
                        </m:sSub>
                        <m:r>
                          <a:rPr lang="en-US" sz="2400" i="1">
                            <a:solidFill>
                              <a:srgbClr val="FF0000"/>
                            </a:solidFill>
                            <a:latin typeface="Cambria Math" panose="02040503050406030204" pitchFamily="18" charset="0"/>
                            <a:ea typeface="Cambria Math" panose="02040503050406030204" pitchFamily="18" charset="0"/>
                          </a:rPr>
                          <m:t>𝑑𝑇</m:t>
                        </m:r>
                      </m:e>
                    </m:nary>
                    <m:r>
                      <a:rPr lang="en-US" sz="2400" b="0" i="1" smtClean="0">
                        <a:solidFill>
                          <a:schemeClr val="tx1"/>
                        </a:solidFill>
                        <a:latin typeface="Cambria Math" panose="02040503050406030204" pitchFamily="18" charset="0"/>
                        <a:ea typeface="Cambria Math" panose="02040503050406030204" pitchFamily="18" charset="0"/>
                      </a:rPr>
                      <m:t>+</m:t>
                    </m:r>
                    <m:nary>
                      <m:naryPr>
                        <m:ctrlPr>
                          <a:rPr lang="en-US" sz="2400" i="1" smtClean="0">
                            <a:solidFill>
                              <a:schemeClr val="accent1"/>
                            </a:solidFill>
                            <a:latin typeface="Cambria Math" panose="02040503050406030204" pitchFamily="18" charset="0"/>
                            <a:ea typeface="Cambria Math" panose="02040503050406030204" pitchFamily="18" charset="0"/>
                          </a:rPr>
                        </m:ctrlPr>
                      </m:naryPr>
                      <m:sub>
                        <m:sSup>
                          <m:sSupPr>
                            <m:ctrlPr>
                              <a:rPr lang="en-US" sz="2400" i="1">
                                <a:solidFill>
                                  <a:schemeClr val="accent1"/>
                                </a:solidFill>
                                <a:latin typeface="Cambria Math" panose="02040503050406030204" pitchFamily="18" charset="0"/>
                                <a:ea typeface="Cambria Math" panose="02040503050406030204" pitchFamily="18" charset="0"/>
                              </a:rPr>
                            </m:ctrlPr>
                          </m:sSupPr>
                          <m:e>
                            <m:r>
                              <a:rPr lang="en-US" sz="2400" b="0" i="1" smtClean="0">
                                <a:solidFill>
                                  <a:schemeClr val="accent1"/>
                                </a:solidFill>
                                <a:latin typeface="Cambria Math" panose="02040503050406030204" pitchFamily="18" charset="0"/>
                                <a:ea typeface="Cambria Math" panose="02040503050406030204" pitchFamily="18" charset="0"/>
                              </a:rPr>
                              <m:t>𝑃</m:t>
                            </m:r>
                          </m:e>
                          <m:sup>
                            <m:r>
                              <m:rPr>
                                <m:brk m:alnAt="23"/>
                              </m:rPr>
                              <a:rPr lang="en-US" sz="2400" i="1">
                                <a:solidFill>
                                  <a:schemeClr val="accent1"/>
                                </a:solidFill>
                                <a:latin typeface="Cambria Math" panose="02040503050406030204" pitchFamily="18" charset="0"/>
                                <a:ea typeface="Cambria Math" panose="02040503050406030204" pitchFamily="18" charset="0"/>
                              </a:rPr>
                              <m:t>𝑜</m:t>
                            </m:r>
                          </m:sup>
                        </m:sSup>
                      </m:sub>
                      <m:sup>
                        <m:sSup>
                          <m:sSupPr>
                            <m:ctrlPr>
                              <a:rPr lang="en-US" sz="2400" b="0" i="1" smtClean="0">
                                <a:solidFill>
                                  <a:schemeClr val="accent1"/>
                                </a:solidFill>
                                <a:latin typeface="Cambria Math" panose="02040503050406030204" pitchFamily="18" charset="0"/>
                                <a:ea typeface="Cambria Math" panose="02040503050406030204" pitchFamily="18" charset="0"/>
                              </a:rPr>
                            </m:ctrlPr>
                          </m:sSupPr>
                          <m:e>
                            <m:r>
                              <a:rPr lang="en-US" sz="2400" b="0" i="1" smtClean="0">
                                <a:solidFill>
                                  <a:schemeClr val="accent1"/>
                                </a:solidFill>
                                <a:latin typeface="Cambria Math" panose="02040503050406030204" pitchFamily="18" charset="0"/>
                                <a:ea typeface="Cambria Math" panose="02040503050406030204" pitchFamily="18" charset="0"/>
                              </a:rPr>
                              <m:t>𝑃</m:t>
                            </m:r>
                          </m:e>
                          <m:sup>
                            <m:r>
                              <a:rPr lang="en-US" sz="2400" b="0" i="1" smtClean="0">
                                <a:solidFill>
                                  <a:schemeClr val="accent1"/>
                                </a:solidFill>
                                <a:latin typeface="Cambria Math" panose="02040503050406030204" pitchFamily="18" charset="0"/>
                                <a:ea typeface="Cambria Math" panose="02040503050406030204" pitchFamily="18" charset="0"/>
                              </a:rPr>
                              <m:t>′</m:t>
                            </m:r>
                          </m:sup>
                        </m:sSup>
                      </m:sup>
                      <m:e>
                        <m:sSub>
                          <m:sSubPr>
                            <m:ctrlPr>
                              <a:rPr lang="en-US" sz="2400" i="1">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𝑑</m:t>
                        </m:r>
                        <m:r>
                          <a:rPr lang="en-US" sz="2400" b="0" i="1" smtClean="0">
                            <a:solidFill>
                              <a:schemeClr val="accent1"/>
                            </a:solidFill>
                            <a:latin typeface="Cambria Math" panose="02040503050406030204" pitchFamily="18" charset="0"/>
                            <a:ea typeface="Cambria Math" panose="02040503050406030204" pitchFamily="18" charset="0"/>
                          </a:rPr>
                          <m:t>𝑃</m:t>
                        </m:r>
                      </m:e>
                    </m:nary>
                  </m:oMath>
                </a14:m>
                <a:endParaRPr lang="en-US" sz="2400" dirty="0">
                  <a:solidFill>
                    <a:schemeClr val="accent1"/>
                  </a:solidFill>
                  <a:ea typeface="Cambria Math" panose="02040503050406030204" pitchFamily="18" charset="0"/>
                </a:endParaRPr>
              </a:p>
              <a:p>
                <a:endParaRPr lang="en-US" sz="2400" dirty="0">
                  <a:ea typeface="Cambria Math" panose="02040503050406030204" pitchFamily="18" charset="0"/>
                </a:endParaRPr>
              </a:p>
              <a:p>
                <a:r>
                  <a:rPr lang="en-US" sz="2400" dirty="0">
                    <a:solidFill>
                      <a:srgbClr val="FF0000"/>
                    </a:solidFill>
                    <a:ea typeface="Cambria Math" panose="02040503050406030204" pitchFamily="18" charset="0"/>
                  </a:rPr>
                  <a:t>	</a:t>
                </a:r>
                <a:endParaRPr lang="en-US" sz="2400" b="0" dirty="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F13CF8D7-2EBC-3FB1-4656-FB5DD8BA97E7}"/>
                  </a:ext>
                </a:extLst>
              </p:cNvPr>
              <p:cNvSpPr txBox="1">
                <a:spLocks noRot="1" noChangeAspect="1" noMove="1" noResize="1" noEditPoints="1" noAdjustHandles="1" noChangeArrowheads="1" noChangeShapeType="1" noTextEdit="1"/>
              </p:cNvSpPr>
              <p:nvPr/>
            </p:nvSpPr>
            <p:spPr>
              <a:xfrm>
                <a:off x="310061" y="1468220"/>
                <a:ext cx="8753925" cy="2859116"/>
              </a:xfrm>
              <a:prstGeom prst="rect">
                <a:avLst/>
              </a:prstGeom>
              <a:blipFill>
                <a:blip r:embed="rId4"/>
                <a:stretch>
                  <a:fillRect l="-1159" t="-1327" b="-10619"/>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55F03FE9-5AC2-A3B1-FBB9-40A47D9A7A32}"/>
              </a:ext>
            </a:extLst>
          </p:cNvPr>
          <p:cNvGrpSpPr/>
          <p:nvPr/>
        </p:nvGrpSpPr>
        <p:grpSpPr>
          <a:xfrm>
            <a:off x="7975518" y="3333878"/>
            <a:ext cx="3420141" cy="2450039"/>
            <a:chOff x="7975518" y="3333878"/>
            <a:chExt cx="3420141" cy="2450039"/>
          </a:xfrm>
        </p:grpSpPr>
        <p:grpSp>
          <p:nvGrpSpPr>
            <p:cNvPr id="3" name="Group 2">
              <a:extLst>
                <a:ext uri="{FF2B5EF4-FFF2-40B4-BE49-F238E27FC236}">
                  <a16:creationId xmlns:a16="http://schemas.microsoft.com/office/drawing/2014/main" id="{E1151BEB-5283-F366-98BC-6F65AE3F39BE}"/>
                </a:ext>
              </a:extLst>
            </p:cNvPr>
            <p:cNvGrpSpPr/>
            <p:nvPr/>
          </p:nvGrpSpPr>
          <p:grpSpPr>
            <a:xfrm>
              <a:off x="7975518" y="3333878"/>
              <a:ext cx="3420141" cy="2450039"/>
              <a:chOff x="7975518" y="1322198"/>
              <a:chExt cx="3420141" cy="2450039"/>
            </a:xfrm>
          </p:grpSpPr>
          <p:grpSp>
            <p:nvGrpSpPr>
              <p:cNvPr id="10" name="Group 9">
                <a:extLst>
                  <a:ext uri="{FF2B5EF4-FFF2-40B4-BE49-F238E27FC236}">
                    <a16:creationId xmlns:a16="http://schemas.microsoft.com/office/drawing/2014/main" id="{81B373B3-AE43-8D36-D09B-FF1D8B7BC5D7}"/>
                  </a:ext>
                </a:extLst>
              </p:cNvPr>
              <p:cNvGrpSpPr/>
              <p:nvPr/>
            </p:nvGrpSpPr>
            <p:grpSpPr>
              <a:xfrm>
                <a:off x="7975518" y="1322198"/>
                <a:ext cx="3420141" cy="2450039"/>
                <a:chOff x="7975518" y="1299338"/>
                <a:chExt cx="3420141" cy="2450039"/>
              </a:xfrm>
            </p:grpSpPr>
            <p:grpSp>
              <p:nvGrpSpPr>
                <p:cNvPr id="20" name="Group 19">
                  <a:extLst>
                    <a:ext uri="{FF2B5EF4-FFF2-40B4-BE49-F238E27FC236}">
                      <a16:creationId xmlns:a16="http://schemas.microsoft.com/office/drawing/2014/main" id="{52AFDCA6-A547-3CEC-A264-755CF82814A7}"/>
                    </a:ext>
                  </a:extLst>
                </p:cNvPr>
                <p:cNvGrpSpPr/>
                <p:nvPr/>
              </p:nvGrpSpPr>
              <p:grpSpPr>
                <a:xfrm>
                  <a:off x="7975518" y="1299338"/>
                  <a:ext cx="3420141" cy="2450039"/>
                  <a:chOff x="8605537" y="1833465"/>
                  <a:chExt cx="3420141" cy="2450039"/>
                </a:xfrm>
              </p:grpSpPr>
              <p:pic>
                <p:nvPicPr>
                  <p:cNvPr id="27" name="Picture 26">
                    <a:extLst>
                      <a:ext uri="{FF2B5EF4-FFF2-40B4-BE49-F238E27FC236}">
                        <a16:creationId xmlns:a16="http://schemas.microsoft.com/office/drawing/2014/main" id="{ADB11134-0FA6-A141-9309-EE8B881F0635}"/>
                      </a:ext>
                    </a:extLst>
                  </p:cNvPr>
                  <p:cNvPicPr>
                    <a:picLocks noChangeAspect="1"/>
                  </p:cNvPicPr>
                  <p:nvPr/>
                </p:nvPicPr>
                <p:blipFill>
                  <a:blip r:embed="rId5"/>
                  <a:stretch>
                    <a:fillRect/>
                  </a:stretch>
                </p:blipFill>
                <p:spPr>
                  <a:xfrm>
                    <a:off x="8605537" y="1833465"/>
                    <a:ext cx="3420141" cy="2450039"/>
                  </a:xfrm>
                  <a:prstGeom prst="rect">
                    <a:avLst/>
                  </a:prstGeom>
                </p:spPr>
              </p:pic>
              <p:cxnSp>
                <p:nvCxnSpPr>
                  <p:cNvPr id="30" name="Straight Arrow Connector 29">
                    <a:extLst>
                      <a:ext uri="{FF2B5EF4-FFF2-40B4-BE49-F238E27FC236}">
                        <a16:creationId xmlns:a16="http://schemas.microsoft.com/office/drawing/2014/main" id="{2E847DF0-C8A0-EC19-9650-BB3C6888D30F}"/>
                      </a:ext>
                    </a:extLst>
                  </p:cNvPr>
                  <p:cNvCxnSpPr>
                    <a:cxnSpLocks/>
                  </p:cNvCxnSpPr>
                  <p:nvPr/>
                </p:nvCxnSpPr>
                <p:spPr>
                  <a:xfrm flipV="1">
                    <a:off x="10104776" y="3670300"/>
                    <a:ext cx="1706224" cy="243339"/>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1" name="Straight Arrow Connector 20">
                  <a:extLst>
                    <a:ext uri="{FF2B5EF4-FFF2-40B4-BE49-F238E27FC236}">
                      <a16:creationId xmlns:a16="http://schemas.microsoft.com/office/drawing/2014/main" id="{275EC1CE-6AF1-5552-A7E2-96EB496BF4B9}"/>
                    </a:ext>
                  </a:extLst>
                </p:cNvPr>
                <p:cNvCxnSpPr>
                  <a:cxnSpLocks/>
                </p:cNvCxnSpPr>
                <p:nvPr/>
              </p:nvCxnSpPr>
              <p:spPr>
                <a:xfrm flipV="1">
                  <a:off x="9480475" y="2404533"/>
                  <a:ext cx="0" cy="719433"/>
                </a:xfrm>
                <a:prstGeom prst="straightConnector1">
                  <a:avLst/>
                </a:prstGeom>
                <a:ln w="63500">
                  <a:solidFill>
                    <a:schemeClr val="accent3"/>
                  </a:solidFill>
                  <a:tailEnd type="stealth"/>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657801BF-46B6-9237-E6C8-EA2F2C50ACC8}"/>
                  </a:ext>
                </a:extLst>
              </p:cNvPr>
              <p:cNvCxnSpPr>
                <a:cxnSpLocks/>
              </p:cNvCxnSpPr>
              <p:nvPr/>
            </p:nvCxnSpPr>
            <p:spPr>
              <a:xfrm flipV="1">
                <a:off x="10183754" y="1475718"/>
                <a:ext cx="0" cy="406192"/>
              </a:xfrm>
              <a:prstGeom prst="straightConnector1">
                <a:avLst/>
              </a:prstGeom>
              <a:ln w="6350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A609CB-E820-ED4D-4426-399A7731C8B1}"/>
                    </a:ext>
                  </a:extLst>
                </p:cNvPr>
                <p:cNvSpPr txBox="1"/>
                <p:nvPr/>
              </p:nvSpPr>
              <p:spPr>
                <a:xfrm rot="20166424">
                  <a:off x="8540917" y="3708924"/>
                  <a:ext cx="237435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𝑝𝑟𝑜𝑑𝑢𝑐𝑡</m:t>
                        </m:r>
                        <m:r>
                          <a:rPr lang="en-US" sz="1800" b="0" i="1" smtClean="0">
                            <a:solidFill>
                              <a:srgbClr val="FF0000"/>
                            </a:solidFill>
                            <a:latin typeface="Cambria Math" panose="02040503050406030204" pitchFamily="18" charset="0"/>
                            <a:ea typeface="Cambria Math" panose="02040503050406030204" pitchFamily="18" charset="0"/>
                          </a:rPr>
                          <m:t>𝑠</m:t>
                        </m:r>
                      </m:oMath>
                    </m:oMathPara>
                  </a14:m>
                  <a:endParaRPr lang="en-US" dirty="0"/>
                </a:p>
              </p:txBody>
            </p:sp>
          </mc:Choice>
          <mc:Fallback xmlns="">
            <p:sp>
              <p:nvSpPr>
                <p:cNvPr id="4" name="TextBox 3">
                  <a:extLst>
                    <a:ext uri="{FF2B5EF4-FFF2-40B4-BE49-F238E27FC236}">
                      <a16:creationId xmlns:a16="http://schemas.microsoft.com/office/drawing/2014/main" id="{8FA609CB-E820-ED4D-4426-399A7731C8B1}"/>
                    </a:ext>
                  </a:extLst>
                </p:cNvPr>
                <p:cNvSpPr txBox="1">
                  <a:spLocks noRot="1" noChangeAspect="1" noMove="1" noResize="1" noEditPoints="1" noAdjustHandles="1" noChangeArrowheads="1" noChangeShapeType="1" noTextEdit="1"/>
                </p:cNvSpPr>
                <p:nvPr/>
              </p:nvSpPr>
              <p:spPr>
                <a:xfrm rot="20166424">
                  <a:off x="8540917" y="3708924"/>
                  <a:ext cx="237435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88E540-5181-DC92-10C4-199026170640}"/>
                    </a:ext>
                  </a:extLst>
                </p:cNvPr>
                <p:cNvSpPr txBox="1"/>
                <p:nvPr/>
              </p:nvSpPr>
              <p:spPr>
                <a:xfrm rot="19155835">
                  <a:off x="9077905" y="4364881"/>
                  <a:ext cx="19802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𝑟𝑒𝑎𝑐𝑡𝑎𝑛𝑡</m:t>
                        </m:r>
                        <m:r>
                          <a:rPr lang="en-US" sz="1800" b="0" i="1" smtClean="0">
                            <a:solidFill>
                              <a:srgbClr val="FF0000"/>
                            </a:solidFill>
                            <a:latin typeface="Cambria Math" panose="02040503050406030204" pitchFamily="18" charset="0"/>
                            <a:ea typeface="Cambria Math" panose="02040503050406030204" pitchFamily="18" charset="0"/>
                          </a:rPr>
                          <m:t>𝑠</m:t>
                        </m:r>
                      </m:oMath>
                    </m:oMathPara>
                  </a14:m>
                  <a:endParaRPr lang="en-US" dirty="0"/>
                </a:p>
              </p:txBody>
            </p:sp>
          </mc:Choice>
          <mc:Fallback xmlns="">
            <p:sp>
              <p:nvSpPr>
                <p:cNvPr id="5" name="TextBox 4">
                  <a:extLst>
                    <a:ext uri="{FF2B5EF4-FFF2-40B4-BE49-F238E27FC236}">
                      <a16:creationId xmlns:a16="http://schemas.microsoft.com/office/drawing/2014/main" id="{7588E540-5181-DC92-10C4-199026170640}"/>
                    </a:ext>
                  </a:extLst>
                </p:cNvPr>
                <p:cNvSpPr txBox="1">
                  <a:spLocks noRot="1" noChangeAspect="1" noMove="1" noResize="1" noEditPoints="1" noAdjustHandles="1" noChangeArrowheads="1" noChangeShapeType="1" noTextEdit="1"/>
                </p:cNvSpPr>
                <p:nvPr/>
              </p:nvSpPr>
              <p:spPr>
                <a:xfrm rot="19155835">
                  <a:off x="9077905" y="4364881"/>
                  <a:ext cx="1980247" cy="369332"/>
                </a:xfrm>
                <a:prstGeom prst="rect">
                  <a:avLst/>
                </a:prstGeom>
                <a:blipFill>
                  <a:blip r:embed="rId8"/>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82B05787-A36D-B19F-35EB-3A19FA99F38A}"/>
                </a:ext>
              </a:extLst>
            </p:cNvPr>
            <p:cNvCxnSpPr>
              <a:cxnSpLocks/>
            </p:cNvCxnSpPr>
            <p:nvPr/>
          </p:nvCxnSpPr>
          <p:spPr>
            <a:xfrm flipH="1" flipV="1">
              <a:off x="10197381" y="4753835"/>
              <a:ext cx="782945" cy="348743"/>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BBABEF3-9193-0E78-F312-9B79310A0FC9}"/>
                  </a:ext>
                </a:extLst>
              </p:cNvPr>
              <p:cNvSpPr txBox="1"/>
              <p:nvPr/>
            </p:nvSpPr>
            <p:spPr>
              <a:xfrm>
                <a:off x="3914169" y="4292170"/>
                <a:ext cx="3571656" cy="923330"/>
              </a:xfrm>
              <a:prstGeom prst="rect">
                <a:avLst/>
              </a:prstGeom>
              <a:noFill/>
            </p:spPr>
            <p:txBody>
              <a:bodyPr wrap="square" rtlCol="0">
                <a:spAutoFit/>
              </a:bodyPr>
              <a:lstStyle/>
              <a:p>
                <a:r>
                  <a:rPr lang="en-US" dirty="0"/>
                  <a:t>Since vdw gives us simple expressions for </a:t>
                </a:r>
                <a14:m>
                  <m:oMath xmlns:m="http://schemas.openxmlformats.org/officeDocument/2006/math">
                    <m:sSub>
                      <m:sSubPr>
                        <m:ctrlPr>
                          <a:rPr lang="en-US" sz="1800" i="1" smtClean="0">
                            <a:solidFill>
                              <a:schemeClr val="accent1"/>
                            </a:solidFill>
                            <a:latin typeface="Cambria Math" panose="02040503050406030204" pitchFamily="18" charset="0"/>
                            <a:ea typeface="Cambria Math" panose="02040503050406030204" pitchFamily="18" charset="0"/>
                          </a:rPr>
                        </m:ctrlPr>
                      </m:sSubPr>
                      <m:e>
                        <m:r>
                          <a:rPr lang="en-US" sz="1800" i="1">
                            <a:solidFill>
                              <a:schemeClr val="accent1"/>
                            </a:solidFill>
                            <a:latin typeface="Cambria Math" panose="02040503050406030204" pitchFamily="18" charset="0"/>
                            <a:ea typeface="Cambria Math" panose="02040503050406030204" pitchFamily="18" charset="0"/>
                          </a:rPr>
                          <m:t>𝜇</m:t>
                        </m:r>
                      </m:e>
                      <m:sub>
                        <m:r>
                          <a:rPr lang="en-US" sz="1800" i="1">
                            <a:solidFill>
                              <a:schemeClr val="accent1"/>
                            </a:solidFill>
                            <a:latin typeface="Cambria Math" panose="02040503050406030204" pitchFamily="18" charset="0"/>
                            <a:ea typeface="Cambria Math" panose="02040503050406030204" pitchFamily="18" charset="0"/>
                          </a:rPr>
                          <m:t>𝑇</m:t>
                        </m:r>
                      </m:sub>
                    </m:sSub>
                  </m:oMath>
                </a14:m>
                <a:r>
                  <a:rPr lang="en-US" dirty="0"/>
                  <a:t>, we can often do this integral exactly.</a:t>
                </a:r>
              </a:p>
            </p:txBody>
          </p:sp>
        </mc:Choice>
        <mc:Fallback xmlns="">
          <p:sp>
            <p:nvSpPr>
              <p:cNvPr id="14" name="TextBox 13">
                <a:extLst>
                  <a:ext uri="{FF2B5EF4-FFF2-40B4-BE49-F238E27FC236}">
                    <a16:creationId xmlns:a16="http://schemas.microsoft.com/office/drawing/2014/main" id="{8BBABEF3-9193-0E78-F312-9B79310A0FC9}"/>
                  </a:ext>
                </a:extLst>
              </p:cNvPr>
              <p:cNvSpPr txBox="1">
                <a:spLocks noRot="1" noChangeAspect="1" noMove="1" noResize="1" noEditPoints="1" noAdjustHandles="1" noChangeArrowheads="1" noChangeShapeType="1" noTextEdit="1"/>
              </p:cNvSpPr>
              <p:nvPr/>
            </p:nvSpPr>
            <p:spPr>
              <a:xfrm>
                <a:off x="3914169" y="4292170"/>
                <a:ext cx="3571656" cy="923330"/>
              </a:xfrm>
              <a:prstGeom prst="rect">
                <a:avLst/>
              </a:prstGeom>
              <a:blipFill>
                <a:blip r:embed="rId9"/>
                <a:stretch>
                  <a:fillRect l="-1418" t="-1351" r="-709" b="-9459"/>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26ED7CD3-5FE9-3F1C-2D0C-D716313E7C71}"/>
              </a:ext>
            </a:extLst>
          </p:cNvPr>
          <p:cNvCxnSpPr>
            <a:cxnSpLocks/>
          </p:cNvCxnSpPr>
          <p:nvPr/>
        </p:nvCxnSpPr>
        <p:spPr>
          <a:xfrm>
            <a:off x="4343891" y="3541422"/>
            <a:ext cx="190137" cy="75842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C0BC7B8-0AD1-8B39-9695-13E421B3E75A}"/>
                  </a:ext>
                </a:extLst>
              </p:cNvPr>
              <p:cNvSpPr txBox="1"/>
              <p:nvPr/>
            </p:nvSpPr>
            <p:spPr>
              <a:xfrm>
                <a:off x="7736639" y="2173911"/>
                <a:ext cx="3897897" cy="5346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i="1">
                              <a:solidFill>
                                <a:schemeClr val="accent1"/>
                              </a:solidFill>
                              <a:latin typeface="Cambria Math" panose="02040503050406030204" pitchFamily="18" charset="0"/>
                              <a:ea typeface="Cambria Math" panose="02040503050406030204" pitchFamily="18" charset="0"/>
                            </a:rPr>
                            <m:t>∆</m:t>
                          </m:r>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Sub>
                      <m:r>
                        <a:rPr lang="en-US" sz="2400" i="1">
                          <a:solidFill>
                            <a:schemeClr val="accent1"/>
                          </a:solidFill>
                          <a:latin typeface="Cambria Math" panose="02040503050406030204" pitchFamily="18" charset="0"/>
                          <a:ea typeface="Cambria Math" panose="02040503050406030204" pitchFamily="18" charset="0"/>
                        </a:rPr>
                        <m:t>=</m:t>
                      </m:r>
                      <m:sSubSup>
                        <m:sSubSupPr>
                          <m:ctrlPr>
                            <a:rPr lang="en-US" sz="2400" i="1">
                              <a:solidFill>
                                <a:schemeClr val="accent1"/>
                              </a:solidFill>
                              <a:latin typeface="Cambria Math" panose="02040503050406030204" pitchFamily="18" charset="0"/>
                              <a:ea typeface="Cambria Math" panose="02040503050406030204" pitchFamily="18" charset="0"/>
                            </a:rPr>
                          </m:ctrlPr>
                        </m:sSubSupPr>
                        <m:e>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up>
                          <m:r>
                            <a:rPr lang="en-US" sz="2400" i="1">
                              <a:solidFill>
                                <a:schemeClr val="accent1"/>
                              </a:solidFill>
                              <a:latin typeface="Cambria Math" panose="02040503050406030204" pitchFamily="18" charset="0"/>
                              <a:ea typeface="Cambria Math" panose="02040503050406030204" pitchFamily="18" charset="0"/>
                            </a:rPr>
                            <m:t>𝑝𝑟𝑜𝑑𝑢𝑐𝑡𝑠</m:t>
                          </m:r>
                        </m:sup>
                      </m:sSubSup>
                      <m:r>
                        <a:rPr lang="en-US" sz="2400" i="1">
                          <a:solidFill>
                            <a:schemeClr val="accent1"/>
                          </a:solidFill>
                          <a:latin typeface="Cambria Math" panose="02040503050406030204" pitchFamily="18" charset="0"/>
                          <a:ea typeface="Cambria Math" panose="02040503050406030204" pitchFamily="18" charset="0"/>
                        </a:rPr>
                        <m:t>−</m:t>
                      </m:r>
                      <m:sSubSup>
                        <m:sSubSupPr>
                          <m:ctrlPr>
                            <a:rPr lang="en-US" sz="2400" i="1">
                              <a:solidFill>
                                <a:schemeClr val="accent1"/>
                              </a:solidFill>
                              <a:latin typeface="Cambria Math" panose="02040503050406030204" pitchFamily="18" charset="0"/>
                              <a:ea typeface="Cambria Math" panose="02040503050406030204" pitchFamily="18" charset="0"/>
                            </a:rPr>
                          </m:ctrlPr>
                        </m:sSubSupPr>
                        <m:e>
                          <m:r>
                            <a:rPr lang="en-US" sz="2400" i="1">
                              <a:solidFill>
                                <a:schemeClr val="accent1"/>
                              </a:solidFill>
                              <a:latin typeface="Cambria Math" panose="02040503050406030204" pitchFamily="18" charset="0"/>
                              <a:ea typeface="Cambria Math" panose="02040503050406030204" pitchFamily="18" charset="0"/>
                            </a:rPr>
                            <m:t>𝜇</m:t>
                          </m:r>
                        </m:e>
                        <m:sub>
                          <m:r>
                            <a:rPr lang="en-US" sz="2400" i="1">
                              <a:solidFill>
                                <a:schemeClr val="accent1"/>
                              </a:solidFill>
                              <a:latin typeface="Cambria Math" panose="02040503050406030204" pitchFamily="18" charset="0"/>
                              <a:ea typeface="Cambria Math" panose="02040503050406030204" pitchFamily="18" charset="0"/>
                            </a:rPr>
                            <m:t>𝑇</m:t>
                          </m:r>
                        </m:sub>
                        <m:sup>
                          <m:r>
                            <a:rPr lang="en-US" sz="2400" i="1">
                              <a:solidFill>
                                <a:schemeClr val="accent1"/>
                              </a:solidFill>
                              <a:latin typeface="Cambria Math" panose="02040503050406030204" pitchFamily="18" charset="0"/>
                              <a:ea typeface="Cambria Math" panose="02040503050406030204" pitchFamily="18" charset="0"/>
                            </a:rPr>
                            <m:t>𝑟𝑒𝑎𝑐𝑡𝑎𝑛𝑡𝑠</m:t>
                          </m:r>
                        </m:sup>
                      </m:sSubSup>
                    </m:oMath>
                  </m:oMathPara>
                </a14:m>
                <a:endParaRPr lang="en-US" sz="2400" dirty="0"/>
              </a:p>
            </p:txBody>
          </p:sp>
        </mc:Choice>
        <mc:Fallback xmlns="">
          <p:sp>
            <p:nvSpPr>
              <p:cNvPr id="7" name="TextBox 6">
                <a:extLst>
                  <a:ext uri="{FF2B5EF4-FFF2-40B4-BE49-F238E27FC236}">
                    <a16:creationId xmlns:a16="http://schemas.microsoft.com/office/drawing/2014/main" id="{BC0BC7B8-0AD1-8B39-9695-13E421B3E75A}"/>
                  </a:ext>
                </a:extLst>
              </p:cNvPr>
              <p:cNvSpPr txBox="1">
                <a:spLocks noRot="1" noChangeAspect="1" noMove="1" noResize="1" noEditPoints="1" noAdjustHandles="1" noChangeArrowheads="1" noChangeShapeType="1" noTextEdit="1"/>
              </p:cNvSpPr>
              <p:nvPr/>
            </p:nvSpPr>
            <p:spPr>
              <a:xfrm>
                <a:off x="7736639" y="2173911"/>
                <a:ext cx="3897897" cy="534698"/>
              </a:xfrm>
              <a:prstGeom prst="rect">
                <a:avLst/>
              </a:prstGeom>
              <a:blipFill>
                <a:blip r:embed="rId10"/>
                <a:stretch>
                  <a:fillRect b="-4651"/>
                </a:stretch>
              </a:blipFill>
            </p:spPr>
            <p:txBody>
              <a:bodyPr/>
              <a:lstStyle/>
              <a:p>
                <a:r>
                  <a:rPr lang="en-US">
                    <a:noFill/>
                  </a:rPr>
                  <a:t> </a:t>
                </a:r>
              </a:p>
            </p:txBody>
          </p:sp>
        </mc:Fallback>
      </mc:AlternateContent>
    </p:spTree>
    <p:extLst>
      <p:ext uri="{BB962C8B-B14F-4D97-AF65-F5344CB8AC3E}">
        <p14:creationId xmlns:p14="http://schemas.microsoft.com/office/powerpoint/2010/main" val="3919782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B63A21-7279-9D42-8077-C7DDE7E0E8D4}"/>
              </a:ext>
            </a:extLst>
          </p:cNvPr>
          <p:cNvSpPr txBox="1"/>
          <p:nvPr/>
        </p:nvSpPr>
        <p:spPr>
          <a:xfrm>
            <a:off x="-914" y="0"/>
            <a:ext cx="12192913" cy="461665"/>
          </a:xfrm>
          <a:prstGeom prst="rect">
            <a:avLst/>
          </a:prstGeom>
          <a:solidFill>
            <a:schemeClr val="accent2"/>
          </a:solidFill>
        </p:spPr>
        <p:txBody>
          <a:bodyPr wrap="square" rtlCol="0">
            <a:spAutoFit/>
          </a:bodyPr>
          <a:lstStyle/>
          <a:p>
            <a:r>
              <a:rPr lang="en-US" sz="2400" b="1" dirty="0"/>
              <a:t>Recap (and a demo): phase diagrams</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707B6FA-6871-F14F-B859-6FABC3B71691}"/>
                  </a:ext>
                </a:extLst>
              </p:cNvPr>
              <p:cNvSpPr/>
              <p:nvPr/>
            </p:nvSpPr>
            <p:spPr>
              <a:xfrm>
                <a:off x="284251" y="3774646"/>
                <a:ext cx="8482560" cy="2800895"/>
              </a:xfrm>
              <a:prstGeom prst="rect">
                <a:avLst/>
              </a:prstGeom>
            </p:spPr>
            <p:txBody>
              <a:bodyPr wrap="square">
                <a:spAutoFit/>
              </a:bodyPr>
              <a:lstStyle/>
              <a:p>
                <a:pPr marL="457200" indent="-457200">
                  <a:buFont typeface="+mj-lt"/>
                  <a:buAutoNum type="arabicPeriod"/>
                </a:pPr>
                <a:r>
                  <a:rPr lang="en-US" sz="2400" dirty="0"/>
                  <a:t>Here we see there’s also </a:t>
                </a:r>
                <a14:m>
                  <m:oMath xmlns:m="http://schemas.openxmlformats.org/officeDocument/2006/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𝑻</m:t>
                        </m:r>
                      </m:e>
                      <m:sub>
                        <m:r>
                          <a:rPr lang="en-US" sz="2400" b="1" i="1">
                            <a:solidFill>
                              <a:schemeClr val="tx1"/>
                            </a:solidFill>
                            <a:latin typeface="Cambria Math" panose="02040503050406030204" pitchFamily="18" charset="0"/>
                            <a:ea typeface="Cambria Math" panose="02040503050406030204" pitchFamily="18" charset="0"/>
                          </a:rPr>
                          <m:t>𝟑</m:t>
                        </m:r>
                      </m:sub>
                    </m:sSub>
                  </m:oMath>
                </a14:m>
                <a:r>
                  <a:rPr lang="en-US" sz="2400" dirty="0">
                    <a:ea typeface="Cambria Math" panose="02040503050406030204" pitchFamily="18" charset="0"/>
                  </a:rPr>
                  <a:t>, the </a:t>
                </a:r>
                <a:r>
                  <a:rPr lang="en-US" sz="2400" b="1" dirty="0">
                    <a:ea typeface="Cambria Math" panose="02040503050406030204" pitchFamily="18" charset="0"/>
                  </a:rPr>
                  <a:t>triple point</a:t>
                </a:r>
                <a:r>
                  <a:rPr lang="en-US" sz="2400" dirty="0">
                    <a:ea typeface="Cambria Math" panose="02040503050406030204" pitchFamily="18" charset="0"/>
                  </a:rPr>
                  <a:t>. At </a:t>
                </a:r>
                <a14:m>
                  <m:oMath xmlns:m="http://schemas.openxmlformats.org/officeDocument/2006/math">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𝑻</m:t>
                        </m:r>
                      </m:e>
                      <m:sub>
                        <m:r>
                          <a:rPr lang="en-US" sz="2400" b="1" i="1">
                            <a:latin typeface="Cambria Math" panose="02040503050406030204" pitchFamily="18" charset="0"/>
                            <a:ea typeface="Cambria Math" panose="02040503050406030204" pitchFamily="18" charset="0"/>
                          </a:rPr>
                          <m:t>𝟑</m:t>
                        </m:r>
                      </m:sub>
                    </m:sSub>
                  </m:oMath>
                </a14:m>
                <a:r>
                  <a:rPr lang="en-US" sz="2400" b="1" dirty="0">
                    <a:ea typeface="Cambria Math" panose="02040503050406030204" pitchFamily="18" charset="0"/>
                  </a:rPr>
                  <a:t> </a:t>
                </a:r>
                <a:r>
                  <a:rPr lang="en-US" sz="2400" dirty="0">
                    <a:ea typeface="Cambria Math" panose="02040503050406030204" pitchFamily="18" charset="0"/>
                  </a:rPr>
                  <a:t>(and </a:t>
                </a:r>
                <a14:m>
                  <m:oMath xmlns:m="http://schemas.openxmlformats.org/officeDocument/2006/math">
                    <m:sSub>
                      <m:sSubPr>
                        <m:ctrlPr>
                          <a:rPr lang="en-US" sz="2400" b="1" i="1">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𝑷</m:t>
                        </m:r>
                      </m:e>
                      <m:sub>
                        <m:r>
                          <a:rPr lang="en-US" sz="2400" b="1" i="1">
                            <a:latin typeface="Cambria Math" panose="02040503050406030204" pitchFamily="18" charset="0"/>
                            <a:ea typeface="Cambria Math" panose="02040503050406030204" pitchFamily="18" charset="0"/>
                          </a:rPr>
                          <m:t>𝟑</m:t>
                        </m:r>
                      </m:sub>
                    </m:sSub>
                  </m:oMath>
                </a14:m>
                <a:r>
                  <a:rPr lang="en-US" sz="2400" dirty="0">
                    <a:ea typeface="Cambria Math" panose="02040503050406030204" pitchFamily="18" charset="0"/>
                  </a:rPr>
                  <a:t>), water can coexist as solid, liquid, and vapor. </a:t>
                </a:r>
              </a:p>
              <a:p>
                <a:pPr lvl="1"/>
                <a:r>
                  <a:rPr lang="en-US" sz="2400" dirty="0">
                    <a:ea typeface="Cambria Math" panose="02040503050406030204" pitchFamily="18" charset="0"/>
                  </a:rPr>
                  <a:t>(</a:t>
                </a:r>
                <a14:m>
                  <m:oMath xmlns:m="http://schemas.openxmlformats.org/officeDocument/2006/math">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𝑻</m:t>
                        </m:r>
                      </m:e>
                      <m:sub>
                        <m:r>
                          <a:rPr lang="en-US" sz="2400" b="1" i="1">
                            <a:latin typeface="Cambria Math" panose="02040503050406030204" pitchFamily="18" charset="0"/>
                            <a:ea typeface="Cambria Math" panose="02040503050406030204" pitchFamily="18" charset="0"/>
                          </a:rPr>
                          <m:t>𝟑</m:t>
                        </m:r>
                      </m:sub>
                    </m:sSub>
                  </m:oMath>
                </a14:m>
                <a:r>
                  <a:rPr lang="en-US" sz="2400" dirty="0">
                    <a:ea typeface="Cambria Math" panose="02040503050406030204" pitchFamily="18" charset="0"/>
                  </a:rPr>
                  <a:t> is also proportional to </a:t>
                </a:r>
                <a14:m>
                  <m:oMath xmlns:m="http://schemas.openxmlformats.org/officeDocument/2006/math">
                    <m:f>
                      <m:fPr>
                        <m:ctrlPr>
                          <a:rPr lang="en-US" sz="2400" b="1" i="1" smtClean="0">
                            <a:solidFill>
                              <a:schemeClr val="tx1"/>
                            </a:solidFill>
                            <a:latin typeface="Cambria Math" panose="02040503050406030204" pitchFamily="18" charset="0"/>
                            <a:ea typeface="Cambria Math" panose="02040503050406030204" pitchFamily="18" charset="0"/>
                          </a:rPr>
                        </m:ctrlPr>
                      </m:fPr>
                      <m:num>
                        <m:r>
                          <a:rPr lang="en-US" sz="2400" b="1" i="1">
                            <a:solidFill>
                              <a:schemeClr val="tx1"/>
                            </a:solidFill>
                            <a:latin typeface="Cambria Math" panose="02040503050406030204" pitchFamily="18" charset="0"/>
                            <a:ea typeface="Cambria Math" panose="02040503050406030204" pitchFamily="18" charset="0"/>
                          </a:rPr>
                          <m:t>𝒂</m:t>
                        </m:r>
                      </m:num>
                      <m:den>
                        <m:r>
                          <a:rPr lang="en-US" sz="2400" b="1" i="1">
                            <a:solidFill>
                              <a:schemeClr val="tx1"/>
                            </a:solidFill>
                            <a:latin typeface="Cambria Math" panose="02040503050406030204" pitchFamily="18" charset="0"/>
                            <a:ea typeface="Cambria Math" panose="02040503050406030204" pitchFamily="18" charset="0"/>
                          </a:rPr>
                          <m:t>𝑹𝒃</m:t>
                        </m:r>
                      </m:den>
                    </m:f>
                  </m:oMath>
                </a14:m>
                <a:r>
                  <a:rPr lang="en-US" sz="2400" dirty="0">
                    <a:ea typeface="Cambria Math" panose="02040503050406030204" pitchFamily="18" charset="0"/>
                  </a:rPr>
                  <a:t>, according to vdw).</a:t>
                </a:r>
                <a:endParaRPr lang="en-US" sz="2400" b="1" dirty="0">
                  <a:ea typeface="Cambria Math" panose="02040503050406030204" pitchFamily="18" charset="0"/>
                </a:endParaRPr>
              </a:p>
              <a:p>
                <a:pPr marL="457200" indent="-457200">
                  <a:buFont typeface="+mj-lt"/>
                  <a:buAutoNum type="arabicPeriod"/>
                </a:pPr>
                <a:r>
                  <a:rPr lang="en-US" sz="2400" dirty="0">
                    <a:ea typeface="Cambria Math" panose="02040503050406030204" pitchFamily="18" charset="0"/>
                  </a:rPr>
                  <a:t>The lines are called </a:t>
                </a:r>
                <a:r>
                  <a:rPr lang="en-US" sz="2400" b="1" dirty="0">
                    <a:ea typeface="Cambria Math" panose="02040503050406030204" pitchFamily="18" charset="0"/>
                  </a:rPr>
                  <a:t>phase boundaries</a:t>
                </a:r>
                <a:r>
                  <a:rPr lang="en-US" sz="2400" dirty="0">
                    <a:ea typeface="Cambria Math" panose="02040503050406030204" pitchFamily="18" charset="0"/>
                  </a:rPr>
                  <a:t>, conditions at which multiple phases can exist – see our demo</a:t>
                </a:r>
                <a:endParaRPr lang="en-US" sz="2400" b="1" dirty="0">
                  <a:ea typeface="Cambria Math" panose="02040503050406030204" pitchFamily="18" charset="0"/>
                </a:endParaRPr>
              </a:p>
              <a:p>
                <a:pPr lvl="1"/>
                <a:r>
                  <a:rPr lang="en-US" sz="2400" dirty="0">
                    <a:ea typeface="Cambria Math" panose="02040503050406030204" pitchFamily="18" charset="0"/>
                  </a:rPr>
                  <a:t>(Water’s solid/liquid phase boundary is weird because it slopes </a:t>
                </a:r>
                <a:r>
                  <a:rPr lang="en-US" sz="2400" b="1" dirty="0">
                    <a:ea typeface="Cambria Math" panose="02040503050406030204" pitchFamily="18" charset="0"/>
                  </a:rPr>
                  <a:t>backward</a:t>
                </a:r>
                <a:r>
                  <a:rPr lang="en-US" sz="2400" dirty="0">
                    <a:ea typeface="Cambria Math" panose="02040503050406030204" pitchFamily="18" charset="0"/>
                  </a:rPr>
                  <a:t>.)</a:t>
                </a:r>
                <a:endParaRPr lang="en-US" sz="2400" b="1" dirty="0">
                  <a:ea typeface="Cambria Math" panose="02040503050406030204" pitchFamily="18" charset="0"/>
                </a:endParaRPr>
              </a:p>
            </p:txBody>
          </p:sp>
        </mc:Choice>
        <mc:Fallback xmlns="">
          <p:sp>
            <p:nvSpPr>
              <p:cNvPr id="3" name="Rectangle 2">
                <a:extLst>
                  <a:ext uri="{FF2B5EF4-FFF2-40B4-BE49-F238E27FC236}">
                    <a16:creationId xmlns:a16="http://schemas.microsoft.com/office/drawing/2014/main" id="{9707B6FA-6871-F14F-B859-6FABC3B71691}"/>
                  </a:ext>
                </a:extLst>
              </p:cNvPr>
              <p:cNvSpPr>
                <a:spLocks noRot="1" noChangeAspect="1" noMove="1" noResize="1" noEditPoints="1" noAdjustHandles="1" noChangeArrowheads="1" noChangeShapeType="1" noTextEdit="1"/>
              </p:cNvSpPr>
              <p:nvPr/>
            </p:nvSpPr>
            <p:spPr>
              <a:xfrm>
                <a:off x="284251" y="3774646"/>
                <a:ext cx="8482560" cy="2800895"/>
              </a:xfrm>
              <a:prstGeom prst="rect">
                <a:avLst/>
              </a:prstGeom>
              <a:blipFill>
                <a:blip r:embed="rId2"/>
                <a:stretch>
                  <a:fillRect l="-1196" t="-1810" r="-1046" b="-4072"/>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0D83CF53-A457-5748-8261-3A86DD9878B9}"/>
              </a:ext>
            </a:extLst>
          </p:cNvPr>
          <p:cNvGrpSpPr/>
          <p:nvPr/>
        </p:nvGrpSpPr>
        <p:grpSpPr>
          <a:xfrm>
            <a:off x="1195145" y="587950"/>
            <a:ext cx="3402903" cy="2461918"/>
            <a:chOff x="-94681" y="2140245"/>
            <a:chExt cx="5706250" cy="3335653"/>
          </a:xfrm>
        </p:grpSpPr>
        <p:pic>
          <p:nvPicPr>
            <p:cNvPr id="23" name="Picture 2" descr="Image result for phase diagrams">
              <a:extLst>
                <a:ext uri="{FF2B5EF4-FFF2-40B4-BE49-F238E27FC236}">
                  <a16:creationId xmlns:a16="http://schemas.microsoft.com/office/drawing/2014/main" id="{18DA0F33-11C5-9742-B8DB-1D7C090742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773" b="5795"/>
            <a:stretch/>
          </p:blipFill>
          <p:spPr bwMode="auto">
            <a:xfrm>
              <a:off x="919624" y="2140245"/>
              <a:ext cx="4691945" cy="333565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C921929-EE4F-7945-A445-60BCE47CEB93}"/>
                    </a:ext>
                  </a:extLst>
                </p:cNvPr>
                <p:cNvSpPr/>
                <p:nvPr/>
              </p:nvSpPr>
              <p:spPr>
                <a:xfrm>
                  <a:off x="-94681" y="4445767"/>
                  <a:ext cx="928772" cy="6255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𝑃</m:t>
                            </m:r>
                          </m:e>
                          <m:sub>
                            <m:r>
                              <a:rPr lang="en-US" sz="2400" i="1">
                                <a:solidFill>
                                  <a:schemeClr val="tx1"/>
                                </a:solidFill>
                                <a:latin typeface="Cambria Math" panose="02040503050406030204" pitchFamily="18" charset="0"/>
                                <a:ea typeface="Cambria Math" panose="02040503050406030204" pitchFamily="18" charset="0"/>
                              </a:rPr>
                              <m:t>3</m:t>
                            </m:r>
                          </m:sub>
                        </m:sSub>
                      </m:oMath>
                    </m:oMathPara>
                  </a14:m>
                  <a:endParaRPr lang="en-US" sz="2400" dirty="0"/>
                </a:p>
              </p:txBody>
            </p:sp>
          </mc:Choice>
          <mc:Fallback xmlns="">
            <p:sp>
              <p:nvSpPr>
                <p:cNvPr id="21" name="Rectangle 20">
                  <a:extLst>
                    <a:ext uri="{FF2B5EF4-FFF2-40B4-BE49-F238E27FC236}">
                      <a16:creationId xmlns:a16="http://schemas.microsoft.com/office/drawing/2014/main" id="{AC921929-EE4F-7945-A445-60BCE47CEB93}"/>
                    </a:ext>
                  </a:extLst>
                </p:cNvPr>
                <p:cNvSpPr>
                  <a:spLocks noRot="1" noChangeAspect="1" noMove="1" noResize="1" noEditPoints="1" noAdjustHandles="1" noChangeArrowheads="1" noChangeShapeType="1" noTextEdit="1"/>
                </p:cNvSpPr>
                <p:nvPr/>
              </p:nvSpPr>
              <p:spPr>
                <a:xfrm>
                  <a:off x="-94681" y="4445767"/>
                  <a:ext cx="928772" cy="625510"/>
                </a:xfrm>
                <a:prstGeom prst="rect">
                  <a:avLst/>
                </a:prstGeom>
                <a:blipFill>
                  <a:blip r:embed="rId4"/>
                  <a:stretch>
                    <a:fillRect b="-2703"/>
                  </a:stretch>
                </a:blipFill>
              </p:spPr>
              <p:txBody>
                <a:bodyPr/>
                <a:lstStyle/>
                <a:p>
                  <a:r>
                    <a:rPr lang="en-US">
                      <a:noFill/>
                    </a:rPr>
                    <a:t> </a:t>
                  </a:r>
                </a:p>
              </p:txBody>
            </p:sp>
          </mc:Fallback>
        </mc:AlternateContent>
      </p:grpSp>
      <p:pic>
        <p:nvPicPr>
          <p:cNvPr id="1026" name="Picture 2" descr="Cartoon Syringe Half Filled With Blue Liquid On Red Backing Stock Illustration - Download Image ...">
            <a:extLst>
              <a:ext uri="{FF2B5EF4-FFF2-40B4-BE49-F238E27FC236}">
                <a16:creationId xmlns:a16="http://schemas.microsoft.com/office/drawing/2014/main" id="{97A1994A-1EE9-5ADB-C4D0-554F2AF96B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9340" y="5102369"/>
            <a:ext cx="1314635" cy="13146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FAEE28F-41AF-A433-EC86-D509EBBF889F}"/>
              </a:ext>
            </a:extLst>
          </p:cNvPr>
          <p:cNvSpPr txBox="1"/>
          <p:nvPr/>
        </p:nvSpPr>
        <p:spPr>
          <a:xfrm>
            <a:off x="340488" y="617566"/>
            <a:ext cx="2175078" cy="830997"/>
          </a:xfrm>
          <a:prstGeom prst="rect">
            <a:avLst/>
          </a:prstGeom>
          <a:solidFill>
            <a:schemeClr val="bg1"/>
          </a:solidFill>
          <a:ln>
            <a:solidFill>
              <a:schemeClr val="tx1"/>
            </a:solidFill>
          </a:ln>
        </p:spPr>
        <p:txBody>
          <a:bodyPr wrap="square" rtlCol="0">
            <a:spAutoFit/>
          </a:bodyPr>
          <a:lstStyle/>
          <a:p>
            <a:pPr algn="ctr"/>
            <a:r>
              <a:rPr lang="en-US" sz="2400" dirty="0"/>
              <a:t>This is a typical phase diagram</a:t>
            </a:r>
          </a:p>
        </p:txBody>
      </p:sp>
      <p:grpSp>
        <p:nvGrpSpPr>
          <p:cNvPr id="19" name="Group 18">
            <a:extLst>
              <a:ext uri="{FF2B5EF4-FFF2-40B4-BE49-F238E27FC236}">
                <a16:creationId xmlns:a16="http://schemas.microsoft.com/office/drawing/2014/main" id="{F041FE2E-8A9B-5389-3A2A-5E8A9632BCDA}"/>
              </a:ext>
            </a:extLst>
          </p:cNvPr>
          <p:cNvGrpSpPr/>
          <p:nvPr/>
        </p:nvGrpSpPr>
        <p:grpSpPr>
          <a:xfrm>
            <a:off x="1966156" y="1414492"/>
            <a:ext cx="2880160" cy="2303175"/>
            <a:chOff x="2531231" y="1414492"/>
            <a:chExt cx="2880160" cy="2303175"/>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264B961-B9AA-AA5B-3937-7CC80EA3C750}"/>
                    </a:ext>
                  </a:extLst>
                </p:cNvPr>
                <p:cNvSpPr/>
                <p:nvPr/>
              </p:nvSpPr>
              <p:spPr>
                <a:xfrm>
                  <a:off x="3080641" y="3256002"/>
                  <a:ext cx="54585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i="1">
                                <a:solidFill>
                                  <a:schemeClr val="tx1"/>
                                </a:solidFill>
                                <a:latin typeface="Cambria Math" panose="02040503050406030204" pitchFamily="18" charset="0"/>
                                <a:ea typeface="Cambria Math" panose="02040503050406030204" pitchFamily="18" charset="0"/>
                              </a:rPr>
                              <m:t>3</m:t>
                            </m:r>
                          </m:sub>
                        </m:sSub>
                      </m:oMath>
                    </m:oMathPara>
                  </a14:m>
                  <a:endParaRPr lang="en-US" sz="2400" dirty="0"/>
                </a:p>
              </p:txBody>
            </p:sp>
          </mc:Choice>
          <mc:Fallback xmlns="">
            <p:sp>
              <p:nvSpPr>
                <p:cNvPr id="8" name="Rectangle 7">
                  <a:extLst>
                    <a:ext uri="{FF2B5EF4-FFF2-40B4-BE49-F238E27FC236}">
                      <a16:creationId xmlns:a16="http://schemas.microsoft.com/office/drawing/2014/main" id="{F264B961-B9AA-AA5B-3937-7CC80EA3C750}"/>
                    </a:ext>
                  </a:extLst>
                </p:cNvPr>
                <p:cNvSpPr>
                  <a:spLocks noRot="1" noChangeAspect="1" noMove="1" noResize="1" noEditPoints="1" noAdjustHandles="1" noChangeArrowheads="1" noChangeShapeType="1" noTextEdit="1"/>
                </p:cNvSpPr>
                <p:nvPr/>
              </p:nvSpPr>
              <p:spPr>
                <a:xfrm>
                  <a:off x="3080641" y="3256002"/>
                  <a:ext cx="545855" cy="461665"/>
                </a:xfrm>
                <a:prstGeom prst="rect">
                  <a:avLst/>
                </a:prstGeom>
                <a:blipFill>
                  <a:blip r:embed="rId6"/>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4535F1E5-9E9F-3B52-9FD5-B034DFDCE22A}"/>
                    </a:ext>
                  </a:extLst>
                </p:cNvPr>
                <p:cNvSpPr/>
                <p:nvPr/>
              </p:nvSpPr>
              <p:spPr>
                <a:xfrm>
                  <a:off x="4578984" y="3244572"/>
                  <a:ext cx="83240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i="1">
                                <a:solidFill>
                                  <a:schemeClr val="tx1"/>
                                </a:solidFill>
                                <a:latin typeface="Cambria Math" panose="02040503050406030204" pitchFamily="18" charset="0"/>
                                <a:ea typeface="Cambria Math" panose="02040503050406030204" pitchFamily="18" charset="0"/>
                              </a:rPr>
                              <m:t>𝑐𝑟𝑖𝑡</m:t>
                            </m:r>
                          </m:sub>
                        </m:sSub>
                      </m:oMath>
                    </m:oMathPara>
                  </a14:m>
                  <a:endParaRPr lang="en-US" sz="2400" dirty="0"/>
                </a:p>
              </p:txBody>
            </p:sp>
          </mc:Choice>
          <mc:Fallback xmlns="">
            <p:sp>
              <p:nvSpPr>
                <p:cNvPr id="10" name="Rectangle 9">
                  <a:extLst>
                    <a:ext uri="{FF2B5EF4-FFF2-40B4-BE49-F238E27FC236}">
                      <a16:creationId xmlns:a16="http://schemas.microsoft.com/office/drawing/2014/main" id="{4535F1E5-9E9F-3B52-9FD5-B034DFDCE22A}"/>
                    </a:ext>
                  </a:extLst>
                </p:cNvPr>
                <p:cNvSpPr>
                  <a:spLocks noRot="1" noChangeAspect="1" noMove="1" noResize="1" noEditPoints="1" noAdjustHandles="1" noChangeArrowheads="1" noChangeShapeType="1" noTextEdit="1"/>
                </p:cNvSpPr>
                <p:nvPr/>
              </p:nvSpPr>
              <p:spPr>
                <a:xfrm>
                  <a:off x="4578984" y="3244572"/>
                  <a:ext cx="832407" cy="461665"/>
                </a:xfrm>
                <a:prstGeom prst="rect">
                  <a:avLst/>
                </a:prstGeom>
                <a:blipFill>
                  <a:blip r:embed="rId7"/>
                  <a:stretch>
                    <a:fillRect b="-5405"/>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BD7D98DA-DA79-5C6E-C1F6-220C1876F775}"/>
                </a:ext>
              </a:extLst>
            </p:cNvPr>
            <p:cNvCxnSpPr>
              <a:cxnSpLocks/>
            </p:cNvCxnSpPr>
            <p:nvPr/>
          </p:nvCxnSpPr>
          <p:spPr>
            <a:xfrm>
              <a:off x="2531231" y="2569967"/>
              <a:ext cx="549554" cy="0"/>
            </a:xfrm>
            <a:prstGeom prst="line">
              <a:avLst/>
            </a:prstGeom>
            <a:ln w="63500">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5AA0814-3A2F-608F-7114-35F13DD1CD13}"/>
                </a:ext>
              </a:extLst>
            </p:cNvPr>
            <p:cNvCxnSpPr>
              <a:cxnSpLocks/>
            </p:cNvCxnSpPr>
            <p:nvPr/>
          </p:nvCxnSpPr>
          <p:spPr>
            <a:xfrm>
              <a:off x="3244558" y="2646912"/>
              <a:ext cx="0" cy="402956"/>
            </a:xfrm>
            <a:prstGeom prst="line">
              <a:avLst/>
            </a:prstGeom>
            <a:ln w="63500">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B6E67C-D371-6DFB-CCAC-D7DDC2F7D896}"/>
                </a:ext>
              </a:extLst>
            </p:cNvPr>
            <p:cNvCxnSpPr>
              <a:cxnSpLocks/>
            </p:cNvCxnSpPr>
            <p:nvPr/>
          </p:nvCxnSpPr>
          <p:spPr>
            <a:xfrm>
              <a:off x="4827185" y="1414492"/>
              <a:ext cx="0" cy="1569267"/>
            </a:xfrm>
            <a:prstGeom prst="line">
              <a:avLst/>
            </a:prstGeom>
            <a:ln w="63500">
              <a:prstDash val="sysDot"/>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BB7BE7F-8EF3-3703-D3BC-CE013776F51B}"/>
              </a:ext>
            </a:extLst>
          </p:cNvPr>
          <p:cNvGrpSpPr/>
          <p:nvPr/>
        </p:nvGrpSpPr>
        <p:grpSpPr>
          <a:xfrm>
            <a:off x="5407155" y="646454"/>
            <a:ext cx="6156496" cy="3092833"/>
            <a:chOff x="5828394" y="646454"/>
            <a:chExt cx="6156496" cy="3092833"/>
          </a:xfrm>
        </p:grpSpPr>
        <p:pic>
          <p:nvPicPr>
            <p:cNvPr id="5" name="Picture 2" descr="Phase Change Diagram of Water — Overview &amp; Importance - Expii">
              <a:extLst>
                <a:ext uri="{FF2B5EF4-FFF2-40B4-BE49-F238E27FC236}">
                  <a16:creationId xmlns:a16="http://schemas.microsoft.com/office/drawing/2014/main" id="{F7C76EE2-79B3-48D5-82D5-251A59EF365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9038"/>
            <a:stretch/>
          </p:blipFill>
          <p:spPr bwMode="auto">
            <a:xfrm>
              <a:off x="5930583" y="646454"/>
              <a:ext cx="4130639" cy="2896402"/>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90D91267-AE3C-B207-9183-BD25A456F1B9}"/>
                </a:ext>
              </a:extLst>
            </p:cNvPr>
            <p:cNvGrpSpPr/>
            <p:nvPr/>
          </p:nvGrpSpPr>
          <p:grpSpPr>
            <a:xfrm>
              <a:off x="6343331" y="1057363"/>
              <a:ext cx="3503452" cy="2655411"/>
              <a:chOff x="2531231" y="890806"/>
              <a:chExt cx="3503452" cy="2655411"/>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2D617A3-F84C-B6E1-3F4C-D6AA9A20D566}"/>
                      </a:ext>
                    </a:extLst>
                  </p:cNvPr>
                  <p:cNvSpPr/>
                  <p:nvPr/>
                </p:nvSpPr>
                <p:spPr>
                  <a:xfrm>
                    <a:off x="3080641" y="3084552"/>
                    <a:ext cx="54585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i="1">
                                  <a:solidFill>
                                    <a:schemeClr val="tx1"/>
                                  </a:solidFill>
                                  <a:latin typeface="Cambria Math" panose="02040503050406030204" pitchFamily="18" charset="0"/>
                                  <a:ea typeface="Cambria Math" panose="02040503050406030204" pitchFamily="18" charset="0"/>
                                </a:rPr>
                                <m:t>3</m:t>
                              </m:r>
                            </m:sub>
                          </m:sSub>
                        </m:oMath>
                      </m:oMathPara>
                    </a14:m>
                    <a:endParaRPr lang="en-US" sz="2400" dirty="0"/>
                  </a:p>
                </p:txBody>
              </p:sp>
            </mc:Choice>
            <mc:Fallback xmlns="">
              <p:sp>
                <p:nvSpPr>
                  <p:cNvPr id="25" name="Rectangle 24">
                    <a:extLst>
                      <a:ext uri="{FF2B5EF4-FFF2-40B4-BE49-F238E27FC236}">
                        <a16:creationId xmlns:a16="http://schemas.microsoft.com/office/drawing/2014/main" id="{62D617A3-F84C-B6E1-3F4C-D6AA9A20D566}"/>
                      </a:ext>
                    </a:extLst>
                  </p:cNvPr>
                  <p:cNvSpPr>
                    <a:spLocks noRot="1" noChangeAspect="1" noMove="1" noResize="1" noEditPoints="1" noAdjustHandles="1" noChangeArrowheads="1" noChangeShapeType="1" noTextEdit="1"/>
                  </p:cNvSpPr>
                  <p:nvPr/>
                </p:nvSpPr>
                <p:spPr>
                  <a:xfrm>
                    <a:off x="3080641" y="3084552"/>
                    <a:ext cx="545855" cy="461665"/>
                  </a:xfrm>
                  <a:prstGeom prst="rect">
                    <a:avLst/>
                  </a:prstGeom>
                  <a:blipFill>
                    <a:blip r:embed="rId9"/>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F9FBCF06-9CA1-AB0E-6658-59415A02C9D4}"/>
                      </a:ext>
                    </a:extLst>
                  </p:cNvPr>
                  <p:cNvSpPr/>
                  <p:nvPr/>
                </p:nvSpPr>
                <p:spPr>
                  <a:xfrm>
                    <a:off x="5202276" y="3084552"/>
                    <a:ext cx="83240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i="1">
                                  <a:solidFill>
                                    <a:schemeClr val="tx1"/>
                                  </a:solidFill>
                                  <a:latin typeface="Cambria Math" panose="02040503050406030204" pitchFamily="18" charset="0"/>
                                  <a:ea typeface="Cambria Math" panose="02040503050406030204" pitchFamily="18" charset="0"/>
                                </a:rPr>
                                <m:t>𝑐𝑟𝑖𝑡</m:t>
                              </m:r>
                            </m:sub>
                          </m:sSub>
                        </m:oMath>
                      </m:oMathPara>
                    </a14:m>
                    <a:endParaRPr lang="en-US" sz="2400" dirty="0"/>
                  </a:p>
                </p:txBody>
              </p:sp>
            </mc:Choice>
            <mc:Fallback xmlns="">
              <p:sp>
                <p:nvSpPr>
                  <p:cNvPr id="26" name="Rectangle 25">
                    <a:extLst>
                      <a:ext uri="{FF2B5EF4-FFF2-40B4-BE49-F238E27FC236}">
                        <a16:creationId xmlns:a16="http://schemas.microsoft.com/office/drawing/2014/main" id="{F9FBCF06-9CA1-AB0E-6658-59415A02C9D4}"/>
                      </a:ext>
                    </a:extLst>
                  </p:cNvPr>
                  <p:cNvSpPr>
                    <a:spLocks noRot="1" noChangeAspect="1" noMove="1" noResize="1" noEditPoints="1" noAdjustHandles="1" noChangeArrowheads="1" noChangeShapeType="1" noTextEdit="1"/>
                  </p:cNvSpPr>
                  <p:nvPr/>
                </p:nvSpPr>
                <p:spPr>
                  <a:xfrm>
                    <a:off x="5202276" y="3084552"/>
                    <a:ext cx="832407" cy="461665"/>
                  </a:xfrm>
                  <a:prstGeom prst="rect">
                    <a:avLst/>
                  </a:prstGeom>
                  <a:blipFill>
                    <a:blip r:embed="rId10"/>
                    <a:stretch>
                      <a:fillRect b="-2632"/>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B2C6F997-1469-64D5-2BEC-283D341C9976}"/>
                  </a:ext>
                </a:extLst>
              </p:cNvPr>
              <p:cNvCxnSpPr>
                <a:cxnSpLocks/>
              </p:cNvCxnSpPr>
              <p:nvPr/>
            </p:nvCxnSpPr>
            <p:spPr>
              <a:xfrm>
                <a:off x="2531231" y="2569967"/>
                <a:ext cx="549554" cy="0"/>
              </a:xfrm>
              <a:prstGeom prst="line">
                <a:avLst/>
              </a:prstGeom>
              <a:ln w="63500">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925CF30-31EC-A0E3-220B-4A82824FDF09}"/>
                  </a:ext>
                </a:extLst>
              </p:cNvPr>
              <p:cNvCxnSpPr>
                <a:cxnSpLocks/>
              </p:cNvCxnSpPr>
              <p:nvPr/>
            </p:nvCxnSpPr>
            <p:spPr>
              <a:xfrm>
                <a:off x="3244558" y="2646912"/>
                <a:ext cx="0" cy="285912"/>
              </a:xfrm>
              <a:prstGeom prst="line">
                <a:avLst/>
              </a:prstGeom>
              <a:ln w="63500">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C8E1754-41FA-B45A-C1E0-C8B8E8E9BD2A}"/>
                  </a:ext>
                </a:extLst>
              </p:cNvPr>
              <p:cNvCxnSpPr>
                <a:cxnSpLocks/>
              </p:cNvCxnSpPr>
              <p:nvPr/>
            </p:nvCxnSpPr>
            <p:spPr>
              <a:xfrm>
                <a:off x="5480687" y="890806"/>
                <a:ext cx="0" cy="1898043"/>
              </a:xfrm>
              <a:prstGeom prst="line">
                <a:avLst/>
              </a:prstGeom>
              <a:ln w="63500">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9FF0E641-9E00-7884-9557-6DAE2E255C63}"/>
                    </a:ext>
                  </a:extLst>
                </p:cNvPr>
                <p:cNvSpPr/>
                <p:nvPr/>
              </p:nvSpPr>
              <p:spPr>
                <a:xfrm>
                  <a:off x="5828394" y="2452726"/>
                  <a:ext cx="5538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𝑃</m:t>
                            </m:r>
                          </m:e>
                          <m:sub>
                            <m:r>
                              <a:rPr lang="en-US" sz="2400" i="1">
                                <a:solidFill>
                                  <a:schemeClr val="tx1"/>
                                </a:solidFill>
                                <a:latin typeface="Cambria Math" panose="02040503050406030204" pitchFamily="18" charset="0"/>
                                <a:ea typeface="Cambria Math" panose="02040503050406030204" pitchFamily="18" charset="0"/>
                              </a:rPr>
                              <m:t>3</m:t>
                            </m:r>
                          </m:sub>
                        </m:sSub>
                      </m:oMath>
                    </m:oMathPara>
                  </a14:m>
                  <a:endParaRPr lang="en-US" sz="2400" dirty="0"/>
                </a:p>
              </p:txBody>
            </p:sp>
          </mc:Choice>
          <mc:Fallback xmlns="">
            <p:sp>
              <p:nvSpPr>
                <p:cNvPr id="32" name="Rectangle 31">
                  <a:extLst>
                    <a:ext uri="{FF2B5EF4-FFF2-40B4-BE49-F238E27FC236}">
                      <a16:creationId xmlns:a16="http://schemas.microsoft.com/office/drawing/2014/main" id="{9FF0E641-9E00-7884-9557-6DAE2E255C63}"/>
                    </a:ext>
                  </a:extLst>
                </p:cNvPr>
                <p:cNvSpPr>
                  <a:spLocks noRot="1" noChangeAspect="1" noMove="1" noResize="1" noEditPoints="1" noAdjustHandles="1" noChangeArrowheads="1" noChangeShapeType="1" noTextEdit="1"/>
                </p:cNvSpPr>
                <p:nvPr/>
              </p:nvSpPr>
              <p:spPr>
                <a:xfrm>
                  <a:off x="5828394" y="2452726"/>
                  <a:ext cx="553870" cy="461665"/>
                </a:xfrm>
                <a:prstGeom prst="rect">
                  <a:avLst/>
                </a:prstGeom>
                <a:blipFill>
                  <a:blip r:embed="rId11"/>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2E4B1B4-C7AC-72CC-F3CB-E2A1E9E8160E}"/>
                    </a:ext>
                  </a:extLst>
                </p:cNvPr>
                <p:cNvSpPr/>
                <p:nvPr/>
              </p:nvSpPr>
              <p:spPr>
                <a:xfrm>
                  <a:off x="10146960" y="3248447"/>
                  <a:ext cx="1051185" cy="490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b="0" i="1" smtClean="0">
                                <a:solidFill>
                                  <a:schemeClr val="tx1"/>
                                </a:solidFill>
                                <a:latin typeface="Cambria Math" panose="02040503050406030204" pitchFamily="18" charset="0"/>
                                <a:ea typeface="Cambria Math" panose="02040503050406030204" pitchFamily="18" charset="0"/>
                              </a:rPr>
                              <m:t>𝐵𝑜𝑦𝑙𝑒</m:t>
                            </m:r>
                          </m:sub>
                        </m:sSub>
                      </m:oMath>
                    </m:oMathPara>
                  </a14:m>
                  <a:endParaRPr lang="en-US" sz="2400" dirty="0"/>
                </a:p>
              </p:txBody>
            </p:sp>
          </mc:Choice>
          <mc:Fallback xmlns="">
            <p:sp>
              <p:nvSpPr>
                <p:cNvPr id="33" name="Rectangle 32">
                  <a:extLst>
                    <a:ext uri="{FF2B5EF4-FFF2-40B4-BE49-F238E27FC236}">
                      <a16:creationId xmlns:a16="http://schemas.microsoft.com/office/drawing/2014/main" id="{F2E4B1B4-C7AC-72CC-F3CB-E2A1E9E8160E}"/>
                    </a:ext>
                  </a:extLst>
                </p:cNvPr>
                <p:cNvSpPr>
                  <a:spLocks noRot="1" noChangeAspect="1" noMove="1" noResize="1" noEditPoints="1" noAdjustHandles="1" noChangeArrowheads="1" noChangeShapeType="1" noTextEdit="1"/>
                </p:cNvSpPr>
                <p:nvPr/>
              </p:nvSpPr>
              <p:spPr>
                <a:xfrm>
                  <a:off x="10146960" y="3248447"/>
                  <a:ext cx="1051185" cy="490840"/>
                </a:xfrm>
                <a:prstGeom prst="rect">
                  <a:avLst/>
                </a:prstGeom>
                <a:blipFill>
                  <a:blip r:embed="rId12"/>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48CC083D-041F-5DEC-C3B3-47604427653B}"/>
                    </a:ext>
                  </a:extLst>
                </p:cNvPr>
                <p:cNvSpPr/>
                <p:nvPr/>
              </p:nvSpPr>
              <p:spPr>
                <a:xfrm>
                  <a:off x="11473596" y="3259268"/>
                  <a:ext cx="5112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b="0" i="1" smtClean="0">
                                <a:solidFill>
                                  <a:schemeClr val="tx1"/>
                                </a:solidFill>
                                <a:latin typeface="Cambria Math" panose="02040503050406030204" pitchFamily="18" charset="0"/>
                                <a:ea typeface="Cambria Math" panose="02040503050406030204" pitchFamily="18" charset="0"/>
                              </a:rPr>
                              <m:t>𝐼</m:t>
                            </m:r>
                          </m:sub>
                        </m:sSub>
                      </m:oMath>
                    </m:oMathPara>
                  </a14:m>
                  <a:endParaRPr lang="en-US" sz="2400" dirty="0"/>
                </a:p>
              </p:txBody>
            </p:sp>
          </mc:Choice>
          <mc:Fallback xmlns="">
            <p:sp>
              <p:nvSpPr>
                <p:cNvPr id="34" name="Rectangle 33">
                  <a:extLst>
                    <a:ext uri="{FF2B5EF4-FFF2-40B4-BE49-F238E27FC236}">
                      <a16:creationId xmlns:a16="http://schemas.microsoft.com/office/drawing/2014/main" id="{48CC083D-041F-5DEC-C3B3-47604427653B}"/>
                    </a:ext>
                  </a:extLst>
                </p:cNvPr>
                <p:cNvSpPr>
                  <a:spLocks noRot="1" noChangeAspect="1" noMove="1" noResize="1" noEditPoints="1" noAdjustHandles="1" noChangeArrowheads="1" noChangeShapeType="1" noTextEdit="1"/>
                </p:cNvSpPr>
                <p:nvPr/>
              </p:nvSpPr>
              <p:spPr>
                <a:xfrm>
                  <a:off x="11473596" y="3259268"/>
                  <a:ext cx="511294" cy="461665"/>
                </a:xfrm>
                <a:prstGeom prst="rect">
                  <a:avLst/>
                </a:prstGeom>
                <a:blipFill>
                  <a:blip r:embed="rId13"/>
                  <a:stretch>
                    <a:fillRect b="-2703"/>
                  </a:stretch>
                </a:blipFill>
              </p:spPr>
              <p:txBody>
                <a:bodyPr/>
                <a:lstStyle/>
                <a:p>
                  <a:r>
                    <a:rPr lang="en-US">
                      <a:noFill/>
                    </a:rPr>
                    <a:t> </a:t>
                  </a:r>
                </a:p>
              </p:txBody>
            </p:sp>
          </mc:Fallback>
        </mc:AlternateContent>
      </p:grpSp>
      <p:sp>
        <p:nvSpPr>
          <p:cNvPr id="36" name="TextBox 35">
            <a:extLst>
              <a:ext uri="{FF2B5EF4-FFF2-40B4-BE49-F238E27FC236}">
                <a16:creationId xmlns:a16="http://schemas.microsoft.com/office/drawing/2014/main" id="{5ACE7576-26B1-F0AE-CCA7-980E850047CD}"/>
              </a:ext>
            </a:extLst>
          </p:cNvPr>
          <p:cNvSpPr txBox="1"/>
          <p:nvPr/>
        </p:nvSpPr>
        <p:spPr>
          <a:xfrm>
            <a:off x="9455328" y="587950"/>
            <a:ext cx="2108319" cy="1200329"/>
          </a:xfrm>
          <a:prstGeom prst="rect">
            <a:avLst/>
          </a:prstGeom>
          <a:solidFill>
            <a:schemeClr val="bg1"/>
          </a:solidFill>
          <a:ln>
            <a:solidFill>
              <a:schemeClr val="tx1"/>
            </a:solidFill>
          </a:ln>
        </p:spPr>
        <p:txBody>
          <a:bodyPr wrap="square" rtlCol="0">
            <a:spAutoFit/>
          </a:bodyPr>
          <a:lstStyle/>
          <a:p>
            <a:pPr algn="ctr"/>
            <a:r>
              <a:rPr lang="en-US" sz="2400" dirty="0"/>
              <a:t>This is the phase diagram of water</a:t>
            </a:r>
          </a:p>
        </p:txBody>
      </p:sp>
      <p:pic>
        <p:nvPicPr>
          <p:cNvPr id="1028" name="Picture 4" descr="Water Can Boil and Freeze Simultaneously: The Science Explained | Wowtoknow">
            <a:extLst>
              <a:ext uri="{FF2B5EF4-FFF2-40B4-BE49-F238E27FC236}">
                <a16:creationId xmlns:a16="http://schemas.microsoft.com/office/drawing/2014/main" id="{02C38ECF-6AA3-87BD-093A-1F8DF424B16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71406" y="3761074"/>
            <a:ext cx="1927827" cy="1285218"/>
          </a:xfrm>
          <a:prstGeom prst="rect">
            <a:avLst/>
          </a:prstGeom>
          <a:noFill/>
          <a:extLst>
            <a:ext uri="{909E8E84-426E-40DD-AFC4-6F175D3DCCD1}">
              <a14:hiddenFill xmlns:a14="http://schemas.microsoft.com/office/drawing/2010/main">
                <a:solidFill>
                  <a:srgbClr val="FFFFFF"/>
                </a:solidFill>
              </a14:hiddenFill>
            </a:ext>
          </a:extLst>
        </p:spPr>
      </p:pic>
      <p:cxnSp>
        <p:nvCxnSpPr>
          <p:cNvPr id="38" name="Straight Arrow Connector 37">
            <a:extLst>
              <a:ext uri="{FF2B5EF4-FFF2-40B4-BE49-F238E27FC236}">
                <a16:creationId xmlns:a16="http://schemas.microsoft.com/office/drawing/2014/main" id="{BA6E1CFE-4611-9257-144E-CAAFE24ADEBB}"/>
              </a:ext>
            </a:extLst>
          </p:cNvPr>
          <p:cNvCxnSpPr>
            <a:cxnSpLocks/>
          </p:cNvCxnSpPr>
          <p:nvPr/>
        </p:nvCxnSpPr>
        <p:spPr>
          <a:xfrm>
            <a:off x="6371866" y="4366260"/>
            <a:ext cx="239494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A955B05-7836-B1A6-78EE-4F7324648048}"/>
              </a:ext>
            </a:extLst>
          </p:cNvPr>
          <p:cNvCxnSpPr>
            <a:cxnSpLocks/>
          </p:cNvCxnSpPr>
          <p:nvPr/>
        </p:nvCxnSpPr>
        <p:spPr>
          <a:xfrm>
            <a:off x="6018175" y="5604510"/>
            <a:ext cx="291038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510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B63A21-7279-9D42-8077-C7DDE7E0E8D4}"/>
              </a:ext>
            </a:extLst>
          </p:cNvPr>
          <p:cNvSpPr txBox="1"/>
          <p:nvPr/>
        </p:nvSpPr>
        <p:spPr>
          <a:xfrm>
            <a:off x="4902" y="2663"/>
            <a:ext cx="12187098" cy="461665"/>
          </a:xfrm>
          <a:prstGeom prst="rect">
            <a:avLst/>
          </a:prstGeom>
          <a:solidFill>
            <a:schemeClr val="accent2"/>
          </a:solidFill>
        </p:spPr>
        <p:txBody>
          <a:bodyPr wrap="square" rtlCol="0">
            <a:spAutoFit/>
          </a:bodyPr>
          <a:lstStyle/>
          <a:p>
            <a:r>
              <a:rPr lang="en-US" sz="2400" b="1" dirty="0"/>
              <a:t>New today: the Clapeyron equation</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B989B1EB-29D9-C849-B9DF-06B279169A66}"/>
                  </a:ext>
                </a:extLst>
              </p:cNvPr>
              <p:cNvSpPr/>
              <p:nvPr/>
            </p:nvSpPr>
            <p:spPr>
              <a:xfrm>
                <a:off x="199293" y="842648"/>
                <a:ext cx="5287107" cy="3891258"/>
              </a:xfrm>
              <a:prstGeom prst="rect">
                <a:avLst/>
              </a:prstGeom>
            </p:spPr>
            <p:txBody>
              <a:bodyPr wrap="square">
                <a:spAutoFit/>
              </a:bodyPr>
              <a:lstStyle/>
              <a:p>
                <a:r>
                  <a:rPr lang="en-US" sz="2400" dirty="0">
                    <a:ea typeface="Cambria Math" panose="02040503050406030204" pitchFamily="18" charset="0"/>
                  </a:rPr>
                  <a:t>The</a:t>
                </a:r>
                <a:r>
                  <a:rPr lang="en-US" sz="2400" b="1" dirty="0">
                    <a:ea typeface="Cambria Math" panose="02040503050406030204" pitchFamily="18" charset="0"/>
                  </a:rPr>
                  <a:t> Clapeyron Equation</a:t>
                </a:r>
                <a:r>
                  <a:rPr lang="en-US" sz="2400" dirty="0">
                    <a:ea typeface="Cambria Math" panose="02040503050406030204" pitchFamily="18" charset="0"/>
                  </a:rPr>
                  <a:t> gives the </a:t>
                </a:r>
                <a:r>
                  <a:rPr lang="en-US" sz="2400" b="1" dirty="0">
                    <a:ea typeface="Cambria Math" panose="02040503050406030204" pitchFamily="18" charset="0"/>
                  </a:rPr>
                  <a:t>slope</a:t>
                </a:r>
                <a:r>
                  <a:rPr lang="en-US" sz="2400" dirty="0">
                    <a:ea typeface="Cambria Math" panose="02040503050406030204" pitchFamily="18" charset="0"/>
                  </a:rPr>
                  <a:t> of phase boundary lines:</a:t>
                </a:r>
              </a:p>
              <a:p>
                <a:endParaRPr lang="en-US" sz="2400" dirty="0">
                  <a:ea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en-US" sz="2400" b="1" i="1">
                              <a:solidFill>
                                <a:srgbClr val="7030A0"/>
                              </a:solidFill>
                              <a:latin typeface="Cambria Math" panose="02040503050406030204" pitchFamily="18" charset="0"/>
                              <a:ea typeface="Cambria Math" panose="02040503050406030204" pitchFamily="18" charset="0"/>
                            </a:rPr>
                          </m:ctrlPr>
                        </m:fPr>
                        <m:num>
                          <m:r>
                            <a:rPr lang="en-US" sz="2400" b="1" i="1">
                              <a:solidFill>
                                <a:srgbClr val="7030A0"/>
                              </a:solidFill>
                              <a:latin typeface="Cambria Math" panose="02040503050406030204" pitchFamily="18" charset="0"/>
                              <a:ea typeface="Cambria Math" panose="02040503050406030204" pitchFamily="18" charset="0"/>
                            </a:rPr>
                            <m:t>𝒅𝑷</m:t>
                          </m:r>
                        </m:num>
                        <m:den>
                          <m:r>
                            <a:rPr lang="en-US" sz="2400" b="1" i="1">
                              <a:solidFill>
                                <a:srgbClr val="7030A0"/>
                              </a:solidFill>
                              <a:latin typeface="Cambria Math" panose="02040503050406030204" pitchFamily="18" charset="0"/>
                              <a:ea typeface="Cambria Math" panose="02040503050406030204" pitchFamily="18" charset="0"/>
                            </a:rPr>
                            <m:t>𝒅𝑻</m:t>
                          </m:r>
                        </m:den>
                      </m:f>
                      <m:r>
                        <a:rPr lang="en-US" sz="2400" b="1" i="1">
                          <a:solidFill>
                            <a:srgbClr val="7030A0"/>
                          </a:solidFill>
                          <a:latin typeface="Cambria Math" panose="02040503050406030204" pitchFamily="18" charset="0"/>
                          <a:ea typeface="Cambria Math" panose="02040503050406030204" pitchFamily="18" charset="0"/>
                        </a:rPr>
                        <m:t>=</m:t>
                      </m:r>
                      <m:f>
                        <m:fPr>
                          <m:ctrlPr>
                            <a:rPr lang="en-US" sz="2400" b="1" i="1">
                              <a:solidFill>
                                <a:srgbClr val="7030A0"/>
                              </a:solidFill>
                              <a:latin typeface="Cambria Math" panose="02040503050406030204" pitchFamily="18" charset="0"/>
                              <a:ea typeface="Cambria Math" panose="02040503050406030204" pitchFamily="18" charset="0"/>
                            </a:rPr>
                          </m:ctrlPr>
                        </m:fPr>
                        <m:num>
                          <m:r>
                            <a:rPr lang="en-US" sz="2400" b="1" i="1">
                              <a:solidFill>
                                <a:srgbClr val="7030A0"/>
                              </a:solidFill>
                              <a:latin typeface="Cambria Math" panose="02040503050406030204" pitchFamily="18" charset="0"/>
                              <a:ea typeface="Cambria Math" panose="02040503050406030204" pitchFamily="18" charset="0"/>
                            </a:rPr>
                            <m:t>∆</m:t>
                          </m:r>
                          <m:sSub>
                            <m:sSubPr>
                              <m:ctrlPr>
                                <a:rPr lang="en-US" sz="2400" b="1" i="1">
                                  <a:solidFill>
                                    <a:srgbClr val="7030A0"/>
                                  </a:solidFill>
                                  <a:latin typeface="Cambria Math" panose="02040503050406030204" pitchFamily="18" charset="0"/>
                                  <a:ea typeface="Cambria Math" panose="02040503050406030204" pitchFamily="18" charset="0"/>
                                </a:rPr>
                              </m:ctrlPr>
                            </m:sSubPr>
                            <m:e>
                              <m:r>
                                <a:rPr lang="en-US" sz="2400" b="1" i="1">
                                  <a:solidFill>
                                    <a:srgbClr val="7030A0"/>
                                  </a:solidFill>
                                  <a:latin typeface="Cambria Math" panose="02040503050406030204" pitchFamily="18" charset="0"/>
                                  <a:ea typeface="Cambria Math" panose="02040503050406030204" pitchFamily="18" charset="0"/>
                                </a:rPr>
                                <m:t>𝑯</m:t>
                              </m:r>
                            </m:e>
                            <m:sub>
                              <m:r>
                                <a:rPr lang="en-US" sz="2400" b="1" i="1">
                                  <a:solidFill>
                                    <a:srgbClr val="7030A0"/>
                                  </a:solidFill>
                                  <a:latin typeface="Cambria Math" panose="02040503050406030204" pitchFamily="18" charset="0"/>
                                  <a:ea typeface="Cambria Math" panose="02040503050406030204" pitchFamily="18" charset="0"/>
                                </a:rPr>
                                <m:t>𝒕𝒓𝒔</m:t>
                              </m:r>
                            </m:sub>
                          </m:sSub>
                        </m:num>
                        <m:den>
                          <m:r>
                            <a:rPr lang="en-US" sz="2400" b="1" i="1">
                              <a:solidFill>
                                <a:srgbClr val="7030A0"/>
                              </a:solidFill>
                              <a:latin typeface="Cambria Math" panose="02040503050406030204" pitchFamily="18" charset="0"/>
                              <a:ea typeface="Cambria Math" panose="02040503050406030204" pitchFamily="18" charset="0"/>
                            </a:rPr>
                            <m:t>𝑻</m:t>
                          </m:r>
                          <m:r>
                            <a:rPr lang="en-US" sz="2400" b="1" i="1">
                              <a:solidFill>
                                <a:srgbClr val="7030A0"/>
                              </a:solidFill>
                              <a:latin typeface="Cambria Math" panose="02040503050406030204" pitchFamily="18" charset="0"/>
                              <a:ea typeface="Cambria Math" panose="02040503050406030204" pitchFamily="18" charset="0"/>
                            </a:rPr>
                            <m:t>∆</m:t>
                          </m:r>
                          <m:sSub>
                            <m:sSubPr>
                              <m:ctrlPr>
                                <a:rPr lang="en-US" sz="2400" b="1" i="1">
                                  <a:solidFill>
                                    <a:srgbClr val="7030A0"/>
                                  </a:solidFill>
                                  <a:latin typeface="Cambria Math" panose="02040503050406030204" pitchFamily="18" charset="0"/>
                                  <a:ea typeface="Cambria Math" panose="02040503050406030204" pitchFamily="18" charset="0"/>
                                </a:rPr>
                              </m:ctrlPr>
                            </m:sSubPr>
                            <m:e>
                              <m:r>
                                <a:rPr lang="en-US" sz="2400" b="1" i="1">
                                  <a:solidFill>
                                    <a:srgbClr val="7030A0"/>
                                  </a:solidFill>
                                  <a:latin typeface="Cambria Math" panose="02040503050406030204" pitchFamily="18" charset="0"/>
                                  <a:ea typeface="Cambria Math" panose="02040503050406030204" pitchFamily="18" charset="0"/>
                                </a:rPr>
                                <m:t>𝑽</m:t>
                              </m:r>
                            </m:e>
                            <m:sub>
                              <m:r>
                                <a:rPr lang="en-US" sz="2400" b="1" i="1">
                                  <a:solidFill>
                                    <a:srgbClr val="7030A0"/>
                                  </a:solidFill>
                                  <a:latin typeface="Cambria Math" panose="02040503050406030204" pitchFamily="18" charset="0"/>
                                  <a:ea typeface="Cambria Math" panose="02040503050406030204" pitchFamily="18" charset="0"/>
                                </a:rPr>
                                <m:t>𝒕𝒓𝒔</m:t>
                              </m:r>
                            </m:sub>
                          </m:sSub>
                        </m:den>
                      </m:f>
                    </m:oMath>
                  </m:oMathPara>
                </a14:m>
                <a:endParaRPr lang="en-US" sz="2400" dirty="0">
                  <a:ea typeface="Cambria Math" panose="02040503050406030204" pitchFamily="18" charset="0"/>
                </a:endParaRPr>
              </a:p>
              <a:p>
                <a:endParaRPr lang="en-US" sz="2400" dirty="0">
                  <a:ea typeface="Cambria Math" panose="02040503050406030204" pitchFamily="18" charset="0"/>
                </a:endParaRPr>
              </a:p>
              <a:p>
                <a:r>
                  <a:rPr lang="en-US" sz="2400" dirty="0"/>
                  <a:t>where </a:t>
                </a:r>
                <a:r>
                  <a:rPr lang="en-US" sz="2400" dirty="0" err="1"/>
                  <a:t>trs</a:t>
                </a:r>
                <a:r>
                  <a:rPr lang="en-US" sz="2400" dirty="0"/>
                  <a:t> = </a:t>
                </a:r>
                <a:r>
                  <a:rPr lang="en-US" sz="2400" dirty="0" err="1"/>
                  <a:t>fus</a:t>
                </a:r>
                <a:r>
                  <a:rPr lang="en-US" sz="2400" dirty="0"/>
                  <a:t>, </a:t>
                </a:r>
                <a:r>
                  <a:rPr lang="en-US" sz="2400" dirty="0" err="1"/>
                  <a:t>vap</a:t>
                </a:r>
                <a:r>
                  <a:rPr lang="en-US" sz="2400" dirty="0"/>
                  <a:t>, or sub. For example,</a:t>
                </a:r>
              </a:p>
              <a:p>
                <a:endParaRPr lang="en-US" sz="2400" dirty="0"/>
              </a:p>
              <a:p>
                <a:pPr/>
                <a14:m>
                  <m:oMathPara xmlns:m="http://schemas.openxmlformats.org/officeDocument/2006/math">
                    <m:oMathParaPr>
                      <m:jc m:val="centerGroup"/>
                    </m:oMathParaPr>
                    <m:oMath xmlns:m="http://schemas.openxmlformats.org/officeDocument/2006/math">
                      <m:f>
                        <m:fPr>
                          <m:ctrlPr>
                            <a:rPr lang="en-US" sz="2400" b="1" i="1" smtClean="0">
                              <a:solidFill>
                                <a:schemeClr val="accent1"/>
                              </a:solidFill>
                              <a:latin typeface="Cambria Math" panose="02040503050406030204" pitchFamily="18" charset="0"/>
                              <a:ea typeface="Cambria Math" panose="02040503050406030204" pitchFamily="18" charset="0"/>
                            </a:rPr>
                          </m:ctrlPr>
                        </m:fPr>
                        <m:num>
                          <m:r>
                            <a:rPr lang="en-US" sz="2400" b="1" i="1" smtClean="0">
                              <a:solidFill>
                                <a:schemeClr val="accent1"/>
                              </a:solidFill>
                              <a:latin typeface="Cambria Math" panose="02040503050406030204" pitchFamily="18" charset="0"/>
                              <a:ea typeface="Cambria Math" panose="02040503050406030204" pitchFamily="18" charset="0"/>
                            </a:rPr>
                            <m:t>𝒅𝑷</m:t>
                          </m:r>
                        </m:num>
                        <m:den>
                          <m:r>
                            <a:rPr lang="en-US" sz="2400" b="1" i="1" smtClean="0">
                              <a:solidFill>
                                <a:schemeClr val="accent1"/>
                              </a:solidFill>
                              <a:latin typeface="Cambria Math" panose="02040503050406030204" pitchFamily="18" charset="0"/>
                              <a:ea typeface="Cambria Math" panose="02040503050406030204" pitchFamily="18" charset="0"/>
                            </a:rPr>
                            <m:t>𝒅𝑻</m:t>
                          </m:r>
                        </m:den>
                      </m:f>
                      <m:r>
                        <a:rPr lang="en-US" sz="2400" b="1" i="1">
                          <a:solidFill>
                            <a:schemeClr val="accent1"/>
                          </a:solidFill>
                          <a:latin typeface="Cambria Math" panose="02040503050406030204" pitchFamily="18" charset="0"/>
                          <a:ea typeface="Cambria Math" panose="02040503050406030204" pitchFamily="18" charset="0"/>
                        </a:rPr>
                        <m:t>=</m:t>
                      </m:r>
                      <m:f>
                        <m:fPr>
                          <m:ctrlPr>
                            <a:rPr lang="en-US" sz="2400" b="1" i="1">
                              <a:solidFill>
                                <a:schemeClr val="accent1"/>
                              </a:solidFill>
                              <a:latin typeface="Cambria Math" panose="02040503050406030204" pitchFamily="18" charset="0"/>
                              <a:ea typeface="Cambria Math" panose="02040503050406030204" pitchFamily="18" charset="0"/>
                            </a:rPr>
                          </m:ctrlPr>
                        </m:fPr>
                        <m:num>
                          <m:r>
                            <a:rPr lang="en-US" sz="2400" b="1" i="1">
                              <a:solidFill>
                                <a:schemeClr val="accent1"/>
                              </a:solidFill>
                              <a:latin typeface="Cambria Math" panose="02040503050406030204" pitchFamily="18" charset="0"/>
                              <a:ea typeface="Cambria Math" panose="02040503050406030204" pitchFamily="18" charset="0"/>
                            </a:rPr>
                            <m:t>∆</m:t>
                          </m:r>
                          <m:sSub>
                            <m:sSubPr>
                              <m:ctrlPr>
                                <a:rPr lang="en-US" sz="2400" b="1" i="1">
                                  <a:solidFill>
                                    <a:schemeClr val="accent1"/>
                                  </a:solidFill>
                                  <a:latin typeface="Cambria Math" panose="02040503050406030204" pitchFamily="18" charset="0"/>
                                  <a:ea typeface="Cambria Math" panose="02040503050406030204" pitchFamily="18" charset="0"/>
                                </a:rPr>
                              </m:ctrlPr>
                            </m:sSubPr>
                            <m:e>
                              <m:r>
                                <a:rPr lang="en-US" sz="2400" b="1" i="1">
                                  <a:solidFill>
                                    <a:schemeClr val="accent1"/>
                                  </a:solidFill>
                                  <a:latin typeface="Cambria Math" panose="02040503050406030204" pitchFamily="18" charset="0"/>
                                  <a:ea typeface="Cambria Math" panose="02040503050406030204" pitchFamily="18" charset="0"/>
                                </a:rPr>
                                <m:t>𝑯</m:t>
                              </m:r>
                            </m:e>
                            <m:sub>
                              <m:r>
                                <a:rPr lang="en-US" sz="2400" b="1" i="1" smtClean="0">
                                  <a:solidFill>
                                    <a:schemeClr val="accent1"/>
                                  </a:solidFill>
                                  <a:latin typeface="Cambria Math" panose="02040503050406030204" pitchFamily="18" charset="0"/>
                                  <a:ea typeface="Cambria Math" panose="02040503050406030204" pitchFamily="18" charset="0"/>
                                </a:rPr>
                                <m:t>𝒇𝒖𝒔</m:t>
                              </m:r>
                            </m:sub>
                          </m:sSub>
                        </m:num>
                        <m:den>
                          <m:r>
                            <a:rPr lang="en-US" sz="2400" b="1" i="1">
                              <a:solidFill>
                                <a:schemeClr val="accent1"/>
                              </a:solidFill>
                              <a:latin typeface="Cambria Math" panose="02040503050406030204" pitchFamily="18" charset="0"/>
                              <a:ea typeface="Cambria Math" panose="02040503050406030204" pitchFamily="18" charset="0"/>
                            </a:rPr>
                            <m:t>𝑻</m:t>
                          </m:r>
                          <m:r>
                            <a:rPr lang="en-US" sz="2400" b="1" i="1">
                              <a:solidFill>
                                <a:schemeClr val="accent1"/>
                              </a:solidFill>
                              <a:latin typeface="Cambria Math" panose="02040503050406030204" pitchFamily="18" charset="0"/>
                              <a:ea typeface="Cambria Math" panose="02040503050406030204" pitchFamily="18" charset="0"/>
                            </a:rPr>
                            <m:t>∆</m:t>
                          </m:r>
                          <m:sSub>
                            <m:sSubPr>
                              <m:ctrlPr>
                                <a:rPr lang="en-US" sz="2400" b="1" i="1">
                                  <a:solidFill>
                                    <a:schemeClr val="accent1"/>
                                  </a:solidFill>
                                  <a:latin typeface="Cambria Math" panose="02040503050406030204" pitchFamily="18" charset="0"/>
                                  <a:ea typeface="Cambria Math" panose="02040503050406030204" pitchFamily="18" charset="0"/>
                                </a:rPr>
                              </m:ctrlPr>
                            </m:sSubPr>
                            <m:e>
                              <m:r>
                                <a:rPr lang="en-US" sz="2400" b="1" i="1">
                                  <a:solidFill>
                                    <a:schemeClr val="accent1"/>
                                  </a:solidFill>
                                  <a:latin typeface="Cambria Math" panose="02040503050406030204" pitchFamily="18" charset="0"/>
                                  <a:ea typeface="Cambria Math" panose="02040503050406030204" pitchFamily="18" charset="0"/>
                                </a:rPr>
                                <m:t>𝑽</m:t>
                              </m:r>
                            </m:e>
                            <m:sub>
                              <m:r>
                                <a:rPr lang="en-US" sz="2400" b="1" i="1" smtClean="0">
                                  <a:solidFill>
                                    <a:schemeClr val="accent1"/>
                                  </a:solidFill>
                                  <a:latin typeface="Cambria Math" panose="02040503050406030204" pitchFamily="18" charset="0"/>
                                  <a:ea typeface="Cambria Math" panose="02040503050406030204" pitchFamily="18" charset="0"/>
                                </a:rPr>
                                <m:t>𝒇𝒖𝒔</m:t>
                              </m:r>
                            </m:sub>
                          </m:sSub>
                        </m:den>
                      </m:f>
                    </m:oMath>
                  </m:oMathPara>
                </a14:m>
                <a:endParaRPr lang="en-US" sz="2400" dirty="0"/>
              </a:p>
            </p:txBody>
          </p:sp>
        </mc:Choice>
        <mc:Fallback xmlns="">
          <p:sp>
            <p:nvSpPr>
              <p:cNvPr id="3" name="Rectangle 2">
                <a:extLst>
                  <a:ext uri="{FF2B5EF4-FFF2-40B4-BE49-F238E27FC236}">
                    <a16:creationId xmlns:a16="http://schemas.microsoft.com/office/drawing/2014/main" id="{B989B1EB-29D9-C849-B9DF-06B279169A66}"/>
                  </a:ext>
                </a:extLst>
              </p:cNvPr>
              <p:cNvSpPr>
                <a:spLocks noRot="1" noChangeAspect="1" noMove="1" noResize="1" noEditPoints="1" noAdjustHandles="1" noChangeArrowheads="1" noChangeShapeType="1" noTextEdit="1"/>
              </p:cNvSpPr>
              <p:nvPr/>
            </p:nvSpPr>
            <p:spPr>
              <a:xfrm>
                <a:off x="199293" y="842648"/>
                <a:ext cx="5287107" cy="3891258"/>
              </a:xfrm>
              <a:prstGeom prst="rect">
                <a:avLst/>
              </a:prstGeom>
              <a:blipFill>
                <a:blip r:embed="rId2"/>
                <a:stretch>
                  <a:fillRect l="-1675" t="-1303" r="-1196" b="-326"/>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BE49D14F-66D2-8A4A-B8D0-367C8CE99730}"/>
              </a:ext>
            </a:extLst>
          </p:cNvPr>
          <p:cNvSpPr/>
          <p:nvPr/>
        </p:nvSpPr>
        <p:spPr>
          <a:xfrm>
            <a:off x="199293" y="5078920"/>
            <a:ext cx="11516457" cy="830997"/>
          </a:xfrm>
          <a:prstGeom prst="rect">
            <a:avLst/>
          </a:prstGeom>
        </p:spPr>
        <p:txBody>
          <a:bodyPr wrap="square">
            <a:spAutoFit/>
          </a:bodyPr>
          <a:lstStyle/>
          <a:p>
            <a:r>
              <a:rPr lang="en-US" sz="2400" dirty="0"/>
              <a:t>We’ll derive the Clapeyron equation later. For now we’ll just use it to obtain expressions for the phase boundary lines themselves – by </a:t>
            </a:r>
            <a:r>
              <a:rPr lang="en-US" sz="2400" b="1" dirty="0"/>
              <a:t>integrating the slope</a:t>
            </a:r>
            <a:r>
              <a:rPr lang="en-US" sz="2400" dirty="0"/>
              <a:t>.</a:t>
            </a:r>
            <a:endParaRPr lang="en-US" sz="2400" dirty="0">
              <a:solidFill>
                <a:srgbClr val="7030A0"/>
              </a:solidFill>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C61AB64-6751-2BA5-BFD2-89ABC17B21B1}"/>
                  </a:ext>
                </a:extLst>
              </p:cNvPr>
              <p:cNvSpPr/>
              <p:nvPr/>
            </p:nvSpPr>
            <p:spPr>
              <a:xfrm>
                <a:off x="8411047" y="2585877"/>
                <a:ext cx="875496" cy="6960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smtClean="0">
                          <a:solidFill>
                            <a:srgbClr val="00B050"/>
                          </a:solidFill>
                          <a:latin typeface="Cambria Math" panose="02040503050406030204" pitchFamily="18" charset="0"/>
                          <a:ea typeface="Cambria Math" panose="02040503050406030204" pitchFamily="18" charset="0"/>
                        </a:rPr>
                        <m:t>∆</m:t>
                      </m:r>
                      <m:sSub>
                        <m:sSubPr>
                          <m:ctrlPr>
                            <a:rPr lang="en-US" b="1" i="1">
                              <a:solidFill>
                                <a:srgbClr val="00B050"/>
                              </a:solidFill>
                              <a:latin typeface="Cambria Math" panose="02040503050406030204" pitchFamily="18" charset="0"/>
                              <a:ea typeface="Cambria Math" panose="02040503050406030204" pitchFamily="18" charset="0"/>
                            </a:rPr>
                          </m:ctrlPr>
                        </m:sSubPr>
                        <m:e>
                          <m:r>
                            <a:rPr lang="en-US" b="1" i="1">
                              <a:solidFill>
                                <a:srgbClr val="00B050"/>
                              </a:solidFill>
                              <a:latin typeface="Cambria Math" panose="02040503050406030204" pitchFamily="18" charset="0"/>
                              <a:ea typeface="Cambria Math" panose="02040503050406030204" pitchFamily="18" charset="0"/>
                            </a:rPr>
                            <m:t>𝑯</m:t>
                          </m:r>
                        </m:e>
                        <m:sub>
                          <m:r>
                            <a:rPr lang="en-US" b="1" i="1" smtClean="0">
                              <a:solidFill>
                                <a:srgbClr val="00B050"/>
                              </a:solidFill>
                              <a:latin typeface="Cambria Math" panose="02040503050406030204" pitchFamily="18" charset="0"/>
                              <a:ea typeface="Cambria Math" panose="02040503050406030204" pitchFamily="18" charset="0"/>
                            </a:rPr>
                            <m:t>𝒗𝒂𝒑</m:t>
                          </m:r>
                        </m:sub>
                      </m:sSub>
                    </m:oMath>
                  </m:oMathPara>
                </a14:m>
                <a:endParaRPr lang="en-US" dirty="0">
                  <a:solidFill>
                    <a:srgbClr val="00B050"/>
                  </a:solidFill>
                </a:endParaRPr>
              </a:p>
              <a:p>
                <a:pPr/>
                <a14:m>
                  <m:oMathPara xmlns:m="http://schemas.openxmlformats.org/officeDocument/2006/math">
                    <m:oMathParaPr>
                      <m:jc m:val="centerGroup"/>
                    </m:oMathParaPr>
                    <m:oMath xmlns:m="http://schemas.openxmlformats.org/officeDocument/2006/math">
                      <m:r>
                        <a:rPr lang="en-US" b="1" i="1" smtClean="0">
                          <a:solidFill>
                            <a:srgbClr val="00B050"/>
                          </a:solidFill>
                          <a:latin typeface="Cambria Math" panose="02040503050406030204" pitchFamily="18" charset="0"/>
                          <a:ea typeface="Cambria Math" panose="02040503050406030204" pitchFamily="18" charset="0"/>
                        </a:rPr>
                        <m:t>∆</m:t>
                      </m:r>
                      <m:sSub>
                        <m:sSubPr>
                          <m:ctrlPr>
                            <a:rPr lang="en-US" b="1" i="1">
                              <a:solidFill>
                                <a:srgbClr val="00B050"/>
                              </a:solidFill>
                              <a:latin typeface="Cambria Math" panose="02040503050406030204" pitchFamily="18" charset="0"/>
                              <a:ea typeface="Cambria Math" panose="02040503050406030204" pitchFamily="18" charset="0"/>
                            </a:rPr>
                          </m:ctrlPr>
                        </m:sSubPr>
                        <m:e>
                          <m:r>
                            <a:rPr lang="en-US" b="1" i="1" smtClean="0">
                              <a:solidFill>
                                <a:srgbClr val="00B050"/>
                              </a:solidFill>
                              <a:latin typeface="Cambria Math" panose="02040503050406030204" pitchFamily="18" charset="0"/>
                              <a:ea typeface="Cambria Math" panose="02040503050406030204" pitchFamily="18" charset="0"/>
                            </a:rPr>
                            <m:t>𝑽</m:t>
                          </m:r>
                        </m:e>
                        <m:sub>
                          <m:r>
                            <a:rPr lang="en-US" b="1" i="1" smtClean="0">
                              <a:solidFill>
                                <a:srgbClr val="00B050"/>
                              </a:solidFill>
                              <a:latin typeface="Cambria Math" panose="02040503050406030204" pitchFamily="18" charset="0"/>
                              <a:ea typeface="Cambria Math" panose="02040503050406030204" pitchFamily="18" charset="0"/>
                            </a:rPr>
                            <m:t>𝒗𝒂𝒑</m:t>
                          </m:r>
                        </m:sub>
                      </m:sSub>
                    </m:oMath>
                  </m:oMathPara>
                </a14:m>
                <a:endParaRPr lang="en-US" dirty="0">
                  <a:solidFill>
                    <a:srgbClr val="00B050"/>
                  </a:solidFill>
                </a:endParaRPr>
              </a:p>
            </p:txBody>
          </p:sp>
        </mc:Choice>
        <mc:Fallback xmlns="">
          <p:sp>
            <p:nvSpPr>
              <p:cNvPr id="4" name="Rectangle 3">
                <a:extLst>
                  <a:ext uri="{FF2B5EF4-FFF2-40B4-BE49-F238E27FC236}">
                    <a16:creationId xmlns:a16="http://schemas.microsoft.com/office/drawing/2014/main" id="{4C61AB64-6751-2BA5-BFD2-89ABC17B21B1}"/>
                  </a:ext>
                </a:extLst>
              </p:cNvPr>
              <p:cNvSpPr>
                <a:spLocks noRot="1" noChangeAspect="1" noMove="1" noResize="1" noEditPoints="1" noAdjustHandles="1" noChangeArrowheads="1" noChangeShapeType="1" noTextEdit="1"/>
              </p:cNvSpPr>
              <p:nvPr/>
            </p:nvSpPr>
            <p:spPr>
              <a:xfrm>
                <a:off x="8411047" y="2585877"/>
                <a:ext cx="875496" cy="696088"/>
              </a:xfrm>
              <a:prstGeom prst="rect">
                <a:avLst/>
              </a:prstGeom>
              <a:blipFill>
                <a:blip r:embed="rId3"/>
                <a:stretch>
                  <a:fillRect b="-1786"/>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8B1938AE-2256-ECEF-0C03-8CFAAED47CD4}"/>
              </a:ext>
            </a:extLst>
          </p:cNvPr>
          <p:cNvCxnSpPr>
            <a:cxnSpLocks/>
          </p:cNvCxnSpPr>
          <p:nvPr/>
        </p:nvCxnSpPr>
        <p:spPr>
          <a:xfrm flipH="1">
            <a:off x="8848795" y="2585877"/>
            <a:ext cx="677619" cy="977938"/>
          </a:xfrm>
          <a:prstGeom prst="line">
            <a:avLst/>
          </a:prstGeom>
          <a:ln w="63500">
            <a:solidFill>
              <a:srgbClr val="7030A0"/>
            </a:solidFill>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75E93464-7C09-F65A-AC25-97D996BB61A1}"/>
              </a:ext>
            </a:extLst>
          </p:cNvPr>
          <p:cNvSpPr/>
          <p:nvPr/>
        </p:nvSpPr>
        <p:spPr>
          <a:xfrm>
            <a:off x="8852790" y="2993241"/>
            <a:ext cx="433753" cy="443051"/>
          </a:xfrm>
          <a:prstGeom prst="arc">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3" name="Picture 2" descr="Image result for phase diagrams">
            <a:extLst>
              <a:ext uri="{FF2B5EF4-FFF2-40B4-BE49-F238E27FC236}">
                <a16:creationId xmlns:a16="http://schemas.microsoft.com/office/drawing/2014/main" id="{9AB3B146-302C-8BA4-6AC1-D2C0C79BAB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773" b="5795"/>
          <a:stretch/>
        </p:blipFill>
        <p:spPr bwMode="auto">
          <a:xfrm>
            <a:off x="6353071" y="1697632"/>
            <a:ext cx="3507902" cy="2739762"/>
          </a:xfrm>
          <a:prstGeom prst="rect">
            <a:avLst/>
          </a:prstGeom>
          <a:solidFill>
            <a:schemeClr val="bg1"/>
          </a:solidFill>
        </p:spPr>
      </p:pic>
      <p:grpSp>
        <p:nvGrpSpPr>
          <p:cNvPr id="34" name="Group 33">
            <a:extLst>
              <a:ext uri="{FF2B5EF4-FFF2-40B4-BE49-F238E27FC236}">
                <a16:creationId xmlns:a16="http://schemas.microsoft.com/office/drawing/2014/main" id="{3B305403-AE54-406A-D575-50BCFCE92FAD}"/>
              </a:ext>
            </a:extLst>
          </p:cNvPr>
          <p:cNvGrpSpPr/>
          <p:nvPr/>
        </p:nvGrpSpPr>
        <p:grpSpPr>
          <a:xfrm>
            <a:off x="8478482" y="2351715"/>
            <a:ext cx="1180089" cy="1132877"/>
            <a:chOff x="8478482" y="2351715"/>
            <a:chExt cx="1180089" cy="1132877"/>
          </a:xfrm>
        </p:grpSpPr>
        <p:grpSp>
          <p:nvGrpSpPr>
            <p:cNvPr id="21" name="Group 20">
              <a:extLst>
                <a:ext uri="{FF2B5EF4-FFF2-40B4-BE49-F238E27FC236}">
                  <a16:creationId xmlns:a16="http://schemas.microsoft.com/office/drawing/2014/main" id="{C7DE861C-65C2-56D0-206B-D590DEF04526}"/>
                </a:ext>
              </a:extLst>
            </p:cNvPr>
            <p:cNvGrpSpPr/>
            <p:nvPr/>
          </p:nvGrpSpPr>
          <p:grpSpPr>
            <a:xfrm>
              <a:off x="8478482" y="2351715"/>
              <a:ext cx="1004206" cy="906593"/>
              <a:chOff x="7880589" y="2698136"/>
              <a:chExt cx="1004206" cy="906593"/>
            </a:xfrm>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1530AC56-9DB7-BB71-5B61-23EB7584598C}"/>
                      </a:ext>
                    </a:extLst>
                  </p:cNvPr>
                  <p:cNvSpPr/>
                  <p:nvPr/>
                </p:nvSpPr>
                <p:spPr>
                  <a:xfrm>
                    <a:off x="7880589" y="2698136"/>
                    <a:ext cx="875496" cy="6960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rgbClr val="00B050"/>
                              </a:solidFill>
                              <a:latin typeface="Cambria Math" panose="02040503050406030204" pitchFamily="18" charset="0"/>
                              <a:ea typeface="Cambria Math" panose="02040503050406030204" pitchFamily="18" charset="0"/>
                            </a:rPr>
                            <m:t>∆</m:t>
                          </m:r>
                          <m:sSub>
                            <m:sSubPr>
                              <m:ctrlPr>
                                <a:rPr lang="en-US" b="1" i="1" smtClean="0">
                                  <a:solidFill>
                                    <a:srgbClr val="00B050"/>
                                  </a:solidFill>
                                  <a:latin typeface="Cambria Math" panose="02040503050406030204" pitchFamily="18" charset="0"/>
                                  <a:ea typeface="Cambria Math" panose="02040503050406030204" pitchFamily="18" charset="0"/>
                                </a:rPr>
                              </m:ctrlPr>
                            </m:sSubPr>
                            <m:e>
                              <m:r>
                                <a:rPr lang="en-US" b="1" i="1">
                                  <a:solidFill>
                                    <a:srgbClr val="00B050"/>
                                  </a:solidFill>
                                  <a:latin typeface="Cambria Math" panose="02040503050406030204" pitchFamily="18" charset="0"/>
                                  <a:ea typeface="Cambria Math" panose="02040503050406030204" pitchFamily="18" charset="0"/>
                                </a:rPr>
                                <m:t>𝑯</m:t>
                              </m:r>
                            </m:e>
                            <m:sub>
                              <m:r>
                                <a:rPr lang="en-US" b="1" i="1" smtClean="0">
                                  <a:solidFill>
                                    <a:srgbClr val="00B050"/>
                                  </a:solidFill>
                                  <a:latin typeface="Cambria Math" panose="02040503050406030204" pitchFamily="18" charset="0"/>
                                  <a:ea typeface="Cambria Math" panose="02040503050406030204" pitchFamily="18" charset="0"/>
                                </a:rPr>
                                <m:t>𝒗𝒂𝒑</m:t>
                              </m:r>
                            </m:sub>
                          </m:sSub>
                        </m:oMath>
                      </m:oMathPara>
                    </a14:m>
                    <a:endParaRPr lang="en-US" dirty="0">
                      <a:solidFill>
                        <a:srgbClr val="00B050"/>
                      </a:solidFill>
                    </a:endParaRPr>
                  </a:p>
                  <a:p>
                    <a:pPr/>
                    <a14:m>
                      <m:oMathPara xmlns:m="http://schemas.openxmlformats.org/officeDocument/2006/math">
                        <m:oMathParaPr>
                          <m:jc m:val="centerGroup"/>
                        </m:oMathParaPr>
                        <m:oMath xmlns:m="http://schemas.openxmlformats.org/officeDocument/2006/math">
                          <m:r>
                            <a:rPr lang="en-US" b="1" i="1">
                              <a:solidFill>
                                <a:srgbClr val="00B050"/>
                              </a:solidFill>
                              <a:latin typeface="Cambria Math" panose="02040503050406030204" pitchFamily="18" charset="0"/>
                              <a:ea typeface="Cambria Math" panose="02040503050406030204" pitchFamily="18" charset="0"/>
                            </a:rPr>
                            <m:t>∆</m:t>
                          </m:r>
                          <m:sSub>
                            <m:sSubPr>
                              <m:ctrlPr>
                                <a:rPr lang="en-US" b="1" i="1">
                                  <a:solidFill>
                                    <a:srgbClr val="00B050"/>
                                  </a:solidFill>
                                  <a:latin typeface="Cambria Math" panose="02040503050406030204" pitchFamily="18" charset="0"/>
                                  <a:ea typeface="Cambria Math" panose="02040503050406030204" pitchFamily="18" charset="0"/>
                                </a:rPr>
                              </m:ctrlPr>
                            </m:sSubPr>
                            <m:e>
                              <m:r>
                                <a:rPr lang="en-US" b="1" i="1" smtClean="0">
                                  <a:solidFill>
                                    <a:srgbClr val="00B050"/>
                                  </a:solidFill>
                                  <a:latin typeface="Cambria Math" panose="02040503050406030204" pitchFamily="18" charset="0"/>
                                  <a:ea typeface="Cambria Math" panose="02040503050406030204" pitchFamily="18" charset="0"/>
                                </a:rPr>
                                <m:t>𝑽</m:t>
                              </m:r>
                            </m:e>
                            <m:sub>
                              <m:r>
                                <a:rPr lang="en-US" b="1" i="1">
                                  <a:solidFill>
                                    <a:srgbClr val="00B050"/>
                                  </a:solidFill>
                                  <a:latin typeface="Cambria Math" panose="02040503050406030204" pitchFamily="18" charset="0"/>
                                  <a:ea typeface="Cambria Math" panose="02040503050406030204" pitchFamily="18" charset="0"/>
                                </a:rPr>
                                <m:t>𝒗𝒂𝒑</m:t>
                              </m:r>
                            </m:sub>
                          </m:sSub>
                        </m:oMath>
                      </m:oMathPara>
                    </a14:m>
                    <a:endParaRPr lang="en-US" dirty="0">
                      <a:solidFill>
                        <a:srgbClr val="00B050"/>
                      </a:solidFill>
                    </a:endParaRPr>
                  </a:p>
                </p:txBody>
              </p:sp>
            </mc:Choice>
            <mc:Fallback xmlns="">
              <p:sp>
                <p:nvSpPr>
                  <p:cNvPr id="22" name="Rectangle 21">
                    <a:extLst>
                      <a:ext uri="{FF2B5EF4-FFF2-40B4-BE49-F238E27FC236}">
                        <a16:creationId xmlns:a16="http://schemas.microsoft.com/office/drawing/2014/main" id="{1530AC56-9DB7-BB71-5B61-23EB7584598C}"/>
                      </a:ext>
                    </a:extLst>
                  </p:cNvPr>
                  <p:cNvSpPr>
                    <a:spLocks noRot="1" noChangeAspect="1" noMove="1" noResize="1" noEditPoints="1" noAdjustHandles="1" noChangeArrowheads="1" noChangeShapeType="1" noTextEdit="1"/>
                  </p:cNvSpPr>
                  <p:nvPr/>
                </p:nvSpPr>
                <p:spPr>
                  <a:xfrm>
                    <a:off x="7880589" y="2698136"/>
                    <a:ext cx="875496" cy="696088"/>
                  </a:xfrm>
                  <a:prstGeom prst="rect">
                    <a:avLst/>
                  </a:prstGeom>
                  <a:blipFill>
                    <a:blip r:embed="rId5"/>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5A873DF6-C035-24E7-2686-37828330A323}"/>
                  </a:ext>
                </a:extLst>
              </p:cNvPr>
              <p:cNvCxnSpPr>
                <a:cxnSpLocks/>
              </p:cNvCxnSpPr>
              <p:nvPr/>
            </p:nvCxnSpPr>
            <p:spPr>
              <a:xfrm flipH="1">
                <a:off x="8523672" y="2909732"/>
                <a:ext cx="361123" cy="694997"/>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3" name="Arc 32">
              <a:extLst>
                <a:ext uri="{FF2B5EF4-FFF2-40B4-BE49-F238E27FC236}">
                  <a16:creationId xmlns:a16="http://schemas.microsoft.com/office/drawing/2014/main" id="{5F1C5473-77B0-391F-8172-0F208B6F1F45}"/>
                </a:ext>
              </a:extLst>
            </p:cNvPr>
            <p:cNvSpPr/>
            <p:nvPr/>
          </p:nvSpPr>
          <p:spPr>
            <a:xfrm>
              <a:off x="8584558" y="2788504"/>
              <a:ext cx="1074013" cy="696088"/>
            </a:xfrm>
            <a:prstGeom prst="arc">
              <a:avLst>
                <a:gd name="adj1" fmla="val 16200000"/>
                <a:gd name="adj2" fmla="val 20283306"/>
              </a:avLst>
            </a:prstGeom>
            <a:noFill/>
            <a:ln w="25400">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A239DE82-59EA-8E19-7A2B-288C008190D5}"/>
              </a:ext>
            </a:extLst>
          </p:cNvPr>
          <p:cNvGrpSpPr/>
          <p:nvPr/>
        </p:nvGrpSpPr>
        <p:grpSpPr>
          <a:xfrm>
            <a:off x="6852427" y="1697632"/>
            <a:ext cx="1281744" cy="1077289"/>
            <a:chOff x="6852427" y="1697632"/>
            <a:chExt cx="1281744" cy="1077289"/>
          </a:xfrm>
        </p:grpSpPr>
        <p:grpSp>
          <p:nvGrpSpPr>
            <p:cNvPr id="15" name="Group 14">
              <a:extLst>
                <a:ext uri="{FF2B5EF4-FFF2-40B4-BE49-F238E27FC236}">
                  <a16:creationId xmlns:a16="http://schemas.microsoft.com/office/drawing/2014/main" id="{DDB2519B-DE0F-26C7-959B-5F8F34190CBA}"/>
                </a:ext>
              </a:extLst>
            </p:cNvPr>
            <p:cNvGrpSpPr/>
            <p:nvPr/>
          </p:nvGrpSpPr>
          <p:grpSpPr>
            <a:xfrm>
              <a:off x="6852427" y="1697632"/>
              <a:ext cx="977123" cy="865679"/>
              <a:chOff x="7996701" y="2698136"/>
              <a:chExt cx="977123" cy="865679"/>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FA532A51-E5D3-5540-C1A0-1F1B6D940794}"/>
                      </a:ext>
                    </a:extLst>
                  </p:cNvPr>
                  <p:cNvSpPr/>
                  <p:nvPr/>
                </p:nvSpPr>
                <p:spPr>
                  <a:xfrm>
                    <a:off x="7996701" y="2698136"/>
                    <a:ext cx="875496" cy="6960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chemeClr val="accent1"/>
                              </a:solidFill>
                              <a:latin typeface="Cambria Math" panose="02040503050406030204" pitchFamily="18" charset="0"/>
                              <a:ea typeface="Cambria Math" panose="02040503050406030204" pitchFamily="18" charset="0"/>
                            </a:rPr>
                            <m:t>∆</m:t>
                          </m:r>
                          <m:sSub>
                            <m:sSubPr>
                              <m:ctrlPr>
                                <a:rPr lang="en-US" b="1" i="1" smtClean="0">
                                  <a:solidFill>
                                    <a:schemeClr val="accent1"/>
                                  </a:solidFill>
                                  <a:latin typeface="Cambria Math" panose="02040503050406030204" pitchFamily="18" charset="0"/>
                                  <a:ea typeface="Cambria Math" panose="02040503050406030204" pitchFamily="18" charset="0"/>
                                </a:rPr>
                              </m:ctrlPr>
                            </m:sSubPr>
                            <m:e>
                              <m:r>
                                <a:rPr lang="en-US" b="1" i="1">
                                  <a:solidFill>
                                    <a:schemeClr val="accent1"/>
                                  </a:solidFill>
                                  <a:latin typeface="Cambria Math" panose="02040503050406030204" pitchFamily="18" charset="0"/>
                                  <a:ea typeface="Cambria Math" panose="02040503050406030204" pitchFamily="18" charset="0"/>
                                </a:rPr>
                                <m:t>𝑯</m:t>
                              </m:r>
                            </m:e>
                            <m:sub>
                              <m:r>
                                <a:rPr lang="en-US" b="1" i="1" smtClean="0">
                                  <a:solidFill>
                                    <a:schemeClr val="accent1"/>
                                  </a:solidFill>
                                  <a:latin typeface="Cambria Math" panose="02040503050406030204" pitchFamily="18" charset="0"/>
                                  <a:ea typeface="Cambria Math" panose="02040503050406030204" pitchFamily="18" charset="0"/>
                                </a:rPr>
                                <m:t>𝒇𝒖𝒔</m:t>
                              </m:r>
                            </m:sub>
                          </m:sSub>
                        </m:oMath>
                      </m:oMathPara>
                    </a14:m>
                    <a:endParaRPr lang="en-US" dirty="0">
                      <a:solidFill>
                        <a:schemeClr val="accent1"/>
                      </a:solidFill>
                    </a:endParaRPr>
                  </a:p>
                  <a:p>
                    <a:pPr/>
                    <a14:m>
                      <m:oMathPara xmlns:m="http://schemas.openxmlformats.org/officeDocument/2006/math">
                        <m:oMathParaPr>
                          <m:jc m:val="centerGroup"/>
                        </m:oMathParaPr>
                        <m:oMath xmlns:m="http://schemas.openxmlformats.org/officeDocument/2006/math">
                          <m:r>
                            <a:rPr lang="en-US" b="1" i="1" smtClean="0">
                              <a:solidFill>
                                <a:schemeClr val="accent1"/>
                              </a:solidFill>
                              <a:latin typeface="Cambria Math" panose="02040503050406030204" pitchFamily="18" charset="0"/>
                              <a:ea typeface="Cambria Math" panose="02040503050406030204" pitchFamily="18" charset="0"/>
                            </a:rPr>
                            <m:t>∆</m:t>
                          </m:r>
                          <m:sSub>
                            <m:sSubPr>
                              <m:ctrlPr>
                                <a:rPr lang="en-US" b="1" i="1">
                                  <a:solidFill>
                                    <a:schemeClr val="accent1"/>
                                  </a:solidFill>
                                  <a:latin typeface="Cambria Math" panose="02040503050406030204" pitchFamily="18" charset="0"/>
                                  <a:ea typeface="Cambria Math" panose="02040503050406030204" pitchFamily="18" charset="0"/>
                                </a:rPr>
                              </m:ctrlPr>
                            </m:sSubPr>
                            <m:e>
                              <m:r>
                                <a:rPr lang="en-US" b="1" i="1" smtClean="0">
                                  <a:solidFill>
                                    <a:schemeClr val="accent1"/>
                                  </a:solidFill>
                                  <a:latin typeface="Cambria Math" panose="02040503050406030204" pitchFamily="18" charset="0"/>
                                  <a:ea typeface="Cambria Math" panose="02040503050406030204" pitchFamily="18" charset="0"/>
                                </a:rPr>
                                <m:t>𝑽</m:t>
                              </m:r>
                            </m:e>
                            <m:sub>
                              <m:r>
                                <a:rPr lang="en-US" b="1" i="1" smtClean="0">
                                  <a:solidFill>
                                    <a:schemeClr val="accent1"/>
                                  </a:solidFill>
                                  <a:latin typeface="Cambria Math" panose="02040503050406030204" pitchFamily="18" charset="0"/>
                                  <a:ea typeface="Cambria Math" panose="02040503050406030204" pitchFamily="18" charset="0"/>
                                </a:rPr>
                                <m:t>𝒇𝒖𝒔</m:t>
                              </m:r>
                            </m:sub>
                          </m:sSub>
                        </m:oMath>
                      </m:oMathPara>
                    </a14:m>
                    <a:endParaRPr lang="en-US" dirty="0">
                      <a:solidFill>
                        <a:schemeClr val="accent1"/>
                      </a:solidFill>
                    </a:endParaRPr>
                  </a:p>
                </p:txBody>
              </p:sp>
            </mc:Choice>
            <mc:Fallback xmlns="">
              <p:sp>
                <p:nvSpPr>
                  <p:cNvPr id="17" name="Rectangle 16">
                    <a:extLst>
                      <a:ext uri="{FF2B5EF4-FFF2-40B4-BE49-F238E27FC236}">
                        <a16:creationId xmlns:a16="http://schemas.microsoft.com/office/drawing/2014/main" id="{FA532A51-E5D3-5540-C1A0-1F1B6D940794}"/>
                      </a:ext>
                    </a:extLst>
                  </p:cNvPr>
                  <p:cNvSpPr>
                    <a:spLocks noRot="1" noChangeAspect="1" noMove="1" noResize="1" noEditPoints="1" noAdjustHandles="1" noChangeArrowheads="1" noChangeShapeType="1" noTextEdit="1"/>
                  </p:cNvSpPr>
                  <p:nvPr/>
                </p:nvSpPr>
                <p:spPr>
                  <a:xfrm>
                    <a:off x="7996701" y="2698136"/>
                    <a:ext cx="875496" cy="696088"/>
                  </a:xfrm>
                  <a:prstGeom prst="rect">
                    <a:avLst/>
                  </a:prstGeom>
                  <a:blipFill>
                    <a:blip r:embed="rId6"/>
                    <a:stretch>
                      <a:fillRect b="-5357"/>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388C65E9-FAB6-5C38-AF39-DBD36274C72E}"/>
                  </a:ext>
                </a:extLst>
              </p:cNvPr>
              <p:cNvCxnSpPr>
                <a:cxnSpLocks/>
              </p:cNvCxnSpPr>
              <p:nvPr/>
            </p:nvCxnSpPr>
            <p:spPr>
              <a:xfrm flipH="1">
                <a:off x="8848795" y="2795014"/>
                <a:ext cx="125029" cy="768801"/>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5" name="Arc 34">
              <a:extLst>
                <a:ext uri="{FF2B5EF4-FFF2-40B4-BE49-F238E27FC236}">
                  <a16:creationId xmlns:a16="http://schemas.microsoft.com/office/drawing/2014/main" id="{5AAADBAA-F689-94FE-6761-65040EDFB6A0}"/>
                </a:ext>
              </a:extLst>
            </p:cNvPr>
            <p:cNvSpPr/>
            <p:nvPr/>
          </p:nvSpPr>
          <p:spPr>
            <a:xfrm>
              <a:off x="7060158" y="2078833"/>
              <a:ext cx="1074013" cy="696088"/>
            </a:xfrm>
            <a:prstGeom prst="arc">
              <a:avLst>
                <a:gd name="adj1" fmla="val 16200000"/>
                <a:gd name="adj2" fmla="val 20283306"/>
              </a:avLst>
            </a:prstGeom>
            <a:noFill/>
            <a:ln w="25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F0BCCBD3-C36E-73D7-539C-39E96CFA3001}"/>
              </a:ext>
            </a:extLst>
          </p:cNvPr>
          <p:cNvGrpSpPr/>
          <p:nvPr/>
        </p:nvGrpSpPr>
        <p:grpSpPr>
          <a:xfrm>
            <a:off x="6144469" y="3520437"/>
            <a:ext cx="1105830" cy="1391681"/>
            <a:chOff x="6144469" y="3520437"/>
            <a:chExt cx="1105830" cy="1391681"/>
          </a:xfrm>
        </p:grpSpPr>
        <p:grpSp>
          <p:nvGrpSpPr>
            <p:cNvPr id="27" name="Group 26">
              <a:extLst>
                <a:ext uri="{FF2B5EF4-FFF2-40B4-BE49-F238E27FC236}">
                  <a16:creationId xmlns:a16="http://schemas.microsoft.com/office/drawing/2014/main" id="{433BD60A-26EB-887E-1421-0D9A9E94EBDA}"/>
                </a:ext>
              </a:extLst>
            </p:cNvPr>
            <p:cNvGrpSpPr/>
            <p:nvPr/>
          </p:nvGrpSpPr>
          <p:grpSpPr>
            <a:xfrm>
              <a:off x="6374803" y="3520437"/>
              <a:ext cx="875496" cy="890222"/>
              <a:chOff x="7976520" y="2367009"/>
              <a:chExt cx="875496" cy="890222"/>
            </a:xfrm>
          </p:grpSpPr>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8C051583-706B-CD0B-7DE7-7AD42A2E322B}"/>
                      </a:ext>
                    </a:extLst>
                  </p:cNvPr>
                  <p:cNvSpPr/>
                  <p:nvPr/>
                </p:nvSpPr>
                <p:spPr>
                  <a:xfrm>
                    <a:off x="7976520" y="2367009"/>
                    <a:ext cx="875496"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chemeClr val="accent2"/>
                              </a:solidFill>
                              <a:latin typeface="Cambria Math" panose="02040503050406030204" pitchFamily="18" charset="0"/>
                              <a:ea typeface="Cambria Math" panose="02040503050406030204" pitchFamily="18" charset="0"/>
                            </a:rPr>
                            <m:t>∆</m:t>
                          </m:r>
                          <m:sSub>
                            <m:sSubPr>
                              <m:ctrlPr>
                                <a:rPr lang="en-US" b="1" i="1" smtClean="0">
                                  <a:solidFill>
                                    <a:schemeClr val="accent2"/>
                                  </a:solidFill>
                                  <a:latin typeface="Cambria Math" panose="02040503050406030204" pitchFamily="18" charset="0"/>
                                  <a:ea typeface="Cambria Math" panose="02040503050406030204" pitchFamily="18" charset="0"/>
                                </a:rPr>
                              </m:ctrlPr>
                            </m:sSubPr>
                            <m:e>
                              <m:r>
                                <a:rPr lang="en-US" b="1" i="1">
                                  <a:solidFill>
                                    <a:schemeClr val="accent2"/>
                                  </a:solidFill>
                                  <a:latin typeface="Cambria Math" panose="02040503050406030204" pitchFamily="18" charset="0"/>
                                  <a:ea typeface="Cambria Math" panose="02040503050406030204" pitchFamily="18" charset="0"/>
                                </a:rPr>
                                <m:t>𝑯</m:t>
                              </m:r>
                            </m:e>
                            <m:sub>
                              <m:r>
                                <a:rPr lang="en-US" b="1" i="1" smtClean="0">
                                  <a:solidFill>
                                    <a:schemeClr val="accent2"/>
                                  </a:solidFill>
                                  <a:latin typeface="Cambria Math" panose="02040503050406030204" pitchFamily="18" charset="0"/>
                                  <a:ea typeface="Cambria Math" panose="02040503050406030204" pitchFamily="18" charset="0"/>
                                </a:rPr>
                                <m:t>𝒔𝒖𝒃</m:t>
                              </m:r>
                            </m:sub>
                          </m:sSub>
                        </m:oMath>
                      </m:oMathPara>
                    </a14:m>
                    <a:endParaRPr lang="en-US" b="1" i="1" dirty="0">
                      <a:solidFill>
                        <a:schemeClr val="accent2"/>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a:solidFill>
                                <a:schemeClr val="accent2"/>
                              </a:solidFill>
                              <a:latin typeface="Cambria Math" panose="02040503050406030204" pitchFamily="18" charset="0"/>
                              <a:ea typeface="Cambria Math" panose="02040503050406030204" pitchFamily="18" charset="0"/>
                            </a:rPr>
                            <m:t>∆</m:t>
                          </m:r>
                          <m:sSub>
                            <m:sSubPr>
                              <m:ctrlPr>
                                <a:rPr lang="en-US" b="1" i="1">
                                  <a:solidFill>
                                    <a:schemeClr val="accent2"/>
                                  </a:solidFill>
                                  <a:latin typeface="Cambria Math" panose="02040503050406030204" pitchFamily="18" charset="0"/>
                                  <a:ea typeface="Cambria Math" panose="02040503050406030204" pitchFamily="18" charset="0"/>
                                </a:rPr>
                              </m:ctrlPr>
                            </m:sSubPr>
                            <m:e>
                              <m:r>
                                <a:rPr lang="en-US" b="1" i="1" smtClean="0">
                                  <a:solidFill>
                                    <a:schemeClr val="accent2"/>
                                  </a:solidFill>
                                  <a:latin typeface="Cambria Math" panose="02040503050406030204" pitchFamily="18" charset="0"/>
                                  <a:ea typeface="Cambria Math" panose="02040503050406030204" pitchFamily="18" charset="0"/>
                                </a:rPr>
                                <m:t>𝑽</m:t>
                              </m:r>
                            </m:e>
                            <m:sub>
                              <m:r>
                                <a:rPr lang="en-US" b="1" i="1" smtClean="0">
                                  <a:solidFill>
                                    <a:schemeClr val="accent2"/>
                                  </a:solidFill>
                                  <a:latin typeface="Cambria Math" panose="02040503050406030204" pitchFamily="18" charset="0"/>
                                  <a:ea typeface="Cambria Math" panose="02040503050406030204" pitchFamily="18" charset="0"/>
                                </a:rPr>
                                <m:t>𝒔𝒖𝒃</m:t>
                              </m:r>
                            </m:sub>
                          </m:sSub>
                        </m:oMath>
                      </m:oMathPara>
                    </a14:m>
                    <a:endParaRPr lang="en-US" dirty="0">
                      <a:solidFill>
                        <a:schemeClr val="accent2"/>
                      </a:solidFill>
                    </a:endParaRPr>
                  </a:p>
                </p:txBody>
              </p:sp>
            </mc:Choice>
            <mc:Fallback xmlns="">
              <p:sp>
                <p:nvSpPr>
                  <p:cNvPr id="28" name="Rectangle 27">
                    <a:extLst>
                      <a:ext uri="{FF2B5EF4-FFF2-40B4-BE49-F238E27FC236}">
                        <a16:creationId xmlns:a16="http://schemas.microsoft.com/office/drawing/2014/main" id="{8C051583-706B-CD0B-7DE7-7AD42A2E322B}"/>
                      </a:ext>
                    </a:extLst>
                  </p:cNvPr>
                  <p:cNvSpPr>
                    <a:spLocks noRot="1" noChangeAspect="1" noMove="1" noResize="1" noEditPoints="1" noAdjustHandles="1" noChangeArrowheads="1" noChangeShapeType="1" noTextEdit="1"/>
                  </p:cNvSpPr>
                  <p:nvPr/>
                </p:nvSpPr>
                <p:spPr>
                  <a:xfrm>
                    <a:off x="7976520" y="2367009"/>
                    <a:ext cx="875496" cy="646331"/>
                  </a:xfrm>
                  <a:prstGeom prst="rect">
                    <a:avLst/>
                  </a:prstGeom>
                  <a:blipFill>
                    <a:blip r:embed="rId7"/>
                    <a:stretch>
                      <a:fillRect/>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D70EDC0A-77B0-16BF-40EB-724341903629}"/>
                  </a:ext>
                </a:extLst>
              </p:cNvPr>
              <p:cNvCxnSpPr>
                <a:cxnSpLocks/>
              </p:cNvCxnSpPr>
              <p:nvPr/>
            </p:nvCxnSpPr>
            <p:spPr>
              <a:xfrm flipH="1">
                <a:off x="8260858" y="3033740"/>
                <a:ext cx="569426" cy="223491"/>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7" name="Arc 36">
              <a:extLst>
                <a:ext uri="{FF2B5EF4-FFF2-40B4-BE49-F238E27FC236}">
                  <a16:creationId xmlns:a16="http://schemas.microsoft.com/office/drawing/2014/main" id="{A0D78E14-E907-4C59-3737-E547F07E9A13}"/>
                </a:ext>
              </a:extLst>
            </p:cNvPr>
            <p:cNvSpPr/>
            <p:nvPr/>
          </p:nvSpPr>
          <p:spPr>
            <a:xfrm rot="2713949">
              <a:off x="5955506" y="4027068"/>
              <a:ext cx="1074013" cy="696088"/>
            </a:xfrm>
            <a:prstGeom prst="arc">
              <a:avLst>
                <a:gd name="adj1" fmla="val 16200000"/>
                <a:gd name="adj2" fmla="val 20283306"/>
              </a:avLst>
            </a:prstGeom>
            <a:noFill/>
            <a:ln w="254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202360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B63A21-7279-9D42-8077-C7DDE7E0E8D4}"/>
              </a:ext>
            </a:extLst>
          </p:cNvPr>
          <p:cNvSpPr txBox="1"/>
          <p:nvPr/>
        </p:nvSpPr>
        <p:spPr>
          <a:xfrm>
            <a:off x="-6528" y="2663"/>
            <a:ext cx="12200957" cy="461665"/>
          </a:xfrm>
          <a:prstGeom prst="rect">
            <a:avLst/>
          </a:prstGeom>
          <a:solidFill>
            <a:schemeClr val="accent2"/>
          </a:solidFill>
        </p:spPr>
        <p:txBody>
          <a:bodyPr wrap="square" rtlCol="0">
            <a:spAutoFit/>
          </a:bodyPr>
          <a:lstStyle/>
          <a:p>
            <a:r>
              <a:rPr lang="en-US" sz="2400" b="1" dirty="0"/>
              <a:t>Blackboard work: getting an expression for the blue line by integral calculus</a:t>
            </a:r>
          </a:p>
        </p:txBody>
      </p:sp>
      <p:grpSp>
        <p:nvGrpSpPr>
          <p:cNvPr id="3" name="Group 2">
            <a:extLst>
              <a:ext uri="{FF2B5EF4-FFF2-40B4-BE49-F238E27FC236}">
                <a16:creationId xmlns:a16="http://schemas.microsoft.com/office/drawing/2014/main" id="{22E19834-F414-7942-AF4E-35E6FBAD1E2C}"/>
              </a:ext>
            </a:extLst>
          </p:cNvPr>
          <p:cNvGrpSpPr/>
          <p:nvPr/>
        </p:nvGrpSpPr>
        <p:grpSpPr>
          <a:xfrm>
            <a:off x="7809433" y="2175052"/>
            <a:ext cx="3148181" cy="2988982"/>
            <a:chOff x="5752033" y="2076249"/>
            <a:chExt cx="3148181" cy="2988982"/>
          </a:xfrm>
        </p:grpSpPr>
        <p:grpSp>
          <p:nvGrpSpPr>
            <p:cNvPr id="21" name="Group 20">
              <a:extLst>
                <a:ext uri="{FF2B5EF4-FFF2-40B4-BE49-F238E27FC236}">
                  <a16:creationId xmlns:a16="http://schemas.microsoft.com/office/drawing/2014/main" id="{0A971276-5825-554D-9C15-0254CE2FC022}"/>
                </a:ext>
              </a:extLst>
            </p:cNvPr>
            <p:cNvGrpSpPr/>
            <p:nvPr/>
          </p:nvGrpSpPr>
          <p:grpSpPr>
            <a:xfrm>
              <a:off x="5752033" y="2076249"/>
              <a:ext cx="3148181" cy="2988982"/>
              <a:chOff x="4270169" y="240930"/>
              <a:chExt cx="3148181" cy="2988982"/>
            </a:xfrm>
          </p:grpSpPr>
          <p:grpSp>
            <p:nvGrpSpPr>
              <p:cNvPr id="22" name="Group 21">
                <a:extLst>
                  <a:ext uri="{FF2B5EF4-FFF2-40B4-BE49-F238E27FC236}">
                    <a16:creationId xmlns:a16="http://schemas.microsoft.com/office/drawing/2014/main" id="{C1227735-1BEB-7D4D-98FC-4F9471A4285E}"/>
                  </a:ext>
                </a:extLst>
              </p:cNvPr>
              <p:cNvGrpSpPr/>
              <p:nvPr/>
            </p:nvGrpSpPr>
            <p:grpSpPr>
              <a:xfrm>
                <a:off x="4270169" y="240930"/>
                <a:ext cx="3148181" cy="2988982"/>
                <a:chOff x="8122016" y="738525"/>
                <a:chExt cx="3611879" cy="3372641"/>
              </a:xfrm>
            </p:grpSpPr>
            <p:grpSp>
              <p:nvGrpSpPr>
                <p:cNvPr id="28" name="Group 27">
                  <a:extLst>
                    <a:ext uri="{FF2B5EF4-FFF2-40B4-BE49-F238E27FC236}">
                      <a16:creationId xmlns:a16="http://schemas.microsoft.com/office/drawing/2014/main" id="{339BBF00-0384-9446-BBFB-E714FCBBE043}"/>
                    </a:ext>
                  </a:extLst>
                </p:cNvPr>
                <p:cNvGrpSpPr/>
                <p:nvPr/>
              </p:nvGrpSpPr>
              <p:grpSpPr>
                <a:xfrm>
                  <a:off x="8122016" y="738525"/>
                  <a:ext cx="3611879" cy="3372641"/>
                  <a:chOff x="223734" y="1499666"/>
                  <a:chExt cx="3074185" cy="3352100"/>
                </a:xfrm>
              </p:grpSpPr>
              <p:pic>
                <p:nvPicPr>
                  <p:cNvPr id="31" name="Picture 2" descr="Image result for phase diagrams">
                    <a:extLst>
                      <a:ext uri="{FF2B5EF4-FFF2-40B4-BE49-F238E27FC236}">
                        <a16:creationId xmlns:a16="http://schemas.microsoft.com/office/drawing/2014/main" id="{44D1A258-6F21-4148-BCE2-A2D902B1F7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773" b="5795"/>
                  <a:stretch/>
                </p:blipFill>
                <p:spPr bwMode="auto">
                  <a:xfrm>
                    <a:off x="406438" y="1828307"/>
                    <a:ext cx="2891481" cy="2632482"/>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CF0F2BFE-F0A4-BD44-B6CE-52E938B54557}"/>
                      </a:ext>
                    </a:extLst>
                  </p:cNvPr>
                  <p:cNvSpPr/>
                  <p:nvPr/>
                </p:nvSpPr>
                <p:spPr>
                  <a:xfrm>
                    <a:off x="223734" y="1499666"/>
                    <a:ext cx="343364" cy="461665"/>
                  </a:xfrm>
                  <a:prstGeom prst="rect">
                    <a:avLst/>
                  </a:prstGeom>
                </p:spPr>
                <p:txBody>
                  <a:bodyPr wrap="none">
                    <a:spAutoFit/>
                  </a:bodyPr>
                  <a:lstStyle/>
                  <a:p>
                    <a:r>
                      <a:rPr lang="en-US" sz="2400" dirty="0"/>
                      <a:t>P</a:t>
                    </a:r>
                  </a:p>
                </p:txBody>
              </p:sp>
              <p:sp>
                <p:nvSpPr>
                  <p:cNvPr id="33" name="Rectangle 32">
                    <a:extLst>
                      <a:ext uri="{FF2B5EF4-FFF2-40B4-BE49-F238E27FC236}">
                        <a16:creationId xmlns:a16="http://schemas.microsoft.com/office/drawing/2014/main" id="{31B568F3-25CF-1844-B1AE-24D21E9E69C4}"/>
                      </a:ext>
                    </a:extLst>
                  </p:cNvPr>
                  <p:cNvSpPr/>
                  <p:nvPr/>
                </p:nvSpPr>
                <p:spPr>
                  <a:xfrm>
                    <a:off x="2347899" y="4390101"/>
                    <a:ext cx="335348" cy="461665"/>
                  </a:xfrm>
                  <a:prstGeom prst="rect">
                    <a:avLst/>
                  </a:prstGeom>
                </p:spPr>
                <p:txBody>
                  <a:bodyPr wrap="none">
                    <a:spAutoFit/>
                  </a:bodyPr>
                  <a:lstStyle/>
                  <a:p>
                    <a:r>
                      <a:rPr lang="en-US" sz="2400" dirty="0"/>
                      <a:t>T</a:t>
                    </a:r>
                  </a:p>
                </p:txBody>
              </p:sp>
            </p:grpSp>
            <p:sp>
              <p:nvSpPr>
                <p:cNvPr id="29" name="Freeform 28">
                  <a:extLst>
                    <a:ext uri="{FF2B5EF4-FFF2-40B4-BE49-F238E27FC236}">
                      <a16:creationId xmlns:a16="http://schemas.microsoft.com/office/drawing/2014/main" id="{277215AB-BC0E-614B-AF9F-7B16C3FC12B3}"/>
                    </a:ext>
                  </a:extLst>
                </p:cNvPr>
                <p:cNvSpPr/>
                <p:nvPr/>
              </p:nvSpPr>
              <p:spPr>
                <a:xfrm>
                  <a:off x="9483213" y="1968497"/>
                  <a:ext cx="1823428" cy="1241951"/>
                </a:xfrm>
                <a:custGeom>
                  <a:avLst/>
                  <a:gdLst>
                    <a:gd name="connsiteX0" fmla="*/ 0 w 1823428"/>
                    <a:gd name="connsiteY0" fmla="*/ 1241951 h 1241951"/>
                    <a:gd name="connsiteX1" fmla="*/ 353961 w 1823428"/>
                    <a:gd name="connsiteY1" fmla="*/ 1153461 h 1241951"/>
                    <a:gd name="connsiteX2" fmla="*/ 693174 w 1823428"/>
                    <a:gd name="connsiteY2" fmla="*/ 1064970 h 1241951"/>
                    <a:gd name="connsiteX3" fmla="*/ 988142 w 1823428"/>
                    <a:gd name="connsiteY3" fmla="*/ 917486 h 1241951"/>
                    <a:gd name="connsiteX4" fmla="*/ 1283110 w 1823428"/>
                    <a:gd name="connsiteY4" fmla="*/ 725757 h 1241951"/>
                    <a:gd name="connsiteX5" fmla="*/ 1548581 w 1823428"/>
                    <a:gd name="connsiteY5" fmla="*/ 460286 h 1241951"/>
                    <a:gd name="connsiteX6" fmla="*/ 1799303 w 1823428"/>
                    <a:gd name="connsiteY6" fmla="*/ 32583 h 1241951"/>
                    <a:gd name="connsiteX7" fmla="*/ 1799303 w 1823428"/>
                    <a:gd name="connsiteY7" fmla="*/ 62080 h 124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3428" h="1241951">
                      <a:moveTo>
                        <a:pt x="0" y="1241951"/>
                      </a:moveTo>
                      <a:lnTo>
                        <a:pt x="353961" y="1153461"/>
                      </a:lnTo>
                      <a:cubicBezTo>
                        <a:pt x="469490" y="1123964"/>
                        <a:pt x="587477" y="1104299"/>
                        <a:pt x="693174" y="1064970"/>
                      </a:cubicBezTo>
                      <a:cubicBezTo>
                        <a:pt x="798871" y="1025641"/>
                        <a:pt x="889819" y="974021"/>
                        <a:pt x="988142" y="917486"/>
                      </a:cubicBezTo>
                      <a:cubicBezTo>
                        <a:pt x="1086465" y="860950"/>
                        <a:pt x="1189704" y="801957"/>
                        <a:pt x="1283110" y="725757"/>
                      </a:cubicBezTo>
                      <a:cubicBezTo>
                        <a:pt x="1376517" y="649557"/>
                        <a:pt x="1462549" y="575815"/>
                        <a:pt x="1548581" y="460286"/>
                      </a:cubicBezTo>
                      <a:cubicBezTo>
                        <a:pt x="1634613" y="344757"/>
                        <a:pt x="1757516" y="98951"/>
                        <a:pt x="1799303" y="32583"/>
                      </a:cubicBezTo>
                      <a:cubicBezTo>
                        <a:pt x="1841090" y="-33785"/>
                        <a:pt x="1820196" y="14147"/>
                        <a:pt x="1799303" y="62080"/>
                      </a:cubicBezTo>
                    </a:path>
                  </a:pathLst>
                </a:cu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29">
                  <a:extLst>
                    <a:ext uri="{FF2B5EF4-FFF2-40B4-BE49-F238E27FC236}">
                      <a16:creationId xmlns:a16="http://schemas.microsoft.com/office/drawing/2014/main" id="{544BB8C0-A6F2-2642-BC20-48F6DE4ABCE8}"/>
                    </a:ext>
                  </a:extLst>
                </p:cNvPr>
                <p:cNvSpPr/>
                <p:nvPr/>
              </p:nvSpPr>
              <p:spPr>
                <a:xfrm>
                  <a:off x="8409904" y="3258355"/>
                  <a:ext cx="991673" cy="402963"/>
                </a:xfrm>
                <a:custGeom>
                  <a:avLst/>
                  <a:gdLst>
                    <a:gd name="connsiteX0" fmla="*/ 0 w 991673"/>
                    <a:gd name="connsiteY0" fmla="*/ 399245 h 402963"/>
                    <a:gd name="connsiteX1" fmla="*/ 218941 w 991673"/>
                    <a:gd name="connsiteY1" fmla="*/ 399245 h 402963"/>
                    <a:gd name="connsiteX2" fmla="*/ 360609 w 991673"/>
                    <a:gd name="connsiteY2" fmla="*/ 360608 h 402963"/>
                    <a:gd name="connsiteX3" fmla="*/ 579550 w 991673"/>
                    <a:gd name="connsiteY3" fmla="*/ 283335 h 402963"/>
                    <a:gd name="connsiteX4" fmla="*/ 721217 w 991673"/>
                    <a:gd name="connsiteY4" fmla="*/ 218941 h 402963"/>
                    <a:gd name="connsiteX5" fmla="*/ 875764 w 991673"/>
                    <a:gd name="connsiteY5" fmla="*/ 103031 h 402963"/>
                    <a:gd name="connsiteX6" fmla="*/ 991673 w 991673"/>
                    <a:gd name="connsiteY6" fmla="*/ 0 h 402963"/>
                    <a:gd name="connsiteX7" fmla="*/ 991673 w 991673"/>
                    <a:gd name="connsiteY7" fmla="*/ 0 h 40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1673" h="402963">
                      <a:moveTo>
                        <a:pt x="0" y="399245"/>
                      </a:moveTo>
                      <a:cubicBezTo>
                        <a:pt x="79419" y="402465"/>
                        <a:pt x="158839" y="405685"/>
                        <a:pt x="218941" y="399245"/>
                      </a:cubicBezTo>
                      <a:cubicBezTo>
                        <a:pt x="279043" y="392805"/>
                        <a:pt x="300508" y="379926"/>
                        <a:pt x="360609" y="360608"/>
                      </a:cubicBezTo>
                      <a:cubicBezTo>
                        <a:pt x="420711" y="341290"/>
                        <a:pt x="519449" y="306946"/>
                        <a:pt x="579550" y="283335"/>
                      </a:cubicBezTo>
                      <a:cubicBezTo>
                        <a:pt x="639651" y="259724"/>
                        <a:pt x="671848" y="248992"/>
                        <a:pt x="721217" y="218941"/>
                      </a:cubicBezTo>
                      <a:cubicBezTo>
                        <a:pt x="770586" y="188890"/>
                        <a:pt x="830688" y="139521"/>
                        <a:pt x="875764" y="103031"/>
                      </a:cubicBezTo>
                      <a:cubicBezTo>
                        <a:pt x="920840" y="66541"/>
                        <a:pt x="991673" y="0"/>
                        <a:pt x="991673" y="0"/>
                      </a:cubicBezTo>
                      <a:lnTo>
                        <a:pt x="991673" y="0"/>
                      </a:lnTo>
                    </a:path>
                  </a:pathLst>
                </a:custGeom>
                <a:noFill/>
                <a:ln w="10160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B050"/>
                    </a:solidFill>
                  </a:endParaRPr>
                </a:p>
              </p:txBody>
            </p:sp>
          </p:grpSp>
          <p:cxnSp>
            <p:nvCxnSpPr>
              <p:cNvPr id="23" name="Straight Arrow Connector 22">
                <a:extLst>
                  <a:ext uri="{FF2B5EF4-FFF2-40B4-BE49-F238E27FC236}">
                    <a16:creationId xmlns:a16="http://schemas.microsoft.com/office/drawing/2014/main" id="{5EB14925-C632-0A4F-B959-634D2B5B3AA6}"/>
                  </a:ext>
                </a:extLst>
              </p:cNvPr>
              <p:cNvCxnSpPr>
                <a:cxnSpLocks/>
                <a:stCxn id="29" idx="5"/>
              </p:cNvCxnSpPr>
              <p:nvPr/>
            </p:nvCxnSpPr>
            <p:spPr>
              <a:xfrm flipV="1">
                <a:off x="6806386" y="1228099"/>
                <a:ext cx="300338" cy="510811"/>
              </a:xfrm>
              <a:prstGeom prst="straightConnector1">
                <a:avLst/>
              </a:prstGeom>
              <a:ln w="1016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46D2646-3B49-E241-BBE6-3A7FD6ADDF69}"/>
                  </a:ext>
                </a:extLst>
              </p:cNvPr>
              <p:cNvCxnSpPr>
                <a:cxnSpLocks/>
              </p:cNvCxnSpPr>
              <p:nvPr/>
            </p:nvCxnSpPr>
            <p:spPr>
              <a:xfrm flipV="1">
                <a:off x="4423407" y="2822298"/>
                <a:ext cx="265948" cy="3296"/>
              </a:xfrm>
              <a:prstGeom prst="line">
                <a:avLst/>
              </a:prstGeom>
              <a:ln w="101600">
                <a:solidFill>
                  <a:schemeClr val="accent2"/>
                </a:solidFill>
                <a:prstDash val="sysDot"/>
                <a:headEnd type="triangle"/>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F1E66DFA-8DFC-1048-B916-3809F0A69CB6}"/>
                </a:ext>
              </a:extLst>
            </p:cNvPr>
            <p:cNvCxnSpPr>
              <a:cxnSpLocks/>
            </p:cNvCxnSpPr>
            <p:nvPr/>
          </p:nvCxnSpPr>
          <p:spPr>
            <a:xfrm flipH="1">
              <a:off x="6867323" y="2365420"/>
              <a:ext cx="335311" cy="1862929"/>
            </a:xfrm>
            <a:prstGeom prst="line">
              <a:avLst/>
            </a:prstGeom>
            <a:ln w="127000">
              <a:head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011B779-468A-9A47-B7EA-A36423EA233B}"/>
                  </a:ext>
                </a:extLst>
              </p:cNvPr>
              <p:cNvSpPr/>
              <p:nvPr/>
            </p:nvSpPr>
            <p:spPr>
              <a:xfrm>
                <a:off x="210230" y="1336059"/>
                <a:ext cx="7122974" cy="4154984"/>
              </a:xfrm>
              <a:prstGeom prst="rect">
                <a:avLst/>
              </a:prstGeom>
            </p:spPr>
            <p:txBody>
              <a:bodyPr wrap="square">
                <a:spAutoFit/>
              </a:bodyPr>
              <a:lstStyle/>
              <a:p>
                <a:r>
                  <a:rPr lang="en-US" sz="2400" dirty="0"/>
                  <a:t>What we want is </a:t>
                </a:r>
                <a14:m>
                  <m:oMath xmlns:m="http://schemas.openxmlformats.org/officeDocument/2006/math">
                    <m:r>
                      <a:rPr lang="en-US" sz="2400" b="1" i="1">
                        <a:solidFill>
                          <a:schemeClr val="accent1"/>
                        </a:solidFill>
                        <a:latin typeface="Cambria Math" panose="02040503050406030204" pitchFamily="18" charset="0"/>
                        <a:ea typeface="Cambria Math" panose="02040503050406030204" pitchFamily="18" charset="0"/>
                      </a:rPr>
                      <m:t>𝑷</m:t>
                    </m:r>
                    <m:r>
                      <a:rPr lang="en-US" sz="2400" b="1" i="1">
                        <a:solidFill>
                          <a:schemeClr val="accent1"/>
                        </a:solidFill>
                        <a:latin typeface="Cambria Math" panose="02040503050406030204" pitchFamily="18" charset="0"/>
                        <a:ea typeface="Cambria Math" panose="02040503050406030204" pitchFamily="18" charset="0"/>
                      </a:rPr>
                      <m:t>(</m:t>
                    </m:r>
                    <m:r>
                      <a:rPr lang="en-US" sz="2400" b="1" i="1">
                        <a:solidFill>
                          <a:schemeClr val="accent1"/>
                        </a:solidFill>
                        <a:latin typeface="Cambria Math" panose="02040503050406030204" pitchFamily="18" charset="0"/>
                        <a:ea typeface="Cambria Math" panose="02040503050406030204" pitchFamily="18" charset="0"/>
                      </a:rPr>
                      <m:t>𝑻</m:t>
                    </m:r>
                    <m:r>
                      <a:rPr lang="en-US" sz="2400" b="1" i="1">
                        <a:solidFill>
                          <a:schemeClr val="accent1"/>
                        </a:solidFill>
                        <a:latin typeface="Cambria Math" panose="02040503050406030204" pitchFamily="18" charset="0"/>
                        <a:ea typeface="Cambria Math" panose="02040503050406030204" pitchFamily="18" charset="0"/>
                      </a:rPr>
                      <m:t>)</m:t>
                    </m:r>
                  </m:oMath>
                </a14:m>
                <a:r>
                  <a:rPr lang="en-US" sz="2400" dirty="0"/>
                  <a:t> along the solid/liquid phase boundary. </a:t>
                </a:r>
              </a:p>
              <a:p>
                <a:endParaRPr lang="en-US" sz="2400" dirty="0"/>
              </a:p>
              <a:p>
                <a:r>
                  <a:rPr lang="en-US" sz="2400" dirty="0"/>
                  <a:t>Clapeyron tells us the tiny amount the pressure goes up for a given tiny increase in temperature. Integral calculus would let us add up all those tiny increases as temperature goes up.</a:t>
                </a:r>
              </a:p>
              <a:p>
                <a:endParaRPr lang="en-US" sz="2400" dirty="0"/>
              </a:p>
              <a:p>
                <a:r>
                  <a:rPr lang="en-US" sz="2400" dirty="0"/>
                  <a:t>It’s generally recommend that one starts integration at the triple point, because we know </a:t>
                </a:r>
                <a14:m>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𝑇</m:t>
                        </m:r>
                      </m:e>
                      <m:sub>
                        <m:r>
                          <a:rPr lang="en-US" sz="2400" i="1">
                            <a:solidFill>
                              <a:schemeClr val="tx1"/>
                            </a:solidFill>
                            <a:latin typeface="Cambria Math" panose="02040503050406030204" pitchFamily="18" charset="0"/>
                            <a:ea typeface="Cambria Math" panose="02040503050406030204" pitchFamily="18" charset="0"/>
                          </a:rPr>
                          <m:t>3</m:t>
                        </m:r>
                      </m:sub>
                    </m:sSub>
                  </m:oMath>
                </a14:m>
                <a:r>
                  <a:rPr lang="en-US" sz="2400" dirty="0">
                    <a:solidFill>
                      <a:schemeClr val="tx1"/>
                    </a:solidFill>
                    <a:ea typeface="Cambria Math" panose="02040503050406030204" pitchFamily="18" charset="0"/>
                  </a:rPr>
                  <a:t> and </a:t>
                </a:r>
                <a14:m>
                  <m:oMath xmlns:m="http://schemas.openxmlformats.org/officeDocument/2006/math">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𝑃</m:t>
                        </m:r>
                      </m:e>
                      <m:sub>
                        <m:r>
                          <a:rPr lang="en-US" sz="2400" i="1">
                            <a:solidFill>
                              <a:schemeClr val="tx1"/>
                            </a:solidFill>
                            <a:latin typeface="Cambria Math" panose="02040503050406030204" pitchFamily="18" charset="0"/>
                            <a:ea typeface="Cambria Math" panose="02040503050406030204" pitchFamily="18" charset="0"/>
                          </a:rPr>
                          <m:t>3</m:t>
                        </m:r>
                      </m:sub>
                    </m:sSub>
                  </m:oMath>
                </a14:m>
                <a:r>
                  <a:rPr lang="en-US" sz="2400" dirty="0"/>
                  <a:t> very accurately. </a:t>
                </a:r>
                <a:endParaRPr lang="en-US" sz="2400" b="1" i="1" dirty="0"/>
              </a:p>
            </p:txBody>
          </p:sp>
        </mc:Choice>
        <mc:Fallback xmlns="">
          <p:sp>
            <p:nvSpPr>
              <p:cNvPr id="2" name="Rectangle 1">
                <a:extLst>
                  <a:ext uri="{FF2B5EF4-FFF2-40B4-BE49-F238E27FC236}">
                    <a16:creationId xmlns:a16="http://schemas.microsoft.com/office/drawing/2014/main" id="{4011B779-468A-9A47-B7EA-A36423EA233B}"/>
                  </a:ext>
                </a:extLst>
              </p:cNvPr>
              <p:cNvSpPr>
                <a:spLocks noRot="1" noChangeAspect="1" noMove="1" noResize="1" noEditPoints="1" noAdjustHandles="1" noChangeArrowheads="1" noChangeShapeType="1" noTextEdit="1"/>
              </p:cNvSpPr>
              <p:nvPr/>
            </p:nvSpPr>
            <p:spPr>
              <a:xfrm>
                <a:off x="210230" y="1336059"/>
                <a:ext cx="7122974" cy="4154984"/>
              </a:xfrm>
              <a:prstGeom prst="rect">
                <a:avLst/>
              </a:prstGeom>
              <a:blipFill>
                <a:blip r:embed="rId3"/>
                <a:stretch>
                  <a:fillRect l="-1246" t="-915" r="-1423" b="-2134"/>
                </a:stretch>
              </a:blipFill>
            </p:spPr>
            <p:txBody>
              <a:bodyPr/>
              <a:lstStyle/>
              <a:p>
                <a:r>
                  <a:rPr lang="en-US">
                    <a:noFill/>
                  </a:rPr>
                  <a:t> </a:t>
                </a:r>
              </a:p>
            </p:txBody>
          </p:sp>
        </mc:Fallback>
      </mc:AlternateContent>
    </p:spTree>
    <p:extLst>
      <p:ext uri="{BB962C8B-B14F-4D97-AF65-F5344CB8AC3E}">
        <p14:creationId xmlns:p14="http://schemas.microsoft.com/office/powerpoint/2010/main" val="563286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EE9BFE-0F8A-D446-8EB7-3B973FF0BA4B}"/>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Wrapping up the Python work</a:t>
            </a:r>
            <a:endParaRPr lang="en-US" sz="2400" b="1" dirty="0">
              <a:solidFill>
                <a:srgbClr val="7030A0"/>
              </a:solidFill>
            </a:endParaRPr>
          </a:p>
        </p:txBody>
      </p:sp>
      <p:pic>
        <p:nvPicPr>
          <p:cNvPr id="2" name="Picture 1">
            <a:extLst>
              <a:ext uri="{FF2B5EF4-FFF2-40B4-BE49-F238E27FC236}">
                <a16:creationId xmlns:a16="http://schemas.microsoft.com/office/drawing/2014/main" id="{DFDC397A-D604-86F9-1A54-D68C39EF7010}"/>
              </a:ext>
            </a:extLst>
          </p:cNvPr>
          <p:cNvPicPr>
            <a:picLocks noChangeAspect="1"/>
          </p:cNvPicPr>
          <p:nvPr/>
        </p:nvPicPr>
        <p:blipFill>
          <a:blip r:embed="rId2"/>
          <a:stretch>
            <a:fillRect/>
          </a:stretch>
        </p:blipFill>
        <p:spPr>
          <a:xfrm>
            <a:off x="236760" y="598854"/>
            <a:ext cx="8389313" cy="2296746"/>
          </a:xfrm>
          <a:prstGeom prst="rect">
            <a:avLst/>
          </a:prstGeom>
          <a:ln>
            <a:solidFill>
              <a:schemeClr val="accent1"/>
            </a:solidFill>
          </a:ln>
        </p:spPr>
      </p:pic>
      <p:pic>
        <p:nvPicPr>
          <p:cNvPr id="3" name="Picture 2">
            <a:extLst>
              <a:ext uri="{FF2B5EF4-FFF2-40B4-BE49-F238E27FC236}">
                <a16:creationId xmlns:a16="http://schemas.microsoft.com/office/drawing/2014/main" id="{6973A52E-62C2-1FC3-855B-241CF5F2D209}"/>
              </a:ext>
            </a:extLst>
          </p:cNvPr>
          <p:cNvPicPr>
            <a:picLocks noChangeAspect="1"/>
          </p:cNvPicPr>
          <p:nvPr/>
        </p:nvPicPr>
        <p:blipFill>
          <a:blip r:embed="rId3"/>
          <a:stretch>
            <a:fillRect/>
          </a:stretch>
        </p:blipFill>
        <p:spPr>
          <a:xfrm>
            <a:off x="5995573" y="2998513"/>
            <a:ext cx="5945886" cy="1707353"/>
          </a:xfrm>
          <a:prstGeom prst="rect">
            <a:avLst/>
          </a:prstGeom>
          <a:ln>
            <a:solidFill>
              <a:schemeClr val="accent1"/>
            </a:solidFill>
          </a:ln>
        </p:spPr>
      </p:pic>
      <p:pic>
        <p:nvPicPr>
          <p:cNvPr id="5" name="Picture 4">
            <a:extLst>
              <a:ext uri="{FF2B5EF4-FFF2-40B4-BE49-F238E27FC236}">
                <a16:creationId xmlns:a16="http://schemas.microsoft.com/office/drawing/2014/main" id="{0449E802-90E3-6C8A-2DEE-C3A17F76F837}"/>
              </a:ext>
            </a:extLst>
          </p:cNvPr>
          <p:cNvPicPr>
            <a:picLocks noChangeAspect="1"/>
          </p:cNvPicPr>
          <p:nvPr/>
        </p:nvPicPr>
        <p:blipFill rotWithShape="1">
          <a:blip r:embed="rId4"/>
          <a:srcRect b="76827"/>
          <a:stretch/>
        </p:blipFill>
        <p:spPr>
          <a:xfrm>
            <a:off x="53878" y="4691824"/>
            <a:ext cx="8389314" cy="749330"/>
          </a:xfrm>
          <a:prstGeom prst="rect">
            <a:avLst/>
          </a:prstGeom>
          <a:ln w="38100">
            <a:noFill/>
          </a:ln>
        </p:spPr>
      </p:pic>
      <p:pic>
        <p:nvPicPr>
          <p:cNvPr id="6" name="Picture 5">
            <a:extLst>
              <a:ext uri="{FF2B5EF4-FFF2-40B4-BE49-F238E27FC236}">
                <a16:creationId xmlns:a16="http://schemas.microsoft.com/office/drawing/2014/main" id="{DEC0BA45-F81D-55CA-AF9B-1371EED4964A}"/>
              </a:ext>
            </a:extLst>
          </p:cNvPr>
          <p:cNvPicPr>
            <a:picLocks noChangeAspect="1"/>
          </p:cNvPicPr>
          <p:nvPr/>
        </p:nvPicPr>
        <p:blipFill rotWithShape="1">
          <a:blip r:embed="rId4"/>
          <a:srcRect t="50000" b="12976"/>
          <a:stretch/>
        </p:blipFill>
        <p:spPr>
          <a:xfrm>
            <a:off x="551221" y="5432405"/>
            <a:ext cx="8389314" cy="1197192"/>
          </a:xfrm>
          <a:prstGeom prst="rect">
            <a:avLst/>
          </a:prstGeom>
          <a:ln w="38100">
            <a:noFill/>
          </a:ln>
        </p:spPr>
      </p:pic>
    </p:spTree>
    <p:extLst>
      <p:ext uri="{BB962C8B-B14F-4D97-AF65-F5344CB8AC3E}">
        <p14:creationId xmlns:p14="http://schemas.microsoft.com/office/powerpoint/2010/main" val="2799067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2265</TotalTime>
  <Words>929</Words>
  <Application>Microsoft Macintosh PowerPoint</Application>
  <PresentationFormat>Widescreen</PresentationFormat>
  <Paragraphs>134</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dc:creator>
  <cp:lastModifiedBy>Steven</cp:lastModifiedBy>
  <cp:revision>82</cp:revision>
  <cp:lastPrinted>2023-10-20T17:15:48Z</cp:lastPrinted>
  <dcterms:created xsi:type="dcterms:W3CDTF">2021-10-22T12:25:35Z</dcterms:created>
  <dcterms:modified xsi:type="dcterms:W3CDTF">2025-10-24T15:08:34Z</dcterms:modified>
</cp:coreProperties>
</file>