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306" r:id="rId2"/>
    <p:sldId id="258" r:id="rId3"/>
    <p:sldId id="374" r:id="rId4"/>
    <p:sldId id="362" r:id="rId5"/>
    <p:sldId id="370" r:id="rId6"/>
    <p:sldId id="368" r:id="rId7"/>
    <p:sldId id="372" r:id="rId8"/>
    <p:sldId id="373" r:id="rId9"/>
    <p:sldId id="375" r:id="rId10"/>
    <p:sldId id="378" r:id="rId11"/>
    <p:sldId id="38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5934"/>
  </p:normalViewPr>
  <p:slideViewPr>
    <p:cSldViewPr snapToGrid="0">
      <p:cViewPr varScale="1">
        <p:scale>
          <a:sx n="112" d="100"/>
          <a:sy n="112" d="100"/>
        </p:scale>
        <p:origin x="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D9D222-D162-FF4B-9807-7FFCADA5F0CC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0154D4-E7FD-DF4A-9195-DAF888415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92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ABB40-F5BC-034C-818D-2ABD453702D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342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ABB40-F5BC-034C-818D-2ABD453702D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776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ABB40-F5BC-034C-818D-2ABD453702D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0781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ABB40-F5BC-034C-818D-2ABD453702D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7108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ABB40-F5BC-034C-818D-2ABD453702D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4824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ABB40-F5BC-034C-818D-2ABD453702D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33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ABB40-F5BC-034C-818D-2ABD453702D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3951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ABB40-F5BC-034C-818D-2ABD453702D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3408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ABB40-F5BC-034C-818D-2ABD453702D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755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8C208-A148-8E2C-CA16-7A51CA565F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49AE04-C9C4-B38A-D4F0-C0F42D69A9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1F48C-0A23-82D0-C8D4-FF7BC3153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445A-C366-8147-984B-9F4D6607BDD0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FC7A2-2871-AD90-CCDC-C14352FFF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379C0-D7A2-7765-9827-31A862C16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74FAF-0E5D-7448-94EC-02A3E3586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161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544AC-43D0-B68C-F810-661C59B18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CA03D-E3C8-F521-1767-5C7C745CD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D52EC-88E0-EA00-5291-BC5DA2A09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445A-C366-8147-984B-9F4D6607BDD0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28749-4AA7-EFAB-1CD1-CCDDF8E32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4AA95-096F-E143-3FD2-AAFF40B8F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74FAF-0E5D-7448-94EC-02A3E3586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68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80607-0461-AA64-5FF0-358A73D3C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000FA1-5567-BB94-1FA9-F69FD00E7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BF690-58A2-87E8-C517-AAAF21275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445A-C366-8147-984B-9F4D6607BDD0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B0587-3FB8-A491-28DE-15E3CCD24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B7F39-C441-55C3-B109-604A33F23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74FAF-0E5D-7448-94EC-02A3E3586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431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E404D-3144-24E9-7DB3-CDF3D3E2A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82898-4E92-19B3-9EA9-3EF7C62D2A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1F06DB-BEF5-D44F-9D9D-22C1D8ABE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78B7B-9D61-207A-94C9-9045EB4AE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445A-C366-8147-984B-9F4D6607BDD0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C36DB-6F0E-63BC-D9B5-259A50A4B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6FEEA-7BC5-30CA-ADCB-020EEF509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74FAF-0E5D-7448-94EC-02A3E3586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927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30FB4-7B3D-4E3F-8450-8DF7CA3DC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B2C860-9E8D-8B6C-DF28-1267683B6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827D1D-FB3A-C4B0-A754-0791BA05FC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208601-36CA-88F3-A497-8D31D51A7D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464D7D-9C85-2C4C-191B-F6CC6AAFC6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1ACB20-ED5D-F05B-3E26-89C019BE7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445A-C366-8147-984B-9F4D6607BDD0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A8C4B8-2652-C459-D5DA-5282C70CC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074900-151C-BE2C-6E88-276085D80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74FAF-0E5D-7448-94EC-02A3E3586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133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4137C-34DF-DC6D-BA25-CE720BDAE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1489BF-9D12-D7C9-4606-848D9D1DB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445A-C366-8147-984B-9F4D6607BDD0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A5D03F-9DE0-65A1-A80D-9106D5C6C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B27DCF-66CD-704D-EAE7-F05E6661E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74FAF-0E5D-7448-94EC-02A3E3586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16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1F5D4D-BA52-CAE5-2FC9-7B84DCAE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445A-C366-8147-984B-9F4D6607BDD0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FA7DB3-B74D-22D6-07A9-535999FD9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2AFF7-4251-EBE0-E461-D0674C88E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74FAF-0E5D-7448-94EC-02A3E3586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187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EFECC-4673-CF1E-6B8A-F6ACB0C7A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C350A-9095-1361-A618-0FA297E59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6951BB-26F9-47F3-46FF-C71502E980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7F81CA-3B22-4A25-C937-8FBE4586A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445A-C366-8147-984B-9F4D6607BDD0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78461B-8966-1E25-425E-43EBD1760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C79530-EF96-CFDC-CB10-341DC300A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74FAF-0E5D-7448-94EC-02A3E3586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194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44C3A-08AB-D606-553C-FBDA5B2C1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7932BD-F46D-567D-5E8E-569D1BE10C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09DB92-FFF8-10A9-8F84-46B3EBFCB5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7D9BF5-04B0-FF44-C3E0-C12F1362D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445A-C366-8147-984B-9F4D6607BDD0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01158-DAAA-84CC-05CD-3F47E6470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86934-37E0-6DB8-1ACE-59A0352B2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74FAF-0E5D-7448-94EC-02A3E3586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207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6CBF0-F2F5-8766-28F4-90329690C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5CB819-BA2E-A0DD-F511-11FB4B493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AE2AE-591A-119E-6F39-D91A5E046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445A-C366-8147-984B-9F4D6607BDD0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9C669-C906-FC63-588E-7D94A3967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9283D-A1BD-4F47-5492-C08F75B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74FAF-0E5D-7448-94EC-02A3E3586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516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260918-57E1-845E-3D28-AE576D0CCA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5B2AD4-FC26-AE46-BB4B-03E1A0B418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AFDCE-CB24-8148-EF89-1D543C9F7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445A-C366-8147-984B-9F4D6607BDD0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C1DBA-8546-6F21-A2AF-9DE5E2EC2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1471E-C10A-167C-9B25-F480B7DAB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74FAF-0E5D-7448-94EC-02A3E3586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288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300DA-FA9B-D453-A2AA-D03F6B170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A60750-452D-7F21-9AED-E0D896E2C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DFC42-DF2C-37D4-8641-E4B0107810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8445A-C366-8147-984B-9F4D6607BDD0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51CBF-F251-E58B-35AE-C5AF36E5B0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A05CF-C7E9-3F8E-19D3-CCF636AE72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74FAF-0E5D-7448-94EC-02A3E3586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871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0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7" Type="http://schemas.openxmlformats.org/officeDocument/2006/relationships/image" Target="../media/image9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71.png"/><Relationship Id="rId4" Type="http://schemas.openxmlformats.org/officeDocument/2006/relationships/image" Target="../media/image600.png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00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81.png"/><Relationship Id="rId4" Type="http://schemas.openxmlformats.org/officeDocument/2006/relationships/image" Target="../media/image1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0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3.png"/><Relationship Id="rId4" Type="http://schemas.openxmlformats.org/officeDocument/2006/relationships/image" Target="../media/image24.png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10" Type="http://schemas.openxmlformats.org/officeDocument/2006/relationships/image" Target="../media/image20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4766413-00AA-074E-BBD9-BCE265E1C7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1943"/>
          <a:stretch/>
        </p:blipFill>
        <p:spPr>
          <a:xfrm>
            <a:off x="528077" y="1794316"/>
            <a:ext cx="4733036" cy="290360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11A9820-7E49-3040-B162-1849E8DBEE61}"/>
              </a:ext>
            </a:extLst>
          </p:cNvPr>
          <p:cNvSpPr/>
          <p:nvPr/>
        </p:nvSpPr>
        <p:spPr>
          <a:xfrm>
            <a:off x="76802" y="4372141"/>
            <a:ext cx="13345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https://encyclopedia2.thefreedictionary.com/</a:t>
            </a:r>
            <a:r>
              <a:rPr lang="en-US" sz="1200" dirty="0" err="1"/>
              <a:t>Joule-Thomson+Effect</a:t>
            </a:r>
            <a:endParaRPr lang="en-US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47547E-05E1-00BD-C762-1743EEDA3A68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Today: The Adiabatic Joule-Thomson experiment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7C72B3-4C34-17A9-9887-66E061AC2B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792" y="1618412"/>
            <a:ext cx="4733036" cy="35847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F9A2408-D54E-6428-455F-8A391081D378}"/>
                  </a:ext>
                </a:extLst>
              </p:cNvPr>
              <p:cNvSpPr txBox="1"/>
              <p:nvPr/>
            </p:nvSpPr>
            <p:spPr>
              <a:xfrm>
                <a:off x="165131" y="552847"/>
                <a:ext cx="11904949" cy="12568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A key feature of the Adiabatic Joule-Thomson experiment</a:t>
                </a:r>
                <a:r>
                  <a:rPr lang="en-US" sz="2200" b="1" dirty="0"/>
                  <a:t> </a:t>
                </a:r>
                <a:r>
                  <a:rPr lang="en-US" sz="2200" dirty="0"/>
                  <a:t>is that </a:t>
                </a:r>
                <a:r>
                  <a:rPr lang="en-US" sz="2200" b="1" dirty="0"/>
                  <a:t>the gas follows an </a:t>
                </a:r>
                <a:r>
                  <a:rPr lang="en-US" sz="2200" b="1" dirty="0" err="1"/>
                  <a:t>isenthalp</a:t>
                </a:r>
                <a:r>
                  <a:rPr lang="en-US" sz="2200" dirty="0"/>
                  <a:t> (line of constant enthalpy) on its way out of the tank.</a:t>
                </a:r>
                <a:endParaRPr lang="en-US" sz="2200" b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We’ll measure how much the temperature goes up or down, hence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US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den>
                    </m:f>
                  </m:oMath>
                </a14:m>
                <a:r>
                  <a:rPr lang="en-US" sz="2200" dirty="0"/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F9A2408-D54E-6428-455F-8A391081D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131" y="552847"/>
                <a:ext cx="11904949" cy="1256883"/>
              </a:xfrm>
              <a:prstGeom prst="rect">
                <a:avLst/>
              </a:prstGeom>
              <a:blipFill>
                <a:blip r:embed="rId5"/>
                <a:stretch>
                  <a:fillRect l="-532" t="-3000"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3D70F6-81CC-A917-BD39-876875D41266}"/>
                  </a:ext>
                </a:extLst>
              </p:cNvPr>
              <p:cNvSpPr txBox="1"/>
              <p:nvPr/>
            </p:nvSpPr>
            <p:spPr>
              <a:xfrm>
                <a:off x="1104900" y="5239588"/>
                <a:ext cx="10770870" cy="153689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An approximation here is that, while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sz="2000" dirty="0"/>
                  <a:t> is obviously not constant from start to finish, we’ll suppose that our measured</a:t>
                </a:r>
                <a:r>
                  <a:rPr lang="en-US" sz="2000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den>
                    </m:f>
                  </m:oMath>
                </a14:m>
                <a:r>
                  <a:rPr lang="en-US" sz="2000" dirty="0">
                    <a:solidFill>
                      <a:schemeClr val="accent1"/>
                    </a:solidFill>
                  </a:rPr>
                  <a:t> </a:t>
                </a:r>
                <a:r>
                  <a:rPr lang="en-US" sz="2000" dirty="0"/>
                  <a:t>is a reasonable approximation to it.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sz="2000" dirty="0"/>
                  <a:t> has a name: the </a:t>
                </a:r>
                <a:r>
                  <a:rPr lang="en-US" sz="2000" i="1" dirty="0"/>
                  <a:t>adiabatic Joule-Thomson coefficient, </a:t>
                </a:r>
                <a:r>
                  <a:rPr lang="en-US" sz="2000" dirty="0"/>
                  <a:t>symbolized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𝐽𝑇</m:t>
                        </m:r>
                      </m:sub>
                    </m:sSub>
                  </m:oMath>
                </a14:m>
                <a:r>
                  <a:rPr lang="en-US" sz="2000" dirty="0"/>
                  <a:t>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3D70F6-81CC-A917-BD39-876875D41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900" y="5239588"/>
                <a:ext cx="10770870" cy="1536896"/>
              </a:xfrm>
              <a:prstGeom prst="rect">
                <a:avLst/>
              </a:prstGeom>
              <a:blipFill>
                <a:blip r:embed="rId6"/>
                <a:stretch>
                  <a:fillRect l="-35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B3D34362-3D3B-5B5F-EC67-DB6368768F6B}"/>
              </a:ext>
            </a:extLst>
          </p:cNvPr>
          <p:cNvCxnSpPr>
            <a:cxnSpLocks/>
          </p:cNvCxnSpPr>
          <p:nvPr/>
        </p:nvCxnSpPr>
        <p:spPr>
          <a:xfrm rot="5400000">
            <a:off x="7237219" y="2573515"/>
            <a:ext cx="1991834" cy="464269"/>
          </a:xfrm>
          <a:prstGeom prst="curvedConnector3">
            <a:avLst/>
          </a:prstGeom>
          <a:ln w="63500">
            <a:solidFill>
              <a:schemeClr val="tx1">
                <a:alpha val="48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720C5B7-0391-4AA7-D9B3-EE49D3E15FCC}"/>
              </a:ext>
            </a:extLst>
          </p:cNvPr>
          <p:cNvGrpSpPr/>
          <p:nvPr/>
        </p:nvGrpSpPr>
        <p:grpSpPr>
          <a:xfrm>
            <a:off x="7852981" y="3878107"/>
            <a:ext cx="720159" cy="984919"/>
            <a:chOff x="5583378" y="3966344"/>
            <a:chExt cx="720159" cy="98491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893249B-A23C-5D11-CBC7-91D64CBC0803}"/>
                </a:ext>
              </a:extLst>
            </p:cNvPr>
            <p:cNvGrpSpPr/>
            <p:nvPr/>
          </p:nvGrpSpPr>
          <p:grpSpPr>
            <a:xfrm>
              <a:off x="5583378" y="3966344"/>
              <a:ext cx="720159" cy="654779"/>
              <a:chOff x="5583378" y="3966344"/>
              <a:chExt cx="720159" cy="654779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57C4FA1A-EC1E-D331-9143-EE75B935F7E7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flipH="1">
                <a:off x="5583378" y="3966344"/>
                <a:ext cx="136843" cy="654779"/>
              </a:xfrm>
              <a:prstGeom prst="line">
                <a:avLst/>
              </a:prstGeom>
              <a:ln w="63500">
                <a:solidFill>
                  <a:schemeClr val="accent1">
                    <a:alpha val="55000"/>
                  </a:schemeClr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61669FFA-162C-BCD2-DFBF-AE89B77FCA0D}"/>
                      </a:ext>
                    </a:extLst>
                  </p:cNvPr>
                  <p:cNvSpPr txBox="1"/>
                  <p:nvPr/>
                </p:nvSpPr>
                <p:spPr>
                  <a:xfrm>
                    <a:off x="5637740" y="4045124"/>
                    <a:ext cx="665797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1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1400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61669FFA-162C-BCD2-DFBF-AE89B77FCA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37740" y="4045124"/>
                    <a:ext cx="665797" cy="30777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3D4CA493-98E2-38C5-98EF-BD330952FA4C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>
                <a:off x="5695112" y="3991361"/>
                <a:ext cx="375270" cy="548889"/>
              </a:xfrm>
              <a:prstGeom prst="line">
                <a:avLst/>
              </a:prstGeom>
              <a:ln w="12700">
                <a:solidFill>
                  <a:schemeClr val="accent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6507B468-857A-0A72-D069-2AADA62A33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35493" y="4570130"/>
                <a:ext cx="466912" cy="24229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1B62EDE-9C7E-884E-5234-7F3E74DACF0C}"/>
                    </a:ext>
                  </a:extLst>
                </p:cNvPr>
                <p:cNvSpPr txBox="1"/>
                <p:nvPr/>
              </p:nvSpPr>
              <p:spPr>
                <a:xfrm>
                  <a:off x="5603184" y="4643486"/>
                  <a:ext cx="665797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1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en-US" sz="14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1B62EDE-9C7E-884E-5234-7F3E74DACF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3184" y="4643486"/>
                  <a:ext cx="665797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6793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EE9BFE-0F8A-D446-8EB7-3B973FF0BA4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Today: The Adiabatic Joule-Thomson experiment 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03A09DB-9339-9448-9E0A-47E9ED687DA7}"/>
              </a:ext>
            </a:extLst>
          </p:cNvPr>
          <p:cNvGrpSpPr/>
          <p:nvPr/>
        </p:nvGrpSpPr>
        <p:grpSpPr>
          <a:xfrm>
            <a:off x="1145893" y="1158217"/>
            <a:ext cx="5648446" cy="4993943"/>
            <a:chOff x="1967695" y="1158217"/>
            <a:chExt cx="5648446" cy="499394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958426-B735-4864-ACA9-E3BE3CD95A0F}"/>
                </a:ext>
              </a:extLst>
            </p:cNvPr>
            <p:cNvGrpSpPr/>
            <p:nvPr/>
          </p:nvGrpSpPr>
          <p:grpSpPr>
            <a:xfrm>
              <a:off x="1967695" y="1158217"/>
              <a:ext cx="5648446" cy="3975583"/>
              <a:chOff x="1352874" y="1366150"/>
              <a:chExt cx="4882647" cy="3246288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8E69E9C0-B6D2-AB63-39E3-7012F53B05E5}"/>
                  </a:ext>
                </a:extLst>
              </p:cNvPr>
              <p:cNvGrpSpPr/>
              <p:nvPr/>
            </p:nvGrpSpPr>
            <p:grpSpPr>
              <a:xfrm>
                <a:off x="1352874" y="1641089"/>
                <a:ext cx="4882647" cy="2971349"/>
                <a:chOff x="1275602" y="2813065"/>
                <a:chExt cx="4882647" cy="2971349"/>
              </a:xfrm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A2BB9C56-E0F8-4B2A-D8DC-CF123EE2B548}"/>
                    </a:ext>
                  </a:extLst>
                </p:cNvPr>
                <p:cNvGrpSpPr/>
                <p:nvPr/>
              </p:nvGrpSpPr>
              <p:grpSpPr>
                <a:xfrm>
                  <a:off x="2146075" y="2813065"/>
                  <a:ext cx="4012174" cy="2971349"/>
                  <a:chOff x="2146075" y="2774428"/>
                  <a:chExt cx="4012174" cy="2971349"/>
                </a:xfrm>
              </p:grpSpPr>
              <p:pic>
                <p:nvPicPr>
                  <p:cNvPr id="2" name="Picture 1">
                    <a:extLst>
                      <a:ext uri="{FF2B5EF4-FFF2-40B4-BE49-F238E27FC236}">
                        <a16:creationId xmlns:a16="http://schemas.microsoft.com/office/drawing/2014/main" id="{C4B5A474-D98B-804E-7CDF-2FCEFF353F7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2235078" y="2774428"/>
                    <a:ext cx="3923171" cy="2971349"/>
                  </a:xfrm>
                  <a:prstGeom prst="rect">
                    <a:avLst/>
                  </a:prstGeom>
                </p:spPr>
              </p:pic>
              <p:cxnSp>
                <p:nvCxnSpPr>
                  <p:cNvPr id="12" name="Straight Arrow Connector 11">
                    <a:extLst>
                      <a:ext uri="{FF2B5EF4-FFF2-40B4-BE49-F238E27FC236}">
                        <a16:creationId xmlns:a16="http://schemas.microsoft.com/office/drawing/2014/main" id="{DC6E8F6A-46FA-DA28-919A-9A7C2D8AA70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146075" y="4134440"/>
                    <a:ext cx="898999" cy="5513"/>
                  </a:xfrm>
                  <a:prstGeom prst="straightConnector1">
                    <a:avLst/>
                  </a:prstGeom>
                  <a:ln w="38100">
                    <a:solidFill>
                      <a:schemeClr val="tx1">
                        <a:alpha val="42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" name="TextBox 5">
                      <a:extLst>
                        <a:ext uri="{FF2B5EF4-FFF2-40B4-BE49-F238E27FC236}">
                          <a16:creationId xmlns:a16="http://schemas.microsoft.com/office/drawing/2014/main" id="{3B6CAD0E-A1D9-56A1-E8C9-CD8AAD34173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75602" y="3874260"/>
                      <a:ext cx="789382" cy="37697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" name="TextBox 5">
                      <a:extLst>
                        <a:ext uri="{FF2B5EF4-FFF2-40B4-BE49-F238E27FC236}">
                          <a16:creationId xmlns:a16="http://schemas.microsoft.com/office/drawing/2014/main" id="{3B6CAD0E-A1D9-56A1-E8C9-CD8AAD34173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75602" y="3874260"/>
                      <a:ext cx="789382" cy="376976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b="-7895"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657EDB16-EB7D-5F92-6DF6-68734344F54B}"/>
                      </a:ext>
                    </a:extLst>
                  </p:cNvPr>
                  <p:cNvSpPr txBox="1"/>
                  <p:nvPr/>
                </p:nvSpPr>
                <p:spPr>
                  <a:xfrm>
                    <a:off x="2861667" y="1366150"/>
                    <a:ext cx="811160" cy="37697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657EDB16-EB7D-5F92-6DF6-68734344F54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1667" y="1366150"/>
                    <a:ext cx="811160" cy="37697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11ED9FE0-B0BC-DA60-3E11-3F57335791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22748" y="1845401"/>
                <a:ext cx="394747" cy="640296"/>
              </a:xfrm>
              <a:prstGeom prst="straightConnector1">
                <a:avLst/>
              </a:prstGeom>
              <a:ln w="38100">
                <a:solidFill>
                  <a:schemeClr val="tx1">
                    <a:alpha val="46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A889380-80CA-F1C2-97DD-B7550D295EB6}"/>
                    </a:ext>
                  </a:extLst>
                </p:cNvPr>
                <p:cNvSpPr txBox="1"/>
                <p:nvPr/>
              </p:nvSpPr>
              <p:spPr>
                <a:xfrm>
                  <a:off x="2761492" y="5528078"/>
                  <a:ext cx="4156310" cy="62408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2400" dirty="0"/>
                    <a:t>measure</a:t>
                  </a:r>
                  <a:r>
                    <a:rPr lang="en-US" sz="2400" dirty="0"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</m:oMath>
                  </a14:m>
                  <a:r>
                    <a:rPr lang="en-US" sz="2400" dirty="0">
                      <a:solidFill>
                        <a:schemeClr val="accent1"/>
                      </a:solidFill>
                    </a:rPr>
                    <a:t> </a:t>
                  </a:r>
                  <a:r>
                    <a:rPr lang="en-US" sz="2400" dirty="0"/>
                    <a:t>and say it’s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𝐽𝑇</m:t>
                          </m:r>
                        </m:sub>
                      </m:sSub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A889380-80CA-F1C2-97DD-B7550D295E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1492" y="5528078"/>
                  <a:ext cx="4156310" cy="624082"/>
                </a:xfrm>
                <a:prstGeom prst="rect">
                  <a:avLst/>
                </a:prstGeom>
                <a:blipFill>
                  <a:blip r:embed="rId6"/>
                  <a:stretch>
                    <a:fillRect l="-2432" b="-7843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95076B3-464D-C361-DD87-A3180BD113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7972" y="4497031"/>
              <a:ext cx="0" cy="942081"/>
            </a:xfrm>
            <a:prstGeom prst="straightConnector1">
              <a:avLst/>
            </a:prstGeom>
            <a:ln w="38100">
              <a:solidFill>
                <a:schemeClr val="tx1">
                  <a:alpha val="52352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87C3C7E-FDBF-BE90-31FF-D0C9090CFEF2}"/>
                  </a:ext>
                </a:extLst>
              </p:cNvPr>
              <p:cNvSpPr txBox="1"/>
              <p:nvPr/>
            </p:nvSpPr>
            <p:spPr>
              <a:xfrm>
                <a:off x="7635240" y="1851660"/>
                <a:ext cx="3703320" cy="1964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It’s reasonably obvious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𝐽𝑇</m:t>
                        </m:r>
                      </m:sub>
                    </m:sSub>
                  </m:oMath>
                </a14:m>
                <a:r>
                  <a:rPr lang="en-US" sz="2400" dirty="0"/>
                  <a:t> is related to the other slopes here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2400" dirty="0"/>
                  <a:t>), right? But what’s the exact relationship?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87C3C7E-FDBF-BE90-31FF-D0C9090CF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5240" y="1851660"/>
                <a:ext cx="3703320" cy="1964897"/>
              </a:xfrm>
              <a:prstGeom prst="rect">
                <a:avLst/>
              </a:prstGeom>
              <a:blipFill>
                <a:blip r:embed="rId7"/>
                <a:stretch>
                  <a:fillRect l="-2740" t="-1923" r="-1370" b="-6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59838A83-8F96-A420-8A9D-80DB2E296B93}"/>
              </a:ext>
            </a:extLst>
          </p:cNvPr>
          <p:cNvGrpSpPr/>
          <p:nvPr/>
        </p:nvGrpSpPr>
        <p:grpSpPr>
          <a:xfrm>
            <a:off x="3611880" y="3784573"/>
            <a:ext cx="720159" cy="984919"/>
            <a:chOff x="5583378" y="3966344"/>
            <a:chExt cx="720159" cy="98491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501524B-FF7D-55D6-50BD-AD120D0671F1}"/>
                </a:ext>
              </a:extLst>
            </p:cNvPr>
            <p:cNvGrpSpPr/>
            <p:nvPr/>
          </p:nvGrpSpPr>
          <p:grpSpPr>
            <a:xfrm>
              <a:off x="5583378" y="3966344"/>
              <a:ext cx="720159" cy="654779"/>
              <a:chOff x="5583378" y="3966344"/>
              <a:chExt cx="720159" cy="654779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12BF4CEA-E577-6DDF-1B48-2E3FF116D52B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flipH="1">
                <a:off x="5583378" y="3966344"/>
                <a:ext cx="136843" cy="654779"/>
              </a:xfrm>
              <a:prstGeom prst="line">
                <a:avLst/>
              </a:prstGeom>
              <a:ln w="63500">
                <a:solidFill>
                  <a:schemeClr val="accent1">
                    <a:alpha val="55000"/>
                  </a:schemeClr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9ABBECA6-6B06-1060-A56D-996E574807BB}"/>
                      </a:ext>
                    </a:extLst>
                  </p:cNvPr>
                  <p:cNvSpPr txBox="1"/>
                  <p:nvPr/>
                </p:nvSpPr>
                <p:spPr>
                  <a:xfrm>
                    <a:off x="5637740" y="4045124"/>
                    <a:ext cx="665797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1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1400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9ABBECA6-6B06-1060-A56D-996E574807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37740" y="4045124"/>
                    <a:ext cx="665797" cy="30777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068A5DA-FB10-A90E-6798-44F7322D6F09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>
                <a:off x="5695112" y="3991361"/>
                <a:ext cx="375270" cy="548889"/>
              </a:xfrm>
              <a:prstGeom prst="line">
                <a:avLst/>
              </a:prstGeom>
              <a:ln w="12700">
                <a:solidFill>
                  <a:schemeClr val="accent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62E6D28E-EB5B-5A86-0BE7-EB79578A68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35493" y="4570130"/>
                <a:ext cx="466912" cy="24229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089B680-B4ED-296F-681B-3D2972D177DF}"/>
                    </a:ext>
                  </a:extLst>
                </p:cNvPr>
                <p:cNvSpPr txBox="1"/>
                <p:nvPr/>
              </p:nvSpPr>
              <p:spPr>
                <a:xfrm>
                  <a:off x="5603184" y="4643486"/>
                  <a:ext cx="665797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1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en-US" sz="14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089B680-B4ED-296F-681B-3D2972D177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3184" y="4643486"/>
                  <a:ext cx="665797" cy="30777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45858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EE9BFE-0F8A-D446-8EB7-3B973FF0BA4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Today: The Adiabatic Joule-Thomson experiment 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03A09DB-9339-9448-9E0A-47E9ED687DA7}"/>
              </a:ext>
            </a:extLst>
          </p:cNvPr>
          <p:cNvGrpSpPr/>
          <p:nvPr/>
        </p:nvGrpSpPr>
        <p:grpSpPr>
          <a:xfrm>
            <a:off x="1145893" y="1158217"/>
            <a:ext cx="5648446" cy="4993943"/>
            <a:chOff x="1967695" y="1158217"/>
            <a:chExt cx="5648446" cy="499394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958426-B735-4864-ACA9-E3BE3CD95A0F}"/>
                </a:ext>
              </a:extLst>
            </p:cNvPr>
            <p:cNvGrpSpPr/>
            <p:nvPr/>
          </p:nvGrpSpPr>
          <p:grpSpPr>
            <a:xfrm>
              <a:off x="1967695" y="1158217"/>
              <a:ext cx="5648446" cy="3975583"/>
              <a:chOff x="1352874" y="1366150"/>
              <a:chExt cx="4882647" cy="3246288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8E69E9C0-B6D2-AB63-39E3-7012F53B05E5}"/>
                  </a:ext>
                </a:extLst>
              </p:cNvPr>
              <p:cNvGrpSpPr/>
              <p:nvPr/>
            </p:nvGrpSpPr>
            <p:grpSpPr>
              <a:xfrm>
                <a:off x="1352874" y="1641089"/>
                <a:ext cx="4882647" cy="2971349"/>
                <a:chOff x="1275602" y="2813065"/>
                <a:chExt cx="4882647" cy="2971349"/>
              </a:xfrm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A2BB9C56-E0F8-4B2A-D8DC-CF123EE2B548}"/>
                    </a:ext>
                  </a:extLst>
                </p:cNvPr>
                <p:cNvGrpSpPr/>
                <p:nvPr/>
              </p:nvGrpSpPr>
              <p:grpSpPr>
                <a:xfrm>
                  <a:off x="2146075" y="2813065"/>
                  <a:ext cx="4012174" cy="2971349"/>
                  <a:chOff x="2146075" y="2774428"/>
                  <a:chExt cx="4012174" cy="2971349"/>
                </a:xfrm>
              </p:grpSpPr>
              <p:pic>
                <p:nvPicPr>
                  <p:cNvPr id="2" name="Picture 1">
                    <a:extLst>
                      <a:ext uri="{FF2B5EF4-FFF2-40B4-BE49-F238E27FC236}">
                        <a16:creationId xmlns:a16="http://schemas.microsoft.com/office/drawing/2014/main" id="{C4B5A474-D98B-804E-7CDF-2FCEFF353F7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2235078" y="2774428"/>
                    <a:ext cx="3923171" cy="2971349"/>
                  </a:xfrm>
                  <a:prstGeom prst="rect">
                    <a:avLst/>
                  </a:prstGeom>
                </p:spPr>
              </p:pic>
              <p:cxnSp>
                <p:nvCxnSpPr>
                  <p:cNvPr id="12" name="Straight Arrow Connector 11">
                    <a:extLst>
                      <a:ext uri="{FF2B5EF4-FFF2-40B4-BE49-F238E27FC236}">
                        <a16:creationId xmlns:a16="http://schemas.microsoft.com/office/drawing/2014/main" id="{DC6E8F6A-46FA-DA28-919A-9A7C2D8AA70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146075" y="4134440"/>
                    <a:ext cx="898999" cy="5513"/>
                  </a:xfrm>
                  <a:prstGeom prst="straightConnector1">
                    <a:avLst/>
                  </a:prstGeom>
                  <a:ln w="38100">
                    <a:solidFill>
                      <a:schemeClr val="tx1">
                        <a:alpha val="42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" name="TextBox 5">
                      <a:extLst>
                        <a:ext uri="{FF2B5EF4-FFF2-40B4-BE49-F238E27FC236}">
                          <a16:creationId xmlns:a16="http://schemas.microsoft.com/office/drawing/2014/main" id="{3B6CAD0E-A1D9-56A1-E8C9-CD8AAD34173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75602" y="3874260"/>
                      <a:ext cx="789382" cy="37697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" name="TextBox 5">
                      <a:extLst>
                        <a:ext uri="{FF2B5EF4-FFF2-40B4-BE49-F238E27FC236}">
                          <a16:creationId xmlns:a16="http://schemas.microsoft.com/office/drawing/2014/main" id="{3B6CAD0E-A1D9-56A1-E8C9-CD8AAD34173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75602" y="3874260"/>
                      <a:ext cx="789382" cy="376976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b="-7895"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657EDB16-EB7D-5F92-6DF6-68734344F54B}"/>
                      </a:ext>
                    </a:extLst>
                  </p:cNvPr>
                  <p:cNvSpPr txBox="1"/>
                  <p:nvPr/>
                </p:nvSpPr>
                <p:spPr>
                  <a:xfrm>
                    <a:off x="2861667" y="1366150"/>
                    <a:ext cx="811160" cy="37697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657EDB16-EB7D-5F92-6DF6-68734344F54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1667" y="1366150"/>
                    <a:ext cx="811160" cy="376976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11ED9FE0-B0BC-DA60-3E11-3F57335791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22748" y="1845401"/>
                <a:ext cx="394747" cy="640296"/>
              </a:xfrm>
              <a:prstGeom prst="straightConnector1">
                <a:avLst/>
              </a:prstGeom>
              <a:ln w="38100">
                <a:solidFill>
                  <a:schemeClr val="tx1">
                    <a:alpha val="46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A889380-80CA-F1C2-97DD-B7550D295EB6}"/>
                    </a:ext>
                  </a:extLst>
                </p:cNvPr>
                <p:cNvSpPr txBox="1"/>
                <p:nvPr/>
              </p:nvSpPr>
              <p:spPr>
                <a:xfrm>
                  <a:off x="2761492" y="5528078"/>
                  <a:ext cx="4156310" cy="62408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2400" dirty="0"/>
                    <a:t>measure</a:t>
                  </a:r>
                  <a:r>
                    <a:rPr lang="en-US" sz="2400" dirty="0"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</m:oMath>
                  </a14:m>
                  <a:r>
                    <a:rPr lang="en-US" sz="2400" dirty="0"/>
                    <a:t> and say it’s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𝐽𝑇</m:t>
                          </m:r>
                        </m:sub>
                      </m:sSub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A889380-80CA-F1C2-97DD-B7550D295E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1492" y="5528078"/>
                  <a:ext cx="4156310" cy="624082"/>
                </a:xfrm>
                <a:prstGeom prst="rect">
                  <a:avLst/>
                </a:prstGeom>
                <a:blipFill>
                  <a:blip r:embed="rId5"/>
                  <a:stretch>
                    <a:fillRect l="-2432" b="-7843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95076B3-464D-C361-DD87-A3180BD113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7972" y="4497031"/>
              <a:ext cx="0" cy="942081"/>
            </a:xfrm>
            <a:prstGeom prst="straightConnector1">
              <a:avLst/>
            </a:prstGeom>
            <a:ln w="38100">
              <a:solidFill>
                <a:schemeClr val="tx1">
                  <a:alpha val="52352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87C3C7E-FDBF-BE90-31FF-D0C9090CFEF2}"/>
                  </a:ext>
                </a:extLst>
              </p:cNvPr>
              <p:cNvSpPr txBox="1"/>
              <p:nvPr/>
            </p:nvSpPr>
            <p:spPr>
              <a:xfrm>
                <a:off x="7635240" y="1851660"/>
                <a:ext cx="3703320" cy="30728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It’s reasonably obvious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𝐽𝑇</m:t>
                        </m:r>
                      </m:sub>
                    </m:sSub>
                  </m:oMath>
                </a14:m>
                <a:r>
                  <a:rPr lang="en-US" sz="2400" dirty="0"/>
                  <a:t> is related to the other slopes here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2400" dirty="0"/>
                  <a:t>), right? But what’s the exact relationship?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The </a:t>
                </a:r>
                <a:r>
                  <a:rPr lang="en-US" sz="2400" i="1" dirty="0"/>
                  <a:t>Euler Chain relation</a:t>
                </a:r>
                <a:r>
                  <a:rPr lang="en-US" sz="2400" dirty="0"/>
                  <a:t> to the rescue.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87C3C7E-FDBF-BE90-31FF-D0C9090CF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5240" y="1851660"/>
                <a:ext cx="3703320" cy="3072892"/>
              </a:xfrm>
              <a:prstGeom prst="rect">
                <a:avLst/>
              </a:prstGeom>
              <a:blipFill>
                <a:blip r:embed="rId6"/>
                <a:stretch>
                  <a:fillRect l="-2740" t="-1235" r="-1370" b="-3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05A4E311-6650-B376-6B5A-1070F45328B9}"/>
              </a:ext>
            </a:extLst>
          </p:cNvPr>
          <p:cNvGrpSpPr/>
          <p:nvPr/>
        </p:nvGrpSpPr>
        <p:grpSpPr>
          <a:xfrm>
            <a:off x="3611880" y="3784573"/>
            <a:ext cx="720159" cy="984919"/>
            <a:chOff x="5583378" y="3966344"/>
            <a:chExt cx="720159" cy="98491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5B0C143-D9DF-9F52-DFF8-3EDA86ACD278}"/>
                </a:ext>
              </a:extLst>
            </p:cNvPr>
            <p:cNvGrpSpPr/>
            <p:nvPr/>
          </p:nvGrpSpPr>
          <p:grpSpPr>
            <a:xfrm>
              <a:off x="5583378" y="3966344"/>
              <a:ext cx="720159" cy="654779"/>
              <a:chOff x="5583378" y="3966344"/>
              <a:chExt cx="720159" cy="654779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2E8B92D-00F8-9706-081D-66798962E5C0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flipH="1">
                <a:off x="5583378" y="3966344"/>
                <a:ext cx="136843" cy="654779"/>
              </a:xfrm>
              <a:prstGeom prst="line">
                <a:avLst/>
              </a:prstGeom>
              <a:ln w="63500">
                <a:solidFill>
                  <a:schemeClr val="accent1">
                    <a:alpha val="55000"/>
                  </a:schemeClr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231281FF-899A-861F-62F0-4EAE20975606}"/>
                      </a:ext>
                    </a:extLst>
                  </p:cNvPr>
                  <p:cNvSpPr txBox="1"/>
                  <p:nvPr/>
                </p:nvSpPr>
                <p:spPr>
                  <a:xfrm>
                    <a:off x="5637740" y="4045124"/>
                    <a:ext cx="665797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1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1400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231281FF-899A-861F-62F0-4EAE2097560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37740" y="4045124"/>
                    <a:ext cx="665797" cy="30777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9BEA83ED-52B0-FDF8-DD4C-B63A1042AA22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>
                <a:off x="5695112" y="3991361"/>
                <a:ext cx="375270" cy="548889"/>
              </a:xfrm>
              <a:prstGeom prst="line">
                <a:avLst/>
              </a:prstGeom>
              <a:ln w="12700">
                <a:solidFill>
                  <a:schemeClr val="accent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6035ACAC-4931-EE7B-44C3-231FF8BEBDD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35493" y="4570130"/>
                <a:ext cx="466912" cy="24229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BFC44447-A44A-0CD5-C263-7AF276EFACA7}"/>
                    </a:ext>
                  </a:extLst>
                </p:cNvPr>
                <p:cNvSpPr txBox="1"/>
                <p:nvPr/>
              </p:nvSpPr>
              <p:spPr>
                <a:xfrm>
                  <a:off x="5603184" y="4643486"/>
                  <a:ext cx="665797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1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en-US" sz="14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BFC44447-A44A-0CD5-C263-7AF276EFAC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3184" y="4643486"/>
                  <a:ext cx="665797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2174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C4D51AB-942B-FC45-BC1E-A73EAE9C61B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Euler Chain Relation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652AF4-3FF9-DA35-3177-59B469B63F87}"/>
              </a:ext>
            </a:extLst>
          </p:cNvPr>
          <p:cNvSpPr txBox="1"/>
          <p:nvPr/>
        </p:nvSpPr>
        <p:spPr>
          <a:xfrm>
            <a:off x="162046" y="673406"/>
            <a:ext cx="7786868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The </a:t>
            </a:r>
            <a:r>
              <a:rPr lang="en-US" sz="2400" b="1" dirty="0"/>
              <a:t>Euler Chain Relation </a:t>
            </a:r>
            <a:r>
              <a:rPr lang="en-US" sz="2400" dirty="0"/>
              <a:t>connects slopes to each other.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EBDA70-8509-CF6D-629B-753C5B72E38F}"/>
                  </a:ext>
                </a:extLst>
              </p:cNvPr>
              <p:cNvSpPr txBox="1"/>
              <p:nvPr/>
            </p:nvSpPr>
            <p:spPr>
              <a:xfrm>
                <a:off x="7984600" y="639275"/>
                <a:ext cx="3536067" cy="145623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num>
                                <m:den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num>
                                    <m:den>
                                      <m:r>
                                        <a:rPr lang="en-US" sz="2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num>
                                    <m:den>
                                      <m:r>
                                        <a:rPr lang="en-US" sz="2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EBDA70-8509-CF6D-629B-753C5B72E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600" y="639275"/>
                <a:ext cx="3536067" cy="1456232"/>
              </a:xfrm>
              <a:prstGeom prst="rect">
                <a:avLst/>
              </a:prstGeom>
              <a:blipFill>
                <a:blip r:embed="rId4"/>
                <a:stretch>
                  <a:fillRect b="-85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9461249-1080-497A-1F72-1407CCF0F0D5}"/>
              </a:ext>
            </a:extLst>
          </p:cNvPr>
          <p:cNvCxnSpPr>
            <a:cxnSpLocks/>
          </p:cNvCxnSpPr>
          <p:nvPr/>
        </p:nvCxnSpPr>
        <p:spPr>
          <a:xfrm>
            <a:off x="7347031" y="937549"/>
            <a:ext cx="1056189" cy="300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BA16F99-F21F-0409-F5F1-72B890CF2FC1}"/>
              </a:ext>
            </a:extLst>
          </p:cNvPr>
          <p:cNvGrpSpPr/>
          <p:nvPr/>
        </p:nvGrpSpPr>
        <p:grpSpPr>
          <a:xfrm>
            <a:off x="162046" y="1967694"/>
            <a:ext cx="6476418" cy="1320800"/>
            <a:chOff x="162046" y="1967694"/>
            <a:chExt cx="6476418" cy="13208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08F4ACD-7DB8-2975-BD03-41289E3B22EF}"/>
                    </a:ext>
                  </a:extLst>
                </p:cNvPr>
                <p:cNvSpPr txBox="1"/>
                <p:nvPr/>
              </p:nvSpPr>
              <p:spPr>
                <a:xfrm>
                  <a:off x="162046" y="2107727"/>
                  <a:ext cx="6476418" cy="10407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2400" dirty="0"/>
                    <a:t>Example: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num>
                                    <m:den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num>
                                    <m:den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den>
                      </m:f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08F4ACD-7DB8-2975-BD03-41289E3B22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046" y="2107727"/>
                  <a:ext cx="6476418" cy="1040734"/>
                </a:xfrm>
                <a:prstGeom prst="rect">
                  <a:avLst/>
                </a:prstGeom>
                <a:blipFill>
                  <a:blip r:embed="rId5"/>
                  <a:stretch>
                    <a:fillRect l="-1370" b="-243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F2B17F5-DF5B-8889-E10B-976C99B63D5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41071" y="1967694"/>
              <a:ext cx="1409700" cy="1320800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00A8959-04C9-6A1F-51F6-CFEA4DC616A3}"/>
              </a:ext>
            </a:extLst>
          </p:cNvPr>
          <p:cNvGrpSpPr/>
          <p:nvPr/>
        </p:nvGrpSpPr>
        <p:grpSpPr>
          <a:xfrm>
            <a:off x="162046" y="3460717"/>
            <a:ext cx="6476418" cy="1320800"/>
            <a:chOff x="162046" y="3460717"/>
            <a:chExt cx="6476418" cy="13208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49B82D1-5455-A171-1570-A8A1CD4E10D5}"/>
                    </a:ext>
                  </a:extLst>
                </p:cNvPr>
                <p:cNvSpPr txBox="1"/>
                <p:nvPr/>
              </p:nvSpPr>
              <p:spPr>
                <a:xfrm>
                  <a:off x="162046" y="3709540"/>
                  <a:ext cx="6476418" cy="10407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2400" dirty="0"/>
                    <a:t>Example: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num>
                                <m:den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num>
                                    <m:den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num>
                                    <m:den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den>
                      </m:f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49B82D1-5455-A171-1570-A8A1CD4E10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046" y="3709540"/>
                  <a:ext cx="6476418" cy="1040734"/>
                </a:xfrm>
                <a:prstGeom prst="rect">
                  <a:avLst/>
                </a:prstGeom>
                <a:blipFill>
                  <a:blip r:embed="rId7"/>
                  <a:stretch>
                    <a:fillRect l="-1370" b="-243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8D4B650-7D39-994F-97E8-EF398BE7CA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41071" y="3460717"/>
              <a:ext cx="1409700" cy="13208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DC258CC-07D5-A31A-672C-29E740EFAFA5}"/>
                  </a:ext>
                </a:extLst>
              </p:cNvPr>
              <p:cNvSpPr txBox="1"/>
              <p:nvPr/>
            </p:nvSpPr>
            <p:spPr>
              <a:xfrm>
                <a:off x="162046" y="5311353"/>
                <a:ext cx="6476418" cy="6931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𝐽𝑇</m:t>
                            </m:r>
                          </m:sub>
                        </m:s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d>
                          <m:d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num>
                              <m:den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DC258CC-07D5-A31A-672C-29E740EFA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46" y="5311353"/>
                <a:ext cx="6476418" cy="693138"/>
              </a:xfrm>
              <a:prstGeom prst="rect">
                <a:avLst/>
              </a:prstGeom>
              <a:blipFill>
                <a:blip r:embed="rId8"/>
                <a:stretch>
                  <a:fillRect l="-1370" b="-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8517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C4D51AB-942B-FC45-BC1E-A73EAE9C61B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Euler Chain Relation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652AF4-3FF9-DA35-3177-59B469B63F87}"/>
              </a:ext>
            </a:extLst>
          </p:cNvPr>
          <p:cNvSpPr txBox="1"/>
          <p:nvPr/>
        </p:nvSpPr>
        <p:spPr>
          <a:xfrm>
            <a:off x="162046" y="673406"/>
            <a:ext cx="7786868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The </a:t>
            </a:r>
            <a:r>
              <a:rPr lang="en-US" sz="2400" b="1" dirty="0"/>
              <a:t>Euler Chain Relation </a:t>
            </a:r>
            <a:r>
              <a:rPr lang="en-US" sz="2400" dirty="0"/>
              <a:t>connects slopes to each other.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EBDA70-8509-CF6D-629B-753C5B72E38F}"/>
                  </a:ext>
                </a:extLst>
              </p:cNvPr>
              <p:cNvSpPr txBox="1"/>
              <p:nvPr/>
            </p:nvSpPr>
            <p:spPr>
              <a:xfrm>
                <a:off x="7984600" y="639275"/>
                <a:ext cx="3536067" cy="145623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num>
                                <m:den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num>
                                    <m:den>
                                      <m:r>
                                        <a:rPr lang="en-US" sz="2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num>
                                    <m:den>
                                      <m:r>
                                        <a:rPr lang="en-US" sz="2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EBDA70-8509-CF6D-629B-753C5B72E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600" y="639275"/>
                <a:ext cx="3536067" cy="1456232"/>
              </a:xfrm>
              <a:prstGeom prst="rect">
                <a:avLst/>
              </a:prstGeom>
              <a:blipFill>
                <a:blip r:embed="rId3"/>
                <a:stretch>
                  <a:fillRect b="-85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9461249-1080-497A-1F72-1407CCF0F0D5}"/>
              </a:ext>
            </a:extLst>
          </p:cNvPr>
          <p:cNvCxnSpPr>
            <a:cxnSpLocks/>
          </p:cNvCxnSpPr>
          <p:nvPr/>
        </p:nvCxnSpPr>
        <p:spPr>
          <a:xfrm>
            <a:off x="7347031" y="937549"/>
            <a:ext cx="1056189" cy="300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08F4ACD-7DB8-2975-BD03-41289E3B22EF}"/>
                  </a:ext>
                </a:extLst>
              </p:cNvPr>
              <p:cNvSpPr txBox="1"/>
              <p:nvPr/>
            </p:nvSpPr>
            <p:spPr>
              <a:xfrm>
                <a:off x="162046" y="2107727"/>
                <a:ext cx="6476418" cy="10407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num>
                              <m:den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08F4ACD-7DB8-2975-BD03-41289E3B2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46" y="2107727"/>
                <a:ext cx="6476418" cy="1040734"/>
              </a:xfrm>
              <a:prstGeom prst="rect">
                <a:avLst/>
              </a:prstGeom>
              <a:blipFill>
                <a:blip r:embed="rId4"/>
                <a:stretch>
                  <a:fillRect l="-1370" b="-24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B00A8959-04C9-6A1F-51F6-CFEA4DC616A3}"/>
              </a:ext>
            </a:extLst>
          </p:cNvPr>
          <p:cNvGrpSpPr/>
          <p:nvPr/>
        </p:nvGrpSpPr>
        <p:grpSpPr>
          <a:xfrm>
            <a:off x="162046" y="3460717"/>
            <a:ext cx="6476418" cy="1320800"/>
            <a:chOff x="162046" y="3460717"/>
            <a:chExt cx="6476418" cy="13208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49B82D1-5455-A171-1570-A8A1CD4E10D5}"/>
                    </a:ext>
                  </a:extLst>
                </p:cNvPr>
                <p:cNvSpPr txBox="1"/>
                <p:nvPr/>
              </p:nvSpPr>
              <p:spPr>
                <a:xfrm>
                  <a:off x="162046" y="3709540"/>
                  <a:ext cx="6476418" cy="10407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2400" dirty="0"/>
                    <a:t>Example: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num>
                                <m:den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num>
                                    <m:den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num>
                                    <m:den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den>
                      </m:f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49B82D1-5455-A171-1570-A8A1CD4E10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046" y="3709540"/>
                  <a:ext cx="6476418" cy="1040734"/>
                </a:xfrm>
                <a:prstGeom prst="rect">
                  <a:avLst/>
                </a:prstGeom>
                <a:blipFill>
                  <a:blip r:embed="rId5"/>
                  <a:stretch>
                    <a:fillRect l="-1370" b="-243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8D4B650-7D39-994F-97E8-EF398BE7CA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41071" y="3460717"/>
              <a:ext cx="1409700" cy="13208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EDD3DB6-04BD-9B88-37DA-4CB551812599}"/>
                  </a:ext>
                </a:extLst>
              </p:cNvPr>
              <p:cNvSpPr txBox="1"/>
              <p:nvPr/>
            </p:nvSpPr>
            <p:spPr>
              <a:xfrm>
                <a:off x="162046" y="5311353"/>
                <a:ext cx="6476418" cy="6931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𝐽𝑇</m:t>
                            </m:r>
                          </m:sub>
                        </m:s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d>
                          <m:d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num>
                              <m:den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EDD3DB6-04BD-9B88-37DA-4CB551812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46" y="5311353"/>
                <a:ext cx="6476418" cy="693138"/>
              </a:xfrm>
              <a:prstGeom prst="rect">
                <a:avLst/>
              </a:prstGeom>
              <a:blipFill>
                <a:blip r:embed="rId7"/>
                <a:stretch>
                  <a:fillRect l="-1370" b="-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1710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C4D51AB-942B-FC45-BC1E-A73EAE9C61B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Euler Chain Relation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652AF4-3FF9-DA35-3177-59B469B63F87}"/>
              </a:ext>
            </a:extLst>
          </p:cNvPr>
          <p:cNvSpPr txBox="1"/>
          <p:nvPr/>
        </p:nvSpPr>
        <p:spPr>
          <a:xfrm>
            <a:off x="162046" y="673406"/>
            <a:ext cx="7786868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The </a:t>
            </a:r>
            <a:r>
              <a:rPr lang="en-US" sz="2400" b="1" dirty="0"/>
              <a:t>Euler Chain Relation </a:t>
            </a:r>
            <a:r>
              <a:rPr lang="en-US" sz="2400" dirty="0"/>
              <a:t>connects slopes to each other.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EBDA70-8509-CF6D-629B-753C5B72E38F}"/>
                  </a:ext>
                </a:extLst>
              </p:cNvPr>
              <p:cNvSpPr txBox="1"/>
              <p:nvPr/>
            </p:nvSpPr>
            <p:spPr>
              <a:xfrm>
                <a:off x="7984600" y="639275"/>
                <a:ext cx="3536067" cy="145623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num>
                                <m:den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num>
                                    <m:den>
                                      <m:r>
                                        <a:rPr lang="en-US" sz="2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num>
                                    <m:den>
                                      <m:r>
                                        <a:rPr lang="en-US" sz="2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EBDA70-8509-CF6D-629B-753C5B72E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600" y="639275"/>
                <a:ext cx="3536067" cy="1456232"/>
              </a:xfrm>
              <a:prstGeom prst="rect">
                <a:avLst/>
              </a:prstGeom>
              <a:blipFill>
                <a:blip r:embed="rId3"/>
                <a:stretch>
                  <a:fillRect b="-85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9461249-1080-497A-1F72-1407CCF0F0D5}"/>
              </a:ext>
            </a:extLst>
          </p:cNvPr>
          <p:cNvCxnSpPr>
            <a:cxnSpLocks/>
          </p:cNvCxnSpPr>
          <p:nvPr/>
        </p:nvCxnSpPr>
        <p:spPr>
          <a:xfrm>
            <a:off x="7347031" y="937549"/>
            <a:ext cx="1056189" cy="300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08F4ACD-7DB8-2975-BD03-41289E3B22EF}"/>
                  </a:ext>
                </a:extLst>
              </p:cNvPr>
              <p:cNvSpPr txBox="1"/>
              <p:nvPr/>
            </p:nvSpPr>
            <p:spPr>
              <a:xfrm>
                <a:off x="162046" y="2107727"/>
                <a:ext cx="6476418" cy="10407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num>
                              <m:den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08F4ACD-7DB8-2975-BD03-41289E3B2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46" y="2107727"/>
                <a:ext cx="6476418" cy="1040734"/>
              </a:xfrm>
              <a:prstGeom prst="rect">
                <a:avLst/>
              </a:prstGeom>
              <a:blipFill>
                <a:blip r:embed="rId4"/>
                <a:stretch>
                  <a:fillRect l="-1370" b="-24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49B82D1-5455-A171-1570-A8A1CD4E10D5}"/>
                  </a:ext>
                </a:extLst>
              </p:cNvPr>
              <p:cNvSpPr txBox="1"/>
              <p:nvPr/>
            </p:nvSpPr>
            <p:spPr>
              <a:xfrm>
                <a:off x="162046" y="3709540"/>
                <a:ext cx="6476418" cy="10407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num>
                              <m:den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49B82D1-5455-A171-1570-A8A1CD4E1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46" y="3709540"/>
                <a:ext cx="6476418" cy="1040734"/>
              </a:xfrm>
              <a:prstGeom prst="rect">
                <a:avLst/>
              </a:prstGeom>
              <a:blipFill>
                <a:blip r:embed="rId5"/>
                <a:stretch>
                  <a:fillRect l="-1370" b="-24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5F2B17F5-DF5B-8889-E10B-976C99B63D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1150" y="2768600"/>
            <a:ext cx="1409700" cy="1320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BD4462E-7F70-49CA-D5E5-95B455F6CEBB}"/>
                  </a:ext>
                </a:extLst>
              </p:cNvPr>
              <p:cNvSpPr txBox="1"/>
              <p:nvPr/>
            </p:nvSpPr>
            <p:spPr>
              <a:xfrm>
                <a:off x="162046" y="5311353"/>
                <a:ext cx="6476418" cy="6931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𝐽𝑇</m:t>
                            </m:r>
                          </m:sub>
                        </m:s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d>
                          <m:d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num>
                              <m:den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BD4462E-7F70-49CA-D5E5-95B455F6C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46" y="5311353"/>
                <a:ext cx="6476418" cy="693138"/>
              </a:xfrm>
              <a:prstGeom prst="rect">
                <a:avLst/>
              </a:prstGeom>
              <a:blipFill>
                <a:blip r:embed="rId7"/>
                <a:stretch>
                  <a:fillRect l="-1370" b="-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6524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C4D51AB-942B-FC45-BC1E-A73EAE9C61B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Euler Chain Relation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652AF4-3FF9-DA35-3177-59B469B63F87}"/>
              </a:ext>
            </a:extLst>
          </p:cNvPr>
          <p:cNvSpPr txBox="1"/>
          <p:nvPr/>
        </p:nvSpPr>
        <p:spPr>
          <a:xfrm>
            <a:off x="162046" y="673406"/>
            <a:ext cx="7786868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The </a:t>
            </a:r>
            <a:r>
              <a:rPr lang="en-US" sz="2400" b="1" dirty="0"/>
              <a:t>Euler Chain Relation </a:t>
            </a:r>
            <a:r>
              <a:rPr lang="en-US" sz="2400" dirty="0"/>
              <a:t>connects slopes to each other.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EBDA70-8509-CF6D-629B-753C5B72E38F}"/>
                  </a:ext>
                </a:extLst>
              </p:cNvPr>
              <p:cNvSpPr txBox="1"/>
              <p:nvPr/>
            </p:nvSpPr>
            <p:spPr>
              <a:xfrm>
                <a:off x="7984600" y="639275"/>
                <a:ext cx="3536067" cy="145623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num>
                                <m:den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num>
                                    <m:den>
                                      <m:r>
                                        <a:rPr lang="en-US" sz="2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num>
                                    <m:den>
                                      <m:r>
                                        <a:rPr lang="en-US" sz="2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EBDA70-8509-CF6D-629B-753C5B72E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600" y="639275"/>
                <a:ext cx="3536067" cy="1456232"/>
              </a:xfrm>
              <a:prstGeom prst="rect">
                <a:avLst/>
              </a:prstGeom>
              <a:blipFill>
                <a:blip r:embed="rId3"/>
                <a:stretch>
                  <a:fillRect b="-85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9461249-1080-497A-1F72-1407CCF0F0D5}"/>
              </a:ext>
            </a:extLst>
          </p:cNvPr>
          <p:cNvCxnSpPr>
            <a:cxnSpLocks/>
          </p:cNvCxnSpPr>
          <p:nvPr/>
        </p:nvCxnSpPr>
        <p:spPr>
          <a:xfrm>
            <a:off x="7347031" y="937549"/>
            <a:ext cx="1056189" cy="300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08F4ACD-7DB8-2975-BD03-41289E3B22EF}"/>
                  </a:ext>
                </a:extLst>
              </p:cNvPr>
              <p:cNvSpPr txBox="1"/>
              <p:nvPr/>
            </p:nvSpPr>
            <p:spPr>
              <a:xfrm>
                <a:off x="162046" y="2107727"/>
                <a:ext cx="6476418" cy="10407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num>
                              <m:den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08F4ACD-7DB8-2975-BD03-41289E3B2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46" y="2107727"/>
                <a:ext cx="6476418" cy="1040734"/>
              </a:xfrm>
              <a:prstGeom prst="rect">
                <a:avLst/>
              </a:prstGeom>
              <a:blipFill>
                <a:blip r:embed="rId4"/>
                <a:stretch>
                  <a:fillRect l="-1370" b="-24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49B82D1-5455-A171-1570-A8A1CD4E10D5}"/>
                  </a:ext>
                </a:extLst>
              </p:cNvPr>
              <p:cNvSpPr txBox="1"/>
              <p:nvPr/>
            </p:nvSpPr>
            <p:spPr>
              <a:xfrm>
                <a:off x="162046" y="3709540"/>
                <a:ext cx="6476418" cy="10407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num>
                              <m:den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49B82D1-5455-A171-1570-A8A1CD4E1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46" y="3709540"/>
                <a:ext cx="6476418" cy="1040734"/>
              </a:xfrm>
              <a:prstGeom prst="rect">
                <a:avLst/>
              </a:prstGeom>
              <a:blipFill>
                <a:blip r:embed="rId5"/>
                <a:stretch>
                  <a:fillRect l="-1370" b="-24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5F2B17F5-DF5B-8889-E10B-976C99B63D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1150" y="2768600"/>
            <a:ext cx="1409700" cy="1320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3566A1C-2B0C-94F8-98E3-582EFD021372}"/>
                  </a:ext>
                </a:extLst>
              </p:cNvPr>
              <p:cNvSpPr txBox="1"/>
              <p:nvPr/>
            </p:nvSpPr>
            <p:spPr>
              <a:xfrm>
                <a:off x="162046" y="5117043"/>
                <a:ext cx="6476418" cy="10407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𝐽𝑇</m:t>
                            </m:r>
                          </m:sub>
                        </m:s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d>
                          <m:d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num>
                              <m:den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3566A1C-2B0C-94F8-98E3-582EFD021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46" y="5117043"/>
                <a:ext cx="6476418" cy="1040734"/>
              </a:xfrm>
              <a:prstGeom prst="rect">
                <a:avLst/>
              </a:prstGeom>
              <a:blipFill>
                <a:blip r:embed="rId7"/>
                <a:stretch>
                  <a:fillRect l="-1370" b="-24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8361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C4D51AB-942B-FC45-BC1E-A73EAE9C61B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Euler Chain Relation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652AF4-3FF9-DA35-3177-59B469B63F87}"/>
              </a:ext>
            </a:extLst>
          </p:cNvPr>
          <p:cNvSpPr txBox="1"/>
          <p:nvPr/>
        </p:nvSpPr>
        <p:spPr>
          <a:xfrm>
            <a:off x="162046" y="673406"/>
            <a:ext cx="7786868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The </a:t>
            </a:r>
            <a:r>
              <a:rPr lang="en-US" sz="2400" b="1" dirty="0"/>
              <a:t>Euler Chain Relation </a:t>
            </a:r>
            <a:r>
              <a:rPr lang="en-US" sz="2400" dirty="0"/>
              <a:t>connects slopes to each other.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EBDA70-8509-CF6D-629B-753C5B72E38F}"/>
                  </a:ext>
                </a:extLst>
              </p:cNvPr>
              <p:cNvSpPr txBox="1"/>
              <p:nvPr/>
            </p:nvSpPr>
            <p:spPr>
              <a:xfrm>
                <a:off x="7984600" y="639275"/>
                <a:ext cx="3536067" cy="145623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num>
                                <m:den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num>
                                    <m:den>
                                      <m:r>
                                        <a:rPr lang="en-US" sz="2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num>
                                    <m:den>
                                      <m:r>
                                        <a:rPr lang="en-US" sz="2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EBDA70-8509-CF6D-629B-753C5B72E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600" y="639275"/>
                <a:ext cx="3536067" cy="1456232"/>
              </a:xfrm>
              <a:prstGeom prst="rect">
                <a:avLst/>
              </a:prstGeom>
              <a:blipFill>
                <a:blip r:embed="rId3"/>
                <a:stretch>
                  <a:fillRect b="-85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9461249-1080-497A-1F72-1407CCF0F0D5}"/>
              </a:ext>
            </a:extLst>
          </p:cNvPr>
          <p:cNvCxnSpPr>
            <a:cxnSpLocks/>
          </p:cNvCxnSpPr>
          <p:nvPr/>
        </p:nvCxnSpPr>
        <p:spPr>
          <a:xfrm>
            <a:off x="7347031" y="937549"/>
            <a:ext cx="1056189" cy="300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08F4ACD-7DB8-2975-BD03-41289E3B22EF}"/>
                  </a:ext>
                </a:extLst>
              </p:cNvPr>
              <p:cNvSpPr txBox="1"/>
              <p:nvPr/>
            </p:nvSpPr>
            <p:spPr>
              <a:xfrm>
                <a:off x="162046" y="2107727"/>
                <a:ext cx="6476418" cy="10407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num>
                              <m:den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08F4ACD-7DB8-2975-BD03-41289E3B2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46" y="2107727"/>
                <a:ext cx="6476418" cy="1040734"/>
              </a:xfrm>
              <a:prstGeom prst="rect">
                <a:avLst/>
              </a:prstGeom>
              <a:blipFill>
                <a:blip r:embed="rId4"/>
                <a:stretch>
                  <a:fillRect l="-1370" b="-24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49B82D1-5455-A171-1570-A8A1CD4E10D5}"/>
                  </a:ext>
                </a:extLst>
              </p:cNvPr>
              <p:cNvSpPr txBox="1"/>
              <p:nvPr/>
            </p:nvSpPr>
            <p:spPr>
              <a:xfrm>
                <a:off x="162046" y="3709540"/>
                <a:ext cx="6476418" cy="10407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num>
                              <m:den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49B82D1-5455-A171-1570-A8A1CD4E1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46" y="3709540"/>
                <a:ext cx="6476418" cy="1040734"/>
              </a:xfrm>
              <a:prstGeom prst="rect">
                <a:avLst/>
              </a:prstGeom>
              <a:blipFill>
                <a:blip r:embed="rId5"/>
                <a:stretch>
                  <a:fillRect l="-1370" b="-24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5F2B17F5-DF5B-8889-E10B-976C99B63D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1150" y="2768600"/>
            <a:ext cx="1409700" cy="1320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3566A1C-2B0C-94F8-98E3-582EFD021372}"/>
                  </a:ext>
                </a:extLst>
              </p:cNvPr>
              <p:cNvSpPr txBox="1"/>
              <p:nvPr/>
            </p:nvSpPr>
            <p:spPr>
              <a:xfrm>
                <a:off x="162046" y="5117043"/>
                <a:ext cx="6476418" cy="10407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𝐽𝑇</m:t>
                            </m:r>
                          </m:sub>
                        </m:s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d>
                          <m:d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num>
                              <m:den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3566A1C-2B0C-94F8-98E3-582EFD021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46" y="5117043"/>
                <a:ext cx="6476418" cy="1040734"/>
              </a:xfrm>
              <a:prstGeom prst="rect">
                <a:avLst/>
              </a:prstGeom>
              <a:blipFill>
                <a:blip r:embed="rId7"/>
                <a:stretch>
                  <a:fillRect l="-1370" b="-24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2059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Using the Euler Chain Relation to get an experimental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en-US" sz="2400" b="1" dirty="0"/>
                  <a:t> from a Joule-Thomson expt.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3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B652AF4-3FF9-DA35-3177-59B469B63F87}"/>
              </a:ext>
            </a:extLst>
          </p:cNvPr>
          <p:cNvSpPr txBox="1"/>
          <p:nvPr/>
        </p:nvSpPr>
        <p:spPr>
          <a:xfrm>
            <a:off x="162046" y="673406"/>
            <a:ext cx="7786868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The </a:t>
            </a:r>
            <a:r>
              <a:rPr lang="en-US" sz="2400" b="1" dirty="0"/>
              <a:t>Euler Chain Relation </a:t>
            </a:r>
            <a:r>
              <a:rPr lang="en-US" sz="2400" dirty="0"/>
              <a:t>connects slopes to each other.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EBDA70-8509-CF6D-629B-753C5B72E38F}"/>
                  </a:ext>
                </a:extLst>
              </p:cNvPr>
              <p:cNvSpPr txBox="1"/>
              <p:nvPr/>
            </p:nvSpPr>
            <p:spPr>
              <a:xfrm>
                <a:off x="7984600" y="639275"/>
                <a:ext cx="3536067" cy="145623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num>
                                <m:den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num>
                                    <m:den>
                                      <m:r>
                                        <a:rPr lang="en-US" sz="2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num>
                                    <m:den>
                                      <m:r>
                                        <a:rPr lang="en-US" sz="2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EBDA70-8509-CF6D-629B-753C5B72E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600" y="639275"/>
                <a:ext cx="3536067" cy="1456232"/>
              </a:xfrm>
              <a:prstGeom prst="rect">
                <a:avLst/>
              </a:prstGeom>
              <a:blipFill>
                <a:blip r:embed="rId4"/>
                <a:stretch>
                  <a:fillRect b="-85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9461249-1080-497A-1F72-1407CCF0F0D5}"/>
              </a:ext>
            </a:extLst>
          </p:cNvPr>
          <p:cNvCxnSpPr>
            <a:cxnSpLocks/>
          </p:cNvCxnSpPr>
          <p:nvPr/>
        </p:nvCxnSpPr>
        <p:spPr>
          <a:xfrm>
            <a:off x="7347031" y="937549"/>
            <a:ext cx="1056189" cy="300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08F4ACD-7DB8-2975-BD03-41289E3B22EF}"/>
                  </a:ext>
                </a:extLst>
              </p:cNvPr>
              <p:cNvSpPr txBox="1"/>
              <p:nvPr/>
            </p:nvSpPr>
            <p:spPr>
              <a:xfrm>
                <a:off x="162046" y="2107727"/>
                <a:ext cx="6476418" cy="10407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num>
                              <m:den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08F4ACD-7DB8-2975-BD03-41289E3B2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46" y="2107727"/>
                <a:ext cx="6476418" cy="1040734"/>
              </a:xfrm>
              <a:prstGeom prst="rect">
                <a:avLst/>
              </a:prstGeom>
              <a:blipFill>
                <a:blip r:embed="rId5"/>
                <a:stretch>
                  <a:fillRect l="-1370" b="-24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49B82D1-5455-A171-1570-A8A1CD4E10D5}"/>
                  </a:ext>
                </a:extLst>
              </p:cNvPr>
              <p:cNvSpPr txBox="1"/>
              <p:nvPr/>
            </p:nvSpPr>
            <p:spPr>
              <a:xfrm>
                <a:off x="162046" y="3709540"/>
                <a:ext cx="6476418" cy="10407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num>
                              <m:den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49B82D1-5455-A171-1570-A8A1CD4E1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46" y="3709540"/>
                <a:ext cx="6476418" cy="1040734"/>
              </a:xfrm>
              <a:prstGeom prst="rect">
                <a:avLst/>
              </a:prstGeom>
              <a:blipFill>
                <a:blip r:embed="rId6"/>
                <a:stretch>
                  <a:fillRect l="-1370" b="-24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5F2B17F5-DF5B-8889-E10B-976C99B63D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1150" y="2768600"/>
            <a:ext cx="1409700" cy="1320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3566A1C-2B0C-94F8-98E3-582EFD021372}"/>
                  </a:ext>
                </a:extLst>
              </p:cNvPr>
              <p:cNvSpPr txBox="1"/>
              <p:nvPr/>
            </p:nvSpPr>
            <p:spPr>
              <a:xfrm>
                <a:off x="162046" y="5117043"/>
                <a:ext cx="6476418" cy="10407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𝐽𝑇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num>
                              <m:den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3566A1C-2B0C-94F8-98E3-582EFD021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46" y="5117043"/>
                <a:ext cx="6476418" cy="1040734"/>
              </a:xfrm>
              <a:prstGeom prst="rect">
                <a:avLst/>
              </a:prstGeom>
              <a:blipFill>
                <a:blip r:embed="rId8"/>
                <a:stretch>
                  <a:fillRect l="-1370" b="-24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87BCCA-F870-21BA-C222-AB5CA80EE40F}"/>
                  </a:ext>
                </a:extLst>
              </p:cNvPr>
              <p:cNvSpPr txBox="1"/>
              <p:nvPr/>
            </p:nvSpPr>
            <p:spPr>
              <a:xfrm>
                <a:off x="6800850" y="5439818"/>
                <a:ext cx="4548367" cy="4875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𝐽𝑇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87BCCA-F870-21BA-C222-AB5CA80EE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0850" y="5439818"/>
                <a:ext cx="4548367" cy="487569"/>
              </a:xfrm>
              <a:prstGeom prst="rect">
                <a:avLst/>
              </a:prstGeom>
              <a:blipFill>
                <a:blip r:embed="rId9"/>
                <a:stretch>
                  <a:fillRect b="-769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9590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C294710E-3882-6E8F-C647-D8D00CE06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77" y="2066113"/>
            <a:ext cx="4047518" cy="30655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Using the Euler Chain Relation to get an experimental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en-US" sz="2400" b="1" dirty="0"/>
                  <a:t> from a Joule-Thomson expt.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4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B652AF4-3FF9-DA35-3177-59B469B63F87}"/>
              </a:ext>
            </a:extLst>
          </p:cNvPr>
          <p:cNvSpPr txBox="1"/>
          <p:nvPr/>
        </p:nvSpPr>
        <p:spPr>
          <a:xfrm>
            <a:off x="162046" y="673406"/>
            <a:ext cx="7786868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The </a:t>
            </a:r>
            <a:r>
              <a:rPr lang="en-US" sz="2400" b="1" dirty="0"/>
              <a:t>Euler Chain Relation </a:t>
            </a:r>
            <a:r>
              <a:rPr lang="en-US" sz="2400" dirty="0"/>
              <a:t>connects slopes to each other.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EBDA70-8509-CF6D-629B-753C5B72E38F}"/>
                  </a:ext>
                </a:extLst>
              </p:cNvPr>
              <p:cNvSpPr txBox="1"/>
              <p:nvPr/>
            </p:nvSpPr>
            <p:spPr>
              <a:xfrm>
                <a:off x="7984600" y="639275"/>
                <a:ext cx="3536067" cy="145623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num>
                                <m:den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num>
                                    <m:den>
                                      <m:r>
                                        <a:rPr lang="en-US" sz="2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num>
                                    <m:den>
                                      <m:r>
                                        <a:rPr lang="en-US" sz="24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EBDA70-8509-CF6D-629B-753C5B72E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600" y="639275"/>
                <a:ext cx="3536067" cy="1456232"/>
              </a:xfrm>
              <a:prstGeom prst="rect">
                <a:avLst/>
              </a:prstGeom>
              <a:blipFill>
                <a:blip r:embed="rId5"/>
                <a:stretch>
                  <a:fillRect b="-85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9461249-1080-497A-1F72-1407CCF0F0D5}"/>
              </a:ext>
            </a:extLst>
          </p:cNvPr>
          <p:cNvCxnSpPr>
            <a:cxnSpLocks/>
          </p:cNvCxnSpPr>
          <p:nvPr/>
        </p:nvCxnSpPr>
        <p:spPr>
          <a:xfrm>
            <a:off x="7347031" y="937549"/>
            <a:ext cx="1056189" cy="300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08F4ACD-7DB8-2975-BD03-41289E3B22EF}"/>
                  </a:ext>
                </a:extLst>
              </p:cNvPr>
              <p:cNvSpPr txBox="1"/>
              <p:nvPr/>
            </p:nvSpPr>
            <p:spPr>
              <a:xfrm>
                <a:off x="162046" y="2107727"/>
                <a:ext cx="6476418" cy="10407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num>
                              <m:den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08F4ACD-7DB8-2975-BD03-41289E3B2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46" y="2107727"/>
                <a:ext cx="6476418" cy="1040734"/>
              </a:xfrm>
              <a:prstGeom prst="rect">
                <a:avLst/>
              </a:prstGeom>
              <a:blipFill>
                <a:blip r:embed="rId6"/>
                <a:stretch>
                  <a:fillRect l="-1370" b="-24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49B82D1-5455-A171-1570-A8A1CD4E10D5}"/>
                  </a:ext>
                </a:extLst>
              </p:cNvPr>
              <p:cNvSpPr txBox="1"/>
              <p:nvPr/>
            </p:nvSpPr>
            <p:spPr>
              <a:xfrm>
                <a:off x="162046" y="3709540"/>
                <a:ext cx="6476418" cy="10407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num>
                              <m:den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49B82D1-5455-A171-1570-A8A1CD4E1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46" y="3709540"/>
                <a:ext cx="6476418" cy="1040734"/>
              </a:xfrm>
              <a:prstGeom prst="rect">
                <a:avLst/>
              </a:prstGeom>
              <a:blipFill>
                <a:blip r:embed="rId7"/>
                <a:stretch>
                  <a:fillRect l="-1370" b="-24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3566A1C-2B0C-94F8-98E3-582EFD021372}"/>
                  </a:ext>
                </a:extLst>
              </p:cNvPr>
              <p:cNvSpPr txBox="1"/>
              <p:nvPr/>
            </p:nvSpPr>
            <p:spPr>
              <a:xfrm>
                <a:off x="162046" y="5117043"/>
                <a:ext cx="6476418" cy="10407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𝐽𝑇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num>
                              <m:den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3566A1C-2B0C-94F8-98E3-582EFD021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46" y="5117043"/>
                <a:ext cx="6476418" cy="1040734"/>
              </a:xfrm>
              <a:prstGeom prst="rect">
                <a:avLst/>
              </a:prstGeom>
              <a:blipFill>
                <a:blip r:embed="rId8"/>
                <a:stretch>
                  <a:fillRect l="-1370" b="-24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87BCCA-F870-21BA-C222-AB5CA80EE40F}"/>
                  </a:ext>
                </a:extLst>
              </p:cNvPr>
              <p:cNvSpPr txBox="1"/>
              <p:nvPr/>
            </p:nvSpPr>
            <p:spPr>
              <a:xfrm>
                <a:off x="6800850" y="5245508"/>
                <a:ext cx="4548367" cy="783804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𝐽𝑇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f>
                        <m:fPr>
                          <m:ctrlPr>
                            <a:rPr lang="en-US" sz="2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87BCCA-F870-21BA-C222-AB5CA80EE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0850" y="5245508"/>
                <a:ext cx="4548367" cy="783804"/>
              </a:xfrm>
              <a:prstGeom prst="rect">
                <a:avLst/>
              </a:prstGeom>
              <a:blipFill>
                <a:blip r:embed="rId9"/>
                <a:stretch>
                  <a:fillRect b="-625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8173DB00-6EF5-FCF1-C95A-C264C97FEF9C}"/>
              </a:ext>
            </a:extLst>
          </p:cNvPr>
          <p:cNvGrpSpPr/>
          <p:nvPr/>
        </p:nvGrpSpPr>
        <p:grpSpPr>
          <a:xfrm>
            <a:off x="9288960" y="3171932"/>
            <a:ext cx="2578608" cy="1845838"/>
            <a:chOff x="9288960" y="3171932"/>
            <a:chExt cx="2578608" cy="184583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3841CAC-EECD-A589-6B7A-33B2997560FF}"/>
                </a:ext>
              </a:extLst>
            </p:cNvPr>
            <p:cNvSpPr txBox="1"/>
            <p:nvPr/>
          </p:nvSpPr>
          <p:spPr>
            <a:xfrm>
              <a:off x="9288960" y="3171932"/>
              <a:ext cx="2578608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/>
                <a:t>From our Joule-Thomson experiment</a:t>
              </a:r>
            </a:p>
          </p:txBody>
        </p:sp>
        <p:sp>
          <p:nvSpPr>
            <p:cNvPr id="11" name="Down Arrow 10">
              <a:extLst>
                <a:ext uri="{FF2B5EF4-FFF2-40B4-BE49-F238E27FC236}">
                  <a16:creationId xmlns:a16="http://schemas.microsoft.com/office/drawing/2014/main" id="{233A3AA8-F404-834C-4A7A-60833659EBE1}"/>
                </a:ext>
              </a:extLst>
            </p:cNvPr>
            <p:cNvSpPr/>
            <p:nvPr/>
          </p:nvSpPr>
          <p:spPr>
            <a:xfrm>
              <a:off x="10058400" y="4372261"/>
              <a:ext cx="205740" cy="64550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AC225DA-84AE-158A-1445-A35D0FEBCEF4}"/>
              </a:ext>
            </a:extLst>
          </p:cNvPr>
          <p:cNvGrpSpPr/>
          <p:nvPr/>
        </p:nvGrpSpPr>
        <p:grpSpPr>
          <a:xfrm>
            <a:off x="5583378" y="3966344"/>
            <a:ext cx="983049" cy="654779"/>
            <a:chOff x="5583378" y="3966344"/>
            <a:chExt cx="983049" cy="654779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6718390-B75C-37E8-DEA1-6FE1FAB22775}"/>
                </a:ext>
              </a:extLst>
            </p:cNvPr>
            <p:cNvCxnSpPr>
              <a:cxnSpLocks noChangeAspect="1"/>
            </p:cNvCxnSpPr>
            <p:nvPr/>
          </p:nvCxnSpPr>
          <p:spPr>
            <a:xfrm flipH="1">
              <a:off x="5583378" y="3966344"/>
              <a:ext cx="136843" cy="654779"/>
            </a:xfrm>
            <a:prstGeom prst="line">
              <a:avLst/>
            </a:prstGeom>
            <a:ln w="63500">
              <a:solidFill>
                <a:schemeClr val="accent1">
                  <a:alpha val="5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7C3D6A9-9BD2-BE6A-4FC2-198AEDEBC9B3}"/>
                    </a:ext>
                  </a:extLst>
                </p:cNvPr>
                <p:cNvSpPr txBox="1"/>
                <p:nvPr/>
              </p:nvSpPr>
              <p:spPr>
                <a:xfrm>
                  <a:off x="5900630" y="4159424"/>
                  <a:ext cx="665797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1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14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7C3D6A9-9BD2-BE6A-4FC2-198AEDEBC9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0630" y="4159424"/>
                  <a:ext cx="665797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6F07C99-DB55-90F5-C212-AD20C899A10D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5695112" y="3991361"/>
              <a:ext cx="375270" cy="548889"/>
            </a:xfrm>
            <a:prstGeom prst="line">
              <a:avLst/>
            </a:prstGeom>
            <a:ln w="12700">
              <a:solidFill>
                <a:schemeClr val="accent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594B9E81-DDF9-AE2B-110D-E500024B27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35493" y="4570130"/>
              <a:ext cx="466912" cy="24229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5C17502-B2EE-B3BA-3CC8-3E62750E73A4}"/>
                  </a:ext>
                </a:extLst>
              </p:cNvPr>
              <p:cNvSpPr txBox="1"/>
              <p:nvPr/>
            </p:nvSpPr>
            <p:spPr>
              <a:xfrm>
                <a:off x="5583378" y="4558230"/>
                <a:ext cx="66579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1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1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5C17502-B2EE-B3BA-3CC8-3E62750E7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3378" y="4558230"/>
                <a:ext cx="665797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03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4766413-00AA-074E-BBD9-BCE265E1C7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1943"/>
          <a:stretch/>
        </p:blipFill>
        <p:spPr>
          <a:xfrm>
            <a:off x="1208765" y="1637442"/>
            <a:ext cx="3271926" cy="200725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647547E-05E1-00BD-C762-1743EEDA3A68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Today: We’ll carry out an adiabatic Joule-Thomson experiment on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𝑪</m:t>
                    </m:r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𝑶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400" b="1" dirty="0"/>
                  <a:t>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647547E-05E1-00BD-C762-1743EEDA3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4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B83D70F6-81CC-A917-BD39-876875D41266}"/>
              </a:ext>
            </a:extLst>
          </p:cNvPr>
          <p:cNvSpPr txBox="1"/>
          <p:nvPr/>
        </p:nvSpPr>
        <p:spPr>
          <a:xfrm>
            <a:off x="76803" y="3991101"/>
            <a:ext cx="6019197" cy="4616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The group not doing J-T can work on the CGI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27EF86-A3E0-38F9-E2EC-D5976A6043C7}"/>
              </a:ext>
            </a:extLst>
          </p:cNvPr>
          <p:cNvGrpSpPr>
            <a:grpSpLocks noChangeAspect="1"/>
          </p:cNvGrpSpPr>
          <p:nvPr/>
        </p:nvGrpSpPr>
        <p:grpSpPr>
          <a:xfrm>
            <a:off x="6898974" y="1546259"/>
            <a:ext cx="3228006" cy="2444841"/>
            <a:chOff x="6423792" y="1618412"/>
            <a:chExt cx="4733036" cy="358472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07C72B3-4C34-17A9-9887-66E061AC2B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23792" y="1618412"/>
              <a:ext cx="4733036" cy="3584726"/>
            </a:xfrm>
            <a:prstGeom prst="rect">
              <a:avLst/>
            </a:prstGeom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720C5B7-0391-4AA7-D9B3-EE49D3E15FCC}"/>
                </a:ext>
              </a:extLst>
            </p:cNvPr>
            <p:cNvGrpSpPr/>
            <p:nvPr/>
          </p:nvGrpSpPr>
          <p:grpSpPr>
            <a:xfrm>
              <a:off x="7852981" y="3878107"/>
              <a:ext cx="837473" cy="901124"/>
              <a:chOff x="5583378" y="3966344"/>
              <a:chExt cx="837473" cy="901124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8893249B-A23C-5D11-CBC7-91D64CBC0803}"/>
                  </a:ext>
                </a:extLst>
              </p:cNvPr>
              <p:cNvGrpSpPr/>
              <p:nvPr/>
            </p:nvGrpSpPr>
            <p:grpSpPr>
              <a:xfrm>
                <a:off x="5583378" y="3966344"/>
                <a:ext cx="837473" cy="654779"/>
                <a:chOff x="5583378" y="3966344"/>
                <a:chExt cx="837473" cy="654779"/>
              </a:xfrm>
            </p:grpSpPr>
            <p:cxnSp>
              <p:nvCxnSpPr>
                <p:cNvPr id="5" name="Straight Connector 4">
                  <a:extLst>
                    <a:ext uri="{FF2B5EF4-FFF2-40B4-BE49-F238E27FC236}">
                      <a16:creationId xmlns:a16="http://schemas.microsoft.com/office/drawing/2014/main" id="{57C4FA1A-EC1E-D331-9143-EE75B935F7E7}"/>
                    </a:ext>
                  </a:extLst>
                </p:cNvPr>
                <p:cNvCxnSpPr>
                  <a:cxnSpLocks noChangeAspect="1"/>
                </p:cNvCxnSpPr>
                <p:nvPr/>
              </p:nvCxnSpPr>
              <p:spPr>
                <a:xfrm flipH="1">
                  <a:off x="5583378" y="3966344"/>
                  <a:ext cx="136843" cy="654779"/>
                </a:xfrm>
                <a:prstGeom prst="line">
                  <a:avLst/>
                </a:prstGeom>
                <a:ln w="63500">
                  <a:solidFill>
                    <a:schemeClr val="accent1">
                      <a:alpha val="55000"/>
                    </a:schemeClr>
                  </a:solidFill>
                  <a:prstDash val="sysDot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9" name="TextBox 8">
                      <a:extLst>
                        <a:ext uri="{FF2B5EF4-FFF2-40B4-BE49-F238E27FC236}">
                          <a16:creationId xmlns:a16="http://schemas.microsoft.com/office/drawing/2014/main" id="{61669FFA-162C-BCD2-DFBF-AE89B77FCA0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755054" y="3978087"/>
                      <a:ext cx="665797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1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oMath>
                        </m:oMathPara>
                      </a14:m>
                      <a:endParaRPr lang="en-US" sz="1400" dirty="0">
                        <a:solidFill>
                          <a:schemeClr val="accent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9" name="TextBox 8">
                      <a:extLst>
                        <a:ext uri="{FF2B5EF4-FFF2-40B4-BE49-F238E27FC236}">
                          <a16:creationId xmlns:a16="http://schemas.microsoft.com/office/drawing/2014/main" id="{61669FFA-162C-BCD2-DFBF-AE89B77FCA0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755054" y="3978087"/>
                      <a:ext cx="665797" cy="307777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b="-222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3D4CA493-98E2-38C5-98EF-BD330952FA4C}"/>
                    </a:ext>
                  </a:extLst>
                </p:cNvPr>
                <p:cNvCxnSpPr>
                  <a:cxnSpLocks noChangeAspect="1"/>
                </p:cNvCxnSpPr>
                <p:nvPr/>
              </p:nvCxnSpPr>
              <p:spPr>
                <a:xfrm>
                  <a:off x="5695112" y="3991361"/>
                  <a:ext cx="375270" cy="548889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6507B468-857A-0A72-D069-2AADA62A33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635493" y="4570130"/>
                  <a:ext cx="466912" cy="24229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C1B62EDE-9C7E-884E-5234-7F3E74DACF0C}"/>
                      </a:ext>
                    </a:extLst>
                  </p:cNvPr>
                  <p:cNvSpPr txBox="1"/>
                  <p:nvPr/>
                </p:nvSpPr>
                <p:spPr>
                  <a:xfrm>
                    <a:off x="5653461" y="4559691"/>
                    <a:ext cx="665797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1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oMath>
                      </m:oMathPara>
                    </a14:m>
                    <a:endParaRPr lang="en-US" sz="1400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C1B62EDE-9C7E-884E-5234-7F3E74DACF0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53461" y="4559691"/>
                    <a:ext cx="665797" cy="30777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2941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39036F01-DACD-A4B5-6E80-43381E404A4D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24757" b="60679"/>
          <a:stretch/>
        </p:blipFill>
        <p:spPr>
          <a:xfrm>
            <a:off x="591153" y="4700404"/>
            <a:ext cx="8667306" cy="1222673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E542FDC-E0F7-3875-9E0C-6002839E0A18}"/>
                  </a:ext>
                </a:extLst>
              </p:cNvPr>
              <p:cNvSpPr txBox="1"/>
              <p:nvPr/>
            </p:nvSpPr>
            <p:spPr>
              <a:xfrm>
                <a:off x="76803" y="552847"/>
                <a:ext cx="11993278" cy="62408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Measure the temperature change out the throttle, hence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den>
                    </m:f>
                  </m:oMath>
                </a14:m>
                <a:r>
                  <a:rPr lang="en-US" sz="2400" dirty="0"/>
                  <a:t>, in two groups, ~15 minutes each</a:t>
                </a: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E542FDC-E0F7-3875-9E0C-6002839E0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3" y="552847"/>
                <a:ext cx="11993278" cy="624082"/>
              </a:xfrm>
              <a:prstGeom prst="rect">
                <a:avLst/>
              </a:prstGeom>
              <a:blipFill>
                <a:blip r:embed="rId9"/>
                <a:stretch>
                  <a:fillRect l="-633" b="-3774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DF7E068-E519-7E2D-6307-3375E4C1B121}"/>
                  </a:ext>
                </a:extLst>
              </p:cNvPr>
              <p:cNvSpPr txBox="1"/>
              <p:nvPr/>
            </p:nvSpPr>
            <p:spPr>
              <a:xfrm>
                <a:off x="1559248" y="1233406"/>
                <a:ext cx="275372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DF7E068-E519-7E2D-6307-3375E4C1B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248" y="1233406"/>
                <a:ext cx="2753723" cy="461665"/>
              </a:xfrm>
              <a:prstGeom prst="rect">
                <a:avLst/>
              </a:prstGeom>
              <a:blipFill>
                <a:blip r:embed="rId10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4938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1415</TotalTime>
  <Words>566</Words>
  <Application>Microsoft Macintosh PowerPoint</Application>
  <PresentationFormat>Widescreen</PresentationFormat>
  <Paragraphs>86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32</cp:revision>
  <dcterms:created xsi:type="dcterms:W3CDTF">2024-10-08T04:43:12Z</dcterms:created>
  <dcterms:modified xsi:type="dcterms:W3CDTF">2025-10-21T17:09:16Z</dcterms:modified>
</cp:coreProperties>
</file>